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3" r:id="rId1"/>
  </p:sldMasterIdLst>
  <p:notesMasterIdLst>
    <p:notesMasterId r:id="rId38"/>
  </p:notesMasterIdLst>
  <p:sldIdLst>
    <p:sldId id="256" r:id="rId2"/>
    <p:sldId id="297" r:id="rId3"/>
    <p:sldId id="424" r:id="rId4"/>
    <p:sldId id="425" r:id="rId5"/>
    <p:sldId id="432" r:id="rId6"/>
    <p:sldId id="429" r:id="rId7"/>
    <p:sldId id="428" r:id="rId8"/>
    <p:sldId id="431" r:id="rId9"/>
    <p:sldId id="433" r:id="rId10"/>
    <p:sldId id="434" r:id="rId11"/>
    <p:sldId id="404" r:id="rId12"/>
    <p:sldId id="435" r:id="rId13"/>
    <p:sldId id="406" r:id="rId14"/>
    <p:sldId id="409" r:id="rId15"/>
    <p:sldId id="410" r:id="rId16"/>
    <p:sldId id="411" r:id="rId17"/>
    <p:sldId id="436" r:id="rId18"/>
    <p:sldId id="437" r:id="rId19"/>
    <p:sldId id="413" r:id="rId20"/>
    <p:sldId id="414" r:id="rId21"/>
    <p:sldId id="415" r:id="rId22"/>
    <p:sldId id="416" r:id="rId23"/>
    <p:sldId id="427" r:id="rId24"/>
    <p:sldId id="430" r:id="rId25"/>
    <p:sldId id="417" r:id="rId26"/>
    <p:sldId id="418" r:id="rId27"/>
    <p:sldId id="419" r:id="rId28"/>
    <p:sldId id="420" r:id="rId29"/>
    <p:sldId id="421" r:id="rId30"/>
    <p:sldId id="422" r:id="rId31"/>
    <p:sldId id="440" r:id="rId32"/>
    <p:sldId id="438" r:id="rId33"/>
    <p:sldId id="439" r:id="rId34"/>
    <p:sldId id="441" r:id="rId35"/>
    <p:sldId id="423" r:id="rId36"/>
    <p:sldId id="442" r:id="rId37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1893"/>
    <a:srgbClr val="FFFF99"/>
    <a:srgbClr val="CCFFCC"/>
    <a:srgbClr val="CCECFF"/>
    <a:srgbClr val="FFCCCC"/>
    <a:srgbClr val="FF8AD8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淡色スタイル 1 - アクセント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3" autoAdjust="0"/>
    <p:restoredTop sz="94668"/>
  </p:normalViewPr>
  <p:slideViewPr>
    <p:cSldViewPr>
      <p:cViewPr varScale="1">
        <p:scale>
          <a:sx n="124" d="100"/>
          <a:sy n="124" d="100"/>
        </p:scale>
        <p:origin x="192" y="80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8D1B20-A248-FB47-8240-73C0C5F47C9D}" type="datetimeFigureOut">
              <a:t>2026/3/5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FA746F-AF1F-C048-A2ED-B38EF01E9631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5976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FA746F-AF1F-C048-A2ED-B38EF01E9631}" type="slidenum">
              <a:rPr lang="en-US" altLang="ja-JP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321278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FA746F-AF1F-C048-A2ED-B38EF01E9631}" type="slidenum">
              <a:rPr lang="en-US" altLang="ja-JP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282187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FA746F-AF1F-C048-A2ED-B38EF01E9631}" type="slidenum">
              <a:rPr lang="en-US" altLang="ja-JP" smtClean="0"/>
              <a:t>33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43584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1977278B-6103-7448-8885-11FCA29D84A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190133"/>
            <a:ext cx="9144000" cy="7540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000">
                <a:ln>
                  <a:solidFill>
                    <a:srgbClr val="011893"/>
                  </a:solidFill>
                </a:ln>
              </a:defRPr>
            </a:lvl1pPr>
          </a:lstStyle>
          <a:p>
            <a:endParaRPr kumimoji="1" lang="ja-JP" altLang="en-US"/>
          </a:p>
        </p:txBody>
      </p:sp>
      <p:sp>
        <p:nvSpPr>
          <p:cNvPr id="6" name="円/楕円 3">
            <a:extLst>
              <a:ext uri="{FF2B5EF4-FFF2-40B4-BE49-F238E27FC236}">
                <a16:creationId xmlns:a16="http://schemas.microsoft.com/office/drawing/2014/main" id="{487F8E9E-2412-46EC-98D7-79D3FF31255F}"/>
              </a:ext>
            </a:extLst>
          </p:cNvPr>
          <p:cNvSpPr/>
          <p:nvPr userDrawn="1"/>
        </p:nvSpPr>
        <p:spPr>
          <a:xfrm>
            <a:off x="8532440" y="6237312"/>
            <a:ext cx="531173" cy="531173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50">
              <a:latin typeface="+mj-ea"/>
              <a:ea typeface="+mj-ea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67889554-4F08-4BCC-A76B-18FB5F2766B3}"/>
              </a:ext>
            </a:extLst>
          </p:cNvPr>
          <p:cNvSpPr txBox="1"/>
          <p:nvPr userDrawn="1"/>
        </p:nvSpPr>
        <p:spPr>
          <a:xfrm>
            <a:off x="8491428" y="6270575"/>
            <a:ext cx="4010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E8E17320-8F29-C346-80F3-7693511BE498}" type="slidenum">
              <a:rPr kumimoji="1" lang="ja-JP" altLang="en-US" sz="1400"/>
              <a:pPr algn="ctr"/>
              <a:t>‹#›</a:t>
            </a:fld>
            <a:endParaRPr kumimoji="1" lang="ja-JP" altLang="en-US" sz="1400" dirty="0"/>
          </a:p>
        </p:txBody>
      </p:sp>
      <p:sp>
        <p:nvSpPr>
          <p:cNvPr id="9" name="弦 8">
            <a:extLst>
              <a:ext uri="{FF2B5EF4-FFF2-40B4-BE49-F238E27FC236}">
                <a16:creationId xmlns:a16="http://schemas.microsoft.com/office/drawing/2014/main" id="{F11AA314-EB24-44EB-A852-674DA52458DB}"/>
              </a:ext>
            </a:extLst>
          </p:cNvPr>
          <p:cNvSpPr/>
          <p:nvPr userDrawn="1"/>
        </p:nvSpPr>
        <p:spPr>
          <a:xfrm rot="15300000">
            <a:off x="8520720" y="6221077"/>
            <a:ext cx="565274" cy="565274"/>
          </a:xfrm>
          <a:prstGeom prst="chord">
            <a:avLst>
              <a:gd name="adj1" fmla="val 2700000"/>
              <a:gd name="adj2" fmla="val 14142403"/>
            </a:avLst>
          </a:prstGeom>
          <a:solidFill>
            <a:schemeClr val="bg1">
              <a:lumMod val="65000"/>
            </a:schemeClr>
          </a:solid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B1D6D61-20B2-4D37-BE12-D11D0A62A47D}"/>
              </a:ext>
            </a:extLst>
          </p:cNvPr>
          <p:cNvSpPr txBox="1"/>
          <p:nvPr userDrawn="1"/>
        </p:nvSpPr>
        <p:spPr>
          <a:xfrm>
            <a:off x="8717317" y="6437838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1400"/>
              <a:t>36</a:t>
            </a:r>
            <a:endParaRPr kumimoji="1" lang="ja-JP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3847815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49306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kumimoji="1" sz="26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hyperlink" Target="https://appi-github.github.io/sample_games/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6C4099E-EB60-DC4F-967D-225ED88E614D}"/>
              </a:ext>
            </a:extLst>
          </p:cNvPr>
          <p:cNvSpPr txBox="1"/>
          <p:nvPr/>
        </p:nvSpPr>
        <p:spPr>
          <a:xfrm>
            <a:off x="107504" y="1268760"/>
            <a:ext cx="889248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dirty="0">
                <a:solidFill>
                  <a:srgbClr val="011893"/>
                </a:solidFill>
              </a:rPr>
              <a:t>演習：</a:t>
            </a:r>
            <a:r>
              <a:rPr lang="en-US" altLang="ja-JP" sz="4000" dirty="0">
                <a:solidFill>
                  <a:srgbClr val="011893"/>
                </a:solidFill>
              </a:rPr>
              <a:t>GitHub</a:t>
            </a:r>
            <a:r>
              <a:rPr lang="ja-JP" altLang="en-US" sz="4000" dirty="0">
                <a:solidFill>
                  <a:srgbClr val="011893"/>
                </a:solidFill>
              </a:rPr>
              <a:t>の</a:t>
            </a:r>
            <a:r>
              <a:rPr lang="ja-JP" altLang="en-US" sz="4000">
                <a:solidFill>
                  <a:srgbClr val="011893"/>
                </a:solidFill>
              </a:rPr>
              <a:t>操作</a:t>
            </a:r>
            <a:r>
              <a:rPr lang="en-US" altLang="ja-JP" sz="4000">
                <a:solidFill>
                  <a:srgbClr val="011893"/>
                </a:solidFill>
              </a:rPr>
              <a:t>(</a:t>
            </a:r>
            <a:r>
              <a:rPr lang="ja-JP" altLang="en-US" sz="4000">
                <a:solidFill>
                  <a:srgbClr val="011893"/>
                </a:solidFill>
              </a:rPr>
              <a:t>応用編</a:t>
            </a:r>
            <a:r>
              <a:rPr lang="en-US" altLang="ja-JP" sz="4000">
                <a:solidFill>
                  <a:srgbClr val="011893"/>
                </a:solidFill>
              </a:rPr>
              <a:t>)</a:t>
            </a:r>
            <a:endParaRPr lang="en-US" altLang="ja-JP" sz="4000" dirty="0">
              <a:solidFill>
                <a:srgbClr val="011893"/>
              </a:solidFill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F6FF3F0-B80E-4A32-A410-E1A4C3A7A116}"/>
              </a:ext>
            </a:extLst>
          </p:cNvPr>
          <p:cNvSpPr txBox="1"/>
          <p:nvPr/>
        </p:nvSpPr>
        <p:spPr>
          <a:xfrm>
            <a:off x="3704546" y="5314568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慶應義塾大学理工学部物理情報工学科</a:t>
            </a:r>
            <a:endParaRPr lang="en-US" altLang="ja-JP" sz="2400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4A82E08-1852-476D-B582-C7C001BDD60A}"/>
              </a:ext>
            </a:extLst>
          </p:cNvPr>
          <p:cNvSpPr txBox="1"/>
          <p:nvPr/>
        </p:nvSpPr>
        <p:spPr>
          <a:xfrm>
            <a:off x="8249826" y="5733256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渡辺</a:t>
            </a:r>
            <a:endParaRPr lang="en-US" altLang="ja-JP" sz="2400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E763473-CD81-93DF-6493-B702F532428C}"/>
              </a:ext>
            </a:extLst>
          </p:cNvPr>
          <p:cNvSpPr txBox="1"/>
          <p:nvPr/>
        </p:nvSpPr>
        <p:spPr>
          <a:xfrm>
            <a:off x="0" y="6453336"/>
            <a:ext cx="72635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600" dirty="0"/>
              <a:t>2026</a:t>
            </a:r>
            <a:r>
              <a:rPr kumimoji="1" lang="ja-JP" altLang="en-US" sz="1600"/>
              <a:t>年</a:t>
            </a:r>
            <a:r>
              <a:rPr kumimoji="1" lang="en-US" altLang="ja-JP" sz="1600" dirty="0"/>
              <a:t>3</a:t>
            </a:r>
            <a:r>
              <a:rPr kumimoji="1" lang="ja-JP" altLang="en-US" sz="1600"/>
              <a:t>月</a:t>
            </a:r>
            <a:r>
              <a:rPr kumimoji="1" lang="en-US" altLang="ja-JP" sz="1600" dirty="0"/>
              <a:t>9</a:t>
            </a:r>
            <a:r>
              <a:rPr kumimoji="1" lang="ja-JP" altLang="en-US" sz="1600"/>
              <a:t>日</a:t>
            </a:r>
            <a:r>
              <a:rPr kumimoji="1" lang="en-US" altLang="ja-JP" sz="1600" dirty="0"/>
              <a:t> </a:t>
            </a:r>
            <a:r>
              <a:rPr kumimoji="1" lang="ja-JP" altLang="en-US" sz="1600"/>
              <a:t>計算物理春の学校</a:t>
            </a:r>
            <a:r>
              <a:rPr kumimoji="1" lang="en-US" altLang="ja-JP" sz="1600" dirty="0"/>
              <a:t>2026</a:t>
            </a:r>
            <a:r>
              <a:rPr kumimoji="1" lang="ja-JP" altLang="en-US" sz="1600"/>
              <a:t>「計算物理屋のための</a:t>
            </a:r>
            <a:r>
              <a:rPr kumimoji="1" lang="en-US" altLang="ja-JP" sz="1600" dirty="0"/>
              <a:t>Git/GitHub</a:t>
            </a:r>
            <a:r>
              <a:rPr kumimoji="1" lang="ja-JP" altLang="en-US" sz="1600"/>
              <a:t>入門」</a:t>
            </a:r>
          </a:p>
        </p:txBody>
      </p:sp>
    </p:spTree>
    <p:extLst>
      <p:ext uri="{BB962C8B-B14F-4D97-AF65-F5344CB8AC3E}">
        <p14:creationId xmlns:p14="http://schemas.microsoft.com/office/powerpoint/2010/main" val="40795339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3A3EAC2E-574A-4BF8-8DAE-C46E6B0847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今回の目標</a:t>
            </a:r>
            <a:endParaRPr 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6BE09DD-BFB2-4A03-AAF8-832DB3A68F0A}"/>
              </a:ext>
            </a:extLst>
          </p:cNvPr>
          <p:cNvSpPr txBox="1"/>
          <p:nvPr/>
        </p:nvSpPr>
        <p:spPr>
          <a:xfrm>
            <a:off x="323528" y="1556792"/>
            <a:ext cx="835292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en-US" altLang="ja-JP" sz="2400" dirty="0"/>
              <a:t>GitHub Pages</a:t>
            </a:r>
            <a:r>
              <a:rPr kumimoji="1" lang="ja-JP" altLang="en-US" sz="2400" dirty="0"/>
              <a:t>を使ってウェブサイトを公開する</a:t>
            </a:r>
            <a:endParaRPr kumimoji="1" lang="en-US" altLang="ja-JP" sz="2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kumimoji="1" lang="en-US" altLang="ja-JP" sz="2400" dirty="0"/>
              <a:t>MNIST</a:t>
            </a:r>
            <a:r>
              <a:rPr kumimoji="1" lang="ja-JP" altLang="en-US" sz="2400" dirty="0"/>
              <a:t>の学習済みモデルをウェブで試す</a:t>
            </a:r>
            <a:endParaRPr lang="en-US" altLang="ja-JP" sz="2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簡単なブラウザゲームを作る</a:t>
            </a:r>
          </a:p>
        </p:txBody>
      </p:sp>
    </p:spTree>
    <p:extLst>
      <p:ext uri="{BB962C8B-B14F-4D97-AF65-F5344CB8AC3E}">
        <p14:creationId xmlns:p14="http://schemas.microsoft.com/office/powerpoint/2010/main" val="36522014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3B79CACC-1AF0-4393-A504-C9C70F62B0C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 dirty="0"/>
              <a:t>ウェブサーバとは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372A13C-FF3A-42A1-92E0-89D89FC8E2BC}"/>
              </a:ext>
            </a:extLst>
          </p:cNvPr>
          <p:cNvSpPr txBox="1"/>
          <p:nvPr/>
        </p:nvSpPr>
        <p:spPr>
          <a:xfrm>
            <a:off x="179512" y="1196752"/>
            <a:ext cx="87254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我々がインターネットを閲覧する時、クライアントとウェブサーバが通信している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F3E9CFB-7147-4185-B28A-E9A846557371}"/>
              </a:ext>
            </a:extLst>
          </p:cNvPr>
          <p:cNvSpPr txBox="1"/>
          <p:nvPr/>
        </p:nvSpPr>
        <p:spPr>
          <a:xfrm>
            <a:off x="2051720" y="1772816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クライアント</a:t>
            </a:r>
          </a:p>
        </p:txBody>
      </p:sp>
      <p:pic>
        <p:nvPicPr>
          <p:cNvPr id="1026" name="Picture 2" descr="パソコンを使う人のイラスト（男性・笑顔）">
            <a:extLst>
              <a:ext uri="{FF2B5EF4-FFF2-40B4-BE49-F238E27FC236}">
                <a16:creationId xmlns:a16="http://schemas.microsoft.com/office/drawing/2014/main" id="{F1AA9883-F619-4DA7-AC26-B9E34B9C74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520" y="4437112"/>
            <a:ext cx="1303872" cy="1893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F0CCF203-5DD0-49CF-99E1-63BD689F8D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7744" y="2492896"/>
            <a:ext cx="1080120" cy="1080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データセンターのイラスト（単体）">
            <a:extLst>
              <a:ext uri="{FF2B5EF4-FFF2-40B4-BE49-F238E27FC236}">
                <a16:creationId xmlns:a16="http://schemas.microsoft.com/office/drawing/2014/main" id="{3E667C23-B448-4574-B6EE-466986F276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6136" y="2276872"/>
            <a:ext cx="1097090" cy="1649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フローチャート: 磁気ディスク 3">
            <a:extLst>
              <a:ext uri="{FF2B5EF4-FFF2-40B4-BE49-F238E27FC236}">
                <a16:creationId xmlns:a16="http://schemas.microsoft.com/office/drawing/2014/main" id="{3B4CD286-9653-46E3-8721-1E8E92B5EDA4}"/>
              </a:ext>
            </a:extLst>
          </p:cNvPr>
          <p:cNvSpPr/>
          <p:nvPr/>
        </p:nvSpPr>
        <p:spPr>
          <a:xfrm>
            <a:off x="7524328" y="4725144"/>
            <a:ext cx="1224136" cy="1080120"/>
          </a:xfrm>
          <a:prstGeom prst="flowChartMagneticDisk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矢印: 左右 4">
            <a:extLst>
              <a:ext uri="{FF2B5EF4-FFF2-40B4-BE49-F238E27FC236}">
                <a16:creationId xmlns:a16="http://schemas.microsoft.com/office/drawing/2014/main" id="{A8BC12D6-B462-403D-A58A-F2C392EF2B5A}"/>
              </a:ext>
            </a:extLst>
          </p:cNvPr>
          <p:cNvSpPr/>
          <p:nvPr/>
        </p:nvSpPr>
        <p:spPr>
          <a:xfrm>
            <a:off x="3923928" y="2780928"/>
            <a:ext cx="1224136" cy="432048"/>
          </a:xfrm>
          <a:prstGeom prst="left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B194774-17B1-4552-8D94-2180E5CB8E45}"/>
              </a:ext>
            </a:extLst>
          </p:cNvPr>
          <p:cNvSpPr txBox="1"/>
          <p:nvPr/>
        </p:nvSpPr>
        <p:spPr>
          <a:xfrm>
            <a:off x="5652120" y="184482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ウェブサーバ</a:t>
            </a:r>
          </a:p>
        </p:txBody>
      </p:sp>
      <p:sp>
        <p:nvSpPr>
          <p:cNvPr id="12" name="矢印: 左右 11">
            <a:extLst>
              <a:ext uri="{FF2B5EF4-FFF2-40B4-BE49-F238E27FC236}">
                <a16:creationId xmlns:a16="http://schemas.microsoft.com/office/drawing/2014/main" id="{3FB7FF22-E88C-42BA-B324-0447E9717B33}"/>
              </a:ext>
            </a:extLst>
          </p:cNvPr>
          <p:cNvSpPr/>
          <p:nvPr/>
        </p:nvSpPr>
        <p:spPr>
          <a:xfrm rot="2700000">
            <a:off x="6849737" y="3870534"/>
            <a:ext cx="1224136" cy="432048"/>
          </a:xfrm>
          <a:prstGeom prst="left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727CA02-A607-483B-B2B2-3383ABE64624}"/>
              </a:ext>
            </a:extLst>
          </p:cNvPr>
          <p:cNvSpPr txBox="1"/>
          <p:nvPr/>
        </p:nvSpPr>
        <p:spPr>
          <a:xfrm>
            <a:off x="6300192" y="5877272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サーバ</a:t>
            </a:r>
            <a:r>
              <a:rPr lang="ja-JP" altLang="en-US" dirty="0"/>
              <a:t>のローカルデータ</a:t>
            </a:r>
            <a:endParaRPr kumimoji="1"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559FF6B-3808-4956-B3AF-0CA3156418F8}"/>
              </a:ext>
            </a:extLst>
          </p:cNvPr>
          <p:cNvSpPr txBox="1"/>
          <p:nvPr/>
        </p:nvSpPr>
        <p:spPr>
          <a:xfrm>
            <a:off x="2339752" y="3717032"/>
            <a:ext cx="118494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Chrome</a:t>
            </a:r>
          </a:p>
          <a:p>
            <a:r>
              <a:rPr kumimoji="1" lang="en-US" altLang="ja-JP"/>
              <a:t>Safari</a:t>
            </a:r>
          </a:p>
          <a:p>
            <a:r>
              <a:rPr lang="en-US" altLang="ja-JP"/>
              <a:t>Firefox</a:t>
            </a:r>
          </a:p>
          <a:p>
            <a:r>
              <a:rPr kumimoji="1" lang="en-US" altLang="ja-JP"/>
              <a:t>Edge</a:t>
            </a:r>
            <a:r>
              <a:rPr kumimoji="1" lang="ja-JP" altLang="en-US"/>
              <a:t>など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03CF876C-9D45-4F7D-ADCD-06FB22E61FD7}"/>
              </a:ext>
            </a:extLst>
          </p:cNvPr>
          <p:cNvSpPr txBox="1"/>
          <p:nvPr/>
        </p:nvSpPr>
        <p:spPr>
          <a:xfrm>
            <a:off x="5652120" y="4005064"/>
            <a:ext cx="11977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Apache</a:t>
            </a:r>
          </a:p>
          <a:p>
            <a:r>
              <a:rPr lang="en-US" altLang="ja-JP"/>
              <a:t>nginx</a:t>
            </a:r>
            <a:r>
              <a:rPr lang="ja-JP" altLang="en-US"/>
              <a:t>など</a:t>
            </a:r>
            <a:endParaRPr kumimoji="1" lang="ja-JP" altLang="en-US"/>
          </a:p>
        </p:txBody>
      </p:sp>
      <p:sp>
        <p:nvSpPr>
          <p:cNvPr id="16" name="矢印: 左右 15">
            <a:extLst>
              <a:ext uri="{FF2B5EF4-FFF2-40B4-BE49-F238E27FC236}">
                <a16:creationId xmlns:a16="http://schemas.microsoft.com/office/drawing/2014/main" id="{A3935070-689C-4CD2-87DA-BE65F9ACFBAF}"/>
              </a:ext>
            </a:extLst>
          </p:cNvPr>
          <p:cNvSpPr/>
          <p:nvPr/>
        </p:nvSpPr>
        <p:spPr>
          <a:xfrm rot="18900000">
            <a:off x="1017089" y="3870534"/>
            <a:ext cx="1224136" cy="432048"/>
          </a:xfrm>
          <a:prstGeom prst="left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421666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5DC42BFF-4DAA-49E5-A0BC-BEFB7AA42AC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ウェブサーバとは</a:t>
            </a:r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41BCFDB-33AD-4D94-BECF-87704E7CCA70}"/>
              </a:ext>
            </a:extLst>
          </p:cNvPr>
          <p:cNvSpPr txBox="1"/>
          <p:nvPr/>
        </p:nvSpPr>
        <p:spPr>
          <a:xfrm>
            <a:off x="467544" y="1124744"/>
            <a:ext cx="710963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600"/>
              <a:t>クライアントが要求するのは</a:t>
            </a:r>
            <a:r>
              <a:rPr kumimoji="1" lang="en-US" altLang="ja-JP" sz="3600"/>
              <a:t>URL</a:t>
            </a:r>
          </a:p>
          <a:p>
            <a:r>
              <a:rPr kumimoji="1" lang="en-US" altLang="ja-JP" sz="3600"/>
              <a:t>(Uniform Resource Location)</a:t>
            </a:r>
            <a:endParaRPr kumimoji="1" lang="ja-JP" altLang="en-US" sz="3600" dirty="0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6CBEBE2-2DD4-4562-9472-8F82E7111913}"/>
              </a:ext>
            </a:extLst>
          </p:cNvPr>
          <p:cNvSpPr/>
          <p:nvPr/>
        </p:nvSpPr>
        <p:spPr>
          <a:xfrm>
            <a:off x="467544" y="2411596"/>
            <a:ext cx="792088" cy="43204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CF71E060-ABFE-45B4-BF2D-E67390B5D454}"/>
              </a:ext>
            </a:extLst>
          </p:cNvPr>
          <p:cNvSpPr/>
          <p:nvPr/>
        </p:nvSpPr>
        <p:spPr>
          <a:xfrm>
            <a:off x="1475656" y="2411596"/>
            <a:ext cx="2160240" cy="43204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7EDB7205-303E-4E73-ACB6-E2D2996A878E}"/>
              </a:ext>
            </a:extLst>
          </p:cNvPr>
          <p:cNvSpPr/>
          <p:nvPr/>
        </p:nvSpPr>
        <p:spPr>
          <a:xfrm>
            <a:off x="3707904" y="2411596"/>
            <a:ext cx="3168352" cy="43204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C18B4E51-0E74-4B0F-8DC9-E0CDCAE5DD98}"/>
              </a:ext>
            </a:extLst>
          </p:cNvPr>
          <p:cNvSpPr/>
          <p:nvPr/>
        </p:nvSpPr>
        <p:spPr>
          <a:xfrm>
            <a:off x="6948264" y="2411596"/>
            <a:ext cx="1368152" cy="43204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3C331A34-8021-4F52-85F6-7738D3C26660}"/>
              </a:ext>
            </a:extLst>
          </p:cNvPr>
          <p:cNvSpPr txBox="1"/>
          <p:nvPr/>
        </p:nvSpPr>
        <p:spPr>
          <a:xfrm>
            <a:off x="467544" y="2411596"/>
            <a:ext cx="79928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400"/>
              <a:t>https://www.mext.go.jp/a_menu/shotou/new-cs/index.htm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AB354C11-0406-411E-93F7-1963D2A0B786}"/>
              </a:ext>
            </a:extLst>
          </p:cNvPr>
          <p:cNvSpPr txBox="1"/>
          <p:nvPr/>
        </p:nvSpPr>
        <p:spPr>
          <a:xfrm>
            <a:off x="179512" y="3059668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プロトコル</a:t>
            </a:r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E1B007F9-0E00-44F6-ABCB-C356879EE02D}"/>
              </a:ext>
            </a:extLst>
          </p:cNvPr>
          <p:cNvSpPr txBox="1"/>
          <p:nvPr/>
        </p:nvSpPr>
        <p:spPr>
          <a:xfrm>
            <a:off x="1475656" y="305966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ホスト＋ドメイン名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185EB69B-AF4F-4B90-8AE1-F147FA76E6BA}"/>
              </a:ext>
            </a:extLst>
          </p:cNvPr>
          <p:cNvSpPr txBox="1"/>
          <p:nvPr/>
        </p:nvSpPr>
        <p:spPr>
          <a:xfrm>
            <a:off x="4283968" y="3059668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ディレクトリ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67BDC896-8742-4C7F-8BD4-B53D5B121014}"/>
              </a:ext>
            </a:extLst>
          </p:cNvPr>
          <p:cNvSpPr txBox="1"/>
          <p:nvPr/>
        </p:nvSpPr>
        <p:spPr>
          <a:xfrm>
            <a:off x="6905580" y="305037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ファイル名</a:t>
            </a: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18C5652C-7DD2-43FE-AF60-06187B0122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91" y="3501008"/>
            <a:ext cx="6339233" cy="3096344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5F57162B-8C66-4205-AC9C-6B962F67E734}"/>
              </a:ext>
            </a:extLst>
          </p:cNvPr>
          <p:cNvSpPr txBox="1"/>
          <p:nvPr/>
        </p:nvSpPr>
        <p:spPr>
          <a:xfrm>
            <a:off x="467544" y="2420888"/>
            <a:ext cx="79928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400"/>
              <a:t>https://www.mext.go.jp/a_menu/shotou/new-cs/index.htm</a:t>
            </a:r>
          </a:p>
        </p:txBody>
      </p:sp>
    </p:spTree>
    <p:extLst>
      <p:ext uri="{BB962C8B-B14F-4D97-AF65-F5344CB8AC3E}">
        <p14:creationId xmlns:p14="http://schemas.microsoft.com/office/powerpoint/2010/main" val="37763528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D1FD0095-335E-4BE2-BEEA-D7F308E4623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ウェブサーバとは</a:t>
            </a:r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44C57A3-C028-4F8D-A468-2659317AA0DE}"/>
              </a:ext>
            </a:extLst>
          </p:cNvPr>
          <p:cNvSpPr/>
          <p:nvPr/>
        </p:nvSpPr>
        <p:spPr>
          <a:xfrm>
            <a:off x="467544" y="1115452"/>
            <a:ext cx="792088" cy="43204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0787944-9C2D-47A0-87CF-2C2B6D0A57AD}"/>
              </a:ext>
            </a:extLst>
          </p:cNvPr>
          <p:cNvSpPr/>
          <p:nvPr/>
        </p:nvSpPr>
        <p:spPr>
          <a:xfrm>
            <a:off x="1475656" y="1115452"/>
            <a:ext cx="2160240" cy="43204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39D953E-17E2-4C3E-915C-C04A02B4B430}"/>
              </a:ext>
            </a:extLst>
          </p:cNvPr>
          <p:cNvSpPr/>
          <p:nvPr/>
        </p:nvSpPr>
        <p:spPr>
          <a:xfrm>
            <a:off x="3707904" y="1115452"/>
            <a:ext cx="3168352" cy="43204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1D9CC12-2ED2-4F22-9FDB-6CA1D12A7A39}"/>
              </a:ext>
            </a:extLst>
          </p:cNvPr>
          <p:cNvSpPr/>
          <p:nvPr/>
        </p:nvSpPr>
        <p:spPr>
          <a:xfrm>
            <a:off x="6948264" y="1115452"/>
            <a:ext cx="1368152" cy="43204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2552410-B959-4D7F-862C-05D7284E1830}"/>
              </a:ext>
            </a:extLst>
          </p:cNvPr>
          <p:cNvSpPr txBox="1"/>
          <p:nvPr/>
        </p:nvSpPr>
        <p:spPr>
          <a:xfrm>
            <a:off x="467544" y="1115452"/>
            <a:ext cx="79928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400"/>
              <a:t>https://www.mext.go.jp/a_menu/shotou/new-cs/index.htm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6AF8B6B5-C188-4212-BC40-3D88DF101A1B}"/>
              </a:ext>
            </a:extLst>
          </p:cNvPr>
          <p:cNvSpPr txBox="1"/>
          <p:nvPr/>
        </p:nvSpPr>
        <p:spPr>
          <a:xfrm>
            <a:off x="179512" y="1763524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プロトコル</a:t>
            </a:r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A92CAB1D-BD62-4784-BC91-20A6E81A26E6}"/>
              </a:ext>
            </a:extLst>
          </p:cNvPr>
          <p:cNvSpPr txBox="1"/>
          <p:nvPr/>
        </p:nvSpPr>
        <p:spPr>
          <a:xfrm>
            <a:off x="1475656" y="176352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ホスト＋ドメイン名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A012ADC7-0AA6-4681-9632-4C2E5D177A63}"/>
              </a:ext>
            </a:extLst>
          </p:cNvPr>
          <p:cNvSpPr txBox="1"/>
          <p:nvPr/>
        </p:nvSpPr>
        <p:spPr>
          <a:xfrm>
            <a:off x="4283968" y="176352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ディレクトリ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E851CBB5-25F2-4FD2-9490-683AA4BACFBB}"/>
              </a:ext>
            </a:extLst>
          </p:cNvPr>
          <p:cNvSpPr txBox="1"/>
          <p:nvPr/>
        </p:nvSpPr>
        <p:spPr>
          <a:xfrm>
            <a:off x="6905580" y="1754232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ファイル名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8793C16A-673B-464B-A7D0-9DB9F4C9863F}"/>
              </a:ext>
            </a:extLst>
          </p:cNvPr>
          <p:cNvSpPr txBox="1"/>
          <p:nvPr/>
        </p:nvSpPr>
        <p:spPr>
          <a:xfrm>
            <a:off x="467544" y="1124744"/>
            <a:ext cx="79928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400"/>
              <a:t>https://www.mext.go.jp/a_menu/shotou/new-cs/index.htm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D0513E04-CF18-4EB9-8CE7-9D6F5567EB27}"/>
              </a:ext>
            </a:extLst>
          </p:cNvPr>
          <p:cNvSpPr txBox="1"/>
          <p:nvPr/>
        </p:nvSpPr>
        <p:spPr>
          <a:xfrm>
            <a:off x="179512" y="2348880"/>
            <a:ext cx="8675773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eriod"/>
            </a:pPr>
            <a:r>
              <a:rPr kumimoji="1" lang="en-US" altLang="ja-JP" sz="2800"/>
              <a:t>https</a:t>
            </a:r>
            <a:r>
              <a:rPr kumimoji="1" lang="ja-JP" altLang="en-US" sz="2800"/>
              <a:t>というプロトコルで</a:t>
            </a:r>
            <a:endParaRPr kumimoji="1" lang="en-US" altLang="ja-JP" sz="2800"/>
          </a:p>
          <a:p>
            <a:pPr marL="457200" indent="-457200">
              <a:buAutoNum type="arabicPeriod"/>
            </a:pPr>
            <a:r>
              <a:rPr kumimoji="1" lang="en-US" altLang="ja-JP" sz="2800"/>
              <a:t>mext.go.jp</a:t>
            </a:r>
            <a:r>
              <a:rPr kumimoji="1" lang="ja-JP" altLang="en-US" sz="2800"/>
              <a:t>というドメインに所属する</a:t>
            </a:r>
            <a:endParaRPr kumimoji="1" lang="en-US" altLang="ja-JP" sz="2800"/>
          </a:p>
          <a:p>
            <a:pPr marL="457200" indent="-457200">
              <a:buAutoNum type="arabicPeriod"/>
            </a:pPr>
            <a:r>
              <a:rPr lang="en-US" altLang="ja-JP" sz="2800"/>
              <a:t>www</a:t>
            </a:r>
            <a:r>
              <a:rPr lang="ja-JP" altLang="en-US" sz="2800"/>
              <a:t>というマシンの</a:t>
            </a:r>
            <a:endParaRPr lang="en-US" altLang="ja-JP" sz="2800"/>
          </a:p>
          <a:p>
            <a:pPr marL="457200" indent="-457200">
              <a:buAutoNum type="arabicPeriod"/>
            </a:pPr>
            <a:r>
              <a:rPr kumimoji="1" lang="en-US" altLang="ja-JP" sz="2800"/>
              <a:t>a</a:t>
            </a:r>
            <a:r>
              <a:rPr lang="en-US" altLang="ja-JP" sz="2800"/>
              <a:t>_menu/shotou/new-cs</a:t>
            </a:r>
            <a:r>
              <a:rPr lang="ja-JP" altLang="en-US" sz="2800"/>
              <a:t>というディレクトリにある</a:t>
            </a:r>
            <a:endParaRPr lang="en-US" altLang="ja-JP" sz="2800"/>
          </a:p>
          <a:p>
            <a:pPr marL="457200" indent="-457200">
              <a:buAutoNum type="arabicPeriod"/>
            </a:pPr>
            <a:r>
              <a:rPr lang="en-US" altLang="ja-JP" sz="2800"/>
              <a:t>index.html</a:t>
            </a:r>
            <a:r>
              <a:rPr lang="ja-JP" altLang="en-US" sz="2800"/>
              <a:t>というファイルの情報をください</a:t>
            </a:r>
            <a:endParaRPr lang="en-US" altLang="ja-JP" sz="2800"/>
          </a:p>
        </p:txBody>
      </p:sp>
      <p:pic>
        <p:nvPicPr>
          <p:cNvPr id="14" name="Picture 2" descr="パソコンを使う人のイラスト（男性・笑顔）">
            <a:extLst>
              <a:ext uri="{FF2B5EF4-FFF2-40B4-BE49-F238E27FC236}">
                <a16:creationId xmlns:a16="http://schemas.microsoft.com/office/drawing/2014/main" id="{419A9F41-6756-4992-8239-491BE15F9B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0" y="5589240"/>
            <a:ext cx="717080" cy="1041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4">
            <a:extLst>
              <a:ext uri="{FF2B5EF4-FFF2-40B4-BE49-F238E27FC236}">
                <a16:creationId xmlns:a16="http://schemas.microsoft.com/office/drawing/2014/main" id="{689731A5-B0B4-4C17-B1C9-1E4657EFE7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1760" y="5157192"/>
            <a:ext cx="594025" cy="594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6" descr="データセンターのイラスト（単体）">
            <a:extLst>
              <a:ext uri="{FF2B5EF4-FFF2-40B4-BE49-F238E27FC236}">
                <a16:creationId xmlns:a16="http://schemas.microsoft.com/office/drawing/2014/main" id="{2CED8E98-B9AD-4DC5-827C-018F774107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9952" y="4941168"/>
            <a:ext cx="603357" cy="9073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フローチャート: 磁気ディスク 16">
            <a:extLst>
              <a:ext uri="{FF2B5EF4-FFF2-40B4-BE49-F238E27FC236}">
                <a16:creationId xmlns:a16="http://schemas.microsoft.com/office/drawing/2014/main" id="{9CAA5BB8-1AEC-42FA-97EA-CE0727066798}"/>
              </a:ext>
            </a:extLst>
          </p:cNvPr>
          <p:cNvSpPr/>
          <p:nvPr/>
        </p:nvSpPr>
        <p:spPr>
          <a:xfrm>
            <a:off x="5652120" y="5661248"/>
            <a:ext cx="673228" cy="594025"/>
          </a:xfrm>
          <a:prstGeom prst="flowChartMagneticDisk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矢印: 左右 17">
            <a:extLst>
              <a:ext uri="{FF2B5EF4-FFF2-40B4-BE49-F238E27FC236}">
                <a16:creationId xmlns:a16="http://schemas.microsoft.com/office/drawing/2014/main" id="{0952829A-0A26-4376-BC43-B6487A9DBF5F}"/>
              </a:ext>
            </a:extLst>
          </p:cNvPr>
          <p:cNvSpPr/>
          <p:nvPr/>
        </p:nvSpPr>
        <p:spPr>
          <a:xfrm>
            <a:off x="3275856" y="5229200"/>
            <a:ext cx="673228" cy="237610"/>
          </a:xfrm>
          <a:prstGeom prst="left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矢印: 左右 18">
            <a:extLst>
              <a:ext uri="{FF2B5EF4-FFF2-40B4-BE49-F238E27FC236}">
                <a16:creationId xmlns:a16="http://schemas.microsoft.com/office/drawing/2014/main" id="{A00AFD04-6363-4E96-98CC-1C0E57FE60D4}"/>
              </a:ext>
            </a:extLst>
          </p:cNvPr>
          <p:cNvSpPr/>
          <p:nvPr/>
        </p:nvSpPr>
        <p:spPr>
          <a:xfrm rot="2500169">
            <a:off x="4853853" y="5566950"/>
            <a:ext cx="673228" cy="237610"/>
          </a:xfrm>
          <a:prstGeom prst="left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矢印: 左右 19">
            <a:extLst>
              <a:ext uri="{FF2B5EF4-FFF2-40B4-BE49-F238E27FC236}">
                <a16:creationId xmlns:a16="http://schemas.microsoft.com/office/drawing/2014/main" id="{ACE83074-3BC7-4F49-987F-26A7ACB03C07}"/>
              </a:ext>
            </a:extLst>
          </p:cNvPr>
          <p:cNvSpPr/>
          <p:nvPr/>
        </p:nvSpPr>
        <p:spPr>
          <a:xfrm rot="18900000">
            <a:off x="1605088" y="5720457"/>
            <a:ext cx="673228" cy="237610"/>
          </a:xfrm>
          <a:prstGeom prst="left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8647FBC0-F23B-4084-8CEC-3872590D8CF6}"/>
              </a:ext>
            </a:extLst>
          </p:cNvPr>
          <p:cNvSpPr txBox="1"/>
          <p:nvPr/>
        </p:nvSpPr>
        <p:spPr>
          <a:xfrm>
            <a:off x="4860032" y="6309320"/>
            <a:ext cx="2808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サーバ</a:t>
            </a:r>
            <a:r>
              <a:rPr lang="ja-JP" altLang="en-US" dirty="0"/>
              <a:t>のローカルデータ</a:t>
            </a:r>
            <a:endParaRPr kumimoji="1" lang="ja-JP" altLang="en-US" dirty="0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4860A3BB-6FC1-425E-BFC4-4DAA6FFB5E11}"/>
              </a:ext>
            </a:extLst>
          </p:cNvPr>
          <p:cNvSpPr txBox="1"/>
          <p:nvPr/>
        </p:nvSpPr>
        <p:spPr>
          <a:xfrm>
            <a:off x="3995936" y="5805264"/>
            <a:ext cx="1080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/>
              <a:t>サーバ</a:t>
            </a:r>
            <a:endParaRPr kumimoji="1" lang="ja-JP" altLang="en-US" dirty="0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61CFF7D1-7BEF-497A-B2E5-5A3A0ED95B3A}"/>
              </a:ext>
            </a:extLst>
          </p:cNvPr>
          <p:cNvSpPr txBox="1"/>
          <p:nvPr/>
        </p:nvSpPr>
        <p:spPr>
          <a:xfrm>
            <a:off x="2195736" y="5805264"/>
            <a:ext cx="1296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/>
              <a:t>ブラウザ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9382934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吹き出し: 角を丸めた四角形 5">
            <a:extLst>
              <a:ext uri="{FF2B5EF4-FFF2-40B4-BE49-F238E27FC236}">
                <a16:creationId xmlns:a16="http://schemas.microsoft.com/office/drawing/2014/main" id="{5496EAAE-2394-42A5-A61F-E3C2C6A0AF83}"/>
              </a:ext>
            </a:extLst>
          </p:cNvPr>
          <p:cNvSpPr/>
          <p:nvPr/>
        </p:nvSpPr>
        <p:spPr>
          <a:xfrm>
            <a:off x="1763688" y="2132856"/>
            <a:ext cx="4032448" cy="792088"/>
          </a:xfrm>
          <a:prstGeom prst="wedgeRoundRectCallout">
            <a:avLst>
              <a:gd name="adj1" fmla="val -46897"/>
              <a:gd name="adj2" fmla="val 77096"/>
              <a:gd name="adj3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D002FC3-8D9F-48EA-B8D5-95A16F0FAE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ウェブ</a:t>
            </a:r>
            <a:r>
              <a:rPr lang="ja-JP" altLang="en-US"/>
              <a:t>サーバとは</a:t>
            </a:r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BC48808-60A1-4E26-9C26-8DE1C565BC70}"/>
              </a:ext>
            </a:extLst>
          </p:cNvPr>
          <p:cNvSpPr txBox="1"/>
          <p:nvPr/>
        </p:nvSpPr>
        <p:spPr>
          <a:xfrm>
            <a:off x="395536" y="1124744"/>
            <a:ext cx="816922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実際にはサーバには</a:t>
            </a:r>
            <a:r>
              <a:rPr kumimoji="1" lang="en-US" altLang="ja-JP" sz="2400"/>
              <a:t>IP</a:t>
            </a:r>
            <a:r>
              <a:rPr kumimoji="1" lang="ja-JP" altLang="en-US" sz="2400"/>
              <a:t>アドレスという番号が振られている</a:t>
            </a:r>
            <a:endParaRPr kumimoji="1" lang="en-US" altLang="ja-JP" sz="2400"/>
          </a:p>
          <a:p>
            <a:r>
              <a:rPr lang="ja-JP" altLang="en-US" sz="2400"/>
              <a:t>サーバにアクセスするためには</a:t>
            </a:r>
            <a:r>
              <a:rPr lang="en-US" altLang="ja-JP" sz="2400"/>
              <a:t>IP</a:t>
            </a:r>
            <a:r>
              <a:rPr lang="ja-JP" altLang="en-US" sz="2400"/>
              <a:t>アドレスが必要</a:t>
            </a:r>
            <a:endParaRPr kumimoji="1" lang="ja-JP" altLang="en-US" sz="2400"/>
          </a:p>
        </p:txBody>
      </p:sp>
      <p:pic>
        <p:nvPicPr>
          <p:cNvPr id="4" name="Picture 2" descr="パソコンを使う人のイラスト（男性・笑顔）">
            <a:extLst>
              <a:ext uri="{FF2B5EF4-FFF2-40B4-BE49-F238E27FC236}">
                <a16:creationId xmlns:a16="http://schemas.microsoft.com/office/drawing/2014/main" id="{965B2183-584A-4FCA-87D2-9D6AFF1E64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608" y="2924944"/>
            <a:ext cx="717080" cy="1041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8" name="Picture 2" descr="ホテルのフロントのイラスト">
            <a:extLst>
              <a:ext uri="{FF2B5EF4-FFF2-40B4-BE49-F238E27FC236}">
                <a16:creationId xmlns:a16="http://schemas.microsoft.com/office/drawing/2014/main" id="{AA8F262A-02EA-4C80-ACEC-4C0F970F33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0152" y="2852936"/>
            <a:ext cx="1073274" cy="1073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5D1369D-29B7-4009-8106-ED4ADB144BF6}"/>
              </a:ext>
            </a:extLst>
          </p:cNvPr>
          <p:cNvSpPr txBox="1"/>
          <p:nvPr/>
        </p:nvSpPr>
        <p:spPr>
          <a:xfrm>
            <a:off x="1835696" y="2206605"/>
            <a:ext cx="38652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「</a:t>
            </a:r>
            <a:r>
              <a:rPr kumimoji="1" lang="en-US" altLang="ja-JP"/>
              <a:t>www.mext.go.jp</a:t>
            </a:r>
            <a:r>
              <a:rPr kumimoji="1" lang="ja-JP" altLang="en-US"/>
              <a:t>」の</a:t>
            </a:r>
            <a:r>
              <a:rPr kumimoji="1" lang="en-US" altLang="ja-JP"/>
              <a:t>IP</a:t>
            </a:r>
            <a:r>
              <a:rPr kumimoji="1" lang="ja-JP" altLang="en-US"/>
              <a:t>アドレスを</a:t>
            </a:r>
            <a:endParaRPr kumimoji="1" lang="en-US" altLang="ja-JP"/>
          </a:p>
          <a:p>
            <a:r>
              <a:rPr kumimoji="1" lang="ja-JP" altLang="en-US"/>
              <a:t>教えてください</a:t>
            </a:r>
          </a:p>
        </p:txBody>
      </p:sp>
      <p:sp>
        <p:nvSpPr>
          <p:cNvPr id="9" name="吹き出し: 角を丸めた四角形 8">
            <a:extLst>
              <a:ext uri="{FF2B5EF4-FFF2-40B4-BE49-F238E27FC236}">
                <a16:creationId xmlns:a16="http://schemas.microsoft.com/office/drawing/2014/main" id="{6E58287B-931F-45F6-8C80-EA42DFA17F1F}"/>
              </a:ext>
            </a:extLst>
          </p:cNvPr>
          <p:cNvSpPr/>
          <p:nvPr/>
        </p:nvSpPr>
        <p:spPr>
          <a:xfrm>
            <a:off x="3491880" y="3717032"/>
            <a:ext cx="2376264" cy="792088"/>
          </a:xfrm>
          <a:prstGeom prst="wedgeRoundRectCallout">
            <a:avLst>
              <a:gd name="adj1" fmla="val 46429"/>
              <a:gd name="adj2" fmla="val -80807"/>
              <a:gd name="adj3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83293FB-D288-4170-9FCC-30C95D59E8AD}"/>
              </a:ext>
            </a:extLst>
          </p:cNvPr>
          <p:cNvSpPr txBox="1"/>
          <p:nvPr/>
        </p:nvSpPr>
        <p:spPr>
          <a:xfrm>
            <a:off x="3563888" y="3862789"/>
            <a:ext cx="19159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202.238.130.103</a:t>
            </a:r>
          </a:p>
          <a:p>
            <a:r>
              <a:rPr lang="ja-JP" altLang="en-US"/>
              <a:t>です</a:t>
            </a:r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FC46F3F0-8495-4A37-87AD-904E2FACD6D2}"/>
              </a:ext>
            </a:extLst>
          </p:cNvPr>
          <p:cNvSpPr txBox="1"/>
          <p:nvPr/>
        </p:nvSpPr>
        <p:spPr>
          <a:xfrm>
            <a:off x="323528" y="5229200"/>
            <a:ext cx="84305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ホスト名とドメイン名を合わせて </a:t>
            </a:r>
            <a:r>
              <a:rPr lang="en-US" altLang="ja-JP"/>
              <a:t>FQDN(Fully Qualified Domain Name)</a:t>
            </a:r>
            <a:r>
              <a:rPr lang="ja-JP" altLang="en-US"/>
              <a:t>と呼ぶ</a:t>
            </a:r>
            <a:endParaRPr lang="en-US" altLang="ja-JP"/>
          </a:p>
          <a:p>
            <a:r>
              <a:rPr kumimoji="1" lang="en-US" altLang="ja-JP"/>
              <a:t>FQDN</a:t>
            </a:r>
            <a:r>
              <a:rPr kumimoji="1" lang="ja-JP" altLang="en-US"/>
              <a:t>から</a:t>
            </a:r>
            <a:r>
              <a:rPr kumimoji="1" lang="en-US" altLang="ja-JP"/>
              <a:t>IP</a:t>
            </a:r>
            <a:r>
              <a:rPr kumimoji="1" lang="ja-JP" altLang="en-US"/>
              <a:t>アドレスを教えてくれるのが</a:t>
            </a:r>
            <a:r>
              <a:rPr kumimoji="1" lang="en-US" altLang="ja-JP"/>
              <a:t>DNS (Domain Name System)</a:t>
            </a:r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B3338ADB-EF83-433E-B2E3-55C206E6E47D}"/>
              </a:ext>
            </a:extLst>
          </p:cNvPr>
          <p:cNvSpPr txBox="1"/>
          <p:nvPr/>
        </p:nvSpPr>
        <p:spPr>
          <a:xfrm>
            <a:off x="6156176" y="4005064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DNS</a:t>
            </a:r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8C2354A7-579E-4D11-BBFA-0188001BB780}"/>
              </a:ext>
            </a:extLst>
          </p:cNvPr>
          <p:cNvSpPr txBox="1"/>
          <p:nvPr/>
        </p:nvSpPr>
        <p:spPr>
          <a:xfrm>
            <a:off x="683568" y="400506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クライアント</a:t>
            </a:r>
          </a:p>
        </p:txBody>
      </p:sp>
    </p:spTree>
    <p:extLst>
      <p:ext uri="{BB962C8B-B14F-4D97-AF65-F5344CB8AC3E}">
        <p14:creationId xmlns:p14="http://schemas.microsoft.com/office/powerpoint/2010/main" val="41177719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8B69C74E-21FC-42E1-9FD7-4D048AA9A33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ウェブ</a:t>
            </a:r>
            <a:r>
              <a:rPr lang="ja-JP" altLang="en-US"/>
              <a:t>サーバとは</a:t>
            </a:r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9DF91C6-F578-4A18-90CF-6F8762BD5EC6}"/>
              </a:ext>
            </a:extLst>
          </p:cNvPr>
          <p:cNvSpPr txBox="1"/>
          <p:nvPr/>
        </p:nvSpPr>
        <p:spPr>
          <a:xfrm>
            <a:off x="179512" y="1196752"/>
            <a:ext cx="55707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800"/>
              <a:t>ウェブページを公開するためには</a:t>
            </a:r>
            <a:endParaRPr kumimoji="1" lang="ja-JP" altLang="en-US" sz="280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45CE0E7-962B-4BFF-AAD3-371AB5E34D5A}"/>
              </a:ext>
            </a:extLst>
          </p:cNvPr>
          <p:cNvSpPr txBox="1"/>
          <p:nvPr/>
        </p:nvSpPr>
        <p:spPr>
          <a:xfrm>
            <a:off x="1331640" y="1772816"/>
            <a:ext cx="6729727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ja-JP" altLang="en-US" sz="2800"/>
              <a:t>グローバル</a:t>
            </a:r>
            <a:r>
              <a:rPr kumimoji="1" lang="en-US" altLang="ja-JP" sz="2800"/>
              <a:t>IP</a:t>
            </a:r>
            <a:r>
              <a:rPr kumimoji="1" lang="ja-JP" altLang="en-US" sz="2800"/>
              <a:t>アドレスを持つサーバの</a:t>
            </a:r>
            <a:endParaRPr kumimoji="1" lang="en-US" altLang="ja-JP" sz="280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ja-JP" altLang="en-US" sz="2800"/>
              <a:t>適切なディレクトリに</a:t>
            </a:r>
            <a:endParaRPr lang="en-US" altLang="ja-JP" sz="280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ja-JP" altLang="en-US" sz="2800"/>
              <a:t>ファイルをアップロードする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8E6BF71-9D63-4D0F-A95F-6D512BB09DAC}"/>
              </a:ext>
            </a:extLst>
          </p:cNvPr>
          <p:cNvSpPr txBox="1"/>
          <p:nvPr/>
        </p:nvSpPr>
        <p:spPr>
          <a:xfrm>
            <a:off x="6516216" y="3284984"/>
            <a:ext cx="19800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800"/>
              <a:t>必要がある</a:t>
            </a:r>
            <a:endParaRPr kumimoji="1" lang="ja-JP" altLang="en-US" sz="2800"/>
          </a:p>
        </p:txBody>
      </p:sp>
      <p:pic>
        <p:nvPicPr>
          <p:cNvPr id="9" name="Picture 6" descr="データセンターのイラスト（単体）">
            <a:extLst>
              <a:ext uri="{FF2B5EF4-FFF2-40B4-BE49-F238E27FC236}">
                <a16:creationId xmlns:a16="http://schemas.microsoft.com/office/drawing/2014/main" id="{D1AC764C-A7B5-4242-959D-32D45D1D1B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1800" y="4149080"/>
            <a:ext cx="603357" cy="9073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フローチャート: 磁気ディスク 9">
            <a:extLst>
              <a:ext uri="{FF2B5EF4-FFF2-40B4-BE49-F238E27FC236}">
                <a16:creationId xmlns:a16="http://schemas.microsoft.com/office/drawing/2014/main" id="{5456B175-D802-439E-B688-6CF10B179230}"/>
              </a:ext>
            </a:extLst>
          </p:cNvPr>
          <p:cNvSpPr/>
          <p:nvPr/>
        </p:nvSpPr>
        <p:spPr>
          <a:xfrm>
            <a:off x="2746644" y="5445224"/>
            <a:ext cx="673228" cy="594025"/>
          </a:xfrm>
          <a:prstGeom prst="flowChartMagneticDisk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970E775-F5F2-4D2D-82E6-45A784CF9F96}"/>
              </a:ext>
            </a:extLst>
          </p:cNvPr>
          <p:cNvSpPr txBox="1"/>
          <p:nvPr/>
        </p:nvSpPr>
        <p:spPr>
          <a:xfrm>
            <a:off x="2051720" y="6165304"/>
            <a:ext cx="23042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/>
              <a:t>サーバ</a:t>
            </a:r>
            <a:r>
              <a:rPr lang="ja-JP" altLang="en-US"/>
              <a:t>の</a:t>
            </a:r>
            <a:endParaRPr lang="en-US" altLang="ja-JP"/>
          </a:p>
          <a:p>
            <a:r>
              <a:rPr lang="ja-JP" altLang="en-US"/>
              <a:t>ローカルストレージ</a:t>
            </a:r>
            <a:endParaRPr kumimoji="1" lang="ja-JP" altLang="en-US" dirty="0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ACCC5A7C-57BE-47AF-89A8-381B13C8626E}"/>
              </a:ext>
            </a:extLst>
          </p:cNvPr>
          <p:cNvSpPr txBox="1"/>
          <p:nvPr/>
        </p:nvSpPr>
        <p:spPr>
          <a:xfrm>
            <a:off x="2627784" y="3789040"/>
            <a:ext cx="1080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/>
              <a:t>サーバ</a:t>
            </a:r>
            <a:endParaRPr kumimoji="1" lang="ja-JP" altLang="en-US" dirty="0"/>
          </a:p>
        </p:txBody>
      </p:sp>
      <p:pic>
        <p:nvPicPr>
          <p:cNvPr id="17" name="Picture 2" descr="パソコンを使う人のイラスト（男性・笑顔）">
            <a:extLst>
              <a:ext uri="{FF2B5EF4-FFF2-40B4-BE49-F238E27FC236}">
                <a16:creationId xmlns:a16="http://schemas.microsoft.com/office/drawing/2014/main" id="{B450C1B2-03BA-4792-85EB-E2A9C61022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584" y="4005064"/>
            <a:ext cx="617915" cy="8973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ファイルアイコン（ブランク）">
            <a:extLst>
              <a:ext uri="{FF2B5EF4-FFF2-40B4-BE49-F238E27FC236}">
                <a16:creationId xmlns:a16="http://schemas.microsoft.com/office/drawing/2014/main" id="{057C2D6F-31C5-4A64-98AA-AE89211B96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584" y="5229200"/>
            <a:ext cx="738188" cy="857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矢印: 右 4">
            <a:extLst>
              <a:ext uri="{FF2B5EF4-FFF2-40B4-BE49-F238E27FC236}">
                <a16:creationId xmlns:a16="http://schemas.microsoft.com/office/drawing/2014/main" id="{CF3A51BA-8922-424A-A680-839C15EBBC2F}"/>
              </a:ext>
            </a:extLst>
          </p:cNvPr>
          <p:cNvSpPr/>
          <p:nvPr/>
        </p:nvSpPr>
        <p:spPr>
          <a:xfrm>
            <a:off x="1691680" y="5445224"/>
            <a:ext cx="720080" cy="41262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0" name="Picture 4">
            <a:extLst>
              <a:ext uri="{FF2B5EF4-FFF2-40B4-BE49-F238E27FC236}">
                <a16:creationId xmlns:a16="http://schemas.microsoft.com/office/drawing/2014/main" id="{F58DE6D2-64E3-41E0-B15E-4C4D5582D9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6016" y="4293096"/>
            <a:ext cx="594025" cy="594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矢印: 右 20">
            <a:extLst>
              <a:ext uri="{FF2B5EF4-FFF2-40B4-BE49-F238E27FC236}">
                <a16:creationId xmlns:a16="http://schemas.microsoft.com/office/drawing/2014/main" id="{B62B81C5-2C33-4022-80B9-AD9019B1FF5C}"/>
              </a:ext>
            </a:extLst>
          </p:cNvPr>
          <p:cNvSpPr/>
          <p:nvPr/>
        </p:nvSpPr>
        <p:spPr>
          <a:xfrm>
            <a:off x="3707904" y="4293096"/>
            <a:ext cx="720080" cy="41262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078" name="Picture 6" descr="パソコンを使う人のイラスト（女性・笑顔）">
            <a:extLst>
              <a:ext uri="{FF2B5EF4-FFF2-40B4-BE49-F238E27FC236}">
                <a16:creationId xmlns:a16="http://schemas.microsoft.com/office/drawing/2014/main" id="{241A63A4-C490-4764-B4FC-80F1B327F2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0192" y="4869160"/>
            <a:ext cx="949432" cy="13788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矢印: 右 23">
            <a:extLst>
              <a:ext uri="{FF2B5EF4-FFF2-40B4-BE49-F238E27FC236}">
                <a16:creationId xmlns:a16="http://schemas.microsoft.com/office/drawing/2014/main" id="{9E4EBF4D-D8AD-4249-BC7C-2997A0F70901}"/>
              </a:ext>
            </a:extLst>
          </p:cNvPr>
          <p:cNvSpPr/>
          <p:nvPr/>
        </p:nvSpPr>
        <p:spPr>
          <a:xfrm rot="2700000">
            <a:off x="5478020" y="4918685"/>
            <a:ext cx="720080" cy="416848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F2E91863-84C7-4B84-891C-013827ACBAF7}"/>
              </a:ext>
            </a:extLst>
          </p:cNvPr>
          <p:cNvCxnSpPr>
            <a:stCxn id="9" idx="2"/>
            <a:endCxn id="10" idx="1"/>
          </p:cNvCxnSpPr>
          <p:nvPr/>
        </p:nvCxnSpPr>
        <p:spPr>
          <a:xfrm>
            <a:off x="3073479" y="5056385"/>
            <a:ext cx="9779" cy="388839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19724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0CA5F713-2BC8-4C67-8257-CEC36E89C91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/>
              <a:t>GitHub Pages</a:t>
            </a:r>
            <a:endParaRPr kumimoji="1" lang="ja-JP" altLang="en-US"/>
          </a:p>
        </p:txBody>
      </p:sp>
      <p:sp>
        <p:nvSpPr>
          <p:cNvPr id="4" name="フローチャート: 磁気ディスク 3">
            <a:extLst>
              <a:ext uri="{FF2B5EF4-FFF2-40B4-BE49-F238E27FC236}">
                <a16:creationId xmlns:a16="http://schemas.microsoft.com/office/drawing/2014/main" id="{3BD14089-6903-4B21-A276-32CBE0705407}"/>
              </a:ext>
            </a:extLst>
          </p:cNvPr>
          <p:cNvSpPr/>
          <p:nvPr/>
        </p:nvSpPr>
        <p:spPr>
          <a:xfrm>
            <a:off x="3944948" y="5877272"/>
            <a:ext cx="673228" cy="594025"/>
          </a:xfrm>
          <a:prstGeom prst="flowChartMagneticDisk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Picture 2" descr="パソコンを使う人のイラスト（男性・笑顔）">
            <a:extLst>
              <a:ext uri="{FF2B5EF4-FFF2-40B4-BE49-F238E27FC236}">
                <a16:creationId xmlns:a16="http://schemas.microsoft.com/office/drawing/2014/main" id="{EFC352C8-4D3A-4529-966E-FE281E2DD9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1680" y="4365104"/>
            <a:ext cx="792088" cy="11503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>
            <a:extLst>
              <a:ext uri="{FF2B5EF4-FFF2-40B4-BE49-F238E27FC236}">
                <a16:creationId xmlns:a16="http://schemas.microsoft.com/office/drawing/2014/main" id="{D2A09EF8-84EB-48E8-AFBF-F943FC02B7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4168" y="4437112"/>
            <a:ext cx="594025" cy="594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矢印: 右 10">
            <a:extLst>
              <a:ext uri="{FF2B5EF4-FFF2-40B4-BE49-F238E27FC236}">
                <a16:creationId xmlns:a16="http://schemas.microsoft.com/office/drawing/2014/main" id="{47C22D7C-76DE-4590-9690-AECF57E201F4}"/>
              </a:ext>
            </a:extLst>
          </p:cNvPr>
          <p:cNvSpPr/>
          <p:nvPr/>
        </p:nvSpPr>
        <p:spPr>
          <a:xfrm>
            <a:off x="5004048" y="4509120"/>
            <a:ext cx="720080" cy="41262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2" name="Picture 6" descr="パソコンを使う人のイラスト（女性・笑顔）">
            <a:extLst>
              <a:ext uri="{FF2B5EF4-FFF2-40B4-BE49-F238E27FC236}">
                <a16:creationId xmlns:a16="http://schemas.microsoft.com/office/drawing/2014/main" id="{6E44FEDD-B8DC-4D62-8081-16D42C5478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84368" y="3933056"/>
            <a:ext cx="949432" cy="13788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矢印: 右 12">
            <a:extLst>
              <a:ext uri="{FF2B5EF4-FFF2-40B4-BE49-F238E27FC236}">
                <a16:creationId xmlns:a16="http://schemas.microsoft.com/office/drawing/2014/main" id="{789FB12F-037B-46FC-9F9E-F147C0E3CF34}"/>
              </a:ext>
            </a:extLst>
          </p:cNvPr>
          <p:cNvSpPr/>
          <p:nvPr/>
        </p:nvSpPr>
        <p:spPr>
          <a:xfrm>
            <a:off x="6876256" y="4509120"/>
            <a:ext cx="720080" cy="416848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374B824F-9D6C-474A-ABBE-E25A3E5E31B3}"/>
              </a:ext>
            </a:extLst>
          </p:cNvPr>
          <p:cNvSpPr txBox="1"/>
          <p:nvPr/>
        </p:nvSpPr>
        <p:spPr>
          <a:xfrm>
            <a:off x="251520" y="1196752"/>
            <a:ext cx="849694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/>
              <a:t>GitHub </a:t>
            </a:r>
            <a:r>
              <a:rPr kumimoji="1" lang="ja-JP" altLang="en-US" sz="2400"/>
              <a:t>に公開しているリポジトリから、</a:t>
            </a:r>
            <a:r>
              <a:rPr kumimoji="1" lang="en-US" altLang="ja-JP" sz="2400"/>
              <a:t>HTML</a:t>
            </a:r>
            <a:r>
              <a:rPr kumimoji="1" lang="ja-JP" altLang="en-US" sz="2400"/>
              <a:t>や</a:t>
            </a:r>
            <a:r>
              <a:rPr kumimoji="1" lang="en-US" altLang="ja-JP" sz="2400"/>
              <a:t>JavaScript,</a:t>
            </a:r>
          </a:p>
          <a:p>
            <a:r>
              <a:rPr lang="en-US" altLang="ja-JP" sz="2400"/>
              <a:t>CSS</a:t>
            </a:r>
            <a:r>
              <a:rPr lang="ja-JP" altLang="en-US" sz="2400"/>
              <a:t>などを取得し、ウェブサイトを公開できる</a:t>
            </a:r>
            <a:r>
              <a:rPr lang="ja-JP" altLang="en-US" sz="2400">
                <a:solidFill>
                  <a:srgbClr val="FF0000"/>
                </a:solidFill>
              </a:rPr>
              <a:t>静的ホスティングサービス</a:t>
            </a:r>
            <a:endParaRPr kumimoji="1" lang="en-US" altLang="ja-JP" sz="2400">
              <a:solidFill>
                <a:srgbClr val="FF0000"/>
              </a:solidFill>
            </a:endParaRPr>
          </a:p>
        </p:txBody>
      </p:sp>
      <p:pic>
        <p:nvPicPr>
          <p:cNvPr id="17" name="図 16" descr="挿絵 が含まれている画像&#10;&#10;自動的に生成された説明">
            <a:extLst>
              <a:ext uri="{FF2B5EF4-FFF2-40B4-BE49-F238E27FC236}">
                <a16:creationId xmlns:a16="http://schemas.microsoft.com/office/drawing/2014/main" id="{113CDFDC-F91B-49E5-9D75-99C45F41939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1920" y="4293096"/>
            <a:ext cx="864096" cy="864096"/>
          </a:xfrm>
          <a:prstGeom prst="rect">
            <a:avLst/>
          </a:prstGeom>
        </p:spPr>
      </p:pic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628EB363-63F0-4853-BB62-5AA549A05935}"/>
              </a:ext>
            </a:extLst>
          </p:cNvPr>
          <p:cNvSpPr txBox="1"/>
          <p:nvPr/>
        </p:nvSpPr>
        <p:spPr>
          <a:xfrm>
            <a:off x="5121999" y="3140968"/>
            <a:ext cx="387798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外からウェブサイトとして</a:t>
            </a:r>
            <a:endParaRPr lang="en-US" altLang="ja-JP" sz="2400"/>
          </a:p>
          <a:p>
            <a:r>
              <a:rPr kumimoji="1" lang="ja-JP" altLang="en-US" sz="2400"/>
              <a:t>閲覧できる</a:t>
            </a:r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327E4EFE-0A43-4B0A-B224-AF992CEC0395}"/>
              </a:ext>
            </a:extLst>
          </p:cNvPr>
          <p:cNvCxnSpPr>
            <a:stCxn id="17" idx="2"/>
            <a:endCxn id="4" idx="1"/>
          </p:cNvCxnSpPr>
          <p:nvPr/>
        </p:nvCxnSpPr>
        <p:spPr>
          <a:xfrm flipH="1">
            <a:off x="4281562" y="5157192"/>
            <a:ext cx="2406" cy="720080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A2C24C18-A396-4362-AC6C-9CCC24025E01}"/>
              </a:ext>
            </a:extLst>
          </p:cNvPr>
          <p:cNvSpPr txBox="1"/>
          <p:nvPr/>
        </p:nvSpPr>
        <p:spPr>
          <a:xfrm>
            <a:off x="179512" y="2996952"/>
            <a:ext cx="418576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ウェブサイトとして公開する</a:t>
            </a:r>
            <a:endParaRPr lang="en-US" altLang="ja-JP" sz="2400"/>
          </a:p>
          <a:p>
            <a:r>
              <a:rPr kumimoji="1" lang="ja-JP" altLang="en-US" sz="2400"/>
              <a:t>リポジトリ、ブランチ、</a:t>
            </a:r>
            <a:endParaRPr kumimoji="1" lang="en-US" altLang="ja-JP" sz="2400"/>
          </a:p>
          <a:p>
            <a:r>
              <a:rPr kumimoji="1" lang="ja-JP" altLang="en-US" sz="2400"/>
              <a:t>ディレクトリを</a:t>
            </a:r>
            <a:r>
              <a:rPr lang="ja-JP" altLang="en-US" sz="2400"/>
              <a:t>指定</a:t>
            </a:r>
            <a:endParaRPr kumimoji="1" lang="en-US" altLang="ja-JP" sz="2400"/>
          </a:p>
        </p:txBody>
      </p:sp>
      <p:sp>
        <p:nvSpPr>
          <p:cNvPr id="23" name="矢印: 右 22">
            <a:extLst>
              <a:ext uri="{FF2B5EF4-FFF2-40B4-BE49-F238E27FC236}">
                <a16:creationId xmlns:a16="http://schemas.microsoft.com/office/drawing/2014/main" id="{AEC91C52-23B5-4F57-9FB6-45205924A427}"/>
              </a:ext>
            </a:extLst>
          </p:cNvPr>
          <p:cNvSpPr/>
          <p:nvPr/>
        </p:nvSpPr>
        <p:spPr>
          <a:xfrm>
            <a:off x="2843808" y="4581128"/>
            <a:ext cx="720080" cy="41262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9404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4D1812B7-A74B-7982-A221-A753B12AA6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 dirty="0"/>
              <a:t>課題</a:t>
            </a:r>
            <a:r>
              <a:rPr lang="en-US" altLang="ja-JP" dirty="0"/>
              <a:t>1 - Step 1</a:t>
            </a:r>
            <a:endParaRPr kumimoji="1" lang="ja-JP" altLang="en-US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B914D258-3F37-AB3E-D271-39A034EA26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1916832"/>
            <a:ext cx="6552728" cy="4677343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B924137-A889-E3B5-4CA2-8516B5F59747}"/>
              </a:ext>
            </a:extLst>
          </p:cNvPr>
          <p:cNvSpPr txBox="1"/>
          <p:nvPr/>
        </p:nvSpPr>
        <p:spPr>
          <a:xfrm>
            <a:off x="107504" y="908720"/>
            <a:ext cx="305885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dirty="0"/>
              <a:t>リポジトリの</a:t>
            </a:r>
            <a:r>
              <a:rPr kumimoji="1" lang="en-US" altLang="ja-JP" sz="2800" dirty="0"/>
              <a:t>Fork</a:t>
            </a:r>
            <a:endParaRPr kumimoji="1" lang="ja-JP" altLang="en-US" sz="2800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6472F0C-D1A9-B51A-EF5E-BAA2FE75D52A}"/>
              </a:ext>
            </a:extLst>
          </p:cNvPr>
          <p:cNvSpPr txBox="1"/>
          <p:nvPr/>
        </p:nvSpPr>
        <p:spPr>
          <a:xfrm>
            <a:off x="251520" y="1412776"/>
            <a:ext cx="46805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dirty="0"/>
              <a:t>https://github.com/cpss2026-git/pages-sample</a:t>
            </a:r>
            <a:endParaRPr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62462F9-6C25-9726-30B5-2144302F8E67}"/>
              </a:ext>
            </a:extLst>
          </p:cNvPr>
          <p:cNvSpPr txBox="1"/>
          <p:nvPr/>
        </p:nvSpPr>
        <p:spPr>
          <a:xfrm>
            <a:off x="4860032" y="1340768"/>
            <a:ext cx="38779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にアクセスして、</a:t>
            </a:r>
            <a:r>
              <a:rPr lang="en-US" altLang="ja-JP" dirty="0"/>
              <a:t>Fork</a:t>
            </a:r>
            <a:r>
              <a:rPr lang="ja-JP" altLang="en-US" dirty="0"/>
              <a:t>ボタンを押す</a:t>
            </a:r>
            <a:endParaRPr kumimoji="1" lang="ja-JP" altLang="en-US" dirty="0"/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4F1C6C43-B3B9-B45C-5DF5-E511007AB91A}"/>
              </a:ext>
            </a:extLst>
          </p:cNvPr>
          <p:cNvSpPr/>
          <p:nvPr/>
        </p:nvSpPr>
        <p:spPr>
          <a:xfrm>
            <a:off x="4572000" y="2420888"/>
            <a:ext cx="576064" cy="216024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953270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50A018E2-45F7-19F2-2864-7E4B656D53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7" y="2276872"/>
            <a:ext cx="3743777" cy="2743862"/>
          </a:xfrm>
          <a:prstGeom prst="rect">
            <a:avLst/>
          </a:prstGeom>
        </p:spPr>
      </p:pic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34DC477-A699-C523-2ED3-7B5F9268CF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 dirty="0"/>
              <a:t>課題</a:t>
            </a:r>
            <a:r>
              <a:rPr lang="en-US" altLang="ja-JP" dirty="0"/>
              <a:t>1 - Step 1</a:t>
            </a:r>
            <a:endParaRPr kumimoji="1" lang="ja-JP" altLang="en-US" dirty="0"/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FD2FFC8E-31C0-5094-75A8-69E43C5FADD2}"/>
              </a:ext>
            </a:extLst>
          </p:cNvPr>
          <p:cNvSpPr/>
          <p:nvPr/>
        </p:nvSpPr>
        <p:spPr>
          <a:xfrm>
            <a:off x="2915816" y="4725144"/>
            <a:ext cx="432048" cy="14401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5B31E4F-CF47-4F17-4499-3F2CC244A836}"/>
              </a:ext>
            </a:extLst>
          </p:cNvPr>
          <p:cNvSpPr txBox="1"/>
          <p:nvPr/>
        </p:nvSpPr>
        <p:spPr>
          <a:xfrm>
            <a:off x="-12751" y="5157192"/>
            <a:ext cx="417293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こんな画面になるので「</a:t>
            </a:r>
            <a:r>
              <a:rPr lang="en-US" altLang="ja-JP" dirty="0"/>
              <a:t>Create Fork</a:t>
            </a:r>
            <a:r>
              <a:rPr lang="ja-JP" altLang="en-US" dirty="0"/>
              <a:t>」</a:t>
            </a:r>
            <a:endParaRPr lang="en-US" altLang="ja-JP" dirty="0"/>
          </a:p>
          <a:p>
            <a:r>
              <a:rPr lang="ja-JP" altLang="en-US" dirty="0"/>
              <a:t>ボタンを押す</a:t>
            </a:r>
            <a:endParaRPr kumimoji="1" lang="ja-JP" altLang="en-US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42DEF993-38E3-77CB-B70A-306AD44767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4008" y="1988840"/>
            <a:ext cx="4187752" cy="3687939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4D9D2B9-9E1D-9638-576D-1F86E53D63A2}"/>
              </a:ext>
            </a:extLst>
          </p:cNvPr>
          <p:cNvSpPr txBox="1"/>
          <p:nvPr/>
        </p:nvSpPr>
        <p:spPr>
          <a:xfrm>
            <a:off x="4644008" y="1124744"/>
            <a:ext cx="36471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自分のアカウントにリポジトリが</a:t>
            </a:r>
            <a:endParaRPr lang="en-US" altLang="ja-JP" dirty="0"/>
          </a:p>
          <a:p>
            <a:r>
              <a:rPr kumimoji="1" lang="ja-JP" altLang="en-US" dirty="0"/>
              <a:t>コピーされる</a:t>
            </a:r>
          </a:p>
        </p:txBody>
      </p:sp>
      <p:sp>
        <p:nvSpPr>
          <p:cNvPr id="10" name="矢印: 右 9">
            <a:extLst>
              <a:ext uri="{FF2B5EF4-FFF2-40B4-BE49-F238E27FC236}">
                <a16:creationId xmlns:a16="http://schemas.microsoft.com/office/drawing/2014/main" id="{B2641B4E-2871-3DB0-20FD-60B28A33CD45}"/>
              </a:ext>
            </a:extLst>
          </p:cNvPr>
          <p:cNvSpPr/>
          <p:nvPr/>
        </p:nvSpPr>
        <p:spPr>
          <a:xfrm>
            <a:off x="3995936" y="3501008"/>
            <a:ext cx="360040" cy="41262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B748CA39-7D9D-4551-4470-F1CD9FED001F}"/>
              </a:ext>
            </a:extLst>
          </p:cNvPr>
          <p:cNvSpPr/>
          <p:nvPr/>
        </p:nvSpPr>
        <p:spPr>
          <a:xfrm>
            <a:off x="4644008" y="2276872"/>
            <a:ext cx="864096" cy="216024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3" name="コネクタ: カギ線 12">
            <a:extLst>
              <a:ext uri="{FF2B5EF4-FFF2-40B4-BE49-F238E27FC236}">
                <a16:creationId xmlns:a16="http://schemas.microsoft.com/office/drawing/2014/main" id="{214C9CDB-84AE-8062-C3D0-8FCDF5698089}"/>
              </a:ext>
            </a:extLst>
          </p:cNvPr>
          <p:cNvCxnSpPr>
            <a:stCxn id="9" idx="1"/>
            <a:endCxn id="11" idx="1"/>
          </p:cNvCxnSpPr>
          <p:nvPr/>
        </p:nvCxnSpPr>
        <p:spPr>
          <a:xfrm rot="10800000" flipV="1">
            <a:off x="4644008" y="1447910"/>
            <a:ext cx="12700" cy="936974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19376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D6C3448F-A855-4158-9540-663E3B8AF3D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 dirty="0"/>
              <a:t>課題</a:t>
            </a:r>
            <a:r>
              <a:rPr lang="en-US" altLang="ja-JP" dirty="0"/>
              <a:t>1 - Step 2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E156FCE-5CDF-4D18-BB50-30D49482D9E1}"/>
              </a:ext>
            </a:extLst>
          </p:cNvPr>
          <p:cNvSpPr txBox="1"/>
          <p:nvPr/>
        </p:nvSpPr>
        <p:spPr>
          <a:xfrm>
            <a:off x="251520" y="980728"/>
            <a:ext cx="22813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/>
              <a:t>Pages</a:t>
            </a:r>
            <a:r>
              <a:rPr kumimoji="1" lang="ja-JP" altLang="en-US" sz="2800"/>
              <a:t>の設定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B2AB1E34-47E2-420C-98E5-7CFD04BBDC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2492896"/>
            <a:ext cx="7560840" cy="2028874"/>
          </a:xfrm>
          <a:prstGeom prst="rect">
            <a:avLst/>
          </a:prstGeom>
        </p:spPr>
      </p:pic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8A938504-F626-480B-A7F9-FA2CCE841EAB}"/>
              </a:ext>
            </a:extLst>
          </p:cNvPr>
          <p:cNvSpPr/>
          <p:nvPr/>
        </p:nvSpPr>
        <p:spPr>
          <a:xfrm>
            <a:off x="5868144" y="3501008"/>
            <a:ext cx="864096" cy="36004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3A641D98-35D1-40F1-B40A-72FFA187BAEE}"/>
              </a:ext>
            </a:extLst>
          </p:cNvPr>
          <p:cNvSpPr txBox="1"/>
          <p:nvPr/>
        </p:nvSpPr>
        <p:spPr>
          <a:xfrm>
            <a:off x="395536" y="1700808"/>
            <a:ext cx="80970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Fork</a:t>
            </a:r>
            <a:r>
              <a:rPr kumimoji="1" lang="ja-JP" altLang="en-US"/>
              <a:t>されたリポジトリ</a:t>
            </a:r>
            <a:r>
              <a:rPr kumimoji="1" lang="en-US" altLang="ja-JP"/>
              <a:t>(</a:t>
            </a:r>
            <a:r>
              <a:rPr kumimoji="1" lang="ja-JP" altLang="en-US"/>
              <a:t>自分のアカウントに表示されたもの</a:t>
            </a:r>
            <a:r>
              <a:rPr kumimoji="1" lang="en-US" altLang="ja-JP"/>
              <a:t>)</a:t>
            </a:r>
            <a:r>
              <a:rPr kumimoji="1" lang="ja-JP" altLang="en-US"/>
              <a:t>の</a:t>
            </a:r>
            <a:r>
              <a:rPr kumimoji="1" lang="en-US" altLang="ja-JP"/>
              <a:t>Settings</a:t>
            </a:r>
            <a:r>
              <a:rPr kumimoji="1" lang="ja-JP" altLang="en-US"/>
              <a:t>を押す</a:t>
            </a:r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18BD49BD-761E-4FC6-BA7A-F670B3044C2B}"/>
              </a:ext>
            </a:extLst>
          </p:cNvPr>
          <p:cNvCxnSpPr>
            <a:cxnSpLocks/>
            <a:endCxn id="5" idx="3"/>
          </p:cNvCxnSpPr>
          <p:nvPr/>
        </p:nvCxnSpPr>
        <p:spPr>
          <a:xfrm rot="5400000">
            <a:off x="6174179" y="2618909"/>
            <a:ext cx="1620180" cy="504058"/>
          </a:xfrm>
          <a:prstGeom prst="bentConnector2">
            <a:avLst/>
          </a:prstGeom>
          <a:ln w="28575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14367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503F0A52-B5B6-4CDF-CDB9-104A3300EEF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 dirty="0"/>
              <a:t>課題</a:t>
            </a:r>
            <a:r>
              <a:rPr lang="en-US" altLang="ja-JP" dirty="0"/>
              <a:t>1 - Step 2</a:t>
            </a:r>
            <a:endParaRPr kumimoji="1" lang="ja-JP" altLang="en-US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B888E191-DEE7-11A1-1952-64B9347750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6" y="1484784"/>
            <a:ext cx="6690940" cy="4991533"/>
          </a:xfrm>
          <a:prstGeom prst="rect">
            <a:avLst/>
          </a:prstGeom>
        </p:spPr>
      </p:pic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519CCDB9-7E3F-4D45-9632-EAB505F3D5ED}"/>
              </a:ext>
            </a:extLst>
          </p:cNvPr>
          <p:cNvSpPr/>
          <p:nvPr/>
        </p:nvSpPr>
        <p:spPr>
          <a:xfrm>
            <a:off x="827584" y="6093296"/>
            <a:ext cx="1944216" cy="28803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39731700-EC86-D5ED-926D-01B175817E0E}"/>
              </a:ext>
            </a:extLst>
          </p:cNvPr>
          <p:cNvSpPr/>
          <p:nvPr/>
        </p:nvSpPr>
        <p:spPr>
          <a:xfrm>
            <a:off x="432048" y="5661248"/>
            <a:ext cx="360040" cy="360040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１</a:t>
            </a: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A9D37EEC-D786-4DC5-22B1-79F3791CDDD8}"/>
              </a:ext>
            </a:extLst>
          </p:cNvPr>
          <p:cNvSpPr/>
          <p:nvPr/>
        </p:nvSpPr>
        <p:spPr>
          <a:xfrm>
            <a:off x="2915816" y="5949280"/>
            <a:ext cx="792088" cy="28803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5C0DCDCE-01E0-DC3B-8782-FA95F6DF5DB1}"/>
              </a:ext>
            </a:extLst>
          </p:cNvPr>
          <p:cNvSpPr/>
          <p:nvPr/>
        </p:nvSpPr>
        <p:spPr>
          <a:xfrm>
            <a:off x="3779912" y="5949280"/>
            <a:ext cx="792088" cy="28803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B122661C-5C60-68D5-6B9E-73044064C3AB}"/>
              </a:ext>
            </a:extLst>
          </p:cNvPr>
          <p:cNvSpPr/>
          <p:nvPr/>
        </p:nvSpPr>
        <p:spPr>
          <a:xfrm>
            <a:off x="4572000" y="5949280"/>
            <a:ext cx="504056" cy="28803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楕円 11">
            <a:extLst>
              <a:ext uri="{FF2B5EF4-FFF2-40B4-BE49-F238E27FC236}">
                <a16:creationId xmlns:a16="http://schemas.microsoft.com/office/drawing/2014/main" id="{A1DC40A7-9AC6-5333-0068-31C2C74B0A5A}"/>
              </a:ext>
            </a:extLst>
          </p:cNvPr>
          <p:cNvSpPr/>
          <p:nvPr/>
        </p:nvSpPr>
        <p:spPr>
          <a:xfrm>
            <a:off x="3203848" y="6381328"/>
            <a:ext cx="360040" cy="360040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2</a:t>
            </a:r>
            <a:endParaRPr kumimoji="1" lang="ja-JP" altLang="en-US" dirty="0"/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23666AA7-8F51-95E0-1179-DED31B2EB111}"/>
              </a:ext>
            </a:extLst>
          </p:cNvPr>
          <p:cNvSpPr/>
          <p:nvPr/>
        </p:nvSpPr>
        <p:spPr>
          <a:xfrm>
            <a:off x="3995936" y="6381328"/>
            <a:ext cx="360040" cy="360040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3</a:t>
            </a:r>
            <a:endParaRPr kumimoji="1" lang="ja-JP" altLang="en-US" dirty="0"/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7FC36481-408B-37EC-46E8-BDE21BBAADBE}"/>
              </a:ext>
            </a:extLst>
          </p:cNvPr>
          <p:cNvSpPr/>
          <p:nvPr/>
        </p:nvSpPr>
        <p:spPr>
          <a:xfrm>
            <a:off x="4644008" y="6381328"/>
            <a:ext cx="360040" cy="360040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4</a:t>
            </a:r>
            <a:endParaRPr kumimoji="1" lang="ja-JP" altLang="en-US" dirty="0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E429D7D0-4A1B-40EB-5887-6DE896916E1A}"/>
              </a:ext>
            </a:extLst>
          </p:cNvPr>
          <p:cNvSpPr txBox="1"/>
          <p:nvPr/>
        </p:nvSpPr>
        <p:spPr>
          <a:xfrm>
            <a:off x="200526" y="1052736"/>
            <a:ext cx="89434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1. Pages</a:t>
            </a:r>
            <a:r>
              <a:rPr kumimoji="1" lang="ja-JP" altLang="en-US"/>
              <a:t>を選ぶ　</a:t>
            </a:r>
            <a:r>
              <a:rPr kumimoji="1" lang="en-US" altLang="ja-JP"/>
              <a:t>2. main</a:t>
            </a:r>
            <a:r>
              <a:rPr kumimoji="1" lang="ja-JP" altLang="en-US"/>
              <a:t>ブランチを選ぶ </a:t>
            </a:r>
            <a:r>
              <a:rPr kumimoji="1" lang="en-US" altLang="ja-JP"/>
              <a:t>3. </a:t>
            </a:r>
            <a:r>
              <a:rPr kumimoji="1" lang="ja-JP" altLang="en-US"/>
              <a:t>フォルダは </a:t>
            </a:r>
            <a:r>
              <a:rPr kumimoji="1" lang="en-US" altLang="ja-JP"/>
              <a:t>/docs</a:t>
            </a:r>
            <a:r>
              <a:rPr kumimoji="1" lang="ja-JP" altLang="en-US"/>
              <a:t>を選ぶ </a:t>
            </a:r>
            <a:r>
              <a:rPr kumimoji="1" lang="en-US" altLang="ja-JP"/>
              <a:t>4. Save</a:t>
            </a:r>
            <a:r>
              <a:rPr kumimoji="1" lang="ja-JP" altLang="en-US"/>
              <a:t>を押す</a:t>
            </a:r>
          </a:p>
        </p:txBody>
      </p:sp>
    </p:spTree>
    <p:extLst>
      <p:ext uri="{BB962C8B-B14F-4D97-AF65-F5344CB8AC3E}">
        <p14:creationId xmlns:p14="http://schemas.microsoft.com/office/powerpoint/2010/main" val="30134490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E1A0862-F859-4E80-9DB1-767B0B1B307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課題</a:t>
            </a:r>
            <a:r>
              <a:rPr lang="en-US" altLang="ja-JP"/>
              <a:t>1 - Step 2</a:t>
            </a:r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A43B34A-8807-4B1B-96FC-EF51D9BED51B}"/>
              </a:ext>
            </a:extLst>
          </p:cNvPr>
          <p:cNvSpPr txBox="1"/>
          <p:nvPr/>
        </p:nvSpPr>
        <p:spPr>
          <a:xfrm>
            <a:off x="395536" y="1196752"/>
            <a:ext cx="81852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800" dirty="0"/>
              <a:t>Save</a:t>
            </a:r>
            <a:r>
              <a:rPr lang="ja-JP" altLang="en-US" sz="2800" dirty="0"/>
              <a:t>ボタンを押してから</a:t>
            </a:r>
            <a:r>
              <a:rPr kumimoji="1" lang="ja-JP" altLang="en-US" sz="2800" dirty="0">
                <a:solidFill>
                  <a:srgbClr val="FF0000"/>
                </a:solidFill>
              </a:rPr>
              <a:t>数分待ってから</a:t>
            </a:r>
            <a:r>
              <a:rPr kumimoji="1" lang="ja-JP" altLang="en-US" sz="2800" dirty="0"/>
              <a:t>リロード</a:t>
            </a: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B33D12E-1F25-61E0-4E9E-52B09A0BCD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1844824"/>
            <a:ext cx="7020272" cy="4050157"/>
          </a:xfrm>
          <a:prstGeom prst="rect">
            <a:avLst/>
          </a:prstGeom>
        </p:spPr>
      </p:pic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A902148F-A49B-E6D9-73B7-DC0C3464DFC6}"/>
              </a:ext>
            </a:extLst>
          </p:cNvPr>
          <p:cNvSpPr/>
          <p:nvPr/>
        </p:nvSpPr>
        <p:spPr>
          <a:xfrm>
            <a:off x="5868144" y="3645024"/>
            <a:ext cx="720080" cy="288032"/>
          </a:xfrm>
          <a:prstGeom prst="roundRect">
            <a:avLst>
              <a:gd name="adj" fmla="val 27521"/>
            </a:avLst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2439AFA-782F-3CFD-0C28-AB855FC9B30F}"/>
              </a:ext>
            </a:extLst>
          </p:cNvPr>
          <p:cNvSpPr txBox="1"/>
          <p:nvPr/>
        </p:nvSpPr>
        <p:spPr>
          <a:xfrm>
            <a:off x="539552" y="6093296"/>
            <a:ext cx="7533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「</a:t>
            </a:r>
            <a:r>
              <a:rPr kumimoji="1" lang="en-US" altLang="ja-JP" dirty="0"/>
              <a:t>Your site is live at ....</a:t>
            </a:r>
            <a:r>
              <a:rPr kumimoji="1" lang="ja-JP" altLang="en-US" dirty="0"/>
              <a:t>」という表示が現れた</a:t>
            </a:r>
            <a:r>
              <a:rPr lang="ja-JP" altLang="en-US" dirty="0"/>
              <a:t>ら「</a:t>
            </a:r>
            <a:r>
              <a:rPr lang="en-US" altLang="ja-JP" dirty="0"/>
              <a:t>Visit site</a:t>
            </a:r>
            <a:r>
              <a:rPr lang="ja-JP" altLang="en-US" dirty="0"/>
              <a:t>」をクリック</a:t>
            </a:r>
            <a:endParaRPr kumimoji="1" lang="ja-JP" altLang="en-US" dirty="0"/>
          </a:p>
        </p:txBody>
      </p:sp>
      <p:cxnSp>
        <p:nvCxnSpPr>
          <p:cNvPr id="12" name="コネクタ: カギ線 11">
            <a:extLst>
              <a:ext uri="{FF2B5EF4-FFF2-40B4-BE49-F238E27FC236}">
                <a16:creationId xmlns:a16="http://schemas.microsoft.com/office/drawing/2014/main" id="{B4321C9F-C677-B437-05DE-BC152EE2AC18}"/>
              </a:ext>
            </a:extLst>
          </p:cNvPr>
          <p:cNvCxnSpPr>
            <a:stCxn id="10" idx="3"/>
            <a:endCxn id="9" idx="3"/>
          </p:cNvCxnSpPr>
          <p:nvPr/>
        </p:nvCxnSpPr>
        <p:spPr>
          <a:xfrm flipH="1" flipV="1">
            <a:off x="6588224" y="3789040"/>
            <a:ext cx="1484480" cy="2488922"/>
          </a:xfrm>
          <a:prstGeom prst="bentConnector3">
            <a:avLst>
              <a:gd name="adj1" fmla="val -15399"/>
            </a:avLst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76752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9B004064-74B3-4C3A-A6AE-24808C59E8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課題</a:t>
            </a:r>
            <a:r>
              <a:rPr lang="en-US" altLang="ja-JP"/>
              <a:t>1 - Step 3</a:t>
            </a:r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DD29521-8C8F-4F33-A7A8-49D2026845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1640" y="1412776"/>
            <a:ext cx="5400600" cy="4716642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E680A15-8921-4C03-A8FC-9229C1BA7F57}"/>
              </a:ext>
            </a:extLst>
          </p:cNvPr>
          <p:cNvSpPr txBox="1"/>
          <p:nvPr/>
        </p:nvSpPr>
        <p:spPr>
          <a:xfrm>
            <a:off x="2051720" y="908720"/>
            <a:ext cx="38779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数字認識できることを確認</a:t>
            </a:r>
            <a:endParaRPr kumimoji="1" lang="ja-JP" altLang="en-US" sz="24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546189E-1E00-4298-958C-2808FBF3193C}"/>
              </a:ext>
            </a:extLst>
          </p:cNvPr>
          <p:cNvSpPr txBox="1"/>
          <p:nvPr/>
        </p:nvSpPr>
        <p:spPr>
          <a:xfrm>
            <a:off x="1331640" y="616530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マウスでここに入力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3A6A6081-B2D2-4B2F-AC6C-28380693BFC0}"/>
              </a:ext>
            </a:extLst>
          </p:cNvPr>
          <p:cNvSpPr/>
          <p:nvPr/>
        </p:nvSpPr>
        <p:spPr>
          <a:xfrm>
            <a:off x="3455876" y="2348880"/>
            <a:ext cx="504056" cy="576064"/>
          </a:xfrm>
          <a:prstGeom prst="roundRect">
            <a:avLst>
              <a:gd name="adj" fmla="val 1989"/>
            </a:avLst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E6330442-3FDA-4FB1-9CA6-93485B8E7141}"/>
              </a:ext>
            </a:extLst>
          </p:cNvPr>
          <p:cNvSpPr txBox="1"/>
          <p:nvPr/>
        </p:nvSpPr>
        <p:spPr>
          <a:xfrm>
            <a:off x="4283968" y="170080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判定結果</a:t>
            </a:r>
            <a:endParaRPr kumimoji="1" lang="ja-JP" altLang="en-US"/>
          </a:p>
        </p:txBody>
      </p:sp>
      <p:cxnSp>
        <p:nvCxnSpPr>
          <p:cNvPr id="13" name="コネクタ: カギ線 12">
            <a:extLst>
              <a:ext uri="{FF2B5EF4-FFF2-40B4-BE49-F238E27FC236}">
                <a16:creationId xmlns:a16="http://schemas.microsoft.com/office/drawing/2014/main" id="{05AFA731-9F44-462A-BBC4-32E2F38B72A6}"/>
              </a:ext>
            </a:extLst>
          </p:cNvPr>
          <p:cNvCxnSpPr>
            <a:cxnSpLocks/>
            <a:stCxn id="12" idx="2"/>
            <a:endCxn id="11" idx="3"/>
          </p:cNvCxnSpPr>
          <p:nvPr/>
        </p:nvCxnSpPr>
        <p:spPr>
          <a:xfrm rot="5400000">
            <a:off x="4115563" y="1914509"/>
            <a:ext cx="566772" cy="878034"/>
          </a:xfrm>
          <a:prstGeom prst="bentConnector2">
            <a:avLst/>
          </a:prstGeom>
          <a:ln w="28575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3451E29B-5CC5-47EA-B467-31F2997401D3}"/>
              </a:ext>
            </a:extLst>
          </p:cNvPr>
          <p:cNvSpPr txBox="1"/>
          <p:nvPr/>
        </p:nvSpPr>
        <p:spPr>
          <a:xfrm>
            <a:off x="3995936" y="6093296"/>
            <a:ext cx="24929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ニューラルネットへの</a:t>
            </a:r>
            <a:endParaRPr lang="en-US" altLang="ja-JP" dirty="0"/>
          </a:p>
          <a:p>
            <a:r>
              <a:rPr kumimoji="1" lang="ja-JP" altLang="en-US" dirty="0"/>
              <a:t>入力画像</a:t>
            </a:r>
          </a:p>
        </p:txBody>
      </p:sp>
    </p:spTree>
    <p:extLst>
      <p:ext uri="{BB962C8B-B14F-4D97-AF65-F5344CB8AC3E}">
        <p14:creationId xmlns:p14="http://schemas.microsoft.com/office/powerpoint/2010/main" val="5250259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3AE04C9B-68F6-4D94-98E0-43D3CCA98A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課題</a:t>
            </a:r>
            <a:r>
              <a:rPr lang="en-US" altLang="ja-JP" dirty="0"/>
              <a:t>1 - Step 4</a:t>
            </a:r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02C588EE-F4F0-4C84-BEAF-94C23A0048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1561" y="1412776"/>
            <a:ext cx="5760640" cy="4868018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2A487E9-C2FF-4CF2-9BC0-9A7F4059FAB0}"/>
              </a:ext>
            </a:extLst>
          </p:cNvPr>
          <p:cNvSpPr txBox="1"/>
          <p:nvPr/>
        </p:nvSpPr>
        <p:spPr>
          <a:xfrm>
            <a:off x="323528" y="888156"/>
            <a:ext cx="42883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/>
              <a:t>認識が誤判定するような入力を試す</a:t>
            </a:r>
            <a:endParaRPr kumimoji="1" lang="en-US" altLang="ja-JP" sz="2000" dirty="0"/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9498EA99-42E6-411C-B199-BE68162D0467}"/>
              </a:ext>
            </a:extLst>
          </p:cNvPr>
          <p:cNvSpPr/>
          <p:nvPr/>
        </p:nvSpPr>
        <p:spPr>
          <a:xfrm>
            <a:off x="3891801" y="2410454"/>
            <a:ext cx="504056" cy="576064"/>
          </a:xfrm>
          <a:prstGeom prst="roundRect">
            <a:avLst>
              <a:gd name="adj" fmla="val 1989"/>
            </a:avLst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4CFBD43-AB7B-4708-9393-D1F075E8E0B7}"/>
              </a:ext>
            </a:extLst>
          </p:cNvPr>
          <p:cNvSpPr txBox="1"/>
          <p:nvPr/>
        </p:nvSpPr>
        <p:spPr>
          <a:xfrm>
            <a:off x="4971921" y="176238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判定失敗</a:t>
            </a:r>
            <a:endParaRPr kumimoji="1" lang="ja-JP" altLang="en-US"/>
          </a:p>
        </p:txBody>
      </p:sp>
      <p:cxnSp>
        <p:nvCxnSpPr>
          <p:cNvPr id="8" name="コネクタ: カギ線 7">
            <a:extLst>
              <a:ext uri="{FF2B5EF4-FFF2-40B4-BE49-F238E27FC236}">
                <a16:creationId xmlns:a16="http://schemas.microsoft.com/office/drawing/2014/main" id="{2259FF03-7F91-4549-8086-00712FFB8191}"/>
              </a:ext>
            </a:extLst>
          </p:cNvPr>
          <p:cNvCxnSpPr>
            <a:cxnSpLocks/>
            <a:stCxn id="7" idx="2"/>
            <a:endCxn id="6" idx="3"/>
          </p:cNvCxnSpPr>
          <p:nvPr/>
        </p:nvCxnSpPr>
        <p:spPr>
          <a:xfrm rot="5400000">
            <a:off x="4677502" y="1850069"/>
            <a:ext cx="566772" cy="1130062"/>
          </a:xfrm>
          <a:prstGeom prst="bentConnector2">
            <a:avLst/>
          </a:prstGeom>
          <a:ln w="28575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A3F083C-CA30-4E4A-1A7D-BA76E14410BD}"/>
              </a:ext>
            </a:extLst>
          </p:cNvPr>
          <p:cNvSpPr txBox="1"/>
          <p:nvPr/>
        </p:nvSpPr>
        <p:spPr>
          <a:xfrm>
            <a:off x="689511" y="6349265"/>
            <a:ext cx="50577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/>
              <a:t>なぜ、どのような時に誤認識しやすいか？</a:t>
            </a:r>
            <a:endParaRPr kumimoji="1" lang="en-US" altLang="ja-JP" sz="2000" dirty="0"/>
          </a:p>
        </p:txBody>
      </p:sp>
    </p:spTree>
    <p:extLst>
      <p:ext uri="{BB962C8B-B14F-4D97-AF65-F5344CB8AC3E}">
        <p14:creationId xmlns:p14="http://schemas.microsoft.com/office/powerpoint/2010/main" val="31980063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0D79FF77-BCEE-11F1-D078-19B4A3215B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68" y="1988840"/>
            <a:ext cx="6386371" cy="4125961"/>
          </a:xfrm>
          <a:prstGeom prst="rect">
            <a:avLst/>
          </a:prstGeom>
        </p:spPr>
      </p:pic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0A2E5A6-B2AB-4E05-84E8-E38112400E3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 dirty="0"/>
              <a:t>課題</a:t>
            </a:r>
            <a:r>
              <a:rPr lang="en-US" altLang="ja-JP" dirty="0"/>
              <a:t>2 - Step 1</a:t>
            </a:r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579BC42-1E02-4098-8716-AF2722D1E547}"/>
              </a:ext>
            </a:extLst>
          </p:cNvPr>
          <p:cNvSpPr txBox="1"/>
          <p:nvPr/>
        </p:nvSpPr>
        <p:spPr>
          <a:xfrm>
            <a:off x="323528" y="1124744"/>
            <a:ext cx="61926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https://github.</a:t>
            </a:r>
            <a:r>
              <a:rPr lang="ja-JP" altLang="en-US"/>
              <a:t>com/</a:t>
            </a:r>
            <a:r>
              <a:rPr lang="en-US" altLang="ja-JP" dirty="0"/>
              <a:t>cpss2026-git</a:t>
            </a:r>
            <a:r>
              <a:rPr lang="ja-JP" altLang="en-US"/>
              <a:t>/tyrano</a:t>
            </a:r>
            <a:r>
              <a:rPr lang="en-US" altLang="ja-JP" dirty="0"/>
              <a:t>-</a:t>
            </a:r>
            <a:r>
              <a:rPr lang="ja-JP" altLang="en-US"/>
              <a:t>sample</a:t>
            </a:r>
            <a:endParaRPr lang="ja-JP" alt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AFF404B-26FF-4BA0-BD6B-8734C8DE17C8}"/>
              </a:ext>
            </a:extLst>
          </p:cNvPr>
          <p:cNvSpPr txBox="1"/>
          <p:nvPr/>
        </p:nvSpPr>
        <p:spPr>
          <a:xfrm>
            <a:off x="323528" y="1556792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を</a:t>
            </a:r>
            <a:r>
              <a:rPr lang="en-US" altLang="ja-JP" dirty="0"/>
              <a:t>fork</a:t>
            </a:r>
            <a:r>
              <a:rPr lang="ja-JP" altLang="en-US"/>
              <a:t>する</a:t>
            </a:r>
            <a:endParaRPr kumimoji="1"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043EFE0D-978F-442A-9CF3-F2492F3ABD8C}"/>
              </a:ext>
            </a:extLst>
          </p:cNvPr>
          <p:cNvSpPr/>
          <p:nvPr/>
        </p:nvSpPr>
        <p:spPr>
          <a:xfrm>
            <a:off x="5292080" y="2560024"/>
            <a:ext cx="792088" cy="220904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552615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999F7510-B6E0-F3B9-8984-7475E31465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60" y="1772816"/>
            <a:ext cx="6804248" cy="4394852"/>
          </a:xfrm>
          <a:prstGeom prst="rect">
            <a:avLst/>
          </a:prstGeom>
        </p:spPr>
      </p:pic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0186960E-25EF-3397-B016-9E71BBF770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 dirty="0"/>
              <a:t>課題</a:t>
            </a:r>
            <a:r>
              <a:rPr lang="en-US" altLang="ja-JP" dirty="0"/>
              <a:t>2 - Step 2</a:t>
            </a:r>
            <a:endParaRPr kumimoji="1"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83546F6-9E37-75FD-3398-5B07AB81C498}"/>
              </a:ext>
            </a:extLst>
          </p:cNvPr>
          <p:cNvSpPr txBox="1"/>
          <p:nvPr/>
        </p:nvSpPr>
        <p:spPr>
          <a:xfrm>
            <a:off x="323528" y="1124744"/>
            <a:ext cx="56749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先ほどと同様の手順で</a:t>
            </a:r>
            <a:r>
              <a:rPr kumimoji="1" lang="en-US" altLang="ja-JP" sz="2400" dirty="0"/>
              <a:t>Pages</a:t>
            </a:r>
            <a:r>
              <a:rPr kumimoji="1" lang="ja-JP" altLang="en-US" sz="2400" dirty="0"/>
              <a:t>を公開する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E218F8B0-D376-43FE-1DBB-42C671F9C2FE}"/>
              </a:ext>
            </a:extLst>
          </p:cNvPr>
          <p:cNvSpPr/>
          <p:nvPr/>
        </p:nvSpPr>
        <p:spPr>
          <a:xfrm>
            <a:off x="5436096" y="2132856"/>
            <a:ext cx="720080" cy="28803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4DFD7C65-C45F-11F1-3A67-2D84848AD21F}"/>
              </a:ext>
            </a:extLst>
          </p:cNvPr>
          <p:cNvSpPr/>
          <p:nvPr/>
        </p:nvSpPr>
        <p:spPr>
          <a:xfrm>
            <a:off x="5004048" y="2060848"/>
            <a:ext cx="360040" cy="360040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１</a:t>
            </a: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7E43048B-C9F0-E67D-3CE8-BFCBD6FE0D36}"/>
              </a:ext>
            </a:extLst>
          </p:cNvPr>
          <p:cNvSpPr/>
          <p:nvPr/>
        </p:nvSpPr>
        <p:spPr>
          <a:xfrm>
            <a:off x="683568" y="5517232"/>
            <a:ext cx="720080" cy="28803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8D4D37CE-0F83-D5B5-FC95-85C247B1BC7A}"/>
              </a:ext>
            </a:extLst>
          </p:cNvPr>
          <p:cNvSpPr/>
          <p:nvPr/>
        </p:nvSpPr>
        <p:spPr>
          <a:xfrm>
            <a:off x="179512" y="5301208"/>
            <a:ext cx="360040" cy="360040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2</a:t>
            </a:r>
            <a:endParaRPr kumimoji="1" lang="ja-JP" altLang="en-US" dirty="0"/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CCAE42E0-4EA6-D1FC-A52A-2E30D0725FA5}"/>
              </a:ext>
            </a:extLst>
          </p:cNvPr>
          <p:cNvSpPr/>
          <p:nvPr/>
        </p:nvSpPr>
        <p:spPr>
          <a:xfrm>
            <a:off x="2627784" y="4509120"/>
            <a:ext cx="720080" cy="28803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145B58E6-DAB9-CB98-E0EF-08ABF7929EE0}"/>
              </a:ext>
            </a:extLst>
          </p:cNvPr>
          <p:cNvSpPr/>
          <p:nvPr/>
        </p:nvSpPr>
        <p:spPr>
          <a:xfrm>
            <a:off x="3419872" y="4509120"/>
            <a:ext cx="720080" cy="28803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C169C979-5B92-CF7B-12C9-A122D88541A1}"/>
              </a:ext>
            </a:extLst>
          </p:cNvPr>
          <p:cNvSpPr/>
          <p:nvPr/>
        </p:nvSpPr>
        <p:spPr>
          <a:xfrm>
            <a:off x="4211960" y="4509120"/>
            <a:ext cx="432048" cy="28803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7225A527-2ACB-ADCA-9CC8-66FFB3521800}"/>
              </a:ext>
            </a:extLst>
          </p:cNvPr>
          <p:cNvSpPr/>
          <p:nvPr/>
        </p:nvSpPr>
        <p:spPr>
          <a:xfrm>
            <a:off x="2843808" y="4869160"/>
            <a:ext cx="360040" cy="360040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/>
              <a:t>3</a:t>
            </a:r>
            <a:endParaRPr kumimoji="1" lang="ja-JP" altLang="en-US"/>
          </a:p>
        </p:txBody>
      </p:sp>
      <p:sp>
        <p:nvSpPr>
          <p:cNvPr id="15" name="楕円 14">
            <a:extLst>
              <a:ext uri="{FF2B5EF4-FFF2-40B4-BE49-F238E27FC236}">
                <a16:creationId xmlns:a16="http://schemas.microsoft.com/office/drawing/2014/main" id="{10C134D9-D681-12F9-A298-FFA7FB73922A}"/>
              </a:ext>
            </a:extLst>
          </p:cNvPr>
          <p:cNvSpPr/>
          <p:nvPr/>
        </p:nvSpPr>
        <p:spPr>
          <a:xfrm>
            <a:off x="3563888" y="4869160"/>
            <a:ext cx="360040" cy="360040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/>
              <a:t>4</a:t>
            </a:r>
            <a:endParaRPr kumimoji="1" lang="ja-JP" altLang="en-US"/>
          </a:p>
        </p:txBody>
      </p:sp>
      <p:sp>
        <p:nvSpPr>
          <p:cNvPr id="16" name="楕円 15">
            <a:extLst>
              <a:ext uri="{FF2B5EF4-FFF2-40B4-BE49-F238E27FC236}">
                <a16:creationId xmlns:a16="http://schemas.microsoft.com/office/drawing/2014/main" id="{D7D46F37-FCB6-649D-9E5A-F937476E40C3}"/>
              </a:ext>
            </a:extLst>
          </p:cNvPr>
          <p:cNvSpPr/>
          <p:nvPr/>
        </p:nvSpPr>
        <p:spPr>
          <a:xfrm>
            <a:off x="4211960" y="4869160"/>
            <a:ext cx="360040" cy="360040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/>
              <a:t>5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987182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8BE550E6-FED8-8211-84B0-9C216B59A3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600" y="1897086"/>
            <a:ext cx="7772400" cy="3639891"/>
          </a:xfrm>
          <a:prstGeom prst="rect">
            <a:avLst/>
          </a:prstGeom>
        </p:spPr>
      </p:pic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B35E5322-0F05-CEC8-95E6-F665D15614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 dirty="0"/>
              <a:t>課題</a:t>
            </a:r>
            <a:r>
              <a:rPr lang="en-US" altLang="ja-JP" dirty="0"/>
              <a:t>2 - Step 2</a:t>
            </a:r>
            <a:endParaRPr kumimoji="1"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E9B12E9-2B90-F993-15B8-2263C015919E}"/>
              </a:ext>
            </a:extLst>
          </p:cNvPr>
          <p:cNvSpPr txBox="1"/>
          <p:nvPr/>
        </p:nvSpPr>
        <p:spPr>
          <a:xfrm>
            <a:off x="539552" y="908720"/>
            <a:ext cx="64267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Save</a:t>
            </a:r>
            <a:r>
              <a:rPr lang="ja-JP" altLang="en-US" sz="2400" dirty="0"/>
              <a:t>ボタンを押して</a:t>
            </a:r>
            <a:r>
              <a:rPr kumimoji="1" lang="ja-JP" altLang="en-US" sz="2400" dirty="0">
                <a:solidFill>
                  <a:srgbClr val="FF0000"/>
                </a:solidFill>
              </a:rPr>
              <a:t>数分待ってから</a:t>
            </a:r>
            <a:r>
              <a:rPr kumimoji="1" lang="ja-JP" altLang="en-US" sz="2400" dirty="0"/>
              <a:t>リロード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62B490BC-44B7-C386-DAD8-484DF89850AB}"/>
              </a:ext>
            </a:extLst>
          </p:cNvPr>
          <p:cNvSpPr/>
          <p:nvPr/>
        </p:nvSpPr>
        <p:spPr>
          <a:xfrm>
            <a:off x="6804248" y="3429000"/>
            <a:ext cx="720080" cy="288032"/>
          </a:xfrm>
          <a:prstGeom prst="roundRect">
            <a:avLst>
              <a:gd name="adj" fmla="val 27521"/>
            </a:avLst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9C6BD22-6D0F-D802-06BD-8FAA9E9C8CD8}"/>
              </a:ext>
            </a:extLst>
          </p:cNvPr>
          <p:cNvSpPr txBox="1"/>
          <p:nvPr/>
        </p:nvSpPr>
        <p:spPr>
          <a:xfrm>
            <a:off x="467544" y="6237312"/>
            <a:ext cx="7533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「</a:t>
            </a:r>
            <a:r>
              <a:rPr kumimoji="1" lang="en-US" altLang="ja-JP" dirty="0"/>
              <a:t>Your site is live at ....</a:t>
            </a:r>
            <a:r>
              <a:rPr kumimoji="1" lang="ja-JP" altLang="en-US" dirty="0"/>
              <a:t>」という表示が現れた</a:t>
            </a:r>
            <a:r>
              <a:rPr lang="ja-JP" altLang="en-US" dirty="0"/>
              <a:t>ら「</a:t>
            </a:r>
            <a:r>
              <a:rPr lang="en-US" altLang="ja-JP" dirty="0"/>
              <a:t>Visit site</a:t>
            </a:r>
            <a:r>
              <a:rPr lang="ja-JP" altLang="en-US" dirty="0"/>
              <a:t>」をクリック</a:t>
            </a:r>
            <a:endParaRPr kumimoji="1" lang="ja-JP" altLang="en-US" dirty="0"/>
          </a:p>
        </p:txBody>
      </p:sp>
      <p:cxnSp>
        <p:nvCxnSpPr>
          <p:cNvPr id="8" name="コネクタ: カギ線 7">
            <a:extLst>
              <a:ext uri="{FF2B5EF4-FFF2-40B4-BE49-F238E27FC236}">
                <a16:creationId xmlns:a16="http://schemas.microsoft.com/office/drawing/2014/main" id="{7BDCA510-86ED-61CE-84CF-65DD4A8985B7}"/>
              </a:ext>
            </a:extLst>
          </p:cNvPr>
          <p:cNvCxnSpPr>
            <a:stCxn id="7" idx="3"/>
            <a:endCxn id="6" idx="3"/>
          </p:cNvCxnSpPr>
          <p:nvPr/>
        </p:nvCxnSpPr>
        <p:spPr>
          <a:xfrm flipH="1" flipV="1">
            <a:off x="7524328" y="3573016"/>
            <a:ext cx="476368" cy="2848962"/>
          </a:xfrm>
          <a:prstGeom prst="bentConnector3">
            <a:avLst>
              <a:gd name="adj1" fmla="val -47988"/>
            </a:avLst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5008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4400C90D-A223-47C6-AA95-3812923A72C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課題</a:t>
            </a:r>
            <a:r>
              <a:rPr lang="en-US" altLang="ja-JP"/>
              <a:t>2 - Step 2</a:t>
            </a:r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65B1961-526D-4A22-B4EB-EFD8954685B8}"/>
              </a:ext>
            </a:extLst>
          </p:cNvPr>
          <p:cNvSpPr txBox="1"/>
          <p:nvPr/>
        </p:nvSpPr>
        <p:spPr>
          <a:xfrm>
            <a:off x="323528" y="1268760"/>
            <a:ext cx="4493538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/>
              <a:t>こんな画面が出たら成功</a:t>
            </a:r>
            <a:endParaRPr kumimoji="1" lang="en-US" altLang="ja-JP" sz="2800"/>
          </a:p>
          <a:p>
            <a:r>
              <a:rPr kumimoji="1" lang="ja-JP" altLang="en-US" sz="2800"/>
              <a:t>テストプレイをしてみよう</a:t>
            </a:r>
            <a:endParaRPr kumimoji="1" lang="en-US" altLang="ja-JP" sz="280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DDC528F-3756-41B1-8E8D-10070006AE33}"/>
              </a:ext>
            </a:extLst>
          </p:cNvPr>
          <p:cNvSpPr txBox="1"/>
          <p:nvPr/>
        </p:nvSpPr>
        <p:spPr>
          <a:xfrm>
            <a:off x="611560" y="5877272"/>
            <a:ext cx="541686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マウスクリックでメッセージ送り</a:t>
            </a:r>
            <a:endParaRPr kumimoji="1" lang="en-US" altLang="ja-JP" sz="2400" dirty="0"/>
          </a:p>
          <a:p>
            <a:r>
              <a:rPr kumimoji="1" lang="ja-JP" altLang="en-US" sz="2400" dirty="0"/>
              <a:t>選択肢が出たらマウスクリックで選ぶ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39B722A-2F82-BB67-6516-DE3F046E5B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600" y="2348610"/>
            <a:ext cx="6118448" cy="3402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03857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AC85D889-0969-A12E-DEAD-CB7AF2D32D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2420888"/>
            <a:ext cx="7244137" cy="4293096"/>
          </a:xfrm>
          <a:prstGeom prst="rect">
            <a:avLst/>
          </a:prstGeom>
        </p:spPr>
      </p:pic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812C5709-3489-431B-AAAC-E3096D65E9E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課題</a:t>
            </a:r>
            <a:r>
              <a:rPr lang="en-US" altLang="ja-JP"/>
              <a:t>2 - Step 3</a:t>
            </a:r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027C318-1CB1-41EB-900A-C2A174A886B7}"/>
              </a:ext>
            </a:extLst>
          </p:cNvPr>
          <p:cNvSpPr txBox="1"/>
          <p:nvPr/>
        </p:nvSpPr>
        <p:spPr>
          <a:xfrm>
            <a:off x="179512" y="1052736"/>
            <a:ext cx="88040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/>
              <a:t>リポジトリのクローンのため、リモート</a:t>
            </a:r>
            <a:r>
              <a:rPr kumimoji="1" lang="en-US" altLang="ja-JP" sz="2800"/>
              <a:t>URL</a:t>
            </a:r>
            <a:r>
              <a:rPr kumimoji="1" lang="ja-JP" altLang="en-US" sz="2800"/>
              <a:t>をコピー</a:t>
            </a: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E53D6DE6-45C8-4550-83A3-571EED161350}"/>
              </a:ext>
            </a:extLst>
          </p:cNvPr>
          <p:cNvSpPr/>
          <p:nvPr/>
        </p:nvSpPr>
        <p:spPr>
          <a:xfrm>
            <a:off x="827584" y="2420888"/>
            <a:ext cx="1944216" cy="36004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57B147E2-162B-4C3B-A948-7118DEE10863}"/>
              </a:ext>
            </a:extLst>
          </p:cNvPr>
          <p:cNvSpPr/>
          <p:nvPr/>
        </p:nvSpPr>
        <p:spPr>
          <a:xfrm>
            <a:off x="395536" y="2420888"/>
            <a:ext cx="360040" cy="360040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/>
              <a:t>1</a:t>
            </a:r>
            <a:endParaRPr kumimoji="1" lang="ja-JP" altLang="en-US"/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D63A72CB-9DD5-4E29-8A35-D5EFA85ECD4A}"/>
              </a:ext>
            </a:extLst>
          </p:cNvPr>
          <p:cNvSpPr/>
          <p:nvPr/>
        </p:nvSpPr>
        <p:spPr>
          <a:xfrm>
            <a:off x="4283968" y="3861048"/>
            <a:ext cx="360040" cy="360040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/>
              <a:t>2</a:t>
            </a:r>
            <a:endParaRPr kumimoji="1"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63565B92-1236-41F0-8DA1-8F15CE4E71D7}"/>
              </a:ext>
            </a:extLst>
          </p:cNvPr>
          <p:cNvSpPr/>
          <p:nvPr/>
        </p:nvSpPr>
        <p:spPr>
          <a:xfrm>
            <a:off x="4644008" y="3861048"/>
            <a:ext cx="864096" cy="28803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919C4ADA-88E1-45EE-ACFD-8B7F3AEC97A1}"/>
              </a:ext>
            </a:extLst>
          </p:cNvPr>
          <p:cNvSpPr/>
          <p:nvPr/>
        </p:nvSpPr>
        <p:spPr>
          <a:xfrm>
            <a:off x="3131840" y="4941168"/>
            <a:ext cx="288032" cy="14401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楕円 11">
            <a:extLst>
              <a:ext uri="{FF2B5EF4-FFF2-40B4-BE49-F238E27FC236}">
                <a16:creationId xmlns:a16="http://schemas.microsoft.com/office/drawing/2014/main" id="{9D706025-1675-4D50-9BDB-CB2228825D52}"/>
              </a:ext>
            </a:extLst>
          </p:cNvPr>
          <p:cNvSpPr/>
          <p:nvPr/>
        </p:nvSpPr>
        <p:spPr>
          <a:xfrm>
            <a:off x="3059832" y="4509120"/>
            <a:ext cx="360040" cy="360040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/>
              <a:t>3</a:t>
            </a:r>
            <a:endParaRPr kumimoji="1" lang="ja-JP" altLang="en-US"/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C2150B63-C299-492F-8613-184A8D4F10DD}"/>
              </a:ext>
            </a:extLst>
          </p:cNvPr>
          <p:cNvSpPr/>
          <p:nvPr/>
        </p:nvSpPr>
        <p:spPr>
          <a:xfrm>
            <a:off x="5076056" y="5239265"/>
            <a:ext cx="336203" cy="27796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BA2C4269-16C3-43F9-B1F6-04C2AC76AA81}"/>
              </a:ext>
            </a:extLst>
          </p:cNvPr>
          <p:cNvSpPr/>
          <p:nvPr/>
        </p:nvSpPr>
        <p:spPr>
          <a:xfrm>
            <a:off x="5076056" y="4869160"/>
            <a:ext cx="360040" cy="360040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/>
              <a:t>4</a:t>
            </a:r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70EEBF0B-0158-44C4-86D5-49C2A7A3371E}"/>
              </a:ext>
            </a:extLst>
          </p:cNvPr>
          <p:cNvSpPr txBox="1"/>
          <p:nvPr/>
        </p:nvSpPr>
        <p:spPr>
          <a:xfrm>
            <a:off x="129510" y="1916832"/>
            <a:ext cx="91230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1. </a:t>
            </a:r>
            <a:r>
              <a:rPr kumimoji="1" lang="ja-JP" altLang="en-US"/>
              <a:t>自分のアカウントの </a:t>
            </a:r>
            <a:r>
              <a:rPr kumimoji="1" lang="en-US" altLang="ja-JP"/>
              <a:t>2. Code</a:t>
            </a:r>
            <a:r>
              <a:rPr kumimoji="1" lang="ja-JP" altLang="en-US"/>
              <a:t>をクリックし </a:t>
            </a:r>
            <a:r>
              <a:rPr kumimoji="1" lang="en-US" altLang="ja-JP"/>
              <a:t>3. SSH</a:t>
            </a:r>
            <a:r>
              <a:rPr kumimoji="1" lang="ja-JP" altLang="en-US"/>
              <a:t>を選んで </a:t>
            </a:r>
            <a:r>
              <a:rPr kumimoji="1" lang="en-US" altLang="ja-JP"/>
              <a:t>4. </a:t>
            </a:r>
            <a:r>
              <a:rPr kumimoji="1" lang="ja-JP" altLang="en-US"/>
              <a:t>コピーボタンを押す</a:t>
            </a:r>
          </a:p>
        </p:txBody>
      </p:sp>
    </p:spTree>
    <p:extLst>
      <p:ext uri="{BB962C8B-B14F-4D97-AF65-F5344CB8AC3E}">
        <p14:creationId xmlns:p14="http://schemas.microsoft.com/office/powerpoint/2010/main" val="27942586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F0FA607-9011-4295-A85B-89A4632F2F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課題</a:t>
            </a:r>
            <a:r>
              <a:rPr lang="en-US" altLang="ja-JP"/>
              <a:t>2 - Step 3</a:t>
            </a:r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9B31432-F7C9-48AC-936C-0D1BEFA2202F}"/>
              </a:ext>
            </a:extLst>
          </p:cNvPr>
          <p:cNvSpPr txBox="1"/>
          <p:nvPr/>
        </p:nvSpPr>
        <p:spPr>
          <a:xfrm>
            <a:off x="251520" y="1916832"/>
            <a:ext cx="8496944" cy="13234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ja-JP" sz="2000" dirty="0">
                <a:latin typeface="Consolas" panose="020B0609020204030204" pitchFamily="49" charset="0"/>
              </a:rPr>
              <a:t>cd</a:t>
            </a:r>
          </a:p>
          <a:p>
            <a:r>
              <a:rPr lang="en-US" altLang="ja-JP" sz="2000" dirty="0">
                <a:latin typeface="Consolas" panose="020B0609020204030204" pitchFamily="49" charset="0"/>
              </a:rPr>
              <a:t>cd </a:t>
            </a:r>
            <a:r>
              <a:rPr lang="en-US" altLang="ja-JP" sz="2000" dirty="0" err="1">
                <a:latin typeface="Consolas" panose="020B0609020204030204" pitchFamily="49" charset="0"/>
              </a:rPr>
              <a:t>github</a:t>
            </a:r>
            <a:endParaRPr lang="en-US" altLang="ja-JP" sz="2000" dirty="0">
              <a:latin typeface="Consolas" panose="020B0609020204030204" pitchFamily="49" charset="0"/>
            </a:endParaRPr>
          </a:p>
          <a:p>
            <a:r>
              <a:rPr lang="en-US" altLang="ja-JP" sz="2000" dirty="0">
                <a:latin typeface="Consolas" panose="020B0609020204030204" pitchFamily="49" charset="0"/>
              </a:rPr>
              <a:t>git clone </a:t>
            </a:r>
            <a:r>
              <a:rPr lang="en-US" altLang="ja-JP" sz="2000" dirty="0" err="1">
                <a:solidFill>
                  <a:srgbClr val="FF0000"/>
                </a:solidFill>
                <a:latin typeface="Consolas" panose="020B0609020204030204" pitchFamily="49" charset="0"/>
              </a:rPr>
              <a:t>git@github.com:watanabe</a:t>
            </a:r>
            <a:r>
              <a:rPr lang="en-US" altLang="ja-JP" sz="2000" dirty="0">
                <a:solidFill>
                  <a:srgbClr val="FF0000"/>
                </a:solidFill>
                <a:latin typeface="Consolas" panose="020B0609020204030204" pitchFamily="49" charset="0"/>
              </a:rPr>
              <a:t>/</a:t>
            </a:r>
            <a:r>
              <a:rPr lang="en-US" altLang="ja-JP" sz="2000" dirty="0" err="1">
                <a:solidFill>
                  <a:srgbClr val="FF0000"/>
                </a:solidFill>
                <a:latin typeface="Consolas" panose="020B0609020204030204" pitchFamily="49" charset="0"/>
              </a:rPr>
              <a:t>tyrano</a:t>
            </a:r>
            <a:r>
              <a:rPr lang="en-US" altLang="ja-JP" sz="2000" dirty="0">
                <a:solidFill>
                  <a:srgbClr val="FF0000"/>
                </a:solidFill>
                <a:latin typeface="Consolas" panose="020B0609020204030204" pitchFamily="49" charset="0"/>
              </a:rPr>
              <a:t>-sample.git</a:t>
            </a:r>
          </a:p>
          <a:p>
            <a:r>
              <a:rPr lang="en-US" altLang="ja-JP" sz="2000" dirty="0">
                <a:latin typeface="Consolas" panose="020B0609020204030204" pitchFamily="49" charset="0"/>
              </a:rPr>
              <a:t>cd </a:t>
            </a:r>
            <a:r>
              <a:rPr lang="en-US" altLang="ja-JP" sz="2000" dirty="0" err="1">
                <a:latin typeface="Consolas" panose="020B0609020204030204" pitchFamily="49" charset="0"/>
              </a:rPr>
              <a:t>tyrano_sample</a:t>
            </a:r>
            <a:endParaRPr lang="en-US" altLang="ja-JP" sz="2000" dirty="0">
              <a:latin typeface="Consolas" panose="020B0609020204030204" pitchFamily="49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45384CE-6A62-416E-B99E-F4B9BE5FC64A}"/>
              </a:ext>
            </a:extLst>
          </p:cNvPr>
          <p:cNvSpPr txBox="1"/>
          <p:nvPr/>
        </p:nvSpPr>
        <p:spPr>
          <a:xfrm>
            <a:off x="107504" y="1124744"/>
            <a:ext cx="42194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/>
              <a:t>Git Bash</a:t>
            </a:r>
            <a:r>
              <a:rPr kumimoji="1" lang="ja-JP" altLang="en-US" sz="3200"/>
              <a:t>で以下を実行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54079E6-DC99-4663-8764-0A9DE27615B4}"/>
              </a:ext>
            </a:extLst>
          </p:cNvPr>
          <p:cNvSpPr txBox="1"/>
          <p:nvPr/>
        </p:nvSpPr>
        <p:spPr>
          <a:xfrm>
            <a:off x="1675289" y="3861048"/>
            <a:ext cx="74687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ここはコピーされているはずなので、マウス右クリックから「</a:t>
            </a:r>
            <a:r>
              <a:rPr kumimoji="1" lang="en-US" altLang="ja-JP"/>
              <a:t>Paste</a:t>
            </a:r>
            <a:r>
              <a:rPr kumimoji="1" lang="ja-JP" altLang="en-US"/>
              <a:t>」</a:t>
            </a:r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1996A328-0833-0159-7F3F-19099274D116}"/>
              </a:ext>
            </a:extLst>
          </p:cNvPr>
          <p:cNvCxnSpPr/>
          <p:nvPr/>
        </p:nvCxnSpPr>
        <p:spPr>
          <a:xfrm flipV="1">
            <a:off x="5220072" y="2924944"/>
            <a:ext cx="0" cy="864096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545104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0939DD7B-C938-4920-87B3-B6429C5362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512" y="2076572"/>
            <a:ext cx="4330700" cy="3136900"/>
          </a:xfrm>
          <a:prstGeom prst="rect">
            <a:avLst/>
          </a:prstGeom>
        </p:spPr>
      </p:pic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C084AF3-E764-4511-AB89-AAF594B578E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課題</a:t>
            </a:r>
            <a:r>
              <a:rPr lang="en-US" altLang="ja-JP"/>
              <a:t>2 - Step </a:t>
            </a:r>
            <a:r>
              <a:rPr lang="ja-JP" altLang="en-US"/>
              <a:t>３</a:t>
            </a:r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4138397-3A94-483A-A78D-48AF60704EA1}"/>
              </a:ext>
            </a:extLst>
          </p:cNvPr>
          <p:cNvSpPr txBox="1"/>
          <p:nvPr/>
        </p:nvSpPr>
        <p:spPr>
          <a:xfrm>
            <a:off x="179512" y="1196752"/>
            <a:ext cx="829265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000" dirty="0"/>
              <a:t>VS Code</a:t>
            </a:r>
            <a:r>
              <a:rPr kumimoji="1" lang="ja-JP" altLang="en-US" sz="2000" dirty="0"/>
              <a:t>の「フォルダーを開く」</a:t>
            </a:r>
            <a:r>
              <a:rPr kumimoji="1" lang="ja-JP" altLang="en-US" sz="2000"/>
              <a:t>で「</a:t>
            </a:r>
            <a:r>
              <a:rPr kumimoji="1" lang="en-US" altLang="ja-JP" sz="2000" dirty="0"/>
              <a:t>~/</a:t>
            </a:r>
            <a:r>
              <a:rPr lang="en-US" altLang="ja-JP" sz="2000" dirty="0"/>
              <a:t>github/</a:t>
            </a:r>
            <a:r>
              <a:rPr lang="en-US" altLang="ja-JP" sz="2000" dirty="0" err="1"/>
              <a:t>tyrano</a:t>
            </a:r>
            <a:r>
              <a:rPr lang="en-US" altLang="ja-JP" sz="2000" dirty="0"/>
              <a:t>-sample</a:t>
            </a:r>
            <a:r>
              <a:rPr lang="ja-JP" altLang="en-US" sz="2000" dirty="0"/>
              <a:t>」を開く</a:t>
            </a:r>
            <a:endParaRPr kumimoji="1" lang="ja-JP" altLang="en-US" sz="2000" dirty="0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5E5BBBC0-3485-4284-98EF-A7172DE2D619}"/>
              </a:ext>
            </a:extLst>
          </p:cNvPr>
          <p:cNvSpPr/>
          <p:nvPr/>
        </p:nvSpPr>
        <p:spPr>
          <a:xfrm>
            <a:off x="617407" y="2708920"/>
            <a:ext cx="1872208" cy="36004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8B64837-0310-4EE5-8B22-A5562545C390}"/>
              </a:ext>
            </a:extLst>
          </p:cNvPr>
          <p:cNvSpPr txBox="1"/>
          <p:nvPr/>
        </p:nvSpPr>
        <p:spPr>
          <a:xfrm>
            <a:off x="4633790" y="2076572"/>
            <a:ext cx="42883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ここに</a:t>
            </a:r>
            <a:r>
              <a:rPr lang="en-US" altLang="ja-JP" dirty="0"/>
              <a:t>TYRANO-SAMPLE</a:t>
            </a:r>
            <a:r>
              <a:rPr lang="ja-JP" altLang="en-US"/>
              <a:t>と表示される</a:t>
            </a:r>
            <a:endParaRPr kumimoji="1" lang="ja-JP" altLang="en-US"/>
          </a:p>
        </p:txBody>
      </p:sp>
      <p:cxnSp>
        <p:nvCxnSpPr>
          <p:cNvPr id="9" name="コネクタ: カギ線 8">
            <a:extLst>
              <a:ext uri="{FF2B5EF4-FFF2-40B4-BE49-F238E27FC236}">
                <a16:creationId xmlns:a16="http://schemas.microsoft.com/office/drawing/2014/main" id="{62B39A55-72F3-436E-9B40-3EE7E2092161}"/>
              </a:ext>
            </a:extLst>
          </p:cNvPr>
          <p:cNvCxnSpPr>
            <a:cxnSpLocks/>
            <a:stCxn id="8" idx="2"/>
            <a:endCxn id="7" idx="3"/>
          </p:cNvCxnSpPr>
          <p:nvPr/>
        </p:nvCxnSpPr>
        <p:spPr>
          <a:xfrm rot="5400000">
            <a:off x="4412273" y="523246"/>
            <a:ext cx="443036" cy="4288352"/>
          </a:xfrm>
          <a:prstGeom prst="bentConnector2">
            <a:avLst/>
          </a:prstGeom>
          <a:ln w="28575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067828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A4E3CB1-1DC6-436B-B556-90619A54EE3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ブラウザのセキュリティ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46A6BCD-071A-43F4-A749-971DE130EF49}"/>
              </a:ext>
            </a:extLst>
          </p:cNvPr>
          <p:cNvSpPr txBox="1"/>
          <p:nvPr/>
        </p:nvSpPr>
        <p:spPr>
          <a:xfrm>
            <a:off x="395536" y="1052736"/>
            <a:ext cx="787908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ブラウザは勝手にローカルファイルにアクセスできない</a:t>
            </a:r>
            <a:endParaRPr kumimoji="1" lang="en-US" altLang="ja-JP" sz="2400"/>
          </a:p>
          <a:p>
            <a:r>
              <a:rPr lang="ja-JP" altLang="en-US" sz="2400"/>
              <a:t>もしアクセスできると、悪意あるサイトに個人情報を</a:t>
            </a:r>
            <a:endParaRPr lang="en-US" altLang="ja-JP" sz="2400"/>
          </a:p>
          <a:p>
            <a:r>
              <a:rPr kumimoji="1" lang="ja-JP" altLang="en-US" sz="2400"/>
              <a:t>引き抜かれる可能性がある</a:t>
            </a:r>
            <a:endParaRPr kumimoji="1" lang="en-US" altLang="ja-JP" sz="2400"/>
          </a:p>
        </p:txBody>
      </p:sp>
      <p:pic>
        <p:nvPicPr>
          <p:cNvPr id="2052" name="Picture 4" descr="ハッカーのイラスト（笑顔）">
            <a:extLst>
              <a:ext uri="{FF2B5EF4-FFF2-40B4-BE49-F238E27FC236}">
                <a16:creationId xmlns:a16="http://schemas.microsoft.com/office/drawing/2014/main" id="{FED8C577-F5C5-4D50-B638-82AD560FF3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68344" y="3429000"/>
            <a:ext cx="1085850" cy="1428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0FE84345-8982-4789-BAFE-FC014C6C64A8}"/>
              </a:ext>
            </a:extLst>
          </p:cNvPr>
          <p:cNvSpPr txBox="1"/>
          <p:nvPr/>
        </p:nvSpPr>
        <p:spPr>
          <a:xfrm>
            <a:off x="2627784" y="2636912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クライアント</a:t>
            </a:r>
          </a:p>
        </p:txBody>
      </p:sp>
      <p:pic>
        <p:nvPicPr>
          <p:cNvPr id="9" name="Picture 4">
            <a:extLst>
              <a:ext uri="{FF2B5EF4-FFF2-40B4-BE49-F238E27FC236}">
                <a16:creationId xmlns:a16="http://schemas.microsoft.com/office/drawing/2014/main" id="{ED643405-3582-4B67-8DDF-286B804141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43808" y="3356992"/>
            <a:ext cx="1080120" cy="1080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6" descr="データセンターのイラスト（単体）">
            <a:extLst>
              <a:ext uri="{FF2B5EF4-FFF2-40B4-BE49-F238E27FC236}">
                <a16:creationId xmlns:a16="http://schemas.microsoft.com/office/drawing/2014/main" id="{51C002EE-E2E5-4209-BFF7-26CD4C7985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2200" y="3140968"/>
            <a:ext cx="1097090" cy="1649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矢印: 左右 11">
            <a:extLst>
              <a:ext uri="{FF2B5EF4-FFF2-40B4-BE49-F238E27FC236}">
                <a16:creationId xmlns:a16="http://schemas.microsoft.com/office/drawing/2014/main" id="{BF1E826F-9A29-43C8-9983-E538CD0F6CD4}"/>
              </a:ext>
            </a:extLst>
          </p:cNvPr>
          <p:cNvSpPr/>
          <p:nvPr/>
        </p:nvSpPr>
        <p:spPr>
          <a:xfrm>
            <a:off x="4499992" y="3645024"/>
            <a:ext cx="1224136" cy="432048"/>
          </a:xfrm>
          <a:prstGeom prst="left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CD51B2AD-8509-4730-A58E-3FF832460BD6}"/>
              </a:ext>
            </a:extLst>
          </p:cNvPr>
          <p:cNvSpPr txBox="1"/>
          <p:nvPr/>
        </p:nvSpPr>
        <p:spPr>
          <a:xfrm>
            <a:off x="6228184" y="2708920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ウェブサーバ</a:t>
            </a:r>
          </a:p>
        </p:txBody>
      </p:sp>
      <p:sp>
        <p:nvSpPr>
          <p:cNvPr id="18" name="矢印: 左右 17">
            <a:extLst>
              <a:ext uri="{FF2B5EF4-FFF2-40B4-BE49-F238E27FC236}">
                <a16:creationId xmlns:a16="http://schemas.microsoft.com/office/drawing/2014/main" id="{15520441-D7A1-4F36-B0A0-FDD44B535BDA}"/>
              </a:ext>
            </a:extLst>
          </p:cNvPr>
          <p:cNvSpPr/>
          <p:nvPr/>
        </p:nvSpPr>
        <p:spPr>
          <a:xfrm rot="18900000">
            <a:off x="1593153" y="4734630"/>
            <a:ext cx="1224136" cy="432048"/>
          </a:xfrm>
          <a:prstGeom prst="left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フローチャート: 磁気ディスク 18">
            <a:extLst>
              <a:ext uri="{FF2B5EF4-FFF2-40B4-BE49-F238E27FC236}">
                <a16:creationId xmlns:a16="http://schemas.microsoft.com/office/drawing/2014/main" id="{D458549B-87E5-4F7A-9F6C-69C2AB55C634}"/>
              </a:ext>
            </a:extLst>
          </p:cNvPr>
          <p:cNvSpPr/>
          <p:nvPr/>
        </p:nvSpPr>
        <p:spPr>
          <a:xfrm>
            <a:off x="755576" y="5517232"/>
            <a:ext cx="864096" cy="792088"/>
          </a:xfrm>
          <a:prstGeom prst="flowChartMagneticDisk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054" name="Picture 6" descr="パソコンを使う人のイラスト（男性・泣いた顔）">
            <a:extLst>
              <a:ext uri="{FF2B5EF4-FFF2-40B4-BE49-F238E27FC236}">
                <a16:creationId xmlns:a16="http://schemas.microsoft.com/office/drawing/2014/main" id="{331581C5-1725-45AE-A22C-DB965BB371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00" y="3573016"/>
            <a:ext cx="850266" cy="1234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BA64D53-920E-43A7-8C67-648923E13119}"/>
              </a:ext>
            </a:extLst>
          </p:cNvPr>
          <p:cNvSpPr txBox="1"/>
          <p:nvPr/>
        </p:nvSpPr>
        <p:spPr>
          <a:xfrm>
            <a:off x="2051720" y="5517232"/>
            <a:ext cx="69557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原則として、ユーザが直接指定したファイルのみ</a:t>
            </a:r>
            <a:endParaRPr kumimoji="1" lang="en-US" altLang="ja-JP" sz="2400"/>
          </a:p>
          <a:p>
            <a:r>
              <a:rPr lang="ja-JP" altLang="en-US" sz="2400"/>
              <a:t>サーバに送信できる</a:t>
            </a:r>
            <a:endParaRPr lang="en-US" altLang="ja-JP" sz="2400"/>
          </a:p>
        </p:txBody>
      </p:sp>
    </p:spTree>
    <p:extLst>
      <p:ext uri="{BB962C8B-B14F-4D97-AF65-F5344CB8AC3E}">
        <p14:creationId xmlns:p14="http://schemas.microsoft.com/office/powerpoint/2010/main" val="11285408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6CAD3FE7-AD00-4589-A1BB-87A442789E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ブラウザのセキュリティ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DEB91D4-BC98-440D-8637-DA80399E2EFA}"/>
              </a:ext>
            </a:extLst>
          </p:cNvPr>
          <p:cNvSpPr txBox="1"/>
          <p:nvPr/>
        </p:nvSpPr>
        <p:spPr>
          <a:xfrm>
            <a:off x="395536" y="1052736"/>
            <a:ext cx="81868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ブラウザはローカルファイルを自由に見ることができない</a:t>
            </a:r>
            <a:endParaRPr lang="en-US" altLang="ja-JP" sz="2400"/>
          </a:p>
          <a:p>
            <a:r>
              <a:rPr kumimoji="1" lang="ja-JP" altLang="en-US" sz="2400"/>
              <a:t>→ ブラウザゲームのローカルでのテストができない</a:t>
            </a:r>
            <a:endParaRPr kumimoji="1" lang="en-US" altLang="ja-JP" sz="240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890CBD9-BE31-427D-9E29-8EB10F0E5FED}"/>
              </a:ext>
            </a:extLst>
          </p:cNvPr>
          <p:cNvSpPr txBox="1"/>
          <p:nvPr/>
        </p:nvSpPr>
        <p:spPr>
          <a:xfrm>
            <a:off x="395536" y="1949931"/>
            <a:ext cx="839204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解決策</a:t>
            </a:r>
            <a:r>
              <a:rPr lang="ja-JP" altLang="en-US" sz="2400"/>
              <a:t>１</a:t>
            </a:r>
            <a:r>
              <a:rPr kumimoji="1" lang="ja-JP" altLang="en-US" sz="2400"/>
              <a:t>：ブラウザのセキュリティレベルを下げる</a:t>
            </a:r>
            <a:r>
              <a:rPr kumimoji="1" lang="en-US" altLang="ja-JP" sz="2400"/>
              <a:t>(</a:t>
            </a:r>
            <a:r>
              <a:rPr kumimoji="1" lang="ja-JP" altLang="en-US" sz="2400"/>
              <a:t>非推奨</a:t>
            </a:r>
            <a:r>
              <a:rPr kumimoji="1" lang="en-US" altLang="ja-JP" sz="2400"/>
              <a:t>)</a:t>
            </a:r>
          </a:p>
          <a:p>
            <a:r>
              <a:rPr kumimoji="1" lang="ja-JP" altLang="en-US" sz="2400">
                <a:solidFill>
                  <a:srgbClr val="FF0000"/>
                </a:solidFill>
              </a:rPr>
              <a:t>解決策</a:t>
            </a:r>
            <a:r>
              <a:rPr lang="ja-JP" altLang="en-US" sz="2400">
                <a:solidFill>
                  <a:srgbClr val="FF0000"/>
                </a:solidFill>
              </a:rPr>
              <a:t>２</a:t>
            </a:r>
            <a:r>
              <a:rPr kumimoji="1" lang="ja-JP" altLang="en-US" sz="2400">
                <a:solidFill>
                  <a:srgbClr val="FF0000"/>
                </a:solidFill>
              </a:rPr>
              <a:t>：ローカルにウェブサーバを立てる</a:t>
            </a:r>
            <a:endParaRPr kumimoji="1" lang="en-US" altLang="ja-JP" sz="2400">
              <a:solidFill>
                <a:srgbClr val="FF0000"/>
              </a:solidFill>
            </a:endParaRPr>
          </a:p>
        </p:txBody>
      </p:sp>
      <p:pic>
        <p:nvPicPr>
          <p:cNvPr id="7" name="Picture 2" descr="パソコンを使う人のイラスト（男性・笑顔）">
            <a:extLst>
              <a:ext uri="{FF2B5EF4-FFF2-40B4-BE49-F238E27FC236}">
                <a16:creationId xmlns:a16="http://schemas.microsoft.com/office/drawing/2014/main" id="{82ED6AE7-9573-49F9-A068-4B9EC6203B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9712" y="5301208"/>
            <a:ext cx="808046" cy="1173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フローチャート: 磁気ディスク 7">
            <a:extLst>
              <a:ext uri="{FF2B5EF4-FFF2-40B4-BE49-F238E27FC236}">
                <a16:creationId xmlns:a16="http://schemas.microsoft.com/office/drawing/2014/main" id="{37D2F1D4-C315-48DA-BBC1-E2F6FFE089E0}"/>
              </a:ext>
            </a:extLst>
          </p:cNvPr>
          <p:cNvSpPr/>
          <p:nvPr/>
        </p:nvSpPr>
        <p:spPr>
          <a:xfrm>
            <a:off x="4572000" y="5517232"/>
            <a:ext cx="1008112" cy="792088"/>
          </a:xfrm>
          <a:prstGeom prst="flowChartMagneticDisk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矢印: 左右 8">
            <a:extLst>
              <a:ext uri="{FF2B5EF4-FFF2-40B4-BE49-F238E27FC236}">
                <a16:creationId xmlns:a16="http://schemas.microsoft.com/office/drawing/2014/main" id="{C7C278CC-07E4-4318-875D-2DDB254459D8}"/>
              </a:ext>
            </a:extLst>
          </p:cNvPr>
          <p:cNvSpPr/>
          <p:nvPr/>
        </p:nvSpPr>
        <p:spPr>
          <a:xfrm>
            <a:off x="2987824" y="5661248"/>
            <a:ext cx="1224136" cy="432048"/>
          </a:xfrm>
          <a:prstGeom prst="left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F20B80D-C4E0-4F9B-94D7-8E92014A0052}"/>
              </a:ext>
            </a:extLst>
          </p:cNvPr>
          <p:cNvSpPr txBox="1"/>
          <p:nvPr/>
        </p:nvSpPr>
        <p:spPr>
          <a:xfrm>
            <a:off x="3923928" y="638132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ローカルストレージ</a:t>
            </a:r>
            <a:endParaRPr kumimoji="1" lang="ja-JP" altLang="en-US"/>
          </a:p>
        </p:txBody>
      </p:sp>
      <p:pic>
        <p:nvPicPr>
          <p:cNvPr id="11" name="Picture 6" descr="データセンターのイラスト（単体）">
            <a:extLst>
              <a:ext uri="{FF2B5EF4-FFF2-40B4-BE49-F238E27FC236}">
                <a16:creationId xmlns:a16="http://schemas.microsoft.com/office/drawing/2014/main" id="{EB07BBD1-4387-46B6-8F2B-0F47CBE506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6016" y="3429000"/>
            <a:ext cx="761893" cy="1145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A64266E6-A983-45DC-908D-05CAB819A677}"/>
              </a:ext>
            </a:extLst>
          </p:cNvPr>
          <p:cNvSpPr txBox="1"/>
          <p:nvPr/>
        </p:nvSpPr>
        <p:spPr>
          <a:xfrm>
            <a:off x="4283968" y="3068960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ウェブサーバ</a:t>
            </a:r>
            <a:endParaRPr kumimoji="1" lang="ja-JP" altLang="en-US"/>
          </a:p>
        </p:txBody>
      </p:sp>
      <p:pic>
        <p:nvPicPr>
          <p:cNvPr id="13" name="Picture 4">
            <a:extLst>
              <a:ext uri="{FF2B5EF4-FFF2-40B4-BE49-F238E27FC236}">
                <a16:creationId xmlns:a16="http://schemas.microsoft.com/office/drawing/2014/main" id="{0930E5E4-08D6-4A4F-86EB-7DF6020628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1720" y="3501008"/>
            <a:ext cx="792088" cy="792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矢印: 左右 13">
            <a:extLst>
              <a:ext uri="{FF2B5EF4-FFF2-40B4-BE49-F238E27FC236}">
                <a16:creationId xmlns:a16="http://schemas.microsoft.com/office/drawing/2014/main" id="{146BE311-D0A6-4B81-B626-36174CBE51CA}"/>
              </a:ext>
            </a:extLst>
          </p:cNvPr>
          <p:cNvSpPr/>
          <p:nvPr/>
        </p:nvSpPr>
        <p:spPr>
          <a:xfrm rot="5400000">
            <a:off x="4644008" y="4797152"/>
            <a:ext cx="792088" cy="360040"/>
          </a:xfrm>
          <a:prstGeom prst="left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F8278653-A99A-40C6-89DA-249735E9ACE4}"/>
              </a:ext>
            </a:extLst>
          </p:cNvPr>
          <p:cNvSpPr txBox="1"/>
          <p:nvPr/>
        </p:nvSpPr>
        <p:spPr>
          <a:xfrm>
            <a:off x="5508104" y="4653136"/>
            <a:ext cx="34163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ウェブサーバの</a:t>
            </a:r>
            <a:endParaRPr kumimoji="1" lang="en-US" altLang="ja-JP"/>
          </a:p>
          <a:p>
            <a:r>
              <a:rPr kumimoji="1" lang="ja-JP" altLang="en-US"/>
              <a:t>ローカルなのでアクセスできる</a:t>
            </a:r>
          </a:p>
        </p:txBody>
      </p:sp>
      <p:sp>
        <p:nvSpPr>
          <p:cNvPr id="16" name="矢印: 左右 15">
            <a:extLst>
              <a:ext uri="{FF2B5EF4-FFF2-40B4-BE49-F238E27FC236}">
                <a16:creationId xmlns:a16="http://schemas.microsoft.com/office/drawing/2014/main" id="{18D8D041-08C7-4E75-8EA7-61FABC2A80B7}"/>
              </a:ext>
            </a:extLst>
          </p:cNvPr>
          <p:cNvSpPr/>
          <p:nvPr/>
        </p:nvSpPr>
        <p:spPr>
          <a:xfrm>
            <a:off x="3059832" y="3645024"/>
            <a:ext cx="1224136" cy="432048"/>
          </a:xfrm>
          <a:prstGeom prst="left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7DC7C37-99FB-4FFE-8401-8B2ED3F5CC37}"/>
              </a:ext>
            </a:extLst>
          </p:cNvPr>
          <p:cNvSpPr txBox="1"/>
          <p:nvPr/>
        </p:nvSpPr>
        <p:spPr>
          <a:xfrm>
            <a:off x="1835696" y="299695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ブラウザ</a:t>
            </a:r>
            <a:endParaRPr kumimoji="1" lang="ja-JP" altLang="en-US"/>
          </a:p>
        </p:txBody>
      </p:sp>
      <p:sp>
        <p:nvSpPr>
          <p:cNvPr id="18" name="矢印: 左右 17">
            <a:extLst>
              <a:ext uri="{FF2B5EF4-FFF2-40B4-BE49-F238E27FC236}">
                <a16:creationId xmlns:a16="http://schemas.microsoft.com/office/drawing/2014/main" id="{5F59A37E-5243-4FC5-BF12-C9FF860B5953}"/>
              </a:ext>
            </a:extLst>
          </p:cNvPr>
          <p:cNvSpPr/>
          <p:nvPr/>
        </p:nvSpPr>
        <p:spPr>
          <a:xfrm rot="5400000">
            <a:off x="1979712" y="4653136"/>
            <a:ext cx="792088" cy="360040"/>
          </a:xfrm>
          <a:prstGeom prst="left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DF13C3B-A4AC-4C56-962D-68F37E3C50C5}"/>
              </a:ext>
            </a:extLst>
          </p:cNvPr>
          <p:cNvSpPr txBox="1"/>
          <p:nvPr/>
        </p:nvSpPr>
        <p:spPr>
          <a:xfrm>
            <a:off x="971600" y="45811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動作確認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2268E9D5-9C27-4128-BC11-D7758A87A1D8}"/>
              </a:ext>
            </a:extLst>
          </p:cNvPr>
          <p:cNvSpPr txBox="1"/>
          <p:nvPr/>
        </p:nvSpPr>
        <p:spPr>
          <a:xfrm>
            <a:off x="2843808" y="5301208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ファイル修正</a:t>
            </a:r>
          </a:p>
        </p:txBody>
      </p:sp>
    </p:spTree>
    <p:extLst>
      <p:ext uri="{BB962C8B-B14F-4D97-AF65-F5344CB8AC3E}">
        <p14:creationId xmlns:p14="http://schemas.microsoft.com/office/powerpoint/2010/main" val="40013318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EA5F53A1-3CB1-415F-B91C-F1A7DDC68A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課題</a:t>
            </a:r>
            <a:r>
              <a:rPr lang="en-US" altLang="ja-JP"/>
              <a:t>2 - Step 4</a:t>
            </a:r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F9820444-49FF-4F57-9B96-37196BB3D3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1556792"/>
            <a:ext cx="8415895" cy="5184576"/>
          </a:xfrm>
          <a:prstGeom prst="rect">
            <a:avLst/>
          </a:prstGeom>
        </p:spPr>
      </p:pic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07D13061-4370-45F4-AFA4-6D8F544D6A8C}"/>
              </a:ext>
            </a:extLst>
          </p:cNvPr>
          <p:cNvSpPr/>
          <p:nvPr/>
        </p:nvSpPr>
        <p:spPr>
          <a:xfrm>
            <a:off x="395537" y="4293096"/>
            <a:ext cx="504056" cy="36004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45DA501C-832C-49B8-8D98-9924DC43C2DF}"/>
              </a:ext>
            </a:extLst>
          </p:cNvPr>
          <p:cNvSpPr/>
          <p:nvPr/>
        </p:nvSpPr>
        <p:spPr>
          <a:xfrm>
            <a:off x="1115616" y="2276872"/>
            <a:ext cx="1728192" cy="36004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DCD9CB09-9728-4C54-BE54-F7418BD581E8}"/>
              </a:ext>
            </a:extLst>
          </p:cNvPr>
          <p:cNvSpPr/>
          <p:nvPr/>
        </p:nvSpPr>
        <p:spPr>
          <a:xfrm>
            <a:off x="2051720" y="3284984"/>
            <a:ext cx="792088" cy="216024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6DA2A16D-0A29-4CA7-9313-053E4CD97032}"/>
              </a:ext>
            </a:extLst>
          </p:cNvPr>
          <p:cNvSpPr txBox="1"/>
          <p:nvPr/>
        </p:nvSpPr>
        <p:spPr>
          <a:xfrm>
            <a:off x="539552" y="1052736"/>
            <a:ext cx="77893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1. </a:t>
            </a:r>
            <a:r>
              <a:rPr kumimoji="1" lang="ja-JP" altLang="en-US"/>
              <a:t>拡張機能をクリック </a:t>
            </a:r>
            <a:r>
              <a:rPr kumimoji="1" lang="en-US" altLang="ja-JP"/>
              <a:t>2. </a:t>
            </a:r>
            <a:r>
              <a:rPr kumimoji="1" lang="ja-JP" altLang="en-US"/>
              <a:t>検索窓に「</a:t>
            </a:r>
            <a:r>
              <a:rPr kumimoji="1" lang="en-US" altLang="ja-JP"/>
              <a:t>Live Server</a:t>
            </a:r>
            <a:r>
              <a:rPr kumimoji="1" lang="ja-JP" altLang="en-US"/>
              <a:t>」と入力 </a:t>
            </a:r>
            <a:r>
              <a:rPr kumimoji="1" lang="en-US" altLang="ja-JP"/>
              <a:t>3. </a:t>
            </a:r>
            <a:r>
              <a:rPr kumimoji="1" lang="ja-JP" altLang="en-US"/>
              <a:t>インストール</a:t>
            </a:r>
          </a:p>
        </p:txBody>
      </p:sp>
    </p:spTree>
    <p:extLst>
      <p:ext uri="{BB962C8B-B14F-4D97-AF65-F5344CB8AC3E}">
        <p14:creationId xmlns:p14="http://schemas.microsoft.com/office/powerpoint/2010/main" val="306935237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B29F8BF-9E30-4320-8780-15405B2C6AE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課題</a:t>
            </a:r>
            <a:r>
              <a:rPr lang="en-US" altLang="ja-JP"/>
              <a:t>2 - Step 4</a:t>
            </a:r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2EE263F4-8A63-4C0D-B7A3-D818F7CC93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20" y="1268760"/>
            <a:ext cx="3689002" cy="4392488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A3115DBD-466C-49B2-B25E-2CC59EAD9B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512" y="5877272"/>
            <a:ext cx="7994799" cy="746502"/>
          </a:xfrm>
          <a:prstGeom prst="rect">
            <a:avLst/>
          </a:prstGeom>
        </p:spPr>
      </p:pic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049741E5-CF7F-46F7-ACA1-8949D8EEDE1F}"/>
              </a:ext>
            </a:extLst>
          </p:cNvPr>
          <p:cNvSpPr/>
          <p:nvPr/>
        </p:nvSpPr>
        <p:spPr>
          <a:xfrm>
            <a:off x="1619672" y="4509120"/>
            <a:ext cx="1872208" cy="36004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59FBE452-68D8-4EDA-989F-1EAB83E15ACB}"/>
              </a:ext>
            </a:extLst>
          </p:cNvPr>
          <p:cNvSpPr txBox="1"/>
          <p:nvPr/>
        </p:nvSpPr>
        <p:spPr>
          <a:xfrm>
            <a:off x="4211960" y="1916832"/>
            <a:ext cx="47179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/>
              <a:t>1. docs/index.html</a:t>
            </a:r>
            <a:r>
              <a:rPr lang="ja-JP" altLang="en-US" sz="3200"/>
              <a:t>を開く</a:t>
            </a:r>
            <a:endParaRPr kumimoji="1" lang="ja-JP" altLang="en-US" sz="3200"/>
          </a:p>
        </p:txBody>
      </p:sp>
      <p:cxnSp>
        <p:nvCxnSpPr>
          <p:cNvPr id="11" name="コネクタ: カギ線 10">
            <a:extLst>
              <a:ext uri="{FF2B5EF4-FFF2-40B4-BE49-F238E27FC236}">
                <a16:creationId xmlns:a16="http://schemas.microsoft.com/office/drawing/2014/main" id="{448590C9-F6A1-44C0-A1D9-0E2FA7F493B8}"/>
              </a:ext>
            </a:extLst>
          </p:cNvPr>
          <p:cNvCxnSpPr>
            <a:cxnSpLocks/>
            <a:stCxn id="10" idx="2"/>
            <a:endCxn id="9" idx="0"/>
          </p:cNvCxnSpPr>
          <p:nvPr/>
        </p:nvCxnSpPr>
        <p:spPr>
          <a:xfrm rot="5400000">
            <a:off x="3559602" y="1497782"/>
            <a:ext cx="2007513" cy="4015163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31A75A33-4C33-4243-A147-5BAF5F4571D7}"/>
              </a:ext>
            </a:extLst>
          </p:cNvPr>
          <p:cNvSpPr txBox="1"/>
          <p:nvPr/>
        </p:nvSpPr>
        <p:spPr>
          <a:xfrm>
            <a:off x="4283968" y="3789040"/>
            <a:ext cx="4104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/>
              <a:t>2. Go Live</a:t>
            </a:r>
            <a:r>
              <a:rPr lang="ja-JP" altLang="en-US" sz="3200"/>
              <a:t>をクリック</a:t>
            </a:r>
            <a:endParaRPr kumimoji="1" lang="ja-JP" altLang="en-US" sz="3200"/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1D39AB62-16DC-4A48-A1A1-EE99B68E463B}"/>
              </a:ext>
            </a:extLst>
          </p:cNvPr>
          <p:cNvSpPr/>
          <p:nvPr/>
        </p:nvSpPr>
        <p:spPr>
          <a:xfrm>
            <a:off x="6516216" y="6165304"/>
            <a:ext cx="1728192" cy="50405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6" name="コネクタ: カギ線 15">
            <a:extLst>
              <a:ext uri="{FF2B5EF4-FFF2-40B4-BE49-F238E27FC236}">
                <a16:creationId xmlns:a16="http://schemas.microsoft.com/office/drawing/2014/main" id="{B813599B-5906-4ABF-A63C-3365AE11C38D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16200000" flipH="1">
            <a:off x="5962398" y="4747389"/>
            <a:ext cx="1791489" cy="1044339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854652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5B5E8DCF-EB67-44A3-89B4-E45F5A1124C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課題</a:t>
            </a:r>
            <a:r>
              <a:rPr lang="en-US" altLang="ja-JP"/>
              <a:t>2 - Step 4</a:t>
            </a:r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5D09ED4-C0D4-4DB2-B9F7-83E48E7CCE64}"/>
              </a:ext>
            </a:extLst>
          </p:cNvPr>
          <p:cNvSpPr txBox="1"/>
          <p:nvPr/>
        </p:nvSpPr>
        <p:spPr>
          <a:xfrm>
            <a:off x="1331640" y="980728"/>
            <a:ext cx="57246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ブラウザが開いてゲームができれば成功</a:t>
            </a:r>
            <a:endParaRPr kumimoji="1" lang="ja-JP" altLang="en-US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E36141E7-394E-47D5-B351-B98C23729F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60" y="1412776"/>
            <a:ext cx="7488832" cy="4836537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5C61F87-F191-6B9D-EBDD-0BBE98F5A75E}"/>
              </a:ext>
            </a:extLst>
          </p:cNvPr>
          <p:cNvSpPr txBox="1"/>
          <p:nvPr/>
        </p:nvSpPr>
        <p:spPr>
          <a:xfrm>
            <a:off x="2195736" y="6309320"/>
            <a:ext cx="45704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このタブはデバッグに使うので閉じない事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9894454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EA014185-02D9-412D-A9DD-33CB68EF0FA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課題</a:t>
            </a:r>
            <a:r>
              <a:rPr lang="en-US" altLang="ja-JP"/>
              <a:t>2 - Step 5</a:t>
            </a:r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7CC1978C-FFB4-4D14-AAE0-6C83515063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8" y="1628800"/>
            <a:ext cx="3168352" cy="4789029"/>
          </a:xfrm>
          <a:prstGeom prst="rect">
            <a:avLst/>
          </a:prstGeom>
        </p:spPr>
      </p:pic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FD01A4F7-C561-4921-B60D-FF881DD0DD35}"/>
              </a:ext>
            </a:extLst>
          </p:cNvPr>
          <p:cNvSpPr/>
          <p:nvPr/>
        </p:nvSpPr>
        <p:spPr>
          <a:xfrm>
            <a:off x="1475656" y="5373216"/>
            <a:ext cx="1872208" cy="36004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F872CB0-96DC-4BBA-BFA0-6DFF59057C16}"/>
              </a:ext>
            </a:extLst>
          </p:cNvPr>
          <p:cNvSpPr txBox="1"/>
          <p:nvPr/>
        </p:nvSpPr>
        <p:spPr>
          <a:xfrm>
            <a:off x="1547664" y="908720"/>
            <a:ext cx="67217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3200"/>
              <a:t>docs/data/scenario/first.ks</a:t>
            </a:r>
            <a:r>
              <a:rPr kumimoji="1" lang="ja-JP" altLang="en-US" sz="3200"/>
              <a:t>を開く</a:t>
            </a:r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B5AB4CB2-BAF3-4FFC-9F3E-84C4BDDE96D5}"/>
              </a:ext>
            </a:extLst>
          </p:cNvPr>
          <p:cNvCxnSpPr>
            <a:cxnSpLocks/>
            <a:stCxn id="6" idx="2"/>
            <a:endCxn id="5" idx="3"/>
          </p:cNvCxnSpPr>
          <p:nvPr/>
        </p:nvCxnSpPr>
        <p:spPr>
          <a:xfrm rot="5400000">
            <a:off x="2098329" y="2743030"/>
            <a:ext cx="4059741" cy="1560670"/>
          </a:xfrm>
          <a:prstGeom prst="bentConnector2">
            <a:avLst/>
          </a:prstGeom>
          <a:ln w="28575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902124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78A5381-F5FB-4985-A2B6-7DDB7988E9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課題</a:t>
            </a:r>
            <a:r>
              <a:rPr lang="en-US" altLang="ja-JP"/>
              <a:t>2 - Step 5</a:t>
            </a:r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6AA573B-786D-493C-9310-59BFBDCDF066}"/>
              </a:ext>
            </a:extLst>
          </p:cNvPr>
          <p:cNvSpPr txBox="1"/>
          <p:nvPr/>
        </p:nvSpPr>
        <p:spPr>
          <a:xfrm>
            <a:off x="251520" y="2348880"/>
            <a:ext cx="8064896" cy="34163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ja-JP" sz="3600"/>
              <a:t>*start</a:t>
            </a:r>
          </a:p>
          <a:p>
            <a:endParaRPr lang="en-US" altLang="ja-JP" sz="3600"/>
          </a:p>
          <a:p>
            <a:r>
              <a:rPr lang="en-US" altLang="ja-JP" sz="3600"/>
              <a:t>[title name="</a:t>
            </a:r>
            <a:r>
              <a:rPr lang="ja-JP" altLang="en-US" sz="3600">
                <a:solidFill>
                  <a:srgbClr val="FF0000"/>
                </a:solidFill>
              </a:rPr>
              <a:t>怒れセリヌンティウス</a:t>
            </a:r>
            <a:r>
              <a:rPr lang="en-US" altLang="ja-JP" sz="3600"/>
              <a:t>"]</a:t>
            </a:r>
          </a:p>
          <a:p>
            <a:r>
              <a:rPr lang="en-US" altLang="ja-JP" sz="3600"/>
              <a:t>[hidemenubutton]</a:t>
            </a:r>
          </a:p>
          <a:p>
            <a:r>
              <a:rPr lang="en-US" altLang="ja-JP" sz="3600"/>
              <a:t>[wait time=200]</a:t>
            </a:r>
          </a:p>
          <a:p>
            <a:r>
              <a:rPr lang="en-US" altLang="ja-JP" sz="3600"/>
              <a:t>[freeimage layer="base"]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BE6AB53-60D6-4F02-AA1B-FD2BE2AA580B}"/>
              </a:ext>
            </a:extLst>
          </p:cNvPr>
          <p:cNvSpPr txBox="1"/>
          <p:nvPr/>
        </p:nvSpPr>
        <p:spPr>
          <a:xfrm>
            <a:off x="251520" y="1124744"/>
            <a:ext cx="61863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600"/>
              <a:t>タイトルを変更して</a:t>
            </a:r>
            <a:r>
              <a:rPr lang="ja-JP" altLang="en-US" sz="3600"/>
              <a:t>保存する</a:t>
            </a:r>
            <a:endParaRPr kumimoji="1" lang="ja-JP" altLang="en-US" sz="3600"/>
          </a:p>
        </p:txBody>
      </p:sp>
    </p:spTree>
    <p:extLst>
      <p:ext uri="{BB962C8B-B14F-4D97-AF65-F5344CB8AC3E}">
        <p14:creationId xmlns:p14="http://schemas.microsoft.com/office/powerpoint/2010/main" val="195032382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F9E80C5-0F3F-4B38-8A9C-142D6B6BD42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課題</a:t>
            </a:r>
            <a:r>
              <a:rPr lang="en-US" altLang="ja-JP"/>
              <a:t>2 - Step 5</a:t>
            </a:r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1296C6C6-E616-4D12-B3CC-5E7E98A53D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20" y="1700808"/>
            <a:ext cx="7134276" cy="5082740"/>
          </a:xfrm>
          <a:prstGeom prst="rect">
            <a:avLst/>
          </a:prstGeom>
        </p:spPr>
      </p:pic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E3D5FE2C-5B43-4497-B273-E5BDE2D68EE4}"/>
              </a:ext>
            </a:extLst>
          </p:cNvPr>
          <p:cNvSpPr/>
          <p:nvPr/>
        </p:nvSpPr>
        <p:spPr>
          <a:xfrm>
            <a:off x="611560" y="1772816"/>
            <a:ext cx="1368152" cy="36004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96146ED-E92A-4920-B2EE-8A44CFD3B977}"/>
              </a:ext>
            </a:extLst>
          </p:cNvPr>
          <p:cNvSpPr txBox="1"/>
          <p:nvPr/>
        </p:nvSpPr>
        <p:spPr>
          <a:xfrm>
            <a:off x="827584" y="1052736"/>
            <a:ext cx="55194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/>
              <a:t>タイトルが変更されれば成功</a:t>
            </a:r>
          </a:p>
        </p:txBody>
      </p:sp>
    </p:spTree>
    <p:extLst>
      <p:ext uri="{BB962C8B-B14F-4D97-AF65-F5344CB8AC3E}">
        <p14:creationId xmlns:p14="http://schemas.microsoft.com/office/powerpoint/2010/main" val="4351741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49424D0E-F09F-77F7-FC10-D2C683360CF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課題</a:t>
            </a:r>
            <a:r>
              <a:rPr lang="en-US" altLang="ja-JP"/>
              <a:t>2 - Step 6</a:t>
            </a:r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6E4F287-0EDC-FB70-D31C-AF55F5618AF7}"/>
              </a:ext>
            </a:extLst>
          </p:cNvPr>
          <p:cNvSpPr txBox="1"/>
          <p:nvPr/>
        </p:nvSpPr>
        <p:spPr>
          <a:xfrm>
            <a:off x="323528" y="1484784"/>
            <a:ext cx="768511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/>
              <a:t>first.ks</a:t>
            </a:r>
            <a:r>
              <a:rPr kumimoji="1" lang="ja-JP" altLang="en-US" sz="2800"/>
              <a:t>を修正し、オリジナルゲームを作成する</a:t>
            </a:r>
            <a:endParaRPr kumimoji="1" lang="en-US" altLang="ja-JP" sz="2800"/>
          </a:p>
          <a:p>
            <a:r>
              <a:rPr kumimoji="1" lang="ja-JP" altLang="en-US" sz="2800"/>
              <a:t>必要に応じて画像ファイルを追加する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D460127-B5EF-34A8-3B77-14F045DAA8A0}"/>
              </a:ext>
            </a:extLst>
          </p:cNvPr>
          <p:cNvSpPr txBox="1"/>
          <p:nvPr/>
        </p:nvSpPr>
        <p:spPr>
          <a:xfrm>
            <a:off x="395536" y="2996952"/>
            <a:ext cx="6873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背景画像は </a:t>
            </a:r>
            <a:r>
              <a:rPr lang="en-US" altLang="ja-JP" sz="2400"/>
              <a:t>docs/data/bgimage</a:t>
            </a:r>
            <a:r>
              <a:rPr lang="ja-JP" altLang="en-US" sz="2400"/>
              <a:t>にファイルを置く</a:t>
            </a:r>
            <a:endParaRPr kumimoji="1" lang="ja-JP" altLang="en-US" sz="240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CE0C31C3-F556-6329-B220-B6D1B96CCA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4005064"/>
            <a:ext cx="4562976" cy="2232248"/>
          </a:xfrm>
          <a:prstGeom prst="rect">
            <a:avLst/>
          </a:prstGeom>
        </p:spPr>
      </p:pic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B5488461-A24A-6F2D-C040-FDA89B5D0659}"/>
              </a:ext>
            </a:extLst>
          </p:cNvPr>
          <p:cNvSpPr/>
          <p:nvPr/>
        </p:nvSpPr>
        <p:spPr>
          <a:xfrm>
            <a:off x="899592" y="5157192"/>
            <a:ext cx="1584176" cy="108012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" name="コネクタ: カギ線 10">
            <a:extLst>
              <a:ext uri="{FF2B5EF4-FFF2-40B4-BE49-F238E27FC236}">
                <a16:creationId xmlns:a16="http://schemas.microsoft.com/office/drawing/2014/main" id="{B3AB1027-261A-F195-7E51-614521ED80D7}"/>
              </a:ext>
            </a:extLst>
          </p:cNvPr>
          <p:cNvCxnSpPr>
            <a:stCxn id="4" idx="3"/>
            <a:endCxn id="9" idx="3"/>
          </p:cNvCxnSpPr>
          <p:nvPr/>
        </p:nvCxnSpPr>
        <p:spPr>
          <a:xfrm flipH="1">
            <a:off x="2483768" y="3227785"/>
            <a:ext cx="4785766" cy="2469467"/>
          </a:xfrm>
          <a:prstGeom prst="bentConnector3">
            <a:avLst>
              <a:gd name="adj1" fmla="val -4777"/>
            </a:avLst>
          </a:prstGeom>
          <a:ln>
            <a:headEnd type="none" w="med" len="med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51161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4557027D-2DCB-498C-3041-767FD1EC55F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課題</a:t>
            </a:r>
            <a:r>
              <a:rPr lang="en-US" altLang="ja-JP"/>
              <a:t>2 - Step 7</a:t>
            </a:r>
            <a:endParaRPr kumimoji="1" lang="ja-JP" altLang="en-US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8914ACC7-63F4-5652-F718-CE583E5B0B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2348880"/>
            <a:ext cx="6633765" cy="1713224"/>
          </a:xfrm>
          <a:prstGeom prst="rect">
            <a:avLst/>
          </a:prstGeom>
        </p:spPr>
      </p:pic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1E2DA6CE-57BE-9A68-3C05-9B63743E3A5D}"/>
              </a:ext>
            </a:extLst>
          </p:cNvPr>
          <p:cNvSpPr/>
          <p:nvPr/>
        </p:nvSpPr>
        <p:spPr>
          <a:xfrm>
            <a:off x="3059832" y="2492896"/>
            <a:ext cx="504056" cy="50405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8527D627-2469-C737-19E2-CD3FC6F1343A}"/>
              </a:ext>
            </a:extLst>
          </p:cNvPr>
          <p:cNvSpPr txBox="1"/>
          <p:nvPr/>
        </p:nvSpPr>
        <p:spPr>
          <a:xfrm>
            <a:off x="251520" y="1052736"/>
            <a:ext cx="842493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2800"/>
              <a:t>first.ks</a:t>
            </a:r>
            <a:r>
              <a:rPr lang="ja-JP" altLang="en-US" sz="2800"/>
              <a:t>の保存忘れに注意。</a:t>
            </a:r>
            <a:r>
              <a:rPr lang="en-US" altLang="ja-JP" sz="2800"/>
              <a:t>push</a:t>
            </a:r>
            <a:r>
              <a:rPr lang="ja-JP" altLang="en-US" sz="2800"/>
              <a:t>前に保存すること。</a:t>
            </a:r>
            <a:endParaRPr kumimoji="1" lang="ja-JP" altLang="en-US" sz="280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3BDFB70F-74EB-35E2-986C-1AB9441C5DDE}"/>
              </a:ext>
            </a:extLst>
          </p:cNvPr>
          <p:cNvSpPr txBox="1"/>
          <p:nvPr/>
        </p:nvSpPr>
        <p:spPr>
          <a:xfrm>
            <a:off x="107504" y="1844824"/>
            <a:ext cx="86501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000"/>
              <a:t>VS Code</a:t>
            </a:r>
            <a:r>
              <a:rPr kumimoji="1" lang="ja-JP" altLang="en-US" sz="2000"/>
              <a:t>のファイル名のタブの隣が●になっていたら、保存されていない</a:t>
            </a:r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18964949-2C2D-0D25-D3D3-2E6992045F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536" y="5013176"/>
            <a:ext cx="6702281" cy="1584176"/>
          </a:xfrm>
          <a:prstGeom prst="rect">
            <a:avLst/>
          </a:prstGeom>
        </p:spPr>
      </p:pic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7F03F20E-6A00-FCBE-4263-19B154E8A2CA}"/>
              </a:ext>
            </a:extLst>
          </p:cNvPr>
          <p:cNvSpPr/>
          <p:nvPr/>
        </p:nvSpPr>
        <p:spPr>
          <a:xfrm>
            <a:off x="2843808" y="5157192"/>
            <a:ext cx="504056" cy="50405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1645D5B5-ED71-09AF-A108-B6E3FE262147}"/>
              </a:ext>
            </a:extLst>
          </p:cNvPr>
          <p:cNvSpPr txBox="1"/>
          <p:nvPr/>
        </p:nvSpPr>
        <p:spPr>
          <a:xfrm>
            <a:off x="179512" y="4469050"/>
            <a:ext cx="29209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000"/>
              <a:t>X</a:t>
            </a:r>
            <a:r>
              <a:rPr kumimoji="1" lang="ja-JP" altLang="en-US" sz="2000"/>
              <a:t>になっていたら</a:t>
            </a:r>
            <a:r>
              <a:rPr lang="ja-JP" altLang="en-US" sz="2000"/>
              <a:t>大丈夫</a:t>
            </a:r>
            <a:endParaRPr kumimoji="1" lang="ja-JP" altLang="en-US" sz="2000"/>
          </a:p>
        </p:txBody>
      </p:sp>
    </p:spTree>
    <p:extLst>
      <p:ext uri="{BB962C8B-B14F-4D97-AF65-F5344CB8AC3E}">
        <p14:creationId xmlns:p14="http://schemas.microsoft.com/office/powerpoint/2010/main" val="342873820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F96770C1-35F2-FE68-2CAC-BA2DE31498B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課題</a:t>
            </a:r>
            <a:r>
              <a:rPr lang="en-US" altLang="ja-JP"/>
              <a:t>2 - Step 7</a:t>
            </a:r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6471432-847B-A38F-2278-22FC827AC9C4}"/>
              </a:ext>
            </a:extLst>
          </p:cNvPr>
          <p:cNvSpPr txBox="1"/>
          <p:nvPr/>
        </p:nvSpPr>
        <p:spPr>
          <a:xfrm>
            <a:off x="251520" y="1211268"/>
            <a:ext cx="820891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/>
              <a:t>Git Bash</a:t>
            </a:r>
            <a:r>
              <a:rPr kumimoji="1" lang="ja-JP" altLang="en-US" sz="2800"/>
              <a:t>で、カレントディレクトリが</a:t>
            </a:r>
            <a:r>
              <a:rPr kumimoji="1" lang="en-US" altLang="ja-JP" sz="2800"/>
              <a:t>/z/github/tyrano_sample</a:t>
            </a:r>
            <a:r>
              <a:rPr kumimoji="1" lang="ja-JP" altLang="en-US" sz="2800"/>
              <a:t>になっていることを確認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AE9E387-4F07-EC09-DA78-B9577DA061F2}"/>
              </a:ext>
            </a:extLst>
          </p:cNvPr>
          <p:cNvSpPr txBox="1"/>
          <p:nvPr/>
        </p:nvSpPr>
        <p:spPr>
          <a:xfrm>
            <a:off x="251520" y="2492896"/>
            <a:ext cx="38379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/>
              <a:t>以下の手順で</a:t>
            </a:r>
            <a:r>
              <a:rPr kumimoji="1" lang="en-US" altLang="ja-JP" sz="2800"/>
              <a:t>push</a:t>
            </a:r>
            <a:r>
              <a:rPr kumimoji="1" lang="ja-JP" altLang="en-US" sz="2800"/>
              <a:t>する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23225D7-A43A-6048-9EE2-C2048CA5B6F4}"/>
              </a:ext>
            </a:extLst>
          </p:cNvPr>
          <p:cNvSpPr txBox="1"/>
          <p:nvPr/>
        </p:nvSpPr>
        <p:spPr>
          <a:xfrm>
            <a:off x="323528" y="3212976"/>
            <a:ext cx="5544616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ja-JP" sz="3200">
                <a:latin typeface="Consolas" panose="020B0609020204030204" pitchFamily="49" charset="0"/>
              </a:rPr>
              <a:t>git</a:t>
            </a:r>
            <a:r>
              <a:rPr lang="ja-JP" altLang="en-US" sz="3200">
                <a:latin typeface="Consolas" panose="020B0609020204030204" pitchFamily="49" charset="0"/>
              </a:rPr>
              <a:t> </a:t>
            </a:r>
            <a:r>
              <a:rPr lang="en-US" altLang="ja-JP" sz="3200">
                <a:latin typeface="Consolas" panose="020B0609020204030204" pitchFamily="49" charset="0"/>
              </a:rPr>
              <a:t>add</a:t>
            </a:r>
            <a:r>
              <a:rPr lang="ja-JP" altLang="en-US" sz="3200">
                <a:latin typeface="Consolas" panose="020B0609020204030204" pitchFamily="49" charset="0"/>
              </a:rPr>
              <a:t> </a:t>
            </a:r>
            <a:r>
              <a:rPr lang="en-US" altLang="ja-JP" sz="3200">
                <a:latin typeface="Consolas" panose="020B0609020204030204" pitchFamily="49" charset="0"/>
              </a:rPr>
              <a:t>.</a:t>
            </a:r>
          </a:p>
          <a:p>
            <a:r>
              <a:rPr lang="en-US" altLang="ja-JP" sz="3200">
                <a:latin typeface="Consolas" panose="020B0609020204030204" pitchFamily="49" charset="0"/>
              </a:rPr>
              <a:t>git commit -m “updates”</a:t>
            </a:r>
          </a:p>
          <a:p>
            <a:r>
              <a:rPr lang="en-US" altLang="ja-JP" sz="3200">
                <a:latin typeface="Consolas" panose="020B0609020204030204" pitchFamily="49" charset="0"/>
              </a:rPr>
              <a:t>git push</a:t>
            </a:r>
            <a:endParaRPr lang="en-US" altLang="ja-JP" sz="32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27425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5061B170-2AA3-46CA-305C-3D7F065C2D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課題</a:t>
            </a:r>
            <a:r>
              <a:rPr lang="en-US" altLang="ja-JP"/>
              <a:t>2 - Step 7</a:t>
            </a:r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E8409A23-C472-E5BC-0730-74B02F3849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52" y="1844824"/>
            <a:ext cx="6624736" cy="4167746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C4B814F-B9CB-C2AE-900B-E2FF82A9958D}"/>
              </a:ext>
            </a:extLst>
          </p:cNvPr>
          <p:cNvSpPr txBox="1"/>
          <p:nvPr/>
        </p:nvSpPr>
        <p:spPr>
          <a:xfrm>
            <a:off x="395536" y="1052736"/>
            <a:ext cx="42178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800" dirty="0"/>
              <a:t>GitHub Pages</a:t>
            </a:r>
            <a:r>
              <a:rPr lang="ja-JP" altLang="en-US" sz="2800"/>
              <a:t>で動作確認</a:t>
            </a:r>
            <a:endParaRPr kumimoji="1" lang="ja-JP" altLang="en-US" sz="2800"/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0319F53D-BAF1-3982-F5EC-04447833725B}"/>
              </a:ext>
            </a:extLst>
          </p:cNvPr>
          <p:cNvSpPr/>
          <p:nvPr/>
        </p:nvSpPr>
        <p:spPr>
          <a:xfrm>
            <a:off x="4932040" y="2636912"/>
            <a:ext cx="720080" cy="36004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09152550-2461-04EE-7E34-EF83E6711CBE}"/>
              </a:ext>
            </a:extLst>
          </p:cNvPr>
          <p:cNvSpPr/>
          <p:nvPr/>
        </p:nvSpPr>
        <p:spPr>
          <a:xfrm>
            <a:off x="611560" y="5301208"/>
            <a:ext cx="720080" cy="36004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254DCE4D-AFCB-D933-25FF-4E753C091F3B}"/>
              </a:ext>
            </a:extLst>
          </p:cNvPr>
          <p:cNvSpPr/>
          <p:nvPr/>
        </p:nvSpPr>
        <p:spPr>
          <a:xfrm>
            <a:off x="5868144" y="3717032"/>
            <a:ext cx="720080" cy="36004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48626FCD-1F3D-1A6D-E405-94CE9FE7540E}"/>
              </a:ext>
            </a:extLst>
          </p:cNvPr>
          <p:cNvSpPr/>
          <p:nvPr/>
        </p:nvSpPr>
        <p:spPr>
          <a:xfrm>
            <a:off x="4427984" y="2564904"/>
            <a:ext cx="360040" cy="360040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/>
              <a:t>1</a:t>
            </a:r>
            <a:endParaRPr kumimoji="1" lang="ja-JP" altLang="en-US"/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E4AD159B-1240-BCC8-62DC-07201F2C2CD5}"/>
              </a:ext>
            </a:extLst>
          </p:cNvPr>
          <p:cNvSpPr/>
          <p:nvPr/>
        </p:nvSpPr>
        <p:spPr>
          <a:xfrm>
            <a:off x="251520" y="5301208"/>
            <a:ext cx="360040" cy="360040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/>
              <a:t>2</a:t>
            </a:r>
            <a:endParaRPr kumimoji="1" lang="ja-JP" altLang="en-US"/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F9A74FBD-0681-3EA8-DE84-E8245B19FAA0}"/>
              </a:ext>
            </a:extLst>
          </p:cNvPr>
          <p:cNvSpPr/>
          <p:nvPr/>
        </p:nvSpPr>
        <p:spPr>
          <a:xfrm>
            <a:off x="5436096" y="3717032"/>
            <a:ext cx="360040" cy="360040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/>
              <a:t>3</a:t>
            </a:r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7FCE051B-EBE3-E1F2-198F-92470D8C881D}"/>
              </a:ext>
            </a:extLst>
          </p:cNvPr>
          <p:cNvSpPr txBox="1"/>
          <p:nvPr/>
        </p:nvSpPr>
        <p:spPr>
          <a:xfrm>
            <a:off x="251520" y="6237312"/>
            <a:ext cx="7733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Visit site</a:t>
            </a:r>
            <a:r>
              <a:rPr kumimoji="1" lang="ja-JP" altLang="en-US"/>
              <a:t>をクリックして現れたページで自分のゲームが表示されれば成功</a:t>
            </a:r>
          </a:p>
        </p:txBody>
      </p:sp>
      <p:cxnSp>
        <p:nvCxnSpPr>
          <p:cNvPr id="13" name="コネクタ: カギ線 12">
            <a:extLst>
              <a:ext uri="{FF2B5EF4-FFF2-40B4-BE49-F238E27FC236}">
                <a16:creationId xmlns:a16="http://schemas.microsoft.com/office/drawing/2014/main" id="{576FAAA8-692E-4F7B-DE83-9D9245934CDA}"/>
              </a:ext>
            </a:extLst>
          </p:cNvPr>
          <p:cNvCxnSpPr>
            <a:stCxn id="11" idx="3"/>
            <a:endCxn id="7" idx="3"/>
          </p:cNvCxnSpPr>
          <p:nvPr/>
        </p:nvCxnSpPr>
        <p:spPr>
          <a:xfrm flipH="1" flipV="1">
            <a:off x="6588224" y="3897052"/>
            <a:ext cx="1397144" cy="2524926"/>
          </a:xfrm>
          <a:prstGeom prst="bentConnector3">
            <a:avLst>
              <a:gd name="adj1" fmla="val -16362"/>
            </a:avLst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801375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11D5A76-84B0-4555-916E-774FEF15B7A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課題</a:t>
            </a:r>
            <a:r>
              <a:rPr lang="en-US" altLang="ja-JP" dirty="0"/>
              <a:t>2 - </a:t>
            </a:r>
            <a:r>
              <a:rPr lang="ja-JP" altLang="en-US"/>
              <a:t>公開と注意</a:t>
            </a:r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8153AEA-8F7A-48E3-B62C-1160F714D860}"/>
              </a:ext>
            </a:extLst>
          </p:cNvPr>
          <p:cNvSpPr txBox="1"/>
          <p:nvPr/>
        </p:nvSpPr>
        <p:spPr>
          <a:xfrm>
            <a:off x="107504" y="4725144"/>
            <a:ext cx="835292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2000" dirty="0"/>
              <a:t>公序良俗に反するような内容にしてはならない。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 sz="2000" dirty="0"/>
              <a:t>(</a:t>
            </a:r>
            <a:r>
              <a:rPr lang="ja-JP" altLang="en-US" sz="2000" dirty="0"/>
              <a:t>たとえ友人であっても</a:t>
            </a:r>
            <a:r>
              <a:rPr lang="en-US" altLang="ja-JP" sz="2000" dirty="0"/>
              <a:t>)</a:t>
            </a:r>
            <a:r>
              <a:rPr lang="ja-JP" altLang="en-US" sz="2000" dirty="0"/>
              <a:t>特定個人を揶揄するような内容にしてはならない。有名人も題材としない。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2000" dirty="0"/>
              <a:t>画像を用いる場合は</a:t>
            </a:r>
            <a:r>
              <a:rPr lang="ja-JP" altLang="en-US" sz="2000"/>
              <a:t>、ライセンスに問題</a:t>
            </a:r>
            <a:r>
              <a:rPr lang="ja-JP" altLang="en-US" sz="2000" dirty="0"/>
              <a:t>ないものを利用する。</a:t>
            </a:r>
            <a:endParaRPr lang="en-US" altLang="ja-JP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2000" dirty="0"/>
              <a:t>面白い作品は別の場所で紹介する可能性があるため、紹介されたくない場合はその旨をレポートに明記すること。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8C96FF41-F9B3-4AC4-8528-E22A9E99CF42}"/>
              </a:ext>
            </a:extLst>
          </p:cNvPr>
          <p:cNvSpPr txBox="1"/>
          <p:nvPr/>
        </p:nvSpPr>
        <p:spPr>
          <a:xfrm>
            <a:off x="69756" y="4077072"/>
            <a:ext cx="12618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800">
                <a:solidFill>
                  <a:srgbClr val="FF0000"/>
                </a:solidFill>
              </a:rPr>
              <a:t>注意：</a:t>
            </a:r>
            <a:endParaRPr kumimoji="1" lang="ja-JP" altLang="en-US" sz="2800">
              <a:solidFill>
                <a:srgbClr val="FF0000"/>
              </a:solidFill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8B92DAF-346F-4CC6-A2F6-DCB7BFAC1408}"/>
              </a:ext>
            </a:extLst>
          </p:cNvPr>
          <p:cNvSpPr txBox="1"/>
          <p:nvPr/>
        </p:nvSpPr>
        <p:spPr>
          <a:xfrm>
            <a:off x="162089" y="1196752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>
                <a:solidFill>
                  <a:srgbClr val="011893"/>
                </a:solidFill>
              </a:rPr>
              <a:t>ゲームの公開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29ECB45-4D87-7610-DEB5-7E7932DCF45D}"/>
              </a:ext>
            </a:extLst>
          </p:cNvPr>
          <p:cNvSpPr txBox="1"/>
          <p:nvPr/>
        </p:nvSpPr>
        <p:spPr>
          <a:xfrm>
            <a:off x="700698" y="2205154"/>
            <a:ext cx="48755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/>
              <a:t>https://アカウント名.github.io/tyrano-sample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17CAE2C-6C9E-718D-D1D2-19DAD57C1FBB}"/>
              </a:ext>
            </a:extLst>
          </p:cNvPr>
          <p:cNvSpPr txBox="1"/>
          <p:nvPr/>
        </p:nvSpPr>
        <p:spPr>
          <a:xfrm>
            <a:off x="691224" y="1794277"/>
            <a:ext cx="64171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以下の</a:t>
            </a:r>
            <a:r>
              <a:rPr kumimoji="1" lang="en-US" altLang="ja-JP" dirty="0"/>
              <a:t>URL</a:t>
            </a:r>
            <a:r>
              <a:rPr kumimoji="1" lang="ja-JP" altLang="en-US"/>
              <a:t>を共有することで、誰でもゲームをプレイできる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42C4125-0E45-5A37-7C6D-D5B19B2DA04E}"/>
              </a:ext>
            </a:extLst>
          </p:cNvPr>
          <p:cNvSpPr txBox="1"/>
          <p:nvPr/>
        </p:nvSpPr>
        <p:spPr>
          <a:xfrm>
            <a:off x="251520" y="2908402"/>
            <a:ext cx="77123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面白いゲームができたら春の学校</a:t>
            </a:r>
            <a:r>
              <a:rPr lang="en-US" altLang="ja-JP" dirty="0"/>
              <a:t>Discord</a:t>
            </a:r>
            <a:r>
              <a:rPr lang="ja-JP" altLang="en-US"/>
              <a:t>や</a:t>
            </a:r>
            <a:r>
              <a:rPr lang="en-US" altLang="ja-JP" dirty="0"/>
              <a:t>LINE</a:t>
            </a:r>
            <a:r>
              <a:rPr lang="ja-JP" altLang="en-US"/>
              <a:t>などに投稿してください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92734038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E0AC331C-C2C0-15FB-9A4C-4FCF235B8F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過去に講義で学生が作成した作品集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E3FF222-C9C1-0746-935E-3FD80DE1B3F9}"/>
              </a:ext>
            </a:extLst>
          </p:cNvPr>
          <p:cNvSpPr txBox="1"/>
          <p:nvPr/>
        </p:nvSpPr>
        <p:spPr>
          <a:xfrm>
            <a:off x="197661" y="6109508"/>
            <a:ext cx="4680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>
                <a:hlinkClick r:id="rId2"/>
              </a:rPr>
              <a:t>https://appi-github.github.io/sample_games/</a:t>
            </a:r>
            <a:endParaRPr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AE24617-E0FA-C135-3A90-F3E0EC9467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291" y="1124744"/>
            <a:ext cx="6840760" cy="4803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4612153"/>
      </p:ext>
    </p:extLst>
  </p:cSld>
  <p:clrMapOvr>
    <a:masterClrMapping/>
  </p:clrMapOvr>
</p:sld>
</file>

<file path=ppt/theme/theme1.xml><?xml version="1.0" encoding="utf-8"?>
<a:theme xmlns:a="http://schemas.openxmlformats.org/drawingml/2006/main" name="パーセル">
  <a:themeElements>
    <a:clrScheme name="ユーザー定義 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日常使う用">
      <a:majorFont>
        <a:latin typeface="Arial"/>
        <a:ea typeface="HGｺﾞｼｯｸE"/>
        <a:cs typeface=""/>
      </a:majorFont>
      <a:minorFont>
        <a:latin typeface="Arial"/>
        <a:ea typeface="HGｺﾞｼｯｸE"/>
        <a:cs typeface=""/>
      </a:minorFont>
    </a:fontScheme>
    <a:fmtScheme name="パーセル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>
    <a:spDef>
      <a:spPr>
        <a:solidFill>
          <a:srgbClr val="FF0000"/>
        </a:solidFill>
        <a:ln>
          <a:solidFill>
            <a:schemeClr val="tx1"/>
          </a:solidFill>
        </a:ln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{11DA09EC-ABC8-2D40-8DBB-00E840906C4E}tf10001120</Template>
  <TotalTime>8707</TotalTime>
  <Words>1359</Words>
  <Application>Microsoft Macintosh PowerPoint</Application>
  <PresentationFormat>画面に合わせる (4:3)</PresentationFormat>
  <Paragraphs>212</Paragraphs>
  <Slides>36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36</vt:i4>
      </vt:variant>
    </vt:vector>
  </HeadingPairs>
  <TitlesOfParts>
    <vt:vector size="40" baseType="lpstr">
      <vt:lpstr>游ゴシック</vt:lpstr>
      <vt:lpstr>Arial</vt:lpstr>
      <vt:lpstr>Consolas</vt:lpstr>
      <vt:lpstr>パーセル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watanabe</dc:creator>
  <cp:lastModifiedBy>渡辺 宙志</cp:lastModifiedBy>
  <cp:revision>1756</cp:revision>
  <dcterms:created xsi:type="dcterms:W3CDTF">2019-01-02T05:23:01Z</dcterms:created>
  <dcterms:modified xsi:type="dcterms:W3CDTF">2026-03-05T08:14:49Z</dcterms:modified>
</cp:coreProperties>
</file>