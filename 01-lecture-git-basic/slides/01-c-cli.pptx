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37"/>
  </p:notesMasterIdLst>
  <p:sldIdLst>
    <p:sldId id="256" r:id="rId2"/>
    <p:sldId id="298" r:id="rId3"/>
    <p:sldId id="295" r:id="rId4"/>
    <p:sldId id="296" r:id="rId5"/>
    <p:sldId id="329" r:id="rId6"/>
    <p:sldId id="327" r:id="rId7"/>
    <p:sldId id="328" r:id="rId8"/>
    <p:sldId id="300" r:id="rId9"/>
    <p:sldId id="306" r:id="rId10"/>
    <p:sldId id="330" r:id="rId11"/>
    <p:sldId id="301" r:id="rId12"/>
    <p:sldId id="302" r:id="rId13"/>
    <p:sldId id="303" r:id="rId14"/>
    <p:sldId id="304" r:id="rId15"/>
    <p:sldId id="305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3" r:id="rId32"/>
    <p:sldId id="322" r:id="rId33"/>
    <p:sldId id="324" r:id="rId34"/>
    <p:sldId id="325" r:id="rId35"/>
    <p:sldId id="326" r:id="rId3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  <a:srgbClr val="FFFF99"/>
    <a:srgbClr val="CCFFCC"/>
    <a:srgbClr val="CCECFF"/>
    <a:srgbClr val="FFCCCC"/>
    <a:srgbClr val="FF8AD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08" autoAdjust="0"/>
    <p:restoredTop sz="94660"/>
  </p:normalViewPr>
  <p:slideViewPr>
    <p:cSldViewPr>
      <p:cViewPr varScale="1">
        <p:scale>
          <a:sx n="127" d="100"/>
          <a:sy n="127" d="100"/>
        </p:scale>
        <p:origin x="161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2026/2/27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2" name="円/楕円 3">
            <a:extLst>
              <a:ext uri="{FF2B5EF4-FFF2-40B4-BE49-F238E27FC236}">
                <a16:creationId xmlns:a16="http://schemas.microsoft.com/office/drawing/2014/main" id="{DECD8406-90B4-8AA2-EB33-E58243BF2D17}"/>
              </a:ext>
            </a:extLst>
          </p:cNvPr>
          <p:cNvSpPr/>
          <p:nvPr userDrawn="1"/>
        </p:nvSpPr>
        <p:spPr>
          <a:xfrm>
            <a:off x="8497721" y="6230795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9DCA16-15E3-8896-D502-21C3C41EC008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6" name="弦 5">
            <a:extLst>
              <a:ext uri="{FF2B5EF4-FFF2-40B4-BE49-F238E27FC236}">
                <a16:creationId xmlns:a16="http://schemas.microsoft.com/office/drawing/2014/main" id="{65F898B3-F17D-D20D-FEA1-494B0DCC93FC}"/>
              </a:ext>
            </a:extLst>
          </p:cNvPr>
          <p:cNvSpPr/>
          <p:nvPr userDrawn="1"/>
        </p:nvSpPr>
        <p:spPr>
          <a:xfrm rot="16200000">
            <a:off x="8491626" y="6224701"/>
            <a:ext cx="588253" cy="576063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C0B5AE7-BF48-0924-7906-EC9245AC4C3A}"/>
              </a:ext>
            </a:extLst>
          </p:cNvPr>
          <p:cNvSpPr txBox="1"/>
          <p:nvPr userDrawn="1"/>
        </p:nvSpPr>
        <p:spPr>
          <a:xfrm>
            <a:off x="8596070" y="6442913"/>
            <a:ext cx="496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107504" y="1268760"/>
            <a:ext cx="8892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>
                <a:solidFill>
                  <a:srgbClr val="011893"/>
                </a:solidFill>
              </a:rPr>
              <a:t>コマンドラインの使い方</a:t>
            </a:r>
            <a:endParaRPr lang="en-US" altLang="ja-JP" sz="4000" dirty="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6FF3F0-B80E-4A32-A410-E1A4C3A7A116}"/>
              </a:ext>
            </a:extLst>
          </p:cNvPr>
          <p:cNvSpPr txBox="1"/>
          <p:nvPr/>
        </p:nvSpPr>
        <p:spPr>
          <a:xfrm>
            <a:off x="3704546" y="531456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慶應義塾大学理工学部物理情報工学科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A82E08-1852-476D-B582-C7C001BDD60A}"/>
              </a:ext>
            </a:extLst>
          </p:cNvPr>
          <p:cNvSpPr txBox="1"/>
          <p:nvPr/>
        </p:nvSpPr>
        <p:spPr>
          <a:xfrm>
            <a:off x="8249826" y="57332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渡辺</a:t>
            </a:r>
            <a:endParaRPr lang="en-US" altLang="ja-JP" sz="24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152AABE-A837-8DAE-1D5A-622E0DBA492B}"/>
              </a:ext>
            </a:extLst>
          </p:cNvPr>
          <p:cNvSpPr txBox="1"/>
          <p:nvPr/>
        </p:nvSpPr>
        <p:spPr>
          <a:xfrm>
            <a:off x="0" y="6519446"/>
            <a:ext cx="7263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2026</a:t>
            </a:r>
            <a:r>
              <a:rPr kumimoji="1" lang="ja-JP" altLang="en-US" sz="1600"/>
              <a:t>年</a:t>
            </a:r>
            <a:r>
              <a:rPr kumimoji="1" lang="en-US" altLang="ja-JP" sz="1600" dirty="0"/>
              <a:t>3</a:t>
            </a:r>
            <a:r>
              <a:rPr kumimoji="1" lang="ja-JP" altLang="en-US" sz="1600"/>
              <a:t>月</a:t>
            </a:r>
            <a:r>
              <a:rPr kumimoji="1" lang="en-US" altLang="ja-JP" sz="1600" dirty="0"/>
              <a:t>9</a:t>
            </a:r>
            <a:r>
              <a:rPr kumimoji="1" lang="ja-JP" altLang="en-US" sz="1600"/>
              <a:t>日</a:t>
            </a:r>
            <a:r>
              <a:rPr kumimoji="1" lang="en-US" altLang="ja-JP" sz="1600" dirty="0"/>
              <a:t> </a:t>
            </a:r>
            <a:r>
              <a:rPr kumimoji="1" lang="ja-JP" altLang="en-US" sz="1600"/>
              <a:t>計算物理春の学校</a:t>
            </a:r>
            <a:r>
              <a:rPr kumimoji="1" lang="en-US" altLang="ja-JP" sz="1600" dirty="0"/>
              <a:t>2026</a:t>
            </a:r>
            <a:r>
              <a:rPr kumimoji="1" lang="ja-JP" altLang="en-US" sz="1600"/>
              <a:t>「計算物理屋のための</a:t>
            </a:r>
            <a:r>
              <a:rPr kumimoji="1" lang="en-US" altLang="ja-JP" sz="1600" dirty="0"/>
              <a:t>Git/GitHub</a:t>
            </a:r>
            <a:r>
              <a:rPr kumimoji="1" lang="ja-JP" altLang="en-US" sz="1600"/>
              <a:t>入門」</a:t>
            </a:r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11DCC14-C0C6-4036-9D65-F5157E67BE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はじめに</a:t>
            </a:r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C6C665-36CC-4E81-A690-6ACFDDB1B601}"/>
              </a:ext>
            </a:extLst>
          </p:cNvPr>
          <p:cNvSpPr txBox="1"/>
          <p:nvPr/>
        </p:nvSpPr>
        <p:spPr>
          <a:xfrm>
            <a:off x="467544" y="1628800"/>
            <a:ext cx="81049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/>
              <a:t>Git</a:t>
            </a:r>
            <a:r>
              <a:rPr lang="ja-JP" altLang="en-US" sz="2800"/>
              <a:t>は、もともと</a:t>
            </a:r>
            <a:r>
              <a:rPr lang="en-US" altLang="ja-JP" sz="2800"/>
              <a:t>Linux</a:t>
            </a:r>
            <a:r>
              <a:rPr lang="ja-JP" altLang="en-US" sz="2800"/>
              <a:t>の開発のために作られた</a:t>
            </a:r>
            <a:endParaRPr lang="en-US" altLang="ja-JP" sz="2800"/>
          </a:p>
          <a:p>
            <a:r>
              <a:rPr lang="ja-JP" altLang="en-US" sz="2800"/>
              <a:t>コマンドラインから操作することが前提</a:t>
            </a:r>
            <a:endParaRPr lang="en-US" altLang="ja-JP" sz="2800"/>
          </a:p>
          <a:p>
            <a:r>
              <a:rPr lang="ja-JP" altLang="en-US" sz="2800"/>
              <a:t>本講義でも</a:t>
            </a:r>
            <a:r>
              <a:rPr lang="en-US" altLang="ja-JP" sz="2800"/>
              <a:t>Git</a:t>
            </a:r>
            <a:r>
              <a:rPr lang="ja-JP" altLang="en-US" sz="2800"/>
              <a:t>を主にコマンドラインから操作する</a:t>
            </a:r>
            <a:endParaRPr lang="en-US" altLang="ja-JP" sz="2800"/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C7CBD529-656D-4BC7-B09C-81FF3644A828}"/>
              </a:ext>
            </a:extLst>
          </p:cNvPr>
          <p:cNvSpPr/>
          <p:nvPr/>
        </p:nvSpPr>
        <p:spPr>
          <a:xfrm>
            <a:off x="899592" y="3356992"/>
            <a:ext cx="648072" cy="57606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5DD3744-63C6-4542-A87C-9AA83F5E6405}"/>
              </a:ext>
            </a:extLst>
          </p:cNvPr>
          <p:cNvSpPr txBox="1"/>
          <p:nvPr/>
        </p:nvSpPr>
        <p:spPr>
          <a:xfrm>
            <a:off x="1835696" y="3356992"/>
            <a:ext cx="6297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/>
              <a:t>そもそもコマンドラインとは何か？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926767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矢印: 左右 4">
            <a:extLst>
              <a:ext uri="{FF2B5EF4-FFF2-40B4-BE49-F238E27FC236}">
                <a16:creationId xmlns:a16="http://schemas.microsoft.com/office/drawing/2014/main" id="{756CD0B9-7D28-4AF5-8928-F87120E088C4}"/>
              </a:ext>
            </a:extLst>
          </p:cNvPr>
          <p:cNvSpPr/>
          <p:nvPr/>
        </p:nvSpPr>
        <p:spPr>
          <a:xfrm>
            <a:off x="2267744" y="2924944"/>
            <a:ext cx="4608512" cy="432048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013897B-A5C4-41CC-93C9-8F0F05AB20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インタフェースとは</a:t>
            </a:r>
            <a:endParaRPr lang="en-US"/>
          </a:p>
        </p:txBody>
      </p:sp>
      <p:pic>
        <p:nvPicPr>
          <p:cNvPr id="1026" name="Picture 2" descr="斜めから見た立つ人のイラスト（男性）">
            <a:extLst>
              <a:ext uri="{FF2B5EF4-FFF2-40B4-BE49-F238E27FC236}">
                <a16:creationId xmlns:a16="http://schemas.microsoft.com/office/drawing/2014/main" id="{28B46392-3194-4C0C-9199-6294DAAD8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95536" y="2060848"/>
            <a:ext cx="1634595" cy="2231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玩具のロボットのイラスト（青）">
            <a:extLst>
              <a:ext uri="{FF2B5EF4-FFF2-40B4-BE49-F238E27FC236}">
                <a16:creationId xmlns:a16="http://schemas.microsoft.com/office/drawing/2014/main" id="{DD0E4C6B-0FBE-495B-A997-2BECE0FCE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804248" y="1916832"/>
            <a:ext cx="1944216" cy="2370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糸電話のイラスト">
            <a:extLst>
              <a:ext uri="{FF2B5EF4-FFF2-40B4-BE49-F238E27FC236}">
                <a16:creationId xmlns:a16="http://schemas.microsoft.com/office/drawing/2014/main" id="{90547F3C-6CD8-433D-AC7B-AFE23417F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31840" y="2348880"/>
            <a:ext cx="2682120" cy="192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FD5566-AFD1-4805-BB9B-F10255230EA7}"/>
              </a:ext>
            </a:extLst>
          </p:cNvPr>
          <p:cNvSpPr txBox="1"/>
          <p:nvPr/>
        </p:nvSpPr>
        <p:spPr>
          <a:xfrm>
            <a:off x="683568" y="148478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ユーザ</a:t>
            </a:r>
            <a:endParaRPr lang="en-US" sz="24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0E73411-8D65-4AD5-B061-21768A3B9AD5}"/>
              </a:ext>
            </a:extLst>
          </p:cNvPr>
          <p:cNvSpPr txBox="1"/>
          <p:nvPr/>
        </p:nvSpPr>
        <p:spPr>
          <a:xfrm>
            <a:off x="6732240" y="1340768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コンピュータ</a:t>
            </a:r>
            <a:endParaRPr lang="en-US" sz="24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5FA1B02-5827-41F5-AC4E-9E06C0F580EB}"/>
              </a:ext>
            </a:extLst>
          </p:cNvPr>
          <p:cNvSpPr txBox="1"/>
          <p:nvPr/>
        </p:nvSpPr>
        <p:spPr>
          <a:xfrm>
            <a:off x="3275856" y="141277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インタフェース</a:t>
            </a:r>
            <a:endParaRPr lang="en-US" sz="24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E25EE8D-4BA1-4AB8-91E9-1200DF7BD30D}"/>
              </a:ext>
            </a:extLst>
          </p:cNvPr>
          <p:cNvSpPr txBox="1"/>
          <p:nvPr/>
        </p:nvSpPr>
        <p:spPr>
          <a:xfrm>
            <a:off x="539552" y="4941168"/>
            <a:ext cx="7879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コンピュータに何かさせるにはユーザが「指示」をする必要がある</a:t>
            </a:r>
            <a:endParaRPr lang="en-US" altLang="ja-JP" sz="2000"/>
          </a:p>
          <a:p>
            <a:r>
              <a:rPr lang="ja-JP" altLang="en-US" sz="2000"/>
              <a:t>指示を伝える手段が「インタフェース」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35165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66B9A76-1EB7-4626-8736-AC7DB6A252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インタフェース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72D8BEA-421B-4458-9D5C-F952E8D981D8}"/>
              </a:ext>
            </a:extLst>
          </p:cNvPr>
          <p:cNvSpPr txBox="1"/>
          <p:nvPr/>
        </p:nvSpPr>
        <p:spPr>
          <a:xfrm>
            <a:off x="1907704" y="1268760"/>
            <a:ext cx="602921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グラフィカルユーザインタフェース </a:t>
            </a:r>
            <a:endParaRPr lang="en-US" altLang="ja-JP" sz="2800">
              <a:solidFill>
                <a:srgbClr val="011893"/>
              </a:solidFill>
            </a:endParaRPr>
          </a:p>
          <a:p>
            <a:r>
              <a:rPr lang="en-US" altLang="ja-JP" sz="2800">
                <a:solidFill>
                  <a:srgbClr val="011893"/>
                </a:solidFill>
              </a:rPr>
              <a:t>(Graphical User Interface, GUI)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081233-A599-4FAF-A6FD-284D70290B96}"/>
              </a:ext>
            </a:extLst>
          </p:cNvPr>
          <p:cNvSpPr txBox="1"/>
          <p:nvPr/>
        </p:nvSpPr>
        <p:spPr>
          <a:xfrm>
            <a:off x="107504" y="4077072"/>
            <a:ext cx="53110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コマンドラインインタフェース </a:t>
            </a:r>
            <a:endParaRPr lang="en-US" altLang="ja-JP" sz="2800">
              <a:solidFill>
                <a:srgbClr val="011893"/>
              </a:solidFill>
            </a:endParaRPr>
          </a:p>
          <a:p>
            <a:r>
              <a:rPr lang="en-US" altLang="ja-JP" sz="2800">
                <a:solidFill>
                  <a:srgbClr val="011893"/>
                </a:solidFill>
              </a:rPr>
              <a:t>(Command-Line Interface, CLI)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74548D7-09A4-4DC4-B963-78FC1CE25099}"/>
              </a:ext>
            </a:extLst>
          </p:cNvPr>
          <p:cNvSpPr txBox="1"/>
          <p:nvPr/>
        </p:nvSpPr>
        <p:spPr>
          <a:xfrm>
            <a:off x="1043608" y="2492896"/>
            <a:ext cx="75713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コンピュータへ出す指示を画面上で視覚的に表現する</a:t>
            </a:r>
            <a:endParaRPr lang="en-US" altLang="ja-JP" sz="2400"/>
          </a:p>
          <a:p>
            <a:r>
              <a:rPr lang="ja-JP" altLang="en-US" sz="2400"/>
              <a:t>操作や対象を抽象化したアイコンを利用する</a:t>
            </a:r>
            <a:endParaRPr lang="en-US" altLang="ja-JP" sz="2400"/>
          </a:p>
          <a:p>
            <a:r>
              <a:rPr lang="ja-JP" altLang="en-US" sz="2400"/>
              <a:t>マウスやタッチパネルなどを入力デバイスとする</a:t>
            </a:r>
            <a:endParaRPr lang="en-US" sz="2400"/>
          </a:p>
        </p:txBody>
      </p:sp>
      <p:pic>
        <p:nvPicPr>
          <p:cNvPr id="2050" name="Picture 2" descr="コード付きマウスのイラスト">
            <a:extLst>
              <a:ext uri="{FF2B5EF4-FFF2-40B4-BE49-F238E27FC236}">
                <a16:creationId xmlns:a16="http://schemas.microsoft.com/office/drawing/2014/main" id="{50B1F0BA-6E72-4D19-9B4E-704E47E3D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96752"/>
            <a:ext cx="1521143" cy="126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パソコンのキーボードを打っているイラスト">
            <a:extLst>
              <a:ext uri="{FF2B5EF4-FFF2-40B4-BE49-F238E27FC236}">
                <a16:creationId xmlns:a16="http://schemas.microsoft.com/office/drawing/2014/main" id="{4EEE85E5-53C7-4D46-93BC-114FD6BE6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3789040"/>
            <a:ext cx="1944216" cy="1482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842007C-ADA3-4E6A-A280-9312F417D4CA}"/>
              </a:ext>
            </a:extLst>
          </p:cNvPr>
          <p:cNvSpPr txBox="1"/>
          <p:nvPr/>
        </p:nvSpPr>
        <p:spPr>
          <a:xfrm>
            <a:off x="428047" y="5104376"/>
            <a:ext cx="63401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コマンド文字列でコンピュータへ指示を出す</a:t>
            </a:r>
            <a:endParaRPr lang="en-US" altLang="ja-JP" sz="2400" dirty="0"/>
          </a:p>
          <a:p>
            <a:r>
              <a:rPr lang="ja-JP" altLang="en-US" sz="2400"/>
              <a:t>キャラクタユーザインタフェース</a:t>
            </a:r>
            <a:r>
              <a:rPr lang="en-US" altLang="ja-JP" sz="2400" dirty="0"/>
              <a:t>(CUI)</a:t>
            </a:r>
            <a:r>
              <a:rPr lang="ja-JP" altLang="en-US" sz="2400"/>
              <a:t>とも</a:t>
            </a:r>
            <a:endParaRPr lang="en-US" altLang="ja-JP" sz="2400" dirty="0"/>
          </a:p>
          <a:p>
            <a:r>
              <a:rPr lang="ja-JP" altLang="en-US" sz="2400"/>
              <a:t>キーボードを主な入力デバイスとする</a:t>
            </a:r>
            <a:endParaRPr lang="en-US" altLang="ja-JP" sz="2400" dirty="0"/>
          </a:p>
          <a:p>
            <a:r>
              <a:rPr lang="ja-JP" altLang="en-US" sz="2400">
                <a:solidFill>
                  <a:srgbClr val="FF0000"/>
                </a:solidFill>
              </a:rPr>
              <a:t>ターミナルから入力する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960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9EB9ACE-E24A-35F9-31DD-77F7F847C7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ターミナル</a:t>
            </a:r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012B49A-8E4E-5989-23A4-5B626E3BA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692" y="2144524"/>
            <a:ext cx="5544616" cy="409545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19F26F8-DB48-B375-8809-A4C21094DF7F}"/>
              </a:ext>
            </a:extLst>
          </p:cNvPr>
          <p:cNvSpPr txBox="1"/>
          <p:nvPr/>
        </p:nvSpPr>
        <p:spPr>
          <a:xfrm>
            <a:off x="1403648" y="944195"/>
            <a:ext cx="60324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コマンドラインインターフェースの舞台は</a:t>
            </a:r>
            <a:endParaRPr kumimoji="1" lang="en-US" altLang="ja-JP" sz="2400" dirty="0"/>
          </a:p>
          <a:p>
            <a:r>
              <a:rPr kumimoji="1" lang="en-US" altLang="ja-JP" sz="2400" dirty="0"/>
              <a:t>Windows</a:t>
            </a:r>
            <a:r>
              <a:rPr kumimoji="1" lang="ja-JP" altLang="en-US" sz="2400"/>
              <a:t>なら</a:t>
            </a:r>
            <a:r>
              <a:rPr kumimoji="1" lang="en-US" altLang="ja-JP" sz="2400" dirty="0"/>
              <a:t>Git Bash</a:t>
            </a:r>
            <a:r>
              <a:rPr kumimoji="1" lang="ja-JP" altLang="en-US" sz="2400"/>
              <a:t>や</a:t>
            </a:r>
            <a:r>
              <a:rPr kumimoji="1" lang="en-US" altLang="ja-JP" sz="2400" dirty="0"/>
              <a:t>WSL (Ubuntu)</a:t>
            </a:r>
          </a:p>
          <a:p>
            <a:r>
              <a:rPr lang="en-US" altLang="ja-JP" sz="2400" dirty="0"/>
              <a:t>Mac</a:t>
            </a:r>
            <a:r>
              <a:rPr lang="ja-JP" altLang="en-US" sz="2400"/>
              <a:t>や</a:t>
            </a:r>
            <a:r>
              <a:rPr lang="en-US" altLang="ja-JP" sz="2400" dirty="0"/>
              <a:t>Linux</a:t>
            </a:r>
            <a:r>
              <a:rPr lang="ja-JP" altLang="en-US" sz="2400"/>
              <a:t>ならターミナル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7D79E45-C472-2AFE-C19B-78F696936C3F}"/>
              </a:ext>
            </a:extLst>
          </p:cNvPr>
          <p:cNvSpPr txBox="1"/>
          <p:nvPr/>
        </p:nvSpPr>
        <p:spPr>
          <a:xfrm>
            <a:off x="2275681" y="6083092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いわゆる「黒い画面」</a:t>
            </a:r>
          </a:p>
        </p:txBody>
      </p:sp>
    </p:spTree>
    <p:extLst>
      <p:ext uri="{BB962C8B-B14F-4D97-AF65-F5344CB8AC3E}">
        <p14:creationId xmlns:p14="http://schemas.microsoft.com/office/powerpoint/2010/main" val="378639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99A9852-8674-B9B7-6A63-BCFC3C2202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ターミナル</a:t>
            </a:r>
            <a:r>
              <a:rPr lang="en-US" altLang="ja-JP" dirty="0"/>
              <a:t>(</a:t>
            </a:r>
            <a:r>
              <a:rPr lang="ja-JP" altLang="en-US"/>
              <a:t>端末</a:t>
            </a:r>
            <a:r>
              <a:rPr lang="en-US" altLang="ja-JP" dirty="0"/>
              <a:t>)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6BF253A-0A84-F1F7-C4A6-898784DD2C07}"/>
              </a:ext>
            </a:extLst>
          </p:cNvPr>
          <p:cNvSpPr txBox="1"/>
          <p:nvPr/>
        </p:nvSpPr>
        <p:spPr>
          <a:xfrm>
            <a:off x="251520" y="1052736"/>
            <a:ext cx="8109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もともとは大型コンピュータ</a:t>
            </a:r>
            <a:r>
              <a:rPr kumimoji="1" lang="en-US" altLang="ja-JP" dirty="0"/>
              <a:t>(</a:t>
            </a:r>
            <a:r>
              <a:rPr kumimoji="1" lang="ja-JP" altLang="en-US"/>
              <a:t>ホスト</a:t>
            </a:r>
            <a:r>
              <a:rPr kumimoji="1" lang="en-US" altLang="ja-JP" dirty="0"/>
              <a:t>)</a:t>
            </a:r>
            <a:r>
              <a:rPr kumimoji="1" lang="ja-JP" altLang="en-US"/>
              <a:t>に接続され、利用者が命令を送るためのインタフェースのこと</a:t>
            </a:r>
          </a:p>
        </p:txBody>
      </p:sp>
      <p:pic>
        <p:nvPicPr>
          <p:cNvPr id="4" name="Picture 6" descr="サーバーのイラスト">
            <a:extLst>
              <a:ext uri="{FF2B5EF4-FFF2-40B4-BE49-F238E27FC236}">
                <a16:creationId xmlns:a16="http://schemas.microsoft.com/office/drawing/2014/main" id="{4DA1714D-F287-29B5-D709-6F51885E8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578" y="1674649"/>
            <a:ext cx="2107952" cy="1965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会社で働く人のイラスト（男性）">
            <a:extLst>
              <a:ext uri="{FF2B5EF4-FFF2-40B4-BE49-F238E27FC236}">
                <a16:creationId xmlns:a16="http://schemas.microsoft.com/office/drawing/2014/main" id="{883E8268-8A05-C04D-A23C-5C1781A3D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080" y="4256090"/>
            <a:ext cx="1225588" cy="122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会社で働く人のイラスト（女性）">
            <a:extLst>
              <a:ext uri="{FF2B5EF4-FFF2-40B4-BE49-F238E27FC236}">
                <a16:creationId xmlns:a16="http://schemas.microsoft.com/office/drawing/2014/main" id="{3A281C7B-AC15-7AE6-CA30-0D2D01C4C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488" y="4256090"/>
            <a:ext cx="1225588" cy="122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働く人のイラスト（白人男性）">
            <a:extLst>
              <a:ext uri="{FF2B5EF4-FFF2-40B4-BE49-F238E27FC236}">
                <a16:creationId xmlns:a16="http://schemas.microsoft.com/office/drawing/2014/main" id="{DB93EC7F-F361-E688-8597-E4558C7C5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784" y="4256090"/>
            <a:ext cx="1225588" cy="122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働く人のイラスト（白人女性）">
            <a:extLst>
              <a:ext uri="{FF2B5EF4-FFF2-40B4-BE49-F238E27FC236}">
                <a16:creationId xmlns:a16="http://schemas.microsoft.com/office/drawing/2014/main" id="{3458DED8-1DCF-5F94-0306-ACD92B652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256090"/>
            <a:ext cx="1225588" cy="122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273B8E2-32BB-0E6A-287F-F37827C87A01}"/>
              </a:ext>
            </a:extLst>
          </p:cNvPr>
          <p:cNvSpPr txBox="1"/>
          <p:nvPr/>
        </p:nvSpPr>
        <p:spPr>
          <a:xfrm>
            <a:off x="5714012" y="1884321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ホストコンピュータ</a:t>
            </a:r>
            <a:endParaRPr lang="en-US" altLang="ja-JP" dirty="0"/>
          </a:p>
        </p:txBody>
      </p:sp>
      <p:cxnSp>
        <p:nvCxnSpPr>
          <p:cNvPr id="10" name="カギ線コネクタ 9">
            <a:extLst>
              <a:ext uri="{FF2B5EF4-FFF2-40B4-BE49-F238E27FC236}">
                <a16:creationId xmlns:a16="http://schemas.microsoft.com/office/drawing/2014/main" id="{1039A0E2-0EF6-55D1-AFC5-AA11C955C04B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2682826" y="2531362"/>
            <a:ext cx="615776" cy="283368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カギ線コネクタ 10">
            <a:extLst>
              <a:ext uri="{FF2B5EF4-FFF2-40B4-BE49-F238E27FC236}">
                <a16:creationId xmlns:a16="http://schemas.microsoft.com/office/drawing/2014/main" id="{077C74DE-3AED-0C46-4A7C-203964C68716}"/>
              </a:ext>
            </a:extLst>
          </p:cNvPr>
          <p:cNvCxnSpPr>
            <a:stCxn id="4" idx="2"/>
            <a:endCxn id="7" idx="0"/>
          </p:cNvCxnSpPr>
          <p:nvPr/>
        </p:nvCxnSpPr>
        <p:spPr>
          <a:xfrm rot="5400000">
            <a:off x="3572678" y="3421214"/>
            <a:ext cx="615776" cy="105397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カギ線コネクタ 11">
            <a:extLst>
              <a:ext uri="{FF2B5EF4-FFF2-40B4-BE49-F238E27FC236}">
                <a16:creationId xmlns:a16="http://schemas.microsoft.com/office/drawing/2014/main" id="{9AE025A9-DEC7-C057-7C4E-8B74B2A2C5FD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16200000" flipH="1">
            <a:off x="4462530" y="3585338"/>
            <a:ext cx="615776" cy="72572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カギ線コネクタ 12">
            <a:extLst>
              <a:ext uri="{FF2B5EF4-FFF2-40B4-BE49-F238E27FC236}">
                <a16:creationId xmlns:a16="http://schemas.microsoft.com/office/drawing/2014/main" id="{6090CAF5-10DF-1111-5372-D83FB485B65E}"/>
              </a:ext>
            </a:extLst>
          </p:cNvPr>
          <p:cNvCxnSpPr>
            <a:stCxn id="4" idx="2"/>
            <a:endCxn id="8" idx="0"/>
          </p:cNvCxnSpPr>
          <p:nvPr/>
        </p:nvCxnSpPr>
        <p:spPr>
          <a:xfrm rot="16200000" flipH="1">
            <a:off x="5352382" y="2695486"/>
            <a:ext cx="615776" cy="250543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C42531C-71CA-2C93-2287-3D1831925267}"/>
              </a:ext>
            </a:extLst>
          </p:cNvPr>
          <p:cNvSpPr txBox="1"/>
          <p:nvPr/>
        </p:nvSpPr>
        <p:spPr>
          <a:xfrm>
            <a:off x="2504551" y="5581560"/>
            <a:ext cx="4031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ターミナル</a:t>
            </a:r>
            <a:r>
              <a:rPr kumimoji="1" lang="en-US" altLang="ja-JP" dirty="0"/>
              <a:t>(</a:t>
            </a:r>
            <a:r>
              <a:rPr kumimoji="1" lang="ja-JP" altLang="en-US"/>
              <a:t>ユーザーインタフェース</a:t>
            </a:r>
            <a:r>
              <a:rPr kumimoji="1" lang="en-US" altLang="ja-JP" dirty="0"/>
              <a:t>)</a:t>
            </a:r>
            <a:endParaRPr lang="en-US" altLang="ja-JP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74B842D-E2C2-6ED1-ED2D-6A5295458BA9}"/>
              </a:ext>
            </a:extLst>
          </p:cNvPr>
          <p:cNvSpPr txBox="1"/>
          <p:nvPr/>
        </p:nvSpPr>
        <p:spPr>
          <a:xfrm>
            <a:off x="467544" y="6060935"/>
            <a:ext cx="7274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ホストコンピュータは高価であり、複数人で共有して利用するために端末が必要だった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72366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13279E1-7B85-D1B5-E2D3-4ED315B89A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ターミナルエミュレータ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2B4281E-4577-073B-154D-0EC2F6C4BFE1}"/>
              </a:ext>
            </a:extLst>
          </p:cNvPr>
          <p:cNvSpPr txBox="1"/>
          <p:nvPr/>
        </p:nvSpPr>
        <p:spPr>
          <a:xfrm>
            <a:off x="3131840" y="5223367"/>
            <a:ext cx="5181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Mac</a:t>
            </a:r>
            <a:r>
              <a:rPr kumimoji="1" lang="ja-JP" altLang="en-US"/>
              <a:t>の「ターミナル」や</a:t>
            </a:r>
            <a:r>
              <a:rPr kumimoji="1" lang="en-US" altLang="ja-JP" dirty="0"/>
              <a:t>WSL</a:t>
            </a:r>
            <a:r>
              <a:rPr kumimoji="1" lang="ja-JP" altLang="en-US"/>
              <a:t>の</a:t>
            </a:r>
            <a:r>
              <a:rPr kumimoji="1" lang="en-US" altLang="ja-JP" dirty="0"/>
              <a:t>Ubuntu</a:t>
            </a:r>
            <a:r>
              <a:rPr lang="ja-JP" altLang="en-US"/>
              <a:t>の画面は、「ターミナルエミュレータ」と呼ばれ、</a:t>
            </a:r>
            <a:r>
              <a:rPr kumimoji="1" lang="en-US" altLang="ja-JP" dirty="0"/>
              <a:t>VT100</a:t>
            </a:r>
            <a:r>
              <a:rPr kumimoji="1" lang="ja-JP" altLang="en-US"/>
              <a:t>の動作をエミュレートするものがほとんど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321511C-5ACF-DC43-47BD-D115892D7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95" y="4735291"/>
            <a:ext cx="2321902" cy="163588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50EB0A-E62A-C3F1-9C53-149233A75AD7}"/>
              </a:ext>
            </a:extLst>
          </p:cNvPr>
          <p:cNvSpPr txBox="1"/>
          <p:nvPr/>
        </p:nvSpPr>
        <p:spPr>
          <a:xfrm>
            <a:off x="5646986" y="4414827"/>
            <a:ext cx="3320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900"/>
              <a:t>ClickRick </a:t>
            </a:r>
            <a:r>
              <a:rPr lang="en-US" altLang="ja-JP" sz="900" dirty="0"/>
              <a:t>–</a:t>
            </a:r>
            <a:r>
              <a:rPr lang="ja-JP" altLang="en-US" sz="900"/>
              <a:t> </a:t>
            </a:r>
            <a:r>
              <a:rPr lang="en-US" altLang="ja-JP" sz="900" dirty="0"/>
              <a:t>CC-BY-SA 3.0</a:t>
            </a:r>
          </a:p>
          <a:p>
            <a:pPr algn="ctr"/>
            <a:r>
              <a:rPr lang="ja-JP" altLang="en-US" sz="900"/>
              <a:t>https://commons.wikimedia.org/w/index.php?curid=6693684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7FF7C9-5F84-BAE8-F539-60DC087532CE}"/>
              </a:ext>
            </a:extLst>
          </p:cNvPr>
          <p:cNvSpPr txBox="1"/>
          <p:nvPr/>
        </p:nvSpPr>
        <p:spPr>
          <a:xfrm>
            <a:off x="1776314" y="259255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ホスト</a:t>
            </a:r>
            <a:endParaRPr kumimoji="1" lang="ja-JP" altLang="en-US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ABC05A-A1A3-FF25-C74C-4C2C51121A9F}"/>
              </a:ext>
            </a:extLst>
          </p:cNvPr>
          <p:cNvSpPr txBox="1"/>
          <p:nvPr/>
        </p:nvSpPr>
        <p:spPr>
          <a:xfrm>
            <a:off x="1298619" y="3143066"/>
            <a:ext cx="2063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IBM System/360</a:t>
            </a:r>
            <a:endParaRPr kumimoji="1" lang="ja-JP" altLang="en-US" sz="20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4BC5413-E217-7D32-3650-DB2D05229B18}"/>
              </a:ext>
            </a:extLst>
          </p:cNvPr>
          <p:cNvSpPr txBox="1"/>
          <p:nvPr/>
        </p:nvSpPr>
        <p:spPr>
          <a:xfrm>
            <a:off x="4107392" y="259062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ターミナル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A7E2E5-EA28-D776-B6AF-6021DCC99310}"/>
              </a:ext>
            </a:extLst>
          </p:cNvPr>
          <p:cNvSpPr txBox="1"/>
          <p:nvPr/>
        </p:nvSpPr>
        <p:spPr>
          <a:xfrm>
            <a:off x="4224586" y="3143066"/>
            <a:ext cx="1281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IBM 2260</a:t>
            </a:r>
            <a:endParaRPr kumimoji="1" lang="ja-JP" altLang="en-US" sz="200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1E235549-47AF-EA75-D316-CCC6C58E2696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3362004" y="3343121"/>
            <a:ext cx="86258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A70E6E3-36A0-3B04-A6AB-E91598DE1C6D}"/>
              </a:ext>
            </a:extLst>
          </p:cNvPr>
          <p:cNvSpPr txBox="1"/>
          <p:nvPr/>
        </p:nvSpPr>
        <p:spPr>
          <a:xfrm>
            <a:off x="1683146" y="3605972"/>
            <a:ext cx="16788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DEC PDP-11</a:t>
            </a:r>
            <a:endParaRPr kumimoji="1" lang="ja-JP" altLang="en-US" sz="200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7799598-0582-21C6-32ED-1517F0298E8B}"/>
              </a:ext>
            </a:extLst>
          </p:cNvPr>
          <p:cNvSpPr txBox="1"/>
          <p:nvPr/>
        </p:nvSpPr>
        <p:spPr>
          <a:xfrm>
            <a:off x="4224586" y="3605137"/>
            <a:ext cx="941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VT100</a:t>
            </a:r>
            <a:endParaRPr kumimoji="1" lang="ja-JP" altLang="en-US" sz="2000">
              <a:solidFill>
                <a:srgbClr val="FF0000"/>
              </a:solidFill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519BE01-A7D7-2C07-BB09-5D14971AF558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3362004" y="3805192"/>
            <a:ext cx="862582" cy="83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4" descr="undefined">
            <a:extLst>
              <a:ext uri="{FF2B5EF4-FFF2-40B4-BE49-F238E27FC236}">
                <a16:creationId xmlns:a16="http://schemas.microsoft.com/office/drawing/2014/main" id="{871FA90C-9016-C781-F1D6-925C3F2C3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640505"/>
            <a:ext cx="2301631" cy="180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D5DC1B3-A734-EB9F-63E1-9E18D1563EBC}"/>
              </a:ext>
            </a:extLst>
          </p:cNvPr>
          <p:cNvSpPr txBox="1"/>
          <p:nvPr/>
        </p:nvSpPr>
        <p:spPr>
          <a:xfrm>
            <a:off x="6694221" y="222321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VT100</a:t>
            </a:r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19818FB-BBCB-FC7F-BF21-7CB730F2ADDB}"/>
              </a:ext>
            </a:extLst>
          </p:cNvPr>
          <p:cNvSpPr txBox="1"/>
          <p:nvPr/>
        </p:nvSpPr>
        <p:spPr>
          <a:xfrm>
            <a:off x="190998" y="992150"/>
            <a:ext cx="83963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昔はタイプライターが端末であった</a:t>
            </a:r>
            <a:r>
              <a:rPr kumimoji="1" lang="en-US" altLang="ja-JP" dirty="0"/>
              <a:t>(</a:t>
            </a:r>
            <a:r>
              <a:rPr kumimoji="1" lang="ja-JP" altLang="en-US"/>
              <a:t>テレタイプ端末</a:t>
            </a:r>
            <a:r>
              <a:rPr kumimoji="1" lang="en-US" altLang="ja-JP" dirty="0"/>
              <a:t>, TTY</a:t>
            </a:r>
            <a:r>
              <a:rPr lang="ja-JP" altLang="en-US"/>
              <a:t>の語源</a:t>
            </a:r>
            <a:r>
              <a:rPr kumimoji="1" lang="en-US" altLang="ja-JP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その後ディスプレイを使ったビデオターミナルが出現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ホストコンピュータにはビデオターミナルが付属していたが、</a:t>
            </a:r>
            <a:r>
              <a:rPr kumimoji="1" lang="en-US" altLang="ja-JP" dirty="0"/>
              <a:t>DEC</a:t>
            </a:r>
            <a:r>
              <a:rPr kumimoji="1" lang="ja-JP" altLang="en-US"/>
              <a:t>の</a:t>
            </a:r>
            <a:r>
              <a:rPr kumimoji="1" lang="en-US" altLang="ja-JP" dirty="0"/>
              <a:t>VT100</a:t>
            </a:r>
            <a:r>
              <a:rPr kumimoji="1" lang="ja-JP" altLang="en-US"/>
              <a:t>が</a:t>
            </a:r>
            <a:r>
              <a:rPr lang="ja-JP" altLang="en-US"/>
              <a:t>ターミナル</a:t>
            </a:r>
            <a:r>
              <a:rPr kumimoji="1" lang="ja-JP" altLang="en-US"/>
              <a:t>のスタンダードに</a:t>
            </a:r>
          </a:p>
        </p:txBody>
      </p:sp>
    </p:spTree>
    <p:extLst>
      <p:ext uri="{BB962C8B-B14F-4D97-AF65-F5344CB8AC3E}">
        <p14:creationId xmlns:p14="http://schemas.microsoft.com/office/powerpoint/2010/main" val="3635388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00B2F69-5C99-4388-8F13-0FB2C6D3B4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12558"/>
            <a:ext cx="9144000" cy="754062"/>
          </a:xfrm>
        </p:spPr>
        <p:txBody>
          <a:bodyPr/>
          <a:lstStyle/>
          <a:p>
            <a:r>
              <a:rPr lang="en-US" altLang="ja-JP" dirty="0"/>
              <a:t>OS</a:t>
            </a:r>
            <a:r>
              <a:rPr lang="ja-JP" altLang="en-US"/>
              <a:t>・シェル・ターミナル</a:t>
            </a:r>
            <a:endParaRPr lang="en-US" dirty="0"/>
          </a:p>
        </p:txBody>
      </p:sp>
      <p:pic>
        <p:nvPicPr>
          <p:cNvPr id="3" name="Picture 2" descr="ハードディスクのイラスト（コンピューター）">
            <a:extLst>
              <a:ext uri="{FF2B5EF4-FFF2-40B4-BE49-F238E27FC236}">
                <a16:creationId xmlns:a16="http://schemas.microsoft.com/office/drawing/2014/main" id="{8049A398-9DA0-4FC1-8DC2-BA3CBF462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037" y="4855128"/>
            <a:ext cx="680863" cy="619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SDのイラスト（コンピューター）">
            <a:extLst>
              <a:ext uri="{FF2B5EF4-FFF2-40B4-BE49-F238E27FC236}">
                <a16:creationId xmlns:a16="http://schemas.microsoft.com/office/drawing/2014/main" id="{DCE1B45D-BB42-40A5-B757-B1B06CDE6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701" y="5526914"/>
            <a:ext cx="701533" cy="603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玩具のロボットのイラスト（青）">
            <a:extLst>
              <a:ext uri="{FF2B5EF4-FFF2-40B4-BE49-F238E27FC236}">
                <a16:creationId xmlns:a16="http://schemas.microsoft.com/office/drawing/2014/main" id="{4F841615-E723-45AC-9F56-5BD156C96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637" y="4811331"/>
            <a:ext cx="976313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会社の受付のイラスト（男性）">
            <a:extLst>
              <a:ext uri="{FF2B5EF4-FFF2-40B4-BE49-F238E27FC236}">
                <a16:creationId xmlns:a16="http://schemas.microsoft.com/office/drawing/2014/main" id="{AC8ABBC3-6E5E-4B3F-AFAD-D94D44DA5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263" y="4998496"/>
            <a:ext cx="976876" cy="106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携帯電話で話す人のイラスト（女性）">
            <a:extLst>
              <a:ext uri="{FF2B5EF4-FFF2-40B4-BE49-F238E27FC236}">
                <a16:creationId xmlns:a16="http://schemas.microsoft.com/office/drawing/2014/main" id="{F283AEC1-3692-43A7-B03A-A1D3645CA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00" y="5128309"/>
            <a:ext cx="551265" cy="803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A1C6C462-B59F-4DDC-9546-61369AADB669}"/>
              </a:ext>
            </a:extLst>
          </p:cNvPr>
          <p:cNvSpPr/>
          <p:nvPr/>
        </p:nvSpPr>
        <p:spPr>
          <a:xfrm>
            <a:off x="1013531" y="5188239"/>
            <a:ext cx="576064" cy="51205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F43FDD5E-CAD4-4669-833F-ADAC20DBCBAA}"/>
              </a:ext>
            </a:extLst>
          </p:cNvPr>
          <p:cNvSpPr/>
          <p:nvPr/>
        </p:nvSpPr>
        <p:spPr>
          <a:xfrm>
            <a:off x="4522821" y="5172297"/>
            <a:ext cx="576064" cy="51205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104B1DAE-C7EA-4907-898A-7D9982487C2A}"/>
              </a:ext>
            </a:extLst>
          </p:cNvPr>
          <p:cNvSpPr/>
          <p:nvPr/>
        </p:nvSpPr>
        <p:spPr>
          <a:xfrm>
            <a:off x="6870420" y="5131322"/>
            <a:ext cx="576064" cy="51205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5971031-6917-4146-BD15-A8AB0A544E90}"/>
              </a:ext>
            </a:extLst>
          </p:cNvPr>
          <p:cNvSpPr txBox="1"/>
          <p:nvPr/>
        </p:nvSpPr>
        <p:spPr>
          <a:xfrm>
            <a:off x="7303232" y="437653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ハードウェア</a:t>
            </a:r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7DC9C8B-923B-4128-9A34-354C1CA19216}"/>
              </a:ext>
            </a:extLst>
          </p:cNvPr>
          <p:cNvSpPr txBox="1"/>
          <p:nvPr/>
        </p:nvSpPr>
        <p:spPr>
          <a:xfrm>
            <a:off x="5652253" y="4376537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OS</a:t>
            </a:r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2AF2E32-E61D-494F-A14A-2261204F92F9}"/>
              </a:ext>
            </a:extLst>
          </p:cNvPr>
          <p:cNvSpPr txBox="1"/>
          <p:nvPr/>
        </p:nvSpPr>
        <p:spPr>
          <a:xfrm>
            <a:off x="3613922" y="43765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シェル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10993C9-B2CB-4E4E-81C6-DE088E98534D}"/>
              </a:ext>
            </a:extLst>
          </p:cNvPr>
          <p:cNvSpPr txBox="1"/>
          <p:nvPr/>
        </p:nvSpPr>
        <p:spPr>
          <a:xfrm>
            <a:off x="217350" y="43765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ユーザ</a:t>
            </a:r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5E139B7-D4A1-49DE-8EC1-3ACA78CBBF16}"/>
              </a:ext>
            </a:extLst>
          </p:cNvPr>
          <p:cNvSpPr txBox="1"/>
          <p:nvPr/>
        </p:nvSpPr>
        <p:spPr>
          <a:xfrm>
            <a:off x="217001" y="856044"/>
            <a:ext cx="7245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rgbClr val="011893"/>
                </a:solidFill>
              </a:rPr>
              <a:t>オペレーティングシステム</a:t>
            </a:r>
            <a:r>
              <a:rPr lang="en-US" altLang="ja-JP" sz="2400">
                <a:solidFill>
                  <a:srgbClr val="011893"/>
                </a:solidFill>
              </a:rPr>
              <a:t> (Operating System, OS)</a:t>
            </a:r>
            <a:endParaRPr lang="en-US" sz="2400">
              <a:solidFill>
                <a:srgbClr val="011893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6F7ED0-4325-4A49-8EC7-75ED16A25AEE}"/>
              </a:ext>
            </a:extLst>
          </p:cNvPr>
          <p:cNvSpPr txBox="1"/>
          <p:nvPr/>
        </p:nvSpPr>
        <p:spPr>
          <a:xfrm>
            <a:off x="522485" y="1361681"/>
            <a:ext cx="7109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ハードウェアを抽象化し、資源を制御、割り当てるシステム</a:t>
            </a:r>
            <a:endParaRPr lang="en-US" altLang="ja-JP" sz="20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307659E-A8DC-4146-AB2E-05D7C72FCC1D}"/>
              </a:ext>
            </a:extLst>
          </p:cNvPr>
          <p:cNvSpPr txBox="1"/>
          <p:nvPr/>
        </p:nvSpPr>
        <p:spPr>
          <a:xfrm>
            <a:off x="210070" y="1917866"/>
            <a:ext cx="2084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rgbClr val="011893"/>
                </a:solidFill>
              </a:rPr>
              <a:t>シェル</a:t>
            </a:r>
            <a:r>
              <a:rPr lang="en-US" altLang="ja-JP" sz="2400" dirty="0">
                <a:solidFill>
                  <a:srgbClr val="011893"/>
                </a:solidFill>
              </a:rPr>
              <a:t> (Shell)</a:t>
            </a:r>
            <a:endParaRPr lang="en-US" sz="2400" dirty="0">
              <a:solidFill>
                <a:srgbClr val="011893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323DD72-8E92-4896-A2F5-E8485CB609B2}"/>
              </a:ext>
            </a:extLst>
          </p:cNvPr>
          <p:cNvSpPr txBox="1"/>
          <p:nvPr/>
        </p:nvSpPr>
        <p:spPr>
          <a:xfrm>
            <a:off x="494504" y="2391499"/>
            <a:ext cx="7821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ユーザのコマンド入力を解釈し、</a:t>
            </a:r>
            <a:r>
              <a:rPr lang="en-US" altLang="ja-JP" sz="2000" dirty="0"/>
              <a:t>OS</a:t>
            </a:r>
            <a:r>
              <a:rPr lang="ja-JP" altLang="en-US" sz="2000"/>
              <a:t>上でプログラムを実行する</a:t>
            </a:r>
            <a:endParaRPr lang="en-US" altLang="ja-JP" sz="20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AA7A75B-D8A7-A2E1-4469-025172AEAAC4}"/>
              </a:ext>
            </a:extLst>
          </p:cNvPr>
          <p:cNvSpPr txBox="1"/>
          <p:nvPr/>
        </p:nvSpPr>
        <p:spPr>
          <a:xfrm>
            <a:off x="276821" y="3021097"/>
            <a:ext cx="3178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rgbClr val="011893"/>
                </a:solidFill>
              </a:rPr>
              <a:t>ターミナル</a:t>
            </a:r>
            <a:r>
              <a:rPr lang="en-US" altLang="ja-JP" sz="2400" dirty="0">
                <a:solidFill>
                  <a:srgbClr val="011893"/>
                </a:solidFill>
              </a:rPr>
              <a:t> (Terminal)</a:t>
            </a:r>
            <a:endParaRPr lang="en-US" sz="2400" dirty="0">
              <a:solidFill>
                <a:srgbClr val="011893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ABC9831-687E-4B2D-AA53-550608DDDACD}"/>
              </a:ext>
            </a:extLst>
          </p:cNvPr>
          <p:cNvSpPr txBox="1"/>
          <p:nvPr/>
        </p:nvSpPr>
        <p:spPr>
          <a:xfrm>
            <a:off x="588734" y="3534057"/>
            <a:ext cx="5695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入力と表示を提供するユーザインターフェース</a:t>
            </a:r>
            <a:endParaRPr lang="en-US" altLang="ja-JP" sz="2000" dirty="0"/>
          </a:p>
        </p:txBody>
      </p:sp>
      <p:sp>
        <p:nvSpPr>
          <p:cNvPr id="17" name="矢印: 右 7">
            <a:extLst>
              <a:ext uri="{FF2B5EF4-FFF2-40B4-BE49-F238E27FC236}">
                <a16:creationId xmlns:a16="http://schemas.microsoft.com/office/drawing/2014/main" id="{226BDC17-24A6-AB48-8C85-5535B73B360B}"/>
              </a:ext>
            </a:extLst>
          </p:cNvPr>
          <p:cNvSpPr/>
          <p:nvPr/>
        </p:nvSpPr>
        <p:spPr>
          <a:xfrm>
            <a:off x="3036566" y="5164921"/>
            <a:ext cx="576064" cy="51205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882045FC-13DA-59D3-BF45-45AA7B06A6DF}"/>
              </a:ext>
            </a:extLst>
          </p:cNvPr>
          <p:cNvGrpSpPr/>
          <p:nvPr/>
        </p:nvGrpSpPr>
        <p:grpSpPr>
          <a:xfrm>
            <a:off x="1659592" y="4907649"/>
            <a:ext cx="1272222" cy="1024423"/>
            <a:chOff x="3003289" y="4445023"/>
            <a:chExt cx="1623376" cy="1307180"/>
          </a:xfrm>
        </p:grpSpPr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BD03A33A-C761-7385-9856-E97259709839}"/>
                </a:ext>
              </a:extLst>
            </p:cNvPr>
            <p:cNvSpPr/>
            <p:nvPr/>
          </p:nvSpPr>
          <p:spPr>
            <a:xfrm>
              <a:off x="3042489" y="4445023"/>
              <a:ext cx="1584176" cy="1307180"/>
            </a:xfrm>
            <a:prstGeom prst="roundRect">
              <a:avLst>
                <a:gd name="adj" fmla="val 3521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0EEA7101-7A11-EE7F-A367-4A6FA42EF4A2}"/>
                </a:ext>
              </a:extLst>
            </p:cNvPr>
            <p:cNvSpPr/>
            <p:nvPr/>
          </p:nvSpPr>
          <p:spPr>
            <a:xfrm>
              <a:off x="3042489" y="4683707"/>
              <a:ext cx="1584176" cy="106849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21" name="円/楕円 20">
              <a:extLst>
                <a:ext uri="{FF2B5EF4-FFF2-40B4-BE49-F238E27FC236}">
                  <a16:creationId xmlns:a16="http://schemas.microsoft.com/office/drawing/2014/main" id="{C016EBA9-C0BE-902B-7EE5-5D5E2E7ED92D}"/>
                </a:ext>
              </a:extLst>
            </p:cNvPr>
            <p:cNvSpPr/>
            <p:nvPr/>
          </p:nvSpPr>
          <p:spPr>
            <a:xfrm>
              <a:off x="3091957" y="4496522"/>
              <a:ext cx="116893" cy="11689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22" name="円/楕円 21">
              <a:extLst>
                <a:ext uri="{FF2B5EF4-FFF2-40B4-BE49-F238E27FC236}">
                  <a16:creationId xmlns:a16="http://schemas.microsoft.com/office/drawing/2014/main" id="{4C0E2836-5F8B-A727-2E45-074A6E9B4F3D}"/>
                </a:ext>
              </a:extLst>
            </p:cNvPr>
            <p:cNvSpPr/>
            <p:nvPr/>
          </p:nvSpPr>
          <p:spPr>
            <a:xfrm>
              <a:off x="3272517" y="4496522"/>
              <a:ext cx="116893" cy="11689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27" name="円/楕円 26">
              <a:extLst>
                <a:ext uri="{FF2B5EF4-FFF2-40B4-BE49-F238E27FC236}">
                  <a16:creationId xmlns:a16="http://schemas.microsoft.com/office/drawing/2014/main" id="{A2B7DDC3-548C-A1F9-B472-75182FA00204}"/>
                </a:ext>
              </a:extLst>
            </p:cNvPr>
            <p:cNvSpPr/>
            <p:nvPr/>
          </p:nvSpPr>
          <p:spPr>
            <a:xfrm>
              <a:off x="3453076" y="4496522"/>
              <a:ext cx="116893" cy="11689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1FF5C9F2-7727-FBAE-B0AA-1FE78A6691AE}"/>
                </a:ext>
              </a:extLst>
            </p:cNvPr>
            <p:cNvSpPr txBox="1"/>
            <p:nvPr/>
          </p:nvSpPr>
          <p:spPr>
            <a:xfrm>
              <a:off x="3003289" y="4683707"/>
              <a:ext cx="1503821" cy="392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$ git push</a:t>
              </a:r>
              <a:endParaRPr kumimoji="1" lang="ja-JP" altLang="en-US"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7AFDDB2-E7D2-343C-C92B-B68F48921C47}"/>
              </a:ext>
            </a:extLst>
          </p:cNvPr>
          <p:cNvSpPr txBox="1"/>
          <p:nvPr/>
        </p:nvSpPr>
        <p:spPr>
          <a:xfrm>
            <a:off x="1641649" y="437653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ターミナル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8015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8321821-D1EE-4730-AFE4-563B916FAE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コマンドプロンプト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BF906C-9E62-4A37-A173-DFCA4BEFAAC5}"/>
              </a:ext>
            </a:extLst>
          </p:cNvPr>
          <p:cNvSpPr txBox="1"/>
          <p:nvPr/>
        </p:nvSpPr>
        <p:spPr>
          <a:xfrm>
            <a:off x="395536" y="1700808"/>
            <a:ext cx="84433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シェルにおいて、ユーザからの入力待ちを示すもの</a:t>
            </a:r>
            <a:endParaRPr lang="en-US" altLang="ja-JP" sz="2800" dirty="0"/>
          </a:p>
          <a:p>
            <a:r>
              <a:rPr lang="ja-JP" altLang="en-US" sz="2800"/>
              <a:t>「</a:t>
            </a:r>
            <a:r>
              <a:rPr lang="en-US" altLang="ja-JP" sz="2800" dirty="0"/>
              <a:t>$</a:t>
            </a:r>
            <a:r>
              <a:rPr lang="ja-JP" altLang="en-US" sz="2800"/>
              <a:t>」で表現することが多い。</a:t>
            </a:r>
            <a:endParaRPr lang="en-US" altLang="ja-JP" sz="28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A18FB61-3959-4BA9-9ED5-5F4C162D53A6}"/>
              </a:ext>
            </a:extLst>
          </p:cNvPr>
          <p:cNvSpPr txBox="1"/>
          <p:nvPr/>
        </p:nvSpPr>
        <p:spPr>
          <a:xfrm>
            <a:off x="1259632" y="4797152"/>
            <a:ext cx="62824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>
                <a:latin typeface="Consolas" panose="020B0609020204030204" pitchFamily="49" charset="0"/>
              </a:rPr>
              <a:t>$ ls –la dir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0B9E2E-706E-4B98-B51C-213008A7554E}"/>
              </a:ext>
            </a:extLst>
          </p:cNvPr>
          <p:cNvSpPr txBox="1"/>
          <p:nvPr/>
        </p:nvSpPr>
        <p:spPr>
          <a:xfrm>
            <a:off x="107504" y="1052736"/>
            <a:ext cx="6556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コマンドプロンプト </a:t>
            </a:r>
            <a:r>
              <a:rPr lang="en-US" altLang="ja-JP" sz="2800">
                <a:solidFill>
                  <a:srgbClr val="011893"/>
                </a:solidFill>
              </a:rPr>
              <a:t>(command prompt)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4F72E76-C79D-4BC0-B738-445FA8E994F0}"/>
              </a:ext>
            </a:extLst>
          </p:cNvPr>
          <p:cNvSpPr txBox="1"/>
          <p:nvPr/>
        </p:nvSpPr>
        <p:spPr>
          <a:xfrm>
            <a:off x="107504" y="2780928"/>
            <a:ext cx="3541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コマンド </a:t>
            </a:r>
            <a:r>
              <a:rPr lang="en-US" altLang="ja-JP" sz="2800">
                <a:solidFill>
                  <a:srgbClr val="011893"/>
                </a:solidFill>
              </a:rPr>
              <a:t>(command)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9BAB7A2-DADC-4F01-A461-18D9C2717CF1}"/>
              </a:ext>
            </a:extLst>
          </p:cNvPr>
          <p:cNvSpPr txBox="1"/>
          <p:nvPr/>
        </p:nvSpPr>
        <p:spPr>
          <a:xfrm>
            <a:off x="395536" y="3429000"/>
            <a:ext cx="688842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プロンプトに入力する命令</a:t>
            </a:r>
            <a:endParaRPr lang="en-US" altLang="ja-JP" sz="2800"/>
          </a:p>
          <a:p>
            <a:r>
              <a:rPr lang="ja-JP" altLang="en-US" sz="2800"/>
              <a:t>引数</a:t>
            </a:r>
            <a:r>
              <a:rPr lang="en-US" altLang="ja-JP" sz="2800"/>
              <a:t>(</a:t>
            </a:r>
            <a:r>
              <a:rPr lang="ja-JP" altLang="en-US" sz="2800"/>
              <a:t>ひきすう</a:t>
            </a:r>
            <a:r>
              <a:rPr lang="en-US" altLang="ja-JP" sz="2800"/>
              <a:t>)</a:t>
            </a:r>
            <a:r>
              <a:rPr lang="ja-JP" altLang="en-US" sz="2800"/>
              <a:t>やオプションを指定できる</a:t>
            </a:r>
            <a:endParaRPr lang="en-US" altLang="ja-JP" sz="280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4D47D1A-4CDF-4747-97BD-80967FFAF09E}"/>
              </a:ext>
            </a:extLst>
          </p:cNvPr>
          <p:cNvCxnSpPr>
            <a:cxnSpLocks/>
          </p:cNvCxnSpPr>
          <p:nvPr/>
        </p:nvCxnSpPr>
        <p:spPr>
          <a:xfrm flipH="1">
            <a:off x="1187624" y="5877272"/>
            <a:ext cx="720080" cy="0"/>
          </a:xfrm>
          <a:prstGeom prst="line">
            <a:avLst/>
          </a:prstGeom>
          <a:ln w="38100">
            <a:solidFill>
              <a:srgbClr val="01189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D3DE629-FAC9-473C-A2EA-463006D90866}"/>
              </a:ext>
            </a:extLst>
          </p:cNvPr>
          <p:cNvSpPr txBox="1"/>
          <p:nvPr/>
        </p:nvSpPr>
        <p:spPr>
          <a:xfrm>
            <a:off x="971600" y="5949280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/>
              <a:t>コマンド</a:t>
            </a:r>
            <a:endParaRPr lang="en-US" altLang="ja-JP" sz="1600"/>
          </a:p>
          <a:p>
            <a:r>
              <a:rPr lang="ja-JP" altLang="en-US" sz="1600"/>
              <a:t>プロンプト</a:t>
            </a:r>
            <a:endParaRPr lang="en-US" sz="160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0042702-BF7A-406C-A706-C8E46BA49FAC}"/>
              </a:ext>
            </a:extLst>
          </p:cNvPr>
          <p:cNvCxnSpPr>
            <a:cxnSpLocks/>
          </p:cNvCxnSpPr>
          <p:nvPr/>
        </p:nvCxnSpPr>
        <p:spPr>
          <a:xfrm flipH="1">
            <a:off x="2483768" y="5877272"/>
            <a:ext cx="720080" cy="0"/>
          </a:xfrm>
          <a:prstGeom prst="line">
            <a:avLst/>
          </a:prstGeom>
          <a:ln w="38100">
            <a:solidFill>
              <a:srgbClr val="01189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7A89A67-FD01-478E-B469-5780800826C1}"/>
              </a:ext>
            </a:extLst>
          </p:cNvPr>
          <p:cNvSpPr txBox="1"/>
          <p:nvPr/>
        </p:nvSpPr>
        <p:spPr>
          <a:xfrm>
            <a:off x="2339752" y="594928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コマンド</a:t>
            </a:r>
            <a:endParaRPr 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26D9066-DC22-40A7-AD22-433752D8F6DD}"/>
              </a:ext>
            </a:extLst>
          </p:cNvPr>
          <p:cNvCxnSpPr>
            <a:cxnSpLocks/>
          </p:cNvCxnSpPr>
          <p:nvPr/>
        </p:nvCxnSpPr>
        <p:spPr>
          <a:xfrm flipH="1">
            <a:off x="3779912" y="5877272"/>
            <a:ext cx="1584176" cy="0"/>
          </a:xfrm>
          <a:prstGeom prst="line">
            <a:avLst/>
          </a:prstGeom>
          <a:ln w="38100">
            <a:solidFill>
              <a:srgbClr val="01189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4AAC833-2C43-45C3-A8EE-C104B65BF1BC}"/>
              </a:ext>
            </a:extLst>
          </p:cNvPr>
          <p:cNvSpPr txBox="1"/>
          <p:nvPr/>
        </p:nvSpPr>
        <p:spPr>
          <a:xfrm>
            <a:off x="3851920" y="5949280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オプション</a:t>
            </a:r>
            <a:endParaRPr lang="en-US" sz="200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3CFC207-C639-4513-BA21-7923B69FF99F}"/>
              </a:ext>
            </a:extLst>
          </p:cNvPr>
          <p:cNvCxnSpPr>
            <a:cxnSpLocks/>
          </p:cNvCxnSpPr>
          <p:nvPr/>
        </p:nvCxnSpPr>
        <p:spPr>
          <a:xfrm flipH="1">
            <a:off x="5940152" y="5877272"/>
            <a:ext cx="1584176" cy="0"/>
          </a:xfrm>
          <a:prstGeom prst="line">
            <a:avLst/>
          </a:prstGeom>
          <a:ln w="38100">
            <a:solidFill>
              <a:srgbClr val="01189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D95BAB0-8AA5-4B65-BE09-D85778735A81}"/>
              </a:ext>
            </a:extLst>
          </p:cNvPr>
          <p:cNvSpPr txBox="1"/>
          <p:nvPr/>
        </p:nvSpPr>
        <p:spPr>
          <a:xfrm>
            <a:off x="6300192" y="5949280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引数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114146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CCBD77B-2BE0-D276-9AA7-AA4B98E20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コマンドプロンプト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89DB954-C6C5-41DA-1DB5-113002A939D9}"/>
              </a:ext>
            </a:extLst>
          </p:cNvPr>
          <p:cNvSpPr txBox="1"/>
          <p:nvPr/>
        </p:nvSpPr>
        <p:spPr>
          <a:xfrm>
            <a:off x="311992" y="1720866"/>
            <a:ext cx="410445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ja-JP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watanabe@MacAir</a:t>
            </a:r>
            <a:r>
              <a:rPr lang="en-US" altLang="ja-JP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~ %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FD8B185-AF2E-1B83-5B77-617F911A0880}"/>
              </a:ext>
            </a:extLst>
          </p:cNvPr>
          <p:cNvSpPr txBox="1"/>
          <p:nvPr/>
        </p:nvSpPr>
        <p:spPr>
          <a:xfrm>
            <a:off x="11625" y="944195"/>
            <a:ext cx="8664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コマンドプロンプトは様々な表記がある。一行の場合もあるし、二行に渡る場合もある。右に情報を掲載する場合もある。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A74111-B3AC-ACE8-C387-883FDD75A010}"/>
              </a:ext>
            </a:extLst>
          </p:cNvPr>
          <p:cNvSpPr txBox="1"/>
          <p:nvPr/>
        </p:nvSpPr>
        <p:spPr>
          <a:xfrm>
            <a:off x="311992" y="2227055"/>
            <a:ext cx="482453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ja-JP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ja-JP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watanabe@Server</a:t>
            </a:r>
            <a:r>
              <a:rPr lang="en-US" altLang="ja-JP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~ ]$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5E50EA2-3C5B-3C71-0B9E-99CD1FB04E51}"/>
              </a:ext>
            </a:extLst>
          </p:cNvPr>
          <p:cNvSpPr txBox="1"/>
          <p:nvPr/>
        </p:nvSpPr>
        <p:spPr>
          <a:xfrm>
            <a:off x="311992" y="2788228"/>
            <a:ext cx="6647974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ja-JP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watanabe@iMac</a:t>
            </a:r>
            <a:r>
              <a:rPr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ja-JP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                            [~]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3644E4-93E3-7C68-91AE-3D449FD063CE}"/>
              </a:ext>
            </a:extLst>
          </p:cNvPr>
          <p:cNvSpPr txBox="1"/>
          <p:nvPr/>
        </p:nvSpPr>
        <p:spPr>
          <a:xfrm>
            <a:off x="1739769" y="5606098"/>
            <a:ext cx="3456384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Lucida Console" panose="020B0609040504020204" pitchFamily="49" charset="0"/>
              </a:rPr>
              <a:t>$ ls</a:t>
            </a:r>
          </a:p>
          <a:p>
            <a:r>
              <a:rPr lang="en-US" sz="3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file.txt</a:t>
            </a:r>
            <a:endParaRPr lang="en-US" sz="32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EDDCE90-8C72-0DEF-5688-65190B4373D1}"/>
              </a:ext>
            </a:extLst>
          </p:cNvPr>
          <p:cNvSpPr txBox="1"/>
          <p:nvPr/>
        </p:nvSpPr>
        <p:spPr>
          <a:xfrm>
            <a:off x="281940" y="4077072"/>
            <a:ext cx="80479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以降はコマンドプロンプトを「</a:t>
            </a:r>
            <a:r>
              <a:rPr kumimoji="1" lang="en-US" altLang="ja-JP" sz="2400" dirty="0"/>
              <a:t>$</a:t>
            </a:r>
            <a:r>
              <a:rPr kumimoji="1" lang="ja-JP" altLang="en-US" sz="2400"/>
              <a:t>」で</a:t>
            </a:r>
            <a:r>
              <a:rPr lang="ja-JP" altLang="en-US" sz="2400"/>
              <a:t>表記し、</a:t>
            </a:r>
            <a:r>
              <a:rPr lang="en-US" altLang="ja-JP" sz="2400" dirty="0"/>
              <a:t>$</a:t>
            </a:r>
            <a:r>
              <a:rPr lang="ja-JP" altLang="en-US" sz="2400"/>
              <a:t>で始まらないテキストはコマンドの出力であると約束する</a:t>
            </a:r>
            <a:endParaRPr kumimoji="1" lang="ja-JP" altLang="en-US" sz="2400"/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01394225-D8B7-050F-564C-360CD1546FC0}"/>
              </a:ext>
            </a:extLst>
          </p:cNvPr>
          <p:cNvSpPr/>
          <p:nvPr/>
        </p:nvSpPr>
        <p:spPr>
          <a:xfrm>
            <a:off x="1667761" y="5606098"/>
            <a:ext cx="504056" cy="48916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32F2267-7DB2-AB48-B6FF-FFCE5AC6C34E}"/>
              </a:ext>
            </a:extLst>
          </p:cNvPr>
          <p:cNvSpPr txBox="1"/>
          <p:nvPr/>
        </p:nvSpPr>
        <p:spPr>
          <a:xfrm>
            <a:off x="102062" y="505215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rgbClr val="FF0000"/>
                </a:solidFill>
              </a:rPr>
              <a:t>コマンドプロンプト</a:t>
            </a: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8AF902BE-A72D-E8AE-6A92-33B52CAE227B}"/>
              </a:ext>
            </a:extLst>
          </p:cNvPr>
          <p:cNvSpPr/>
          <p:nvPr/>
        </p:nvSpPr>
        <p:spPr>
          <a:xfrm>
            <a:off x="2246561" y="5615826"/>
            <a:ext cx="741212" cy="489166"/>
          </a:xfrm>
          <a:prstGeom prst="roundRect">
            <a:avLst/>
          </a:prstGeom>
          <a:noFill/>
          <a:ln w="28575">
            <a:solidFill>
              <a:srgbClr val="01189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7B946C9-EBEA-23A2-266F-A9425AAC05E4}"/>
              </a:ext>
            </a:extLst>
          </p:cNvPr>
          <p:cNvSpPr txBox="1"/>
          <p:nvPr/>
        </p:nvSpPr>
        <p:spPr>
          <a:xfrm>
            <a:off x="2579644" y="504028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rgbClr val="011893"/>
                </a:solidFill>
              </a:rPr>
              <a:t>ユーザの入力</a:t>
            </a:r>
          </a:p>
        </p:txBody>
      </p:sp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E9CC01C0-77D5-FAA7-9398-39F159192680}"/>
              </a:ext>
            </a:extLst>
          </p:cNvPr>
          <p:cNvSpPr/>
          <p:nvPr/>
        </p:nvSpPr>
        <p:spPr>
          <a:xfrm>
            <a:off x="1667885" y="6125305"/>
            <a:ext cx="2304132" cy="489166"/>
          </a:xfrm>
          <a:prstGeom prst="round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FC5EFBF-630D-E6FF-A624-88F97B31BFE1}"/>
              </a:ext>
            </a:extLst>
          </p:cNvPr>
          <p:cNvSpPr txBox="1"/>
          <p:nvPr/>
        </p:nvSpPr>
        <p:spPr>
          <a:xfrm>
            <a:off x="5364088" y="6173310"/>
            <a:ext cx="226215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rgbClr val="FFC000"/>
                </a:solidFill>
              </a:rPr>
              <a:t>出力</a:t>
            </a:r>
            <a:r>
              <a:rPr lang="ja-JP" altLang="en-US">
                <a:solidFill>
                  <a:srgbClr val="FFC000"/>
                </a:solidFill>
              </a:rPr>
              <a:t>されたテキスト</a:t>
            </a:r>
            <a:endParaRPr kumimoji="1" lang="en-US" altLang="ja-JP" dirty="0">
              <a:solidFill>
                <a:srgbClr val="FFC000"/>
              </a:solidFill>
            </a:endParaRPr>
          </a:p>
        </p:txBody>
      </p:sp>
      <p:cxnSp>
        <p:nvCxnSpPr>
          <p:cNvPr id="18" name="カギ線コネクタ 17">
            <a:extLst>
              <a:ext uri="{FF2B5EF4-FFF2-40B4-BE49-F238E27FC236}">
                <a16:creationId xmlns:a16="http://schemas.microsoft.com/office/drawing/2014/main" id="{1C03614B-1BF9-409D-4909-9BB1232F4413}"/>
              </a:ext>
            </a:extLst>
          </p:cNvPr>
          <p:cNvCxnSpPr>
            <a:cxnSpLocks/>
            <a:stCxn id="12" idx="2"/>
            <a:endCxn id="11" idx="1"/>
          </p:cNvCxnSpPr>
          <p:nvPr/>
        </p:nvCxnSpPr>
        <p:spPr>
          <a:xfrm rot="16200000" flipH="1">
            <a:off x="1235855" y="5418774"/>
            <a:ext cx="429193" cy="434620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カギ線コネクタ 20">
            <a:extLst>
              <a:ext uri="{FF2B5EF4-FFF2-40B4-BE49-F238E27FC236}">
                <a16:creationId xmlns:a16="http://schemas.microsoft.com/office/drawing/2014/main" id="{DA164DFE-6CB2-BE0D-3AFB-8689F0F391DA}"/>
              </a:ext>
            </a:extLst>
          </p:cNvPr>
          <p:cNvCxnSpPr>
            <a:cxnSpLocks/>
            <a:stCxn id="14" idx="2"/>
            <a:endCxn id="13" idx="3"/>
          </p:cNvCxnSpPr>
          <p:nvPr/>
        </p:nvCxnSpPr>
        <p:spPr>
          <a:xfrm rot="5400000">
            <a:off x="2950729" y="5446664"/>
            <a:ext cx="450790" cy="376701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3A6BCAD-19DE-FB70-AE26-223BDAC4683C}"/>
              </a:ext>
            </a:extLst>
          </p:cNvPr>
          <p:cNvCxnSpPr>
            <a:stCxn id="16" idx="1"/>
            <a:endCxn id="15" idx="3"/>
          </p:cNvCxnSpPr>
          <p:nvPr/>
        </p:nvCxnSpPr>
        <p:spPr>
          <a:xfrm flipH="1">
            <a:off x="3972017" y="6357976"/>
            <a:ext cx="1392071" cy="119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858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B71C7AC-5A63-4992-A87A-DC0B3FCD6C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ディレクトリとパス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4532AE-55DC-4875-805B-5A2D73F3C85D}"/>
              </a:ext>
            </a:extLst>
          </p:cNvPr>
          <p:cNvSpPr txBox="1"/>
          <p:nvPr/>
        </p:nvSpPr>
        <p:spPr>
          <a:xfrm>
            <a:off x="251520" y="1268760"/>
            <a:ext cx="41184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ディレクトリ </a:t>
            </a:r>
            <a:r>
              <a:rPr lang="en-US" altLang="ja-JP" sz="2800">
                <a:solidFill>
                  <a:srgbClr val="011893"/>
                </a:solidFill>
              </a:rPr>
              <a:t>(Directory)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0DBF21-99A8-4E36-8506-C9DB7707EDEB}"/>
              </a:ext>
            </a:extLst>
          </p:cNvPr>
          <p:cNvSpPr txBox="1"/>
          <p:nvPr/>
        </p:nvSpPr>
        <p:spPr>
          <a:xfrm>
            <a:off x="827584" y="2060848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複数のファイルをまとめるフォルダのこと</a:t>
            </a:r>
            <a:endParaRPr lang="en-US" altLang="ja-JP" sz="2000"/>
          </a:p>
          <a:p>
            <a:r>
              <a:rPr lang="ja-JP" altLang="en-US" sz="2000"/>
              <a:t>以後、フォルダのことを「ディレクトリ」と呼ぶ</a:t>
            </a:r>
            <a:endParaRPr lang="en-US" sz="20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9E3F4DA-A802-46E3-9A39-EC7BF50E8E3A}"/>
              </a:ext>
            </a:extLst>
          </p:cNvPr>
          <p:cNvSpPr txBox="1"/>
          <p:nvPr/>
        </p:nvSpPr>
        <p:spPr>
          <a:xfrm>
            <a:off x="251520" y="3068960"/>
            <a:ext cx="6854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カレントディレクトリ </a:t>
            </a:r>
            <a:r>
              <a:rPr lang="en-US" altLang="ja-JP" sz="2800">
                <a:solidFill>
                  <a:srgbClr val="011893"/>
                </a:solidFill>
              </a:rPr>
              <a:t>(Current Directory)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FA7DFCD-C75B-4F2E-BAC5-FC4AC5AD37A4}"/>
              </a:ext>
            </a:extLst>
          </p:cNvPr>
          <p:cNvSpPr txBox="1"/>
          <p:nvPr/>
        </p:nvSpPr>
        <p:spPr>
          <a:xfrm>
            <a:off x="827584" y="3717032"/>
            <a:ext cx="67826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ワーキングディレクトリとも</a:t>
            </a:r>
            <a:endParaRPr lang="en-US" altLang="ja-JP" sz="2000"/>
          </a:p>
          <a:p>
            <a:r>
              <a:rPr lang="ja-JP" altLang="en-US" sz="2000"/>
              <a:t>「現在自分が見ているディレクトリ」のこと</a:t>
            </a:r>
            <a:endParaRPr lang="en-US" altLang="ja-JP" sz="2000"/>
          </a:p>
          <a:p>
            <a:r>
              <a:rPr lang="en-US" sz="2000"/>
              <a:t>CUI</a:t>
            </a:r>
            <a:r>
              <a:rPr lang="ja-JP" altLang="en-US" sz="2000"/>
              <a:t>だとどこにいるかわからなくなる場合があるので注意</a:t>
            </a:r>
            <a:endParaRPr lang="en-US" altLang="ja-JP" sz="20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E724DE6-1053-44C9-AE3B-9F877354D1E2}"/>
              </a:ext>
            </a:extLst>
          </p:cNvPr>
          <p:cNvSpPr txBox="1"/>
          <p:nvPr/>
        </p:nvSpPr>
        <p:spPr>
          <a:xfrm>
            <a:off x="260977" y="4881354"/>
            <a:ext cx="62552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ホームディレクトリ </a:t>
            </a:r>
            <a:r>
              <a:rPr lang="en-US" altLang="ja-JP" sz="2800">
                <a:solidFill>
                  <a:srgbClr val="011893"/>
                </a:solidFill>
              </a:rPr>
              <a:t>(Home Directory)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27FE641-25D4-475B-B1D1-C4B8D088DE5B}"/>
              </a:ext>
            </a:extLst>
          </p:cNvPr>
          <p:cNvSpPr txBox="1"/>
          <p:nvPr/>
        </p:nvSpPr>
        <p:spPr>
          <a:xfrm>
            <a:off x="827584" y="5517232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ターミナルを開いた直後のカレントディレクトリ</a:t>
            </a:r>
            <a:endParaRPr lang="en-US" altLang="ja-JP" sz="2000"/>
          </a:p>
          <a:p>
            <a:r>
              <a:rPr lang="ja-JP" altLang="en-US" sz="2000"/>
              <a:t>引数無しの</a:t>
            </a:r>
            <a:r>
              <a:rPr lang="en-US" sz="2000"/>
              <a:t>cd</a:t>
            </a:r>
            <a:r>
              <a:rPr lang="ja-JP" altLang="en-US" sz="2000"/>
              <a:t>コマンドで戻ってくる場所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124943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4ACF5EA-4316-419C-955E-278C43F6C5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ディレクトリとパス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7FEA053-87F1-480A-A24B-9B9ABF3D25F9}"/>
              </a:ext>
            </a:extLst>
          </p:cNvPr>
          <p:cNvSpPr txBox="1"/>
          <p:nvPr/>
        </p:nvSpPr>
        <p:spPr>
          <a:xfrm>
            <a:off x="251520" y="1268760"/>
            <a:ext cx="19431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パス </a:t>
            </a:r>
            <a:r>
              <a:rPr lang="en-US" altLang="ja-JP" sz="2800">
                <a:solidFill>
                  <a:srgbClr val="011893"/>
                </a:solidFill>
              </a:rPr>
              <a:t>(path)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E988230-3B36-46AB-B0AF-87937E126AFC}"/>
              </a:ext>
            </a:extLst>
          </p:cNvPr>
          <p:cNvSpPr txBox="1"/>
          <p:nvPr/>
        </p:nvSpPr>
        <p:spPr>
          <a:xfrm>
            <a:off x="755576" y="1916832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階層構造の中でファイルの位置を示す文字列</a:t>
            </a:r>
            <a:endParaRPr lang="en-US" altLang="ja-JP" sz="2400"/>
          </a:p>
          <a:p>
            <a:r>
              <a:rPr lang="ja-JP" altLang="en-US" sz="2400"/>
              <a:t>デフォルトでファイルを探しに行くディレクトリ</a:t>
            </a:r>
            <a:endParaRPr lang="en-US" sz="24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27361C-8169-4923-A38B-3AD14DD93EAB}"/>
              </a:ext>
            </a:extLst>
          </p:cNvPr>
          <p:cNvSpPr txBox="1"/>
          <p:nvPr/>
        </p:nvSpPr>
        <p:spPr>
          <a:xfrm>
            <a:off x="251520" y="2996952"/>
            <a:ext cx="41216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絶対パス </a:t>
            </a:r>
            <a:r>
              <a:rPr lang="en-US" altLang="ja-JP" sz="2800">
                <a:solidFill>
                  <a:srgbClr val="011893"/>
                </a:solidFill>
              </a:rPr>
              <a:t>(absolute path)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E094CCD-98F8-4E2B-811F-70CBB83A20D1}"/>
              </a:ext>
            </a:extLst>
          </p:cNvPr>
          <p:cNvSpPr txBox="1"/>
          <p:nvPr/>
        </p:nvSpPr>
        <p:spPr>
          <a:xfrm>
            <a:off x="827584" y="3615407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最上位階層から目的のファイルまでの位置</a:t>
            </a:r>
            <a:endParaRPr lang="en-US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BD060A0-91BA-4318-8686-766E9C543322}"/>
              </a:ext>
            </a:extLst>
          </p:cNvPr>
          <p:cNvSpPr txBox="1"/>
          <p:nvPr/>
        </p:nvSpPr>
        <p:spPr>
          <a:xfrm>
            <a:off x="251520" y="4839543"/>
            <a:ext cx="39212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相対パス </a:t>
            </a:r>
            <a:r>
              <a:rPr lang="en-US" altLang="ja-JP" sz="2800">
                <a:solidFill>
                  <a:srgbClr val="011893"/>
                </a:solidFill>
              </a:rPr>
              <a:t>(relative path)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99A99D-E8F2-470A-9A70-940C973C8226}"/>
              </a:ext>
            </a:extLst>
          </p:cNvPr>
          <p:cNvSpPr txBox="1"/>
          <p:nvPr/>
        </p:nvSpPr>
        <p:spPr>
          <a:xfrm>
            <a:off x="827584" y="5559623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カレントディレクトリから目的のファイルまでの位置</a:t>
            </a:r>
            <a:endParaRPr lang="en-US" sz="240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0D29385-CCE9-4267-AD52-62AA6E6CC5B9}"/>
              </a:ext>
            </a:extLst>
          </p:cNvPr>
          <p:cNvCxnSpPr/>
          <p:nvPr/>
        </p:nvCxnSpPr>
        <p:spPr>
          <a:xfrm flipH="1">
            <a:off x="899592" y="4048497"/>
            <a:ext cx="1584176" cy="0"/>
          </a:xfrm>
          <a:prstGeom prst="line">
            <a:avLst/>
          </a:prstGeom>
          <a:ln w="38100">
            <a:solidFill>
              <a:srgbClr val="01189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DE5A758-D24D-4D91-97A0-89D5103AEEB9}"/>
              </a:ext>
            </a:extLst>
          </p:cNvPr>
          <p:cNvSpPr txBox="1"/>
          <p:nvPr/>
        </p:nvSpPr>
        <p:spPr>
          <a:xfrm>
            <a:off x="581650" y="406778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ルートディレクトリ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692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A800611-7004-4801-8132-84E0AEEDC3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ディレクトリとパス</a:t>
            </a:r>
            <a:endParaRPr lang="en-US"/>
          </a:p>
        </p:txBody>
      </p:sp>
      <p:pic>
        <p:nvPicPr>
          <p:cNvPr id="1026" name="Picture 2" descr="フォルダのイラスト">
            <a:extLst>
              <a:ext uri="{FF2B5EF4-FFF2-40B4-BE49-F238E27FC236}">
                <a16:creationId xmlns:a16="http://schemas.microsoft.com/office/drawing/2014/main" id="{A1FB7598-F392-4CFE-B41C-3A1C4877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95" y="980728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フォルダのイラスト">
            <a:extLst>
              <a:ext uri="{FF2B5EF4-FFF2-40B4-BE49-F238E27FC236}">
                <a16:creationId xmlns:a16="http://schemas.microsoft.com/office/drawing/2014/main" id="{D86F8008-2E60-4D4E-AE2D-0AFEE5BE0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048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62F98F7-B202-4746-81D8-5907D117DA0A}"/>
              </a:ext>
            </a:extLst>
          </p:cNvPr>
          <p:cNvSpPr txBox="1"/>
          <p:nvPr/>
        </p:nvSpPr>
        <p:spPr>
          <a:xfrm>
            <a:off x="2546921" y="144471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c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A20DE0C-DF21-4F90-B2E1-C8774AD4B3EF}"/>
              </a:ext>
            </a:extLst>
          </p:cNvPr>
          <p:cNvSpPr txBox="1"/>
          <p:nvPr/>
        </p:nvSpPr>
        <p:spPr>
          <a:xfrm>
            <a:off x="1576507" y="270892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Data</a:t>
            </a:r>
          </a:p>
        </p:txBody>
      </p:sp>
      <p:pic>
        <p:nvPicPr>
          <p:cNvPr id="10" name="Picture 2" descr="フォルダのイラスト">
            <a:extLst>
              <a:ext uri="{FF2B5EF4-FFF2-40B4-BE49-F238E27FC236}">
                <a16:creationId xmlns:a16="http://schemas.microsoft.com/office/drawing/2014/main" id="{28AD7562-3CCD-442A-8D97-37169F8A7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2048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989232B-9167-4F4C-BA57-BC31FA71F87C}"/>
              </a:ext>
            </a:extLst>
          </p:cNvPr>
          <p:cNvSpPr txBox="1"/>
          <p:nvPr/>
        </p:nvSpPr>
        <p:spPr>
          <a:xfrm>
            <a:off x="3059832" y="2740858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Apps</a:t>
            </a: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C0902AF5-66BD-4A4D-BFE4-4FCCD47B8E7D}"/>
              </a:ext>
            </a:extLst>
          </p:cNvPr>
          <p:cNvCxnSpPr>
            <a:stCxn id="3" idx="2"/>
            <a:endCxn id="10" idx="0"/>
          </p:cNvCxnSpPr>
          <p:nvPr/>
        </p:nvCxnSpPr>
        <p:spPr>
          <a:xfrm rot="16200000" flipH="1">
            <a:off x="2875005" y="1679605"/>
            <a:ext cx="360040" cy="69047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5BB68585-4462-4BB4-8F0E-3609605FFF70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rot="5400000">
            <a:off x="2154925" y="1650003"/>
            <a:ext cx="360040" cy="7496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フォルダのイラスト">
            <a:extLst>
              <a:ext uri="{FF2B5EF4-FFF2-40B4-BE49-F238E27FC236}">
                <a16:creationId xmlns:a16="http://schemas.microsoft.com/office/drawing/2014/main" id="{D01F21B8-E0E7-4152-9F2B-ADD8CAD44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532946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B6AFB51-FFD5-4665-939E-A7EBA88C85D2}"/>
              </a:ext>
            </a:extLst>
          </p:cNvPr>
          <p:cNvSpPr txBox="1"/>
          <p:nvPr/>
        </p:nvSpPr>
        <p:spPr>
          <a:xfrm>
            <a:off x="968648" y="4037002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Fig</a:t>
            </a:r>
          </a:p>
        </p:txBody>
      </p:sp>
      <p:pic>
        <p:nvPicPr>
          <p:cNvPr id="19" name="Picture 2" descr="フォルダのイラスト">
            <a:extLst>
              <a:ext uri="{FF2B5EF4-FFF2-40B4-BE49-F238E27FC236}">
                <a16:creationId xmlns:a16="http://schemas.microsoft.com/office/drawing/2014/main" id="{5CFB799B-5ADC-44FC-927A-B8391440E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795" y="3532946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574C070-8B67-44E3-B65C-5E79F405BBDB}"/>
              </a:ext>
            </a:extLst>
          </p:cNvPr>
          <p:cNvSpPr txBox="1"/>
          <p:nvPr/>
        </p:nvSpPr>
        <p:spPr>
          <a:xfrm>
            <a:off x="2221627" y="4037002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>
                <a:latin typeface="Consolas" panose="020B0609020204030204" pitchFamily="49" charset="0"/>
              </a:rPr>
              <a:t>Music</a:t>
            </a:r>
            <a:endParaRPr lang="en-US" sz="2000">
              <a:latin typeface="Consolas" panose="020B0609020204030204" pitchFamily="49" charset="0"/>
            </a:endParaRPr>
          </a:p>
        </p:txBody>
      </p:sp>
      <p:pic>
        <p:nvPicPr>
          <p:cNvPr id="1028" name="Picture 4" descr="ファイルアイコン（画像）">
            <a:extLst>
              <a:ext uri="{FF2B5EF4-FFF2-40B4-BE49-F238E27FC236}">
                <a16:creationId xmlns:a16="http://schemas.microsoft.com/office/drawing/2014/main" id="{840B0E57-53CB-4C0E-8116-8283969E6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457" y="4613066"/>
            <a:ext cx="552167" cy="6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D201959-F5AC-42C5-BB49-C214328495A4}"/>
              </a:ext>
            </a:extLst>
          </p:cNvPr>
          <p:cNvSpPr txBox="1"/>
          <p:nvPr/>
        </p:nvSpPr>
        <p:spPr>
          <a:xfrm>
            <a:off x="623367" y="5333146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>
                <a:latin typeface="Consolas" panose="020B0609020204030204" pitchFamily="49" charset="0"/>
              </a:rPr>
              <a:t>fig1.png</a:t>
            </a:r>
            <a:endParaRPr lang="en-US" sz="2000">
              <a:latin typeface="Consolas" panose="020B0609020204030204" pitchFamily="49" charset="0"/>
            </a:endParaRPr>
          </a:p>
        </p:txBody>
      </p: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74541450-0521-4916-9390-B7E81FB6FBA5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5400000">
            <a:off x="1419543" y="3001520"/>
            <a:ext cx="423916" cy="638937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694024E3-3AAA-445C-BB35-9969E8E8EBEC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rot="16200000" flipH="1">
            <a:off x="2065640" y="2994359"/>
            <a:ext cx="423916" cy="65325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EE8145A5-6C01-4DCB-AC9F-297F65B4B23E}"/>
              </a:ext>
            </a:extLst>
          </p:cNvPr>
          <p:cNvCxnSpPr>
            <a:stCxn id="1028" idx="0"/>
            <a:endCxn id="18" idx="2"/>
          </p:cNvCxnSpPr>
          <p:nvPr/>
        </p:nvCxnSpPr>
        <p:spPr>
          <a:xfrm flipH="1" flipV="1">
            <a:off x="1272578" y="4437112"/>
            <a:ext cx="5963" cy="17595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E2CD433E-ACF9-4CF3-BBD9-DC10BA99B612}"/>
              </a:ext>
            </a:extLst>
          </p:cNvPr>
          <p:cNvSpPr/>
          <p:nvPr/>
        </p:nvSpPr>
        <p:spPr>
          <a:xfrm>
            <a:off x="1475656" y="2132856"/>
            <a:ext cx="936104" cy="648072"/>
          </a:xfrm>
          <a:prstGeom prst="roundRect">
            <a:avLst/>
          </a:prstGeom>
          <a:noFill/>
          <a:ln w="38100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850D237-AFE4-4981-B9D2-D7237CEA2DC9}"/>
              </a:ext>
            </a:extLst>
          </p:cNvPr>
          <p:cNvSpPr txBox="1"/>
          <p:nvPr/>
        </p:nvSpPr>
        <p:spPr>
          <a:xfrm>
            <a:off x="395536" y="227687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カレント</a:t>
            </a:r>
            <a:endParaRPr lang="en-US" altLang="ja-JP" sz="1200"/>
          </a:p>
          <a:p>
            <a:r>
              <a:rPr lang="ja-JP" altLang="en-US" sz="1200"/>
              <a:t>ディレクトリ</a:t>
            </a:r>
            <a:endParaRPr lang="en-US" sz="120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3C9ED76-7DDB-4417-B889-5E39DB9B53F5}"/>
              </a:ext>
            </a:extLst>
          </p:cNvPr>
          <p:cNvSpPr txBox="1"/>
          <p:nvPr/>
        </p:nvSpPr>
        <p:spPr>
          <a:xfrm>
            <a:off x="1259632" y="98072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ルート</a:t>
            </a:r>
            <a:endParaRPr lang="en-US" altLang="ja-JP" sz="1200"/>
          </a:p>
          <a:p>
            <a:r>
              <a:rPr lang="ja-JP" altLang="en-US" sz="1200"/>
              <a:t>ディレクトリ</a:t>
            </a:r>
            <a:endParaRPr lang="en-US" sz="1200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9D29767E-DDD9-4D61-85FC-9122F6DD2B05}"/>
              </a:ext>
            </a:extLst>
          </p:cNvPr>
          <p:cNvSpPr/>
          <p:nvPr/>
        </p:nvSpPr>
        <p:spPr>
          <a:xfrm>
            <a:off x="827584" y="4581128"/>
            <a:ext cx="936104" cy="72008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07CDDFF-0855-4E60-A9D3-2C8D922D4D34}"/>
              </a:ext>
            </a:extLst>
          </p:cNvPr>
          <p:cNvSpPr txBox="1"/>
          <p:nvPr/>
        </p:nvSpPr>
        <p:spPr>
          <a:xfrm>
            <a:off x="25896" y="472514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目的の</a:t>
            </a:r>
            <a:endParaRPr lang="en-US" altLang="ja-JP" sz="1200"/>
          </a:p>
          <a:p>
            <a:r>
              <a:rPr lang="ja-JP" altLang="en-US" sz="1200"/>
              <a:t>ファイル</a:t>
            </a:r>
            <a:endParaRPr lang="en-US" sz="120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583D7D0-A781-4C49-A5F9-D5AEF45D6042}"/>
              </a:ext>
            </a:extLst>
          </p:cNvPr>
          <p:cNvSpPr txBox="1"/>
          <p:nvPr/>
        </p:nvSpPr>
        <p:spPr>
          <a:xfrm>
            <a:off x="4860032" y="4653136"/>
            <a:ext cx="393088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c/Data/Fig/fig1.png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5490A62-6BE3-4B4F-8D86-3D7A65BB9BAE}"/>
              </a:ext>
            </a:extLst>
          </p:cNvPr>
          <p:cNvSpPr txBox="1"/>
          <p:nvPr/>
        </p:nvSpPr>
        <p:spPr>
          <a:xfrm>
            <a:off x="4860032" y="5445224"/>
            <a:ext cx="255069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Fig/fig1.png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82D98F1-6C3A-42BB-B68B-B7BB0293124E}"/>
              </a:ext>
            </a:extLst>
          </p:cNvPr>
          <p:cNvSpPr txBox="1"/>
          <p:nvPr/>
        </p:nvSpPr>
        <p:spPr>
          <a:xfrm>
            <a:off x="3167067" y="465313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絶対パス</a:t>
            </a:r>
            <a:endParaRPr lang="en-US" sz="280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E3AD80BE-ED13-40CE-B9FD-80B0F24F371A}"/>
              </a:ext>
            </a:extLst>
          </p:cNvPr>
          <p:cNvSpPr txBox="1"/>
          <p:nvPr/>
        </p:nvSpPr>
        <p:spPr>
          <a:xfrm>
            <a:off x="3131840" y="544522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相対パス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753096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FF97BC2-BA6C-4127-959D-57F8172DCB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ディレクトリとパス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0211BE7-0D9C-4521-B5EC-BF5266B51E24}"/>
              </a:ext>
            </a:extLst>
          </p:cNvPr>
          <p:cNvSpPr txBox="1"/>
          <p:nvPr/>
        </p:nvSpPr>
        <p:spPr>
          <a:xfrm>
            <a:off x="323528" y="1196752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特別なディレクトリ</a:t>
            </a:r>
            <a:endParaRPr lang="en-US" sz="28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FA4B3E5-4EE3-4670-9FB0-20C80EC03C27}"/>
              </a:ext>
            </a:extLst>
          </p:cNvPr>
          <p:cNvSpPr txBox="1"/>
          <p:nvPr/>
        </p:nvSpPr>
        <p:spPr>
          <a:xfrm>
            <a:off x="805788" y="1969676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>
                <a:solidFill>
                  <a:srgbClr val="011893"/>
                </a:solidFill>
                <a:latin typeface="Consolas" panose="020B0609020204030204" pitchFamily="49" charset="0"/>
              </a:rPr>
              <a:t>.</a:t>
            </a:r>
            <a:endParaRPr lang="en-US" sz="2800">
              <a:solidFill>
                <a:srgbClr val="01189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8739A51-889D-4C1C-8DD6-EEE53DE4A898}"/>
              </a:ext>
            </a:extLst>
          </p:cNvPr>
          <p:cNvSpPr txBox="1"/>
          <p:nvPr/>
        </p:nvSpPr>
        <p:spPr>
          <a:xfrm>
            <a:off x="755576" y="254574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>
                <a:solidFill>
                  <a:srgbClr val="011893"/>
                </a:solidFill>
                <a:latin typeface="Consolas" panose="020B0609020204030204" pitchFamily="49" charset="0"/>
              </a:rPr>
              <a:t>..</a:t>
            </a:r>
            <a:endParaRPr lang="en-US" sz="2800">
              <a:solidFill>
                <a:srgbClr val="011893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6DE13DF-D528-43D3-9902-09A00540A425}"/>
              </a:ext>
            </a:extLst>
          </p:cNvPr>
          <p:cNvSpPr txBox="1"/>
          <p:nvPr/>
        </p:nvSpPr>
        <p:spPr>
          <a:xfrm>
            <a:off x="1403648" y="1988840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カレントディレクトリ</a:t>
            </a:r>
            <a:endParaRPr lang="en-US" sz="28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947B57B-C152-4317-B31C-3D0C1BC29C1A}"/>
              </a:ext>
            </a:extLst>
          </p:cNvPr>
          <p:cNvSpPr txBox="1"/>
          <p:nvPr/>
        </p:nvSpPr>
        <p:spPr>
          <a:xfrm>
            <a:off x="1403648" y="2545740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カレントディレクトリの親ディレクトリ</a:t>
            </a:r>
            <a:endParaRPr lang="en-US" sz="28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21819AA-514C-459A-808B-07622C26DE3A}"/>
              </a:ext>
            </a:extLst>
          </p:cNvPr>
          <p:cNvSpPr txBox="1"/>
          <p:nvPr/>
        </p:nvSpPr>
        <p:spPr>
          <a:xfrm>
            <a:off x="251520" y="3789040"/>
            <a:ext cx="8443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相対パスで「真下」以外のパスを指定するのに使用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735808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A800611-7004-4801-8132-84E0AEEDC3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ディレクトリとパス</a:t>
            </a:r>
            <a:endParaRPr lang="en-US"/>
          </a:p>
        </p:txBody>
      </p:sp>
      <p:pic>
        <p:nvPicPr>
          <p:cNvPr id="1026" name="Picture 2" descr="フォルダのイラスト">
            <a:extLst>
              <a:ext uri="{FF2B5EF4-FFF2-40B4-BE49-F238E27FC236}">
                <a16:creationId xmlns:a16="http://schemas.microsoft.com/office/drawing/2014/main" id="{A1FB7598-F392-4CFE-B41C-3A1C4877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95" y="980728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フォルダのイラスト">
            <a:extLst>
              <a:ext uri="{FF2B5EF4-FFF2-40B4-BE49-F238E27FC236}">
                <a16:creationId xmlns:a16="http://schemas.microsoft.com/office/drawing/2014/main" id="{D86F8008-2E60-4D4E-AE2D-0AFEE5BE0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048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62F98F7-B202-4746-81D8-5907D117DA0A}"/>
              </a:ext>
            </a:extLst>
          </p:cNvPr>
          <p:cNvSpPr txBox="1"/>
          <p:nvPr/>
        </p:nvSpPr>
        <p:spPr>
          <a:xfrm>
            <a:off x="2546921" y="144471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c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A20DE0C-DF21-4F90-B2E1-C8774AD4B3EF}"/>
              </a:ext>
            </a:extLst>
          </p:cNvPr>
          <p:cNvSpPr txBox="1"/>
          <p:nvPr/>
        </p:nvSpPr>
        <p:spPr>
          <a:xfrm>
            <a:off x="1576507" y="270892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Data</a:t>
            </a:r>
          </a:p>
        </p:txBody>
      </p:sp>
      <p:pic>
        <p:nvPicPr>
          <p:cNvPr id="10" name="Picture 2" descr="フォルダのイラスト">
            <a:extLst>
              <a:ext uri="{FF2B5EF4-FFF2-40B4-BE49-F238E27FC236}">
                <a16:creationId xmlns:a16="http://schemas.microsoft.com/office/drawing/2014/main" id="{28AD7562-3CCD-442A-8D97-37169F8A7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2048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989232B-9167-4F4C-BA57-BC31FA71F87C}"/>
              </a:ext>
            </a:extLst>
          </p:cNvPr>
          <p:cNvSpPr txBox="1"/>
          <p:nvPr/>
        </p:nvSpPr>
        <p:spPr>
          <a:xfrm>
            <a:off x="3059832" y="2740858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Apps</a:t>
            </a: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C0902AF5-66BD-4A4D-BFE4-4FCCD47B8E7D}"/>
              </a:ext>
            </a:extLst>
          </p:cNvPr>
          <p:cNvCxnSpPr>
            <a:stCxn id="3" idx="2"/>
            <a:endCxn id="10" idx="0"/>
          </p:cNvCxnSpPr>
          <p:nvPr/>
        </p:nvCxnSpPr>
        <p:spPr>
          <a:xfrm rot="16200000" flipH="1">
            <a:off x="2875005" y="1679605"/>
            <a:ext cx="360040" cy="69047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5BB68585-4462-4BB4-8F0E-3609605FFF70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rot="5400000">
            <a:off x="2154925" y="1650003"/>
            <a:ext cx="360040" cy="7496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フォルダのイラスト">
            <a:extLst>
              <a:ext uri="{FF2B5EF4-FFF2-40B4-BE49-F238E27FC236}">
                <a16:creationId xmlns:a16="http://schemas.microsoft.com/office/drawing/2014/main" id="{D01F21B8-E0E7-4152-9F2B-ADD8CAD44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532946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B6AFB51-FFD5-4665-939E-A7EBA88C85D2}"/>
              </a:ext>
            </a:extLst>
          </p:cNvPr>
          <p:cNvSpPr txBox="1"/>
          <p:nvPr/>
        </p:nvSpPr>
        <p:spPr>
          <a:xfrm>
            <a:off x="968648" y="4037002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Fig</a:t>
            </a:r>
          </a:p>
        </p:txBody>
      </p:sp>
      <p:pic>
        <p:nvPicPr>
          <p:cNvPr id="19" name="Picture 2" descr="フォルダのイラスト">
            <a:extLst>
              <a:ext uri="{FF2B5EF4-FFF2-40B4-BE49-F238E27FC236}">
                <a16:creationId xmlns:a16="http://schemas.microsoft.com/office/drawing/2014/main" id="{5CFB799B-5ADC-44FC-927A-B8391440E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795" y="3532946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574C070-8B67-44E3-B65C-5E79F405BBDB}"/>
              </a:ext>
            </a:extLst>
          </p:cNvPr>
          <p:cNvSpPr txBox="1"/>
          <p:nvPr/>
        </p:nvSpPr>
        <p:spPr>
          <a:xfrm>
            <a:off x="2221627" y="4037002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>
                <a:latin typeface="Consolas" panose="020B0609020204030204" pitchFamily="49" charset="0"/>
              </a:rPr>
              <a:t>Music</a:t>
            </a:r>
            <a:endParaRPr lang="en-US" sz="2000">
              <a:latin typeface="Consolas" panose="020B0609020204030204" pitchFamily="49" charset="0"/>
            </a:endParaRPr>
          </a:p>
        </p:txBody>
      </p:sp>
      <p:pic>
        <p:nvPicPr>
          <p:cNvPr id="1028" name="Picture 4" descr="ファイルアイコン（画像）">
            <a:extLst>
              <a:ext uri="{FF2B5EF4-FFF2-40B4-BE49-F238E27FC236}">
                <a16:creationId xmlns:a16="http://schemas.microsoft.com/office/drawing/2014/main" id="{840B0E57-53CB-4C0E-8116-8283969E6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457" y="4613066"/>
            <a:ext cx="552167" cy="6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D201959-F5AC-42C5-BB49-C214328495A4}"/>
              </a:ext>
            </a:extLst>
          </p:cNvPr>
          <p:cNvSpPr txBox="1"/>
          <p:nvPr/>
        </p:nvSpPr>
        <p:spPr>
          <a:xfrm>
            <a:off x="623367" y="5333146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>
                <a:latin typeface="Consolas" panose="020B0609020204030204" pitchFamily="49" charset="0"/>
              </a:rPr>
              <a:t>fig1.png</a:t>
            </a:r>
            <a:endParaRPr lang="en-US" sz="2000">
              <a:latin typeface="Consolas" panose="020B0609020204030204" pitchFamily="49" charset="0"/>
            </a:endParaRPr>
          </a:p>
        </p:txBody>
      </p: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74541450-0521-4916-9390-B7E81FB6FBA5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5400000">
            <a:off x="1419543" y="3001520"/>
            <a:ext cx="423916" cy="638937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694024E3-3AAA-445C-BB35-9969E8E8EBEC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rot="16200000" flipH="1">
            <a:off x="2065640" y="2994359"/>
            <a:ext cx="423916" cy="65325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EE8145A5-6C01-4DCB-AC9F-297F65B4B23E}"/>
              </a:ext>
            </a:extLst>
          </p:cNvPr>
          <p:cNvCxnSpPr>
            <a:stCxn id="1028" idx="0"/>
            <a:endCxn id="18" idx="2"/>
          </p:cNvCxnSpPr>
          <p:nvPr/>
        </p:nvCxnSpPr>
        <p:spPr>
          <a:xfrm flipH="1" flipV="1">
            <a:off x="1272578" y="4437112"/>
            <a:ext cx="5963" cy="17595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E2CD433E-ACF9-4CF3-BBD9-DC10BA99B612}"/>
              </a:ext>
            </a:extLst>
          </p:cNvPr>
          <p:cNvSpPr/>
          <p:nvPr/>
        </p:nvSpPr>
        <p:spPr>
          <a:xfrm>
            <a:off x="2123728" y="3501008"/>
            <a:ext cx="936104" cy="648072"/>
          </a:xfrm>
          <a:prstGeom prst="roundRect">
            <a:avLst/>
          </a:prstGeom>
          <a:noFill/>
          <a:ln w="38100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850D237-AFE4-4981-B9D2-D7237CEA2DC9}"/>
              </a:ext>
            </a:extLst>
          </p:cNvPr>
          <p:cNvSpPr txBox="1"/>
          <p:nvPr/>
        </p:nvSpPr>
        <p:spPr>
          <a:xfrm>
            <a:off x="3131840" y="357301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カレント</a:t>
            </a:r>
            <a:endParaRPr lang="en-US" altLang="ja-JP" sz="1200"/>
          </a:p>
          <a:p>
            <a:r>
              <a:rPr lang="ja-JP" altLang="en-US" sz="1200"/>
              <a:t>ディレクトリ</a:t>
            </a:r>
            <a:endParaRPr lang="en-US" sz="120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3C9ED76-7DDB-4417-B889-5E39DB9B53F5}"/>
              </a:ext>
            </a:extLst>
          </p:cNvPr>
          <p:cNvSpPr txBox="1"/>
          <p:nvPr/>
        </p:nvSpPr>
        <p:spPr>
          <a:xfrm>
            <a:off x="1259632" y="98072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ルート</a:t>
            </a:r>
            <a:endParaRPr lang="en-US" altLang="ja-JP" sz="1200"/>
          </a:p>
          <a:p>
            <a:r>
              <a:rPr lang="ja-JP" altLang="en-US" sz="1200"/>
              <a:t>ディレクトリ</a:t>
            </a:r>
            <a:endParaRPr lang="en-US" sz="1200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9D29767E-DDD9-4D61-85FC-9122F6DD2B05}"/>
              </a:ext>
            </a:extLst>
          </p:cNvPr>
          <p:cNvSpPr/>
          <p:nvPr/>
        </p:nvSpPr>
        <p:spPr>
          <a:xfrm>
            <a:off x="827584" y="4581128"/>
            <a:ext cx="936104" cy="72008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07CDDFF-0855-4E60-A9D3-2C8D922D4D34}"/>
              </a:ext>
            </a:extLst>
          </p:cNvPr>
          <p:cNvSpPr txBox="1"/>
          <p:nvPr/>
        </p:nvSpPr>
        <p:spPr>
          <a:xfrm>
            <a:off x="25896" y="472514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目的の</a:t>
            </a:r>
            <a:endParaRPr lang="en-US" altLang="ja-JP" sz="1200"/>
          </a:p>
          <a:p>
            <a:r>
              <a:rPr lang="ja-JP" altLang="en-US" sz="1200"/>
              <a:t>ファイル</a:t>
            </a:r>
            <a:endParaRPr lang="en-US" sz="120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583D7D0-A781-4C49-A5F9-D5AEF45D6042}"/>
              </a:ext>
            </a:extLst>
          </p:cNvPr>
          <p:cNvSpPr txBox="1"/>
          <p:nvPr/>
        </p:nvSpPr>
        <p:spPr>
          <a:xfrm>
            <a:off x="4860032" y="4653136"/>
            <a:ext cx="393088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c/Data/Fig/fig1.png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5490A62-6BE3-4B4F-8D86-3D7A65BB9BAE}"/>
              </a:ext>
            </a:extLst>
          </p:cNvPr>
          <p:cNvSpPr txBox="1"/>
          <p:nvPr/>
        </p:nvSpPr>
        <p:spPr>
          <a:xfrm>
            <a:off x="4860032" y="5445224"/>
            <a:ext cx="314220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..</a:t>
            </a:r>
            <a:r>
              <a:rPr lang="en-US" sz="2800">
                <a:latin typeface="Consolas" panose="020B0609020204030204" pitchFamily="49" charset="0"/>
              </a:rPr>
              <a:t>/Fig/fig1.png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82D98F1-6C3A-42BB-B68B-B7BB0293124E}"/>
              </a:ext>
            </a:extLst>
          </p:cNvPr>
          <p:cNvSpPr txBox="1"/>
          <p:nvPr/>
        </p:nvSpPr>
        <p:spPr>
          <a:xfrm>
            <a:off x="3167067" y="465313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絶対パス</a:t>
            </a:r>
            <a:endParaRPr lang="en-US" sz="280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E3AD80BE-ED13-40CE-B9FD-80B0F24F371A}"/>
              </a:ext>
            </a:extLst>
          </p:cNvPr>
          <p:cNvSpPr txBox="1"/>
          <p:nvPr/>
        </p:nvSpPr>
        <p:spPr>
          <a:xfrm>
            <a:off x="3131840" y="544522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相対パス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810924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FC7A215-D503-4E07-844D-136EB635D8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ls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6A9378-3808-4A27-888C-C125C452E925}"/>
              </a:ext>
            </a:extLst>
          </p:cNvPr>
          <p:cNvSpPr txBox="1"/>
          <p:nvPr/>
        </p:nvSpPr>
        <p:spPr>
          <a:xfrm>
            <a:off x="251520" y="1124744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指定したディレクトリ内のファイルやディレクトリを表示する</a:t>
            </a:r>
            <a:endParaRPr lang="en-US" altLang="ja-JP" sz="2400"/>
          </a:p>
          <a:p>
            <a:r>
              <a:rPr lang="ja-JP" altLang="en-US" sz="2400"/>
              <a:t>引数を指定しない場合はカレントディレクトリ直下を表示する</a:t>
            </a:r>
            <a:endParaRPr lang="en-US" sz="2400"/>
          </a:p>
        </p:txBody>
      </p:sp>
      <p:pic>
        <p:nvPicPr>
          <p:cNvPr id="4" name="Picture 2" descr="フォルダのイラスト">
            <a:extLst>
              <a:ext uri="{FF2B5EF4-FFF2-40B4-BE49-F238E27FC236}">
                <a16:creationId xmlns:a16="http://schemas.microsoft.com/office/drawing/2014/main" id="{ABDD30B9-3A04-4075-B378-38BC79ACE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259" y="3861048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3086B2A-957D-4052-9C05-785D55E88547}"/>
              </a:ext>
            </a:extLst>
          </p:cNvPr>
          <p:cNvSpPr txBox="1"/>
          <p:nvPr/>
        </p:nvSpPr>
        <p:spPr>
          <a:xfrm>
            <a:off x="5207124" y="40050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temp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754B7AC9-8EA1-4A5C-A398-DD9488981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259" y="4797152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8B4E2E7-F02E-4091-A8C0-2EFC1700AFD7}"/>
              </a:ext>
            </a:extLst>
          </p:cNvPr>
          <p:cNvSpPr txBox="1"/>
          <p:nvPr/>
        </p:nvSpPr>
        <p:spPr>
          <a:xfrm>
            <a:off x="5207124" y="494116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dir1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75C12749-4674-448E-A80B-6F4E1E440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228" y="4797152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2F698BB-98A8-4F61-9BF2-2DA20DF80939}"/>
              </a:ext>
            </a:extLst>
          </p:cNvPr>
          <p:cNvSpPr txBox="1"/>
          <p:nvPr/>
        </p:nvSpPr>
        <p:spPr>
          <a:xfrm>
            <a:off x="6172093" y="494116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dir2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2" descr="ファイルアイコン（ブランク）">
            <a:extLst>
              <a:ext uri="{FF2B5EF4-FFF2-40B4-BE49-F238E27FC236}">
                <a16:creationId xmlns:a16="http://schemas.microsoft.com/office/drawing/2014/main" id="{DEE3EBF3-164A-4C03-8905-A4C3B1861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340" y="4797152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D379E9D-5B5F-4E6F-8152-0F90C8BEAAB4}"/>
              </a:ext>
            </a:extLst>
          </p:cNvPr>
          <p:cNvSpPr txBox="1"/>
          <p:nvPr/>
        </p:nvSpPr>
        <p:spPr>
          <a:xfrm>
            <a:off x="6935316" y="5373216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file1.txt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2" name="Picture 2" descr="ファイルアイコン（ブランク）">
            <a:extLst>
              <a:ext uri="{FF2B5EF4-FFF2-40B4-BE49-F238E27FC236}">
                <a16:creationId xmlns:a16="http://schemas.microsoft.com/office/drawing/2014/main" id="{C1234DFA-6E99-4C15-8C3C-BD314D561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452" y="4797152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A65517A-0168-4593-A366-110A747671B0}"/>
              </a:ext>
            </a:extLst>
          </p:cNvPr>
          <p:cNvSpPr txBox="1"/>
          <p:nvPr/>
        </p:nvSpPr>
        <p:spPr>
          <a:xfrm>
            <a:off x="7943428" y="5373216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file2.txt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4" name="Picture 2" descr="ファイルアイコン（ブランク）">
            <a:extLst>
              <a:ext uri="{FF2B5EF4-FFF2-40B4-BE49-F238E27FC236}">
                <a16:creationId xmlns:a16="http://schemas.microsoft.com/office/drawing/2014/main" id="{CCF55761-89F1-4D9C-9719-5B1AF09F8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132" y="5805264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B7039A1-379A-4EC1-8ED0-DEDD5EDE287A}"/>
              </a:ext>
            </a:extLst>
          </p:cNvPr>
          <p:cNvSpPr txBox="1"/>
          <p:nvPr/>
        </p:nvSpPr>
        <p:spPr>
          <a:xfrm>
            <a:off x="5098157" y="6430168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80909D43-E0D4-46CB-9552-E0510276755E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5894750" y="4166600"/>
            <a:ext cx="296133" cy="96496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8CD70154-9B94-465D-9207-2C54B780439D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rot="16200000" flipH="1">
            <a:off x="6347285" y="3714065"/>
            <a:ext cx="296133" cy="187003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A4C428C3-B93B-4742-AE58-0C57AE033437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16200000" flipH="1">
            <a:off x="6851341" y="3210009"/>
            <a:ext cx="296133" cy="287815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8F9CBEDF-CF4A-46D8-BB2C-2A78383A4716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5560332" y="4501019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3442DEE-7471-495B-BD2C-CB2267F2FE37}"/>
              </a:ext>
            </a:extLst>
          </p:cNvPr>
          <p:cNvCxnSpPr/>
          <p:nvPr/>
        </p:nvCxnSpPr>
        <p:spPr>
          <a:xfrm>
            <a:off x="5567164" y="5373216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4384DB86-E8D4-4DF5-AFEE-0BD8111DB51B}"/>
              </a:ext>
            </a:extLst>
          </p:cNvPr>
          <p:cNvSpPr/>
          <p:nvPr/>
        </p:nvSpPr>
        <p:spPr>
          <a:xfrm>
            <a:off x="5063108" y="3789040"/>
            <a:ext cx="936104" cy="7200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CDC870E-C403-4A3D-809D-6F1F75DD5E09}"/>
              </a:ext>
            </a:extLst>
          </p:cNvPr>
          <p:cNvSpPr txBox="1"/>
          <p:nvPr/>
        </p:nvSpPr>
        <p:spPr>
          <a:xfrm>
            <a:off x="4703068" y="3429000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カレントディレクトリ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A90515C7-C330-4DA9-987D-55A6EFBF4D3A}"/>
              </a:ext>
            </a:extLst>
          </p:cNvPr>
          <p:cNvSpPr/>
          <p:nvPr/>
        </p:nvSpPr>
        <p:spPr>
          <a:xfrm>
            <a:off x="5063108" y="4581128"/>
            <a:ext cx="3923928" cy="1080120"/>
          </a:xfrm>
          <a:prstGeom prst="roundRect">
            <a:avLst/>
          </a:prstGeom>
          <a:noFill/>
          <a:ln w="28575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B76794B-4758-4B24-AB81-0B30140466FA}"/>
              </a:ext>
            </a:extLst>
          </p:cNvPr>
          <p:cNvSpPr txBox="1"/>
          <p:nvPr/>
        </p:nvSpPr>
        <p:spPr>
          <a:xfrm>
            <a:off x="6575276" y="4077072"/>
            <a:ext cx="17443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/>
              <a:t>ls</a:t>
            </a:r>
            <a:r>
              <a:rPr kumimoji="1" lang="ja-JP" altLang="en-US" sz="1600"/>
              <a:t>が表示する範囲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B44C064-3042-4338-A6D4-7E3DF78A5488}"/>
              </a:ext>
            </a:extLst>
          </p:cNvPr>
          <p:cNvSpPr txBox="1"/>
          <p:nvPr/>
        </p:nvSpPr>
        <p:spPr>
          <a:xfrm>
            <a:off x="107504" y="2060848"/>
            <a:ext cx="2763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引数 </a:t>
            </a:r>
            <a:r>
              <a:rPr lang="en-US" altLang="ja-JP" sz="2800">
                <a:solidFill>
                  <a:srgbClr val="011893"/>
                </a:solidFill>
              </a:rPr>
              <a:t>(argument)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7540060-1655-4355-8049-F67AA4E57357}"/>
              </a:ext>
            </a:extLst>
          </p:cNvPr>
          <p:cNvSpPr txBox="1"/>
          <p:nvPr/>
        </p:nvSpPr>
        <p:spPr>
          <a:xfrm>
            <a:off x="611560" y="2636912"/>
            <a:ext cx="4464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/>
              <a:t>コマンドの直接の目的語</a:t>
            </a:r>
            <a:endParaRPr lang="en-US" altLang="ja-JP" sz="240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E167737-2198-46A5-B530-04CE9342B60A}"/>
              </a:ext>
            </a:extLst>
          </p:cNvPr>
          <p:cNvSpPr txBox="1"/>
          <p:nvPr/>
        </p:nvSpPr>
        <p:spPr>
          <a:xfrm>
            <a:off x="35496" y="3790781"/>
            <a:ext cx="489654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$ ls</a:t>
            </a:r>
          </a:p>
          <a:p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dir1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</a:t>
            </a:r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dir2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file1.txt  file2.txt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6C649958-E0E0-4FA6-BC1F-1EC61F74B1CD}"/>
              </a:ext>
            </a:extLst>
          </p:cNvPr>
          <p:cNvSpPr txBox="1"/>
          <p:nvPr/>
        </p:nvSpPr>
        <p:spPr>
          <a:xfrm>
            <a:off x="35496" y="4869160"/>
            <a:ext cx="489654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$ ls dir1</a:t>
            </a: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file3.txt</a:t>
            </a:r>
          </a:p>
        </p:txBody>
      </p:sp>
    </p:spTree>
    <p:extLst>
      <p:ext uri="{BB962C8B-B14F-4D97-AF65-F5344CB8AC3E}">
        <p14:creationId xmlns:p14="http://schemas.microsoft.com/office/powerpoint/2010/main" val="1270569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E96CD69-5867-4B86-8DFB-A4FFAC9267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ls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E0CBA2-70C7-45A6-BFE5-E8AFF2FEF531}"/>
              </a:ext>
            </a:extLst>
          </p:cNvPr>
          <p:cNvSpPr txBox="1"/>
          <p:nvPr/>
        </p:nvSpPr>
        <p:spPr>
          <a:xfrm>
            <a:off x="179512" y="836712"/>
            <a:ext cx="330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オプション </a:t>
            </a:r>
            <a:r>
              <a:rPr lang="en-US" altLang="ja-JP" sz="2800">
                <a:solidFill>
                  <a:srgbClr val="011893"/>
                </a:solidFill>
              </a:rPr>
              <a:t>(option)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34F77A0-44C9-443C-AB46-23F918BEF6D2}"/>
              </a:ext>
            </a:extLst>
          </p:cNvPr>
          <p:cNvSpPr txBox="1"/>
          <p:nvPr/>
        </p:nvSpPr>
        <p:spPr>
          <a:xfrm>
            <a:off x="539552" y="1412776"/>
            <a:ext cx="51125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/>
              <a:t>コマンドの振る舞いを変えるもの</a:t>
            </a:r>
            <a:endParaRPr lang="en-US" altLang="ja-JP" sz="2400"/>
          </a:p>
          <a:p>
            <a:r>
              <a:rPr lang="ja-JP" altLang="en-US" sz="2400"/>
              <a:t>ハイフンに続けて渡す</a:t>
            </a:r>
            <a:endParaRPr lang="en-US" altLang="ja-JP" sz="2400"/>
          </a:p>
          <a:p>
            <a:r>
              <a:rPr lang="ja-JP" altLang="en-US" sz="2400"/>
              <a:t>一度に複数指定することもできる</a:t>
            </a:r>
            <a:endParaRPr lang="en-US" altLang="ja-JP" sz="24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F4E7598-ACAE-40B3-82CF-9DF50B1E7280}"/>
              </a:ext>
            </a:extLst>
          </p:cNvPr>
          <p:cNvSpPr txBox="1"/>
          <p:nvPr/>
        </p:nvSpPr>
        <p:spPr>
          <a:xfrm>
            <a:off x="323528" y="3429000"/>
            <a:ext cx="797463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$ ls -l</a:t>
            </a: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total 0</a:t>
            </a:r>
          </a:p>
          <a:p>
            <a:r>
              <a:rPr lang="es-ES" sz="1800">
                <a:solidFill>
                  <a:prstClr val="black"/>
                </a:solidFill>
                <a:latin typeface="Lucida Console" panose="020B0609040504020204" pitchFamily="49" charset="0"/>
              </a:rPr>
              <a:t>drwxr-xr-x 1 watanabe 197121 0 Sep 26 23:06 </a:t>
            </a:r>
            <a:r>
              <a:rPr lang="es-ES" sz="1800">
                <a:solidFill>
                  <a:srgbClr val="6060FF"/>
                </a:solidFill>
                <a:latin typeface="Lucida Console" panose="020B0609040504020204" pitchFamily="49" charset="0"/>
              </a:rPr>
              <a:t>dir1</a:t>
            </a:r>
            <a:r>
              <a:rPr lang="es-ES" sz="1800">
                <a:solidFill>
                  <a:prstClr val="black"/>
                </a:solidFill>
                <a:latin typeface="Lucida Console" panose="020B0609040504020204" pitchFamily="49" charset="0"/>
              </a:rPr>
              <a:t>/</a:t>
            </a:r>
          </a:p>
          <a:p>
            <a:r>
              <a:rPr lang="es-ES" sz="1800">
                <a:solidFill>
                  <a:prstClr val="black"/>
                </a:solidFill>
                <a:latin typeface="Lucida Console" panose="020B0609040504020204" pitchFamily="49" charset="0"/>
              </a:rPr>
              <a:t>drwxr-xr-x 1 watanabe 197121 0 Sep 26 23:06 </a:t>
            </a:r>
            <a:r>
              <a:rPr lang="es-ES" sz="1800">
                <a:solidFill>
                  <a:srgbClr val="6060FF"/>
                </a:solidFill>
                <a:latin typeface="Lucida Console" panose="020B0609040504020204" pitchFamily="49" charset="0"/>
              </a:rPr>
              <a:t>dir2</a:t>
            </a:r>
            <a:r>
              <a:rPr lang="es-ES" sz="1800">
                <a:solidFill>
                  <a:prstClr val="black"/>
                </a:solidFill>
                <a:latin typeface="Lucida Console" panose="020B0609040504020204" pitchFamily="49" charset="0"/>
              </a:rPr>
              <a:t>/</a:t>
            </a:r>
          </a:p>
          <a:p>
            <a:r>
              <a:rPr lang="pt-BR" sz="1800">
                <a:solidFill>
                  <a:prstClr val="black"/>
                </a:solidFill>
                <a:latin typeface="Lucida Console" panose="020B0609040504020204" pitchFamily="49" charset="0"/>
              </a:rPr>
              <a:t>-rw-r--r-- 1 watanabe 197121 0 Sep 26 23:06 file1.txt</a:t>
            </a:r>
          </a:p>
          <a:p>
            <a:r>
              <a:rPr lang="pt-BR" sz="1800">
                <a:solidFill>
                  <a:prstClr val="black"/>
                </a:solidFill>
                <a:latin typeface="Lucida Console" panose="020B0609040504020204" pitchFamily="49" charset="0"/>
              </a:rPr>
              <a:t>-rw-r--r-- 1 watanabe 197121 0 Sep 26 23:06 file2.txt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3029678-033F-4DD8-B783-34F52F68D753}"/>
              </a:ext>
            </a:extLst>
          </p:cNvPr>
          <p:cNvSpPr txBox="1"/>
          <p:nvPr/>
        </p:nvSpPr>
        <p:spPr>
          <a:xfrm>
            <a:off x="323528" y="5949280"/>
            <a:ext cx="799288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$ ls -a</a:t>
            </a:r>
          </a:p>
          <a:p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.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</a:t>
            </a:r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..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</a:t>
            </a:r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dir1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</a:t>
            </a:r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dir2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file1.txt  file2.txt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317EB8B-CEB5-42C0-ABD4-B48FB6BC8853}"/>
              </a:ext>
            </a:extLst>
          </p:cNvPr>
          <p:cNvSpPr txBox="1"/>
          <p:nvPr/>
        </p:nvSpPr>
        <p:spPr>
          <a:xfrm>
            <a:off x="323528" y="2780928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-l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5B69844-C716-4864-978A-B2CC3623CD16}"/>
              </a:ext>
            </a:extLst>
          </p:cNvPr>
          <p:cNvSpPr txBox="1"/>
          <p:nvPr/>
        </p:nvSpPr>
        <p:spPr>
          <a:xfrm>
            <a:off x="899592" y="285293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リスト表示</a:t>
            </a:r>
            <a:endParaRPr lang="en-US" sz="24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49EE242-62EE-4C07-B010-8D35CE61D0F4}"/>
              </a:ext>
            </a:extLst>
          </p:cNvPr>
          <p:cNvSpPr txBox="1"/>
          <p:nvPr/>
        </p:nvSpPr>
        <p:spPr>
          <a:xfrm>
            <a:off x="395536" y="542606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-a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8F660F6-4F4F-44C0-A24D-84539097F730}"/>
              </a:ext>
            </a:extLst>
          </p:cNvPr>
          <p:cNvSpPr txBox="1"/>
          <p:nvPr/>
        </p:nvSpPr>
        <p:spPr>
          <a:xfrm>
            <a:off x="971600" y="5445224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隠しファイルも表示する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011722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1EA244D-1103-4076-BE40-3DF47C28B5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エラーメッセージ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ED2AB4F-0988-42C0-B3A8-7EB68ED3743F}"/>
              </a:ext>
            </a:extLst>
          </p:cNvPr>
          <p:cNvSpPr txBox="1"/>
          <p:nvPr/>
        </p:nvSpPr>
        <p:spPr>
          <a:xfrm>
            <a:off x="539552" y="1196752"/>
            <a:ext cx="7725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できない操作を指示するとエラーが表示される</a:t>
            </a:r>
            <a:endParaRPr lang="en-US" sz="28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D37C5F-0922-4B8B-840A-40E0FD247167}"/>
              </a:ext>
            </a:extLst>
          </p:cNvPr>
          <p:cNvSpPr txBox="1"/>
          <p:nvPr/>
        </p:nvSpPr>
        <p:spPr>
          <a:xfrm>
            <a:off x="107504" y="2780928"/>
            <a:ext cx="892899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$ ls non-existing-dir</a:t>
            </a: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ls: cannot access 'non-existing-dir': No such file or directory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C5196C1-2FBF-4FE6-B033-2A6DC0C510D6}"/>
              </a:ext>
            </a:extLst>
          </p:cNvPr>
          <p:cNvSpPr txBox="1"/>
          <p:nvPr/>
        </p:nvSpPr>
        <p:spPr>
          <a:xfrm>
            <a:off x="107504" y="2060848"/>
            <a:ext cx="8443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例： </a:t>
            </a:r>
            <a:r>
              <a:rPr lang="en-US" altLang="ja-JP" sz="2800"/>
              <a:t>ls</a:t>
            </a:r>
            <a:r>
              <a:rPr lang="ja-JP" altLang="en-US" sz="2800"/>
              <a:t>の引数に存在しないディレクトリを指定した</a:t>
            </a:r>
            <a:endParaRPr lang="en-US" sz="28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67E4916-551F-4240-97C6-E7597B3EDD04}"/>
              </a:ext>
            </a:extLst>
          </p:cNvPr>
          <p:cNvSpPr txBox="1"/>
          <p:nvPr/>
        </p:nvSpPr>
        <p:spPr>
          <a:xfrm>
            <a:off x="251520" y="3717032"/>
            <a:ext cx="72635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エラーの現象と理由が表示される</a:t>
            </a:r>
            <a:endParaRPr lang="en-US" altLang="ja-JP" sz="2400"/>
          </a:p>
          <a:p>
            <a:r>
              <a:rPr lang="ja-JP" altLang="en-US" sz="2400"/>
              <a:t>現象：</a:t>
            </a:r>
            <a:r>
              <a:rPr lang="en-US" altLang="ja-JP" sz="2400"/>
              <a:t>non-existing-dir</a:t>
            </a:r>
            <a:r>
              <a:rPr lang="ja-JP" altLang="en-US" sz="2400"/>
              <a:t>にアクセスできない</a:t>
            </a:r>
            <a:endParaRPr lang="en-US" altLang="ja-JP" sz="2400"/>
          </a:p>
          <a:p>
            <a:r>
              <a:rPr lang="ja-JP" altLang="en-US" sz="2400"/>
              <a:t>理由：そんなファイルやディレクトリが存在しない</a:t>
            </a:r>
            <a:endParaRPr lang="en-US" sz="24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4950EAA-96C5-415A-BA70-43E989FBEB11}"/>
              </a:ext>
            </a:extLst>
          </p:cNvPr>
          <p:cNvSpPr txBox="1"/>
          <p:nvPr/>
        </p:nvSpPr>
        <p:spPr>
          <a:xfrm>
            <a:off x="539552" y="5157192"/>
            <a:ext cx="808426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エラーメッセージは平易な英語なので読めるはず</a:t>
            </a:r>
            <a:endParaRPr lang="en-US" altLang="ja-JP" sz="2800"/>
          </a:p>
          <a:p>
            <a:r>
              <a:rPr lang="ja-JP" altLang="en-US" sz="2800"/>
              <a:t>ちゃんと読むのが脱初心者への近道</a:t>
            </a:r>
            <a:endParaRPr lang="en-US" altLang="ja-JP" sz="2800"/>
          </a:p>
          <a:p>
            <a:r>
              <a:rPr lang="ja-JP" altLang="en-US" sz="2800"/>
              <a:t>→ </a:t>
            </a:r>
            <a:r>
              <a:rPr lang="ja-JP" altLang="en-US" sz="2800">
                <a:solidFill>
                  <a:srgbClr val="FF0000"/>
                </a:solidFill>
              </a:rPr>
              <a:t>読め！</a:t>
            </a:r>
            <a:endParaRPr lang="en-US" sz="2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607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F52F03B-A329-4206-A0BD-EC917895DB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cd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526413-2CC6-4E1D-8CCB-CF35B6FC7C9C}"/>
              </a:ext>
            </a:extLst>
          </p:cNvPr>
          <p:cNvSpPr txBox="1"/>
          <p:nvPr/>
        </p:nvSpPr>
        <p:spPr>
          <a:xfrm>
            <a:off x="251520" y="1124744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引数で指定したディレクトリをカレントディレクトリとする</a:t>
            </a:r>
            <a:endParaRPr lang="en-US" altLang="ja-JP" sz="2400"/>
          </a:p>
          <a:p>
            <a:r>
              <a:rPr lang="ja-JP" altLang="en-US" sz="2400"/>
              <a:t>引数を指定しない場合はホームディレクトリへ移動する</a:t>
            </a:r>
            <a:endParaRPr lang="en-US" sz="24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07076BB-2B48-4650-8605-A56B259D3101}"/>
              </a:ext>
            </a:extLst>
          </p:cNvPr>
          <p:cNvSpPr txBox="1"/>
          <p:nvPr/>
        </p:nvSpPr>
        <p:spPr>
          <a:xfrm>
            <a:off x="251520" y="3645024"/>
            <a:ext cx="345638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cd dir1</a:t>
            </a:r>
          </a:p>
          <a:p>
            <a:endParaRPr lang="en-US" sz="240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ls</a:t>
            </a:r>
          </a:p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file3.txt</a:t>
            </a:r>
          </a:p>
        </p:txBody>
      </p:sp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A477FD85-42CC-4F3D-8CD1-4E9685A3E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207" y="2276872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11E1EBC-CFC2-4959-A544-CEAED430A914}"/>
              </a:ext>
            </a:extLst>
          </p:cNvPr>
          <p:cNvSpPr txBox="1"/>
          <p:nvPr/>
        </p:nvSpPr>
        <p:spPr>
          <a:xfrm>
            <a:off x="5220072" y="242088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temp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E6A6D1A4-9EC6-4046-B868-59B9165D5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207" y="3212976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9B44B43-ADB7-415D-9970-AFC1B9E89D5F}"/>
              </a:ext>
            </a:extLst>
          </p:cNvPr>
          <p:cNvSpPr txBox="1"/>
          <p:nvPr/>
        </p:nvSpPr>
        <p:spPr>
          <a:xfrm>
            <a:off x="5220072" y="335699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dir1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2" descr="フォルダのイラスト">
            <a:extLst>
              <a:ext uri="{FF2B5EF4-FFF2-40B4-BE49-F238E27FC236}">
                <a16:creationId xmlns:a16="http://schemas.microsoft.com/office/drawing/2014/main" id="{C66ECC57-4FE4-4A34-96B6-BBF473329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3212976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FF75030-14B1-47C4-868F-8DA2741B5103}"/>
              </a:ext>
            </a:extLst>
          </p:cNvPr>
          <p:cNvSpPr txBox="1"/>
          <p:nvPr/>
        </p:nvSpPr>
        <p:spPr>
          <a:xfrm>
            <a:off x="6185041" y="335699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dir2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2" name="Picture 2" descr="ファイルアイコン（ブランク）">
            <a:extLst>
              <a:ext uri="{FF2B5EF4-FFF2-40B4-BE49-F238E27FC236}">
                <a16:creationId xmlns:a16="http://schemas.microsoft.com/office/drawing/2014/main" id="{84DDB810-BD73-4ADC-9894-8A764BA83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3212976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E0E49A7-9B0E-45D9-8FDE-D831CA46B587}"/>
              </a:ext>
            </a:extLst>
          </p:cNvPr>
          <p:cNvSpPr txBox="1"/>
          <p:nvPr/>
        </p:nvSpPr>
        <p:spPr>
          <a:xfrm>
            <a:off x="6948264" y="3789040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file1.txt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4" name="Picture 2" descr="ファイルアイコン（ブランク）">
            <a:extLst>
              <a:ext uri="{FF2B5EF4-FFF2-40B4-BE49-F238E27FC236}">
                <a16:creationId xmlns:a16="http://schemas.microsoft.com/office/drawing/2014/main" id="{7B696740-0D2A-4D12-98C0-00B77AAD7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3212976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D6EACEF-CFCA-4E30-A379-A2B08AB326CD}"/>
              </a:ext>
            </a:extLst>
          </p:cNvPr>
          <p:cNvSpPr txBox="1"/>
          <p:nvPr/>
        </p:nvSpPr>
        <p:spPr>
          <a:xfrm>
            <a:off x="7956376" y="3789040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file2.txt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6" name="Picture 2" descr="ファイルアイコン（ブランク）">
            <a:extLst>
              <a:ext uri="{FF2B5EF4-FFF2-40B4-BE49-F238E27FC236}">
                <a16:creationId xmlns:a16="http://schemas.microsoft.com/office/drawing/2014/main" id="{F7D08E77-68E4-4654-8BAD-38AD4E265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221088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CEF66C6-0186-469F-938A-56FFF1487A4F}"/>
              </a:ext>
            </a:extLst>
          </p:cNvPr>
          <p:cNvSpPr txBox="1"/>
          <p:nvPr/>
        </p:nvSpPr>
        <p:spPr>
          <a:xfrm>
            <a:off x="5111105" y="4845992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BBE23CC3-D07C-47C4-AF65-0E81AA17811A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rot="16200000" flipH="1">
            <a:off x="5907698" y="2582424"/>
            <a:ext cx="296133" cy="96496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6BE83DB1-9F00-4D47-8E4A-22425B1D49DC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 rot="16200000" flipH="1">
            <a:off x="6360233" y="2129889"/>
            <a:ext cx="296133" cy="187003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5DA2288B-0CAC-44D2-8B45-0FDF97FE2FD3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6864289" y="1625833"/>
            <a:ext cx="296133" cy="287815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6A8FC18-3166-40A4-AFDD-3F2DE67DDC2E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5573280" y="2916843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B57E62A-94C6-4A76-A556-9AB026D6B6AC}"/>
              </a:ext>
            </a:extLst>
          </p:cNvPr>
          <p:cNvCxnSpPr/>
          <p:nvPr/>
        </p:nvCxnSpPr>
        <p:spPr>
          <a:xfrm>
            <a:off x="5580112" y="3789040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0946FBB-033B-49FA-8E25-83BDFBDC1151}"/>
              </a:ext>
            </a:extLst>
          </p:cNvPr>
          <p:cNvSpPr/>
          <p:nvPr/>
        </p:nvSpPr>
        <p:spPr>
          <a:xfrm>
            <a:off x="5076056" y="3212976"/>
            <a:ext cx="936104" cy="7200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8C255AC7-7A42-4D38-93C4-1EBA2D564163}"/>
              </a:ext>
            </a:extLst>
          </p:cNvPr>
          <p:cNvSpPr/>
          <p:nvPr/>
        </p:nvSpPr>
        <p:spPr>
          <a:xfrm>
            <a:off x="5076056" y="4149080"/>
            <a:ext cx="1152128" cy="1080120"/>
          </a:xfrm>
          <a:prstGeom prst="roundRect">
            <a:avLst/>
          </a:prstGeom>
          <a:noFill/>
          <a:ln w="28575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DD5C634-9942-4ABE-9C85-EE2606F0B2CA}"/>
              </a:ext>
            </a:extLst>
          </p:cNvPr>
          <p:cNvSpPr txBox="1"/>
          <p:nvPr/>
        </p:nvSpPr>
        <p:spPr>
          <a:xfrm>
            <a:off x="6372200" y="4509120"/>
            <a:ext cx="17443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/>
              <a:t>ls</a:t>
            </a:r>
            <a:r>
              <a:rPr kumimoji="1" lang="ja-JP" altLang="en-US" sz="1600"/>
              <a:t>が表示する範囲</a:t>
            </a:r>
          </a:p>
        </p:txBody>
      </p: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9016CC62-EE95-4F89-97F4-E0A4C5E6830F}"/>
              </a:ext>
            </a:extLst>
          </p:cNvPr>
          <p:cNvCxnSpPr>
            <a:stCxn id="7" idx="1"/>
            <a:endCxn id="23" idx="1"/>
          </p:cNvCxnSpPr>
          <p:nvPr/>
        </p:nvCxnSpPr>
        <p:spPr>
          <a:xfrm rot="10800000" flipV="1">
            <a:off x="5076056" y="2605554"/>
            <a:ext cx="144016" cy="967462"/>
          </a:xfrm>
          <a:prstGeom prst="bentConnector3">
            <a:avLst>
              <a:gd name="adj1" fmla="val 25873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30FBE26-213C-4DF7-95F5-DD2CE1171D28}"/>
              </a:ext>
            </a:extLst>
          </p:cNvPr>
          <p:cNvSpPr txBox="1"/>
          <p:nvPr/>
        </p:nvSpPr>
        <p:spPr>
          <a:xfrm>
            <a:off x="3779912" y="2924944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cd dir1</a:t>
            </a:r>
            <a:endParaRPr kumimoji="1" lang="ja-JP" altLang="en-US">
              <a:latin typeface="Consolas" panose="020B0609020204030204" pitchFamily="49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E845D6A-A39B-4B26-93A3-3ED02A2DD4A9}"/>
              </a:ext>
            </a:extLst>
          </p:cNvPr>
          <p:cNvSpPr txBox="1"/>
          <p:nvPr/>
        </p:nvSpPr>
        <p:spPr>
          <a:xfrm>
            <a:off x="4499992" y="450912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ls</a:t>
            </a:r>
            <a:endParaRPr kumimoji="1" lang="ja-JP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873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5923ECE-D39A-494B-9478-7E4502B3B3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cd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B702C6-4A83-48D0-B38E-1214E3747E11}"/>
              </a:ext>
            </a:extLst>
          </p:cNvPr>
          <p:cNvSpPr txBox="1"/>
          <p:nvPr/>
        </p:nvSpPr>
        <p:spPr>
          <a:xfrm>
            <a:off x="323528" y="1124744"/>
            <a:ext cx="115212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cd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8A1C42-8F6F-48BB-AC89-B2D1F8BEA20E}"/>
              </a:ext>
            </a:extLst>
          </p:cNvPr>
          <p:cNvSpPr txBox="1"/>
          <p:nvPr/>
        </p:nvSpPr>
        <p:spPr>
          <a:xfrm>
            <a:off x="683568" y="1844824"/>
            <a:ext cx="73661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引数無しではホームディレクトリへ移動する</a:t>
            </a:r>
            <a:endParaRPr lang="en-US" altLang="ja-JP" sz="2800"/>
          </a:p>
          <a:p>
            <a:r>
              <a:rPr lang="ja-JP" altLang="en-US" sz="2800"/>
              <a:t>場所がよくわからなくなったらこれを使う</a:t>
            </a:r>
            <a:endParaRPr lang="en-US" sz="28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AACE0C-3259-4B16-B3C6-96E283E20F27}"/>
              </a:ext>
            </a:extLst>
          </p:cNvPr>
          <p:cNvSpPr txBox="1"/>
          <p:nvPr/>
        </p:nvSpPr>
        <p:spPr>
          <a:xfrm>
            <a:off x="323528" y="3356992"/>
            <a:ext cx="158417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cd ..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23D5583-400B-4DC2-A836-F631C5270E1B}"/>
              </a:ext>
            </a:extLst>
          </p:cNvPr>
          <p:cNvSpPr txBox="1"/>
          <p:nvPr/>
        </p:nvSpPr>
        <p:spPr>
          <a:xfrm>
            <a:off x="683568" y="4005064"/>
            <a:ext cx="48526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親ディレクトリへ移動する</a:t>
            </a:r>
            <a:endParaRPr lang="en-US" altLang="ja-JP" sz="2800"/>
          </a:p>
          <a:p>
            <a:r>
              <a:rPr lang="ja-JP" altLang="en-US" sz="2800"/>
              <a:t>よく使うので覚えておくこと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0837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CE2D363-B07F-4F6C-A916-5FD6D17C2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mkdir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9D51CDD-F304-4BF0-9BA5-FD373C0F5791}"/>
              </a:ext>
            </a:extLst>
          </p:cNvPr>
          <p:cNvSpPr txBox="1"/>
          <p:nvPr/>
        </p:nvSpPr>
        <p:spPr>
          <a:xfrm>
            <a:off x="539552" y="1196752"/>
            <a:ext cx="664797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引数で指定したディレクトリを作成する</a:t>
            </a:r>
            <a:endParaRPr lang="en-US" altLang="ja-JP" sz="2800"/>
          </a:p>
          <a:p>
            <a:r>
              <a:rPr lang="en-US" sz="2800"/>
              <a:t>(</a:t>
            </a:r>
            <a:r>
              <a:rPr lang="ja-JP" altLang="en-US" sz="2800"/>
              <a:t>新規作成→フォルダ</a:t>
            </a:r>
            <a:r>
              <a:rPr lang="en-US" sz="2800"/>
              <a:t>)</a:t>
            </a:r>
          </a:p>
          <a:p>
            <a:r>
              <a:rPr lang="ja-JP" altLang="en-US" sz="2800"/>
              <a:t>引数は必須</a:t>
            </a:r>
            <a:endParaRPr lang="en-US" sz="28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190EB7A-B7C1-4A59-B52A-FEC4EE7C184E}"/>
              </a:ext>
            </a:extLst>
          </p:cNvPr>
          <p:cNvSpPr txBox="1"/>
          <p:nvPr/>
        </p:nvSpPr>
        <p:spPr>
          <a:xfrm>
            <a:off x="251520" y="3284984"/>
            <a:ext cx="6192688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$ ls</a:t>
            </a:r>
          </a:p>
          <a:p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dir1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</a:t>
            </a:r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dir2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file1.txt  file2.txt</a:t>
            </a:r>
          </a:p>
          <a:p>
            <a:endParaRPr lang="en-US" sz="180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$ mkdir dir3</a:t>
            </a:r>
          </a:p>
          <a:p>
            <a:endParaRPr lang="en-US" sz="180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$ ls</a:t>
            </a:r>
          </a:p>
          <a:p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dir1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</a:t>
            </a:r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dir2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</a:t>
            </a:r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dir3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file1.txt  file2.txt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D4368F-4841-4DED-90B0-E02C34EBFD3A}"/>
              </a:ext>
            </a:extLst>
          </p:cNvPr>
          <p:cNvSpPr txBox="1"/>
          <p:nvPr/>
        </p:nvSpPr>
        <p:spPr>
          <a:xfrm>
            <a:off x="3707904" y="2636912"/>
            <a:ext cx="3554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ディレクトリ </a:t>
            </a:r>
            <a:r>
              <a:rPr lang="en-US" altLang="ja-JP" sz="2400"/>
              <a:t>dir3</a:t>
            </a:r>
            <a:r>
              <a:rPr lang="ja-JP" altLang="en-US" sz="2400"/>
              <a:t>を作成</a:t>
            </a:r>
            <a:endParaRPr lang="en-US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8F8D575-9CAE-48C1-BB71-CD0167161871}"/>
              </a:ext>
            </a:extLst>
          </p:cNvPr>
          <p:cNvSpPr txBox="1"/>
          <p:nvPr/>
        </p:nvSpPr>
        <p:spPr>
          <a:xfrm>
            <a:off x="3563888" y="5661248"/>
            <a:ext cx="4477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ディレクトリ </a:t>
            </a:r>
            <a:r>
              <a:rPr lang="en-US" altLang="ja-JP" sz="2400"/>
              <a:t>dir3</a:t>
            </a:r>
            <a:r>
              <a:rPr lang="ja-JP" altLang="en-US" sz="2400"/>
              <a:t>が作成された</a:t>
            </a:r>
            <a:endParaRPr lang="en-US" altLang="ja-JP" sz="240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542588E-1A96-4D52-A63B-16B7CB54D0F5}"/>
              </a:ext>
            </a:extLst>
          </p:cNvPr>
          <p:cNvSpPr/>
          <p:nvPr/>
        </p:nvSpPr>
        <p:spPr>
          <a:xfrm>
            <a:off x="539552" y="4077072"/>
            <a:ext cx="1512168" cy="43204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14388F8-4255-45E2-A6A5-D62BCF331E1E}"/>
              </a:ext>
            </a:extLst>
          </p:cNvPr>
          <p:cNvSpPr/>
          <p:nvPr/>
        </p:nvSpPr>
        <p:spPr>
          <a:xfrm>
            <a:off x="2123728" y="4869160"/>
            <a:ext cx="936104" cy="43204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5F10CA91-8F91-4EEB-8659-166D3826A41B}"/>
              </a:ext>
            </a:extLst>
          </p:cNvPr>
          <p:cNvCxnSpPr>
            <a:stCxn id="6" idx="2"/>
          </p:cNvCxnSpPr>
          <p:nvPr/>
        </p:nvCxnSpPr>
        <p:spPr>
          <a:xfrm rot="5400000">
            <a:off x="3171098" y="1979200"/>
            <a:ext cx="1194519" cy="3433273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705D2613-F8DA-4A1F-8CB2-4CE2F7B7B6CD}"/>
              </a:ext>
            </a:extLst>
          </p:cNvPr>
          <p:cNvCxnSpPr>
            <a:stCxn id="7" idx="1"/>
            <a:endCxn id="9" idx="2"/>
          </p:cNvCxnSpPr>
          <p:nvPr/>
        </p:nvCxnSpPr>
        <p:spPr>
          <a:xfrm rot="10800000">
            <a:off x="2591780" y="5301209"/>
            <a:ext cx="972108" cy="590873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B344615-8F5B-482F-B90A-CF0E3F6F7BBB}"/>
              </a:ext>
            </a:extLst>
          </p:cNvPr>
          <p:cNvSpPr txBox="1"/>
          <p:nvPr/>
        </p:nvSpPr>
        <p:spPr>
          <a:xfrm>
            <a:off x="251520" y="6309320"/>
            <a:ext cx="5622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※ </a:t>
            </a:r>
            <a:r>
              <a:rPr lang="ja-JP" altLang="en-US"/>
              <a:t>ディレクトリの削除は</a:t>
            </a:r>
            <a:r>
              <a:rPr lang="en-US" altLang="ja-JP"/>
              <a:t>rmdir</a:t>
            </a:r>
            <a:r>
              <a:rPr lang="ja-JP" altLang="en-US"/>
              <a:t>だが、あまり使わない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57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8DEBCC9-B04A-4428-9486-7FFA9C188B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mv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132DA2-927C-4304-8257-40A9015A5E11}"/>
              </a:ext>
            </a:extLst>
          </p:cNvPr>
          <p:cNvSpPr txBox="1"/>
          <p:nvPr/>
        </p:nvSpPr>
        <p:spPr>
          <a:xfrm>
            <a:off x="179512" y="1988840"/>
            <a:ext cx="87849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ファイルやディレクトリの移動、リネームを行う</a:t>
            </a:r>
            <a:endParaRPr lang="en-US" altLang="ja-JP" sz="2400"/>
          </a:p>
          <a:p>
            <a:r>
              <a:rPr lang="ja-JP" altLang="en-US" sz="2400"/>
              <a:t>「移動元」「移動先」と引数を二つとる</a:t>
            </a:r>
            <a:endParaRPr lang="en-US" altLang="ja-JP" sz="2400"/>
          </a:p>
          <a:p>
            <a:r>
              <a:rPr lang="ja-JP" altLang="en-US" sz="2400"/>
              <a:t>移動元は存在するファイルやディレクトリでなければならない</a:t>
            </a:r>
            <a:endParaRPr lang="en-US" altLang="ja-JP" sz="2400"/>
          </a:p>
          <a:p>
            <a:r>
              <a:rPr lang="ja-JP" altLang="en-US" sz="2400"/>
              <a:t>移動先が存在するかしないかで動作が変わる</a:t>
            </a:r>
            <a:endParaRPr lang="en-US" sz="24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A4D60C0-B358-49F0-8345-9D7F687DDC11}"/>
              </a:ext>
            </a:extLst>
          </p:cNvPr>
          <p:cNvSpPr txBox="1"/>
          <p:nvPr/>
        </p:nvSpPr>
        <p:spPr>
          <a:xfrm>
            <a:off x="2051720" y="980728"/>
            <a:ext cx="4232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mv </a:t>
            </a:r>
            <a:r>
              <a:rPr lang="ja-JP" altLang="en-US" sz="4000"/>
              <a:t>移動元 移動先</a:t>
            </a:r>
            <a:endParaRPr lang="en-US" sz="40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F0FE023-2354-435F-8BA3-50ED6B4BA40B}"/>
              </a:ext>
            </a:extLst>
          </p:cNvPr>
          <p:cNvSpPr txBox="1"/>
          <p:nvPr/>
        </p:nvSpPr>
        <p:spPr>
          <a:xfrm>
            <a:off x="251520" y="4221088"/>
            <a:ext cx="86409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0" i="0">
                <a:solidFill>
                  <a:srgbClr val="24292F"/>
                </a:solidFill>
                <a:effectLst/>
                <a:latin typeface="-apple-system"/>
              </a:rPr>
              <a:t>移動先が存在するディレクトリ</a:t>
            </a:r>
            <a:endParaRPr lang="en-US" altLang="ja-JP" sz="2400" b="0" i="0">
              <a:solidFill>
                <a:srgbClr val="24292F"/>
              </a:solidFill>
              <a:effectLst/>
              <a:latin typeface="-apple-system"/>
            </a:endParaRPr>
          </a:p>
          <a:p>
            <a:r>
              <a:rPr lang="ja-JP" altLang="en-US" sz="2400" b="0" i="0">
                <a:solidFill>
                  <a:srgbClr val="24292F"/>
                </a:solidFill>
                <a:effectLst/>
                <a:latin typeface="-apple-system"/>
              </a:rPr>
              <a:t>→そこに移動</a:t>
            </a:r>
            <a:endParaRPr lang="en-US" altLang="ja-JP" sz="2400" b="0" i="0">
              <a:solidFill>
                <a:srgbClr val="24292F"/>
              </a:solidFill>
              <a:effectLst/>
              <a:latin typeface="-apple-system"/>
            </a:endParaRPr>
          </a:p>
          <a:p>
            <a:r>
              <a:rPr lang="ja-JP" altLang="en-US" sz="2400" b="0" i="0">
                <a:solidFill>
                  <a:srgbClr val="24292F"/>
                </a:solidFill>
                <a:effectLst/>
                <a:latin typeface="-apple-system"/>
              </a:rPr>
              <a:t>移動先が存在しないファイルやディレクトリ</a:t>
            </a:r>
            <a:endParaRPr lang="en-US" altLang="ja-JP" sz="2400" b="0" i="0">
              <a:solidFill>
                <a:srgbClr val="24292F"/>
              </a:solidFill>
              <a:effectLst/>
              <a:latin typeface="-apple-system"/>
            </a:endParaRPr>
          </a:p>
          <a:p>
            <a:r>
              <a:rPr lang="ja-JP" altLang="en-US" sz="2400">
                <a:solidFill>
                  <a:srgbClr val="24292F"/>
                </a:solidFill>
                <a:latin typeface="-apple-system"/>
              </a:rPr>
              <a:t>→</a:t>
            </a:r>
            <a:r>
              <a:rPr lang="ja-JP" altLang="en-US" sz="2400" b="0" i="0">
                <a:solidFill>
                  <a:srgbClr val="24292F"/>
                </a:solidFill>
                <a:effectLst/>
                <a:latin typeface="-apple-system"/>
              </a:rPr>
              <a:t>移動元のファイルやディレクトリを移動した上でリネーム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9254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0C15FC4-6A75-41E9-9144-6A1E120261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mv</a:t>
            </a:r>
          </a:p>
        </p:txBody>
      </p:sp>
      <p:pic>
        <p:nvPicPr>
          <p:cNvPr id="3" name="Picture 2" descr="フォルダのイラスト">
            <a:extLst>
              <a:ext uri="{FF2B5EF4-FFF2-40B4-BE49-F238E27FC236}">
                <a16:creationId xmlns:a16="http://schemas.microsoft.com/office/drawing/2014/main" id="{0303B108-EBAA-4B5E-A953-699BDEFBD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887" y="3501008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C531343-8B5E-4968-9219-78D6146802D0}"/>
              </a:ext>
            </a:extLst>
          </p:cNvPr>
          <p:cNvSpPr txBox="1"/>
          <p:nvPr/>
        </p:nvSpPr>
        <p:spPr>
          <a:xfrm>
            <a:off x="2339752" y="364502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temp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B7F4F179-656D-4ADF-B292-A90C723B7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887" y="4437112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C2F09-C3ED-4952-9E27-E5594D781791}"/>
              </a:ext>
            </a:extLst>
          </p:cNvPr>
          <p:cNvSpPr txBox="1"/>
          <p:nvPr/>
        </p:nvSpPr>
        <p:spPr>
          <a:xfrm>
            <a:off x="2339752" y="458112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dir1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Picture 2" descr="フォルダのイラスト">
            <a:extLst>
              <a:ext uri="{FF2B5EF4-FFF2-40B4-BE49-F238E27FC236}">
                <a16:creationId xmlns:a16="http://schemas.microsoft.com/office/drawing/2014/main" id="{5A1161BD-A504-4B6E-A1DE-311566A41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437112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486958-8942-44F8-9564-466C54C95D78}"/>
              </a:ext>
            </a:extLst>
          </p:cNvPr>
          <p:cNvSpPr txBox="1"/>
          <p:nvPr/>
        </p:nvSpPr>
        <p:spPr>
          <a:xfrm>
            <a:off x="3304721" y="458112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dir2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Picture 2" descr="ファイルアイコン（ブランク）">
            <a:extLst>
              <a:ext uri="{FF2B5EF4-FFF2-40B4-BE49-F238E27FC236}">
                <a16:creationId xmlns:a16="http://schemas.microsoft.com/office/drawing/2014/main" id="{B98509F6-4528-4D69-8439-FA6E4FA87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437112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85FE322-6FB0-4E5B-B5B3-7C524E823A83}"/>
              </a:ext>
            </a:extLst>
          </p:cNvPr>
          <p:cNvSpPr txBox="1"/>
          <p:nvPr/>
        </p:nvSpPr>
        <p:spPr>
          <a:xfrm>
            <a:off x="4067944" y="5013176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file1.txt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1" name="Picture 2" descr="ファイルアイコン（ブランク）">
            <a:extLst>
              <a:ext uri="{FF2B5EF4-FFF2-40B4-BE49-F238E27FC236}">
                <a16:creationId xmlns:a16="http://schemas.microsoft.com/office/drawing/2014/main" id="{FCB71963-FD03-4C9A-AA0F-A5C8E672B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437112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AB004D1-8F86-46E1-A0E0-AFB8FF37F401}"/>
              </a:ext>
            </a:extLst>
          </p:cNvPr>
          <p:cNvSpPr txBox="1"/>
          <p:nvPr/>
        </p:nvSpPr>
        <p:spPr>
          <a:xfrm>
            <a:off x="5076056" y="5013176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file2.txt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3" name="Picture 2" descr="ファイルアイコン（ブランク）">
            <a:extLst>
              <a:ext uri="{FF2B5EF4-FFF2-40B4-BE49-F238E27FC236}">
                <a16:creationId xmlns:a16="http://schemas.microsoft.com/office/drawing/2014/main" id="{ABEB054B-41FC-4C24-B0B6-BB3F6F8E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5445224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C5E43CB-98CE-491B-BBBF-5E0DAED7B8CC}"/>
              </a:ext>
            </a:extLst>
          </p:cNvPr>
          <p:cNvSpPr txBox="1"/>
          <p:nvPr/>
        </p:nvSpPr>
        <p:spPr>
          <a:xfrm>
            <a:off x="2230785" y="6070128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cxnSp>
        <p:nvCxnSpPr>
          <p:cNvPr id="15" name="コネクタ: カギ線 14">
            <a:extLst>
              <a:ext uri="{FF2B5EF4-FFF2-40B4-BE49-F238E27FC236}">
                <a16:creationId xmlns:a16="http://schemas.microsoft.com/office/drawing/2014/main" id="{BAD109F3-95A9-4490-B98E-497D16564C06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rot="16200000" flipH="1">
            <a:off x="3027378" y="3806560"/>
            <a:ext cx="296133" cy="96496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4968884B-3C2A-41EB-A79F-8993A25A824D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 rot="16200000" flipH="1">
            <a:off x="3479913" y="3354025"/>
            <a:ext cx="296133" cy="187003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445AE0E4-A927-4075-ADA2-3D447D25A8DC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rot="16200000" flipH="1">
            <a:off x="3983969" y="2849969"/>
            <a:ext cx="296133" cy="287815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F2ECA9EA-4829-4B13-9812-5B8C579C58E6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2692960" y="4140979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8AE49B3-984B-4AFE-BBCE-FB1044FEAA64}"/>
              </a:ext>
            </a:extLst>
          </p:cNvPr>
          <p:cNvCxnSpPr/>
          <p:nvPr/>
        </p:nvCxnSpPr>
        <p:spPr>
          <a:xfrm>
            <a:off x="2699792" y="5013176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BCB5E2BD-1A65-488E-BF1B-CD4B4CB851E1}"/>
              </a:ext>
            </a:extLst>
          </p:cNvPr>
          <p:cNvSpPr/>
          <p:nvPr/>
        </p:nvSpPr>
        <p:spPr>
          <a:xfrm>
            <a:off x="2195736" y="3429000"/>
            <a:ext cx="936104" cy="7200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A7D60A5-1E23-47C4-BF2C-B6A33E7CEE62}"/>
              </a:ext>
            </a:extLst>
          </p:cNvPr>
          <p:cNvSpPr txBox="1"/>
          <p:nvPr/>
        </p:nvSpPr>
        <p:spPr>
          <a:xfrm>
            <a:off x="1835696" y="3068960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カレントディレクトリ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E3492D9-6283-403D-970E-B9A7EBE677F5}"/>
              </a:ext>
            </a:extLst>
          </p:cNvPr>
          <p:cNvSpPr txBox="1"/>
          <p:nvPr/>
        </p:nvSpPr>
        <p:spPr>
          <a:xfrm>
            <a:off x="251520" y="2391271"/>
            <a:ext cx="428396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mv file1.txt dir2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89E2329-E2DF-4DC5-8C3C-B03FCF582798}"/>
              </a:ext>
            </a:extLst>
          </p:cNvPr>
          <p:cNvSpPr txBox="1"/>
          <p:nvPr/>
        </p:nvSpPr>
        <p:spPr>
          <a:xfrm>
            <a:off x="2051720" y="1052736"/>
            <a:ext cx="50626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mv </a:t>
            </a:r>
            <a:r>
              <a:rPr lang="ja-JP" altLang="en-US" sz="3200"/>
              <a:t>ファイル ディレクトリ</a:t>
            </a:r>
            <a:endParaRPr lang="en-US" sz="3200"/>
          </a:p>
        </p:txBody>
      </p:sp>
      <p:sp>
        <p:nvSpPr>
          <p:cNvPr id="26" name="矢印: 左カーブ 25">
            <a:extLst>
              <a:ext uri="{FF2B5EF4-FFF2-40B4-BE49-F238E27FC236}">
                <a16:creationId xmlns:a16="http://schemas.microsoft.com/office/drawing/2014/main" id="{4379E209-68AB-4C61-8736-080441A1A38A}"/>
              </a:ext>
            </a:extLst>
          </p:cNvPr>
          <p:cNvSpPr/>
          <p:nvPr/>
        </p:nvSpPr>
        <p:spPr>
          <a:xfrm rot="5400000">
            <a:off x="3959932" y="4977172"/>
            <a:ext cx="360040" cy="1008112"/>
          </a:xfrm>
          <a:prstGeom prst="curved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solidFill>
                <a:schemeClr val="tx1"/>
              </a:solidFill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D6067E4-1204-498A-A86E-CB180E00092B}"/>
              </a:ext>
            </a:extLst>
          </p:cNvPr>
          <p:cNvSpPr txBox="1"/>
          <p:nvPr/>
        </p:nvSpPr>
        <p:spPr>
          <a:xfrm>
            <a:off x="1691680" y="1700808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ファイルをそのディレクトリへ移動する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79518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58277CA-1079-472C-810A-E903CC0301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mv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9F1EB7-9A92-49BF-BAF4-4ADF80C875E9}"/>
              </a:ext>
            </a:extLst>
          </p:cNvPr>
          <p:cNvSpPr txBox="1"/>
          <p:nvPr/>
        </p:nvSpPr>
        <p:spPr>
          <a:xfrm>
            <a:off x="2051720" y="1052736"/>
            <a:ext cx="50626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mv </a:t>
            </a:r>
            <a:r>
              <a:rPr lang="ja-JP" altLang="en-US" sz="3200"/>
              <a:t>ファイル ディレクトリ</a:t>
            </a:r>
            <a:endParaRPr lang="en-US" sz="32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63DBB02-6FD2-4534-88FD-7B45BE6A3260}"/>
              </a:ext>
            </a:extLst>
          </p:cNvPr>
          <p:cNvSpPr txBox="1"/>
          <p:nvPr/>
        </p:nvSpPr>
        <p:spPr>
          <a:xfrm>
            <a:off x="1691680" y="1700808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ファイルをそのディレクトリへ移動する</a:t>
            </a:r>
            <a:endParaRPr lang="en-US" sz="2400"/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52629259-A285-4F21-9820-8889A12E7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919" y="3717032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0E3CE6C-B751-498A-9EA4-6448902DB868}"/>
              </a:ext>
            </a:extLst>
          </p:cNvPr>
          <p:cNvSpPr txBox="1"/>
          <p:nvPr/>
        </p:nvSpPr>
        <p:spPr>
          <a:xfrm>
            <a:off x="2627784" y="386104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temp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Picture 2" descr="フォルダのイラスト">
            <a:extLst>
              <a:ext uri="{FF2B5EF4-FFF2-40B4-BE49-F238E27FC236}">
                <a16:creationId xmlns:a16="http://schemas.microsoft.com/office/drawing/2014/main" id="{F20F2ADF-FC7F-40D4-9ED7-D286824AC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919" y="4653136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23B478C-C71E-4365-940C-51C5DB5CF066}"/>
              </a:ext>
            </a:extLst>
          </p:cNvPr>
          <p:cNvSpPr txBox="1"/>
          <p:nvPr/>
        </p:nvSpPr>
        <p:spPr>
          <a:xfrm>
            <a:off x="2627784" y="479715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dir1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Picture 2" descr="フォルダのイラスト">
            <a:extLst>
              <a:ext uri="{FF2B5EF4-FFF2-40B4-BE49-F238E27FC236}">
                <a16:creationId xmlns:a16="http://schemas.microsoft.com/office/drawing/2014/main" id="{DA1D7CCC-E91A-429D-98FD-A4D647349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653136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8D6F6FD-51E8-46A3-9205-54360CCD5777}"/>
              </a:ext>
            </a:extLst>
          </p:cNvPr>
          <p:cNvSpPr txBox="1"/>
          <p:nvPr/>
        </p:nvSpPr>
        <p:spPr>
          <a:xfrm>
            <a:off x="3592753" y="479715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dir2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1" name="Picture 2" descr="ファイルアイコン（ブランク）">
            <a:extLst>
              <a:ext uri="{FF2B5EF4-FFF2-40B4-BE49-F238E27FC236}">
                <a16:creationId xmlns:a16="http://schemas.microsoft.com/office/drawing/2014/main" id="{AB020BED-7F56-4CC2-B11D-90D86F7EE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653136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099ED0C-AF25-4349-A445-C936CD9C7360}"/>
              </a:ext>
            </a:extLst>
          </p:cNvPr>
          <p:cNvSpPr txBox="1"/>
          <p:nvPr/>
        </p:nvSpPr>
        <p:spPr>
          <a:xfrm>
            <a:off x="4355976" y="5229200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file1.txt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3" name="Picture 2" descr="ファイルアイコン（ブランク）">
            <a:extLst>
              <a:ext uri="{FF2B5EF4-FFF2-40B4-BE49-F238E27FC236}">
                <a16:creationId xmlns:a16="http://schemas.microsoft.com/office/drawing/2014/main" id="{EED81E03-9D79-4EC9-AA10-8F5F6494D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653136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939C1B8-D2B6-40A8-B827-3F498439686C}"/>
              </a:ext>
            </a:extLst>
          </p:cNvPr>
          <p:cNvSpPr txBox="1"/>
          <p:nvPr/>
        </p:nvSpPr>
        <p:spPr>
          <a:xfrm>
            <a:off x="5364088" y="5229200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file2.txt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5" name="Picture 2" descr="ファイルアイコン（ブランク）">
            <a:extLst>
              <a:ext uri="{FF2B5EF4-FFF2-40B4-BE49-F238E27FC236}">
                <a16:creationId xmlns:a16="http://schemas.microsoft.com/office/drawing/2014/main" id="{22DA800E-6246-4DA0-837E-5FED8D1FF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5661248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883B9E5-8CCD-4F0A-B92E-3855261F62CF}"/>
              </a:ext>
            </a:extLst>
          </p:cNvPr>
          <p:cNvSpPr txBox="1"/>
          <p:nvPr/>
        </p:nvSpPr>
        <p:spPr>
          <a:xfrm>
            <a:off x="2518817" y="6286152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CD627738-87E6-4DC2-8852-5D252B5A3649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16200000" flipH="1">
            <a:off x="3315410" y="4022584"/>
            <a:ext cx="296133" cy="96496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18E3904C-1FD1-4146-8064-74998A7F1073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16200000" flipH="1">
            <a:off x="3767945" y="3570049"/>
            <a:ext cx="296133" cy="187003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DCB86970-F3BF-41ED-8475-9782D3B64F95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rot="16200000" flipH="1">
            <a:off x="4272001" y="3065993"/>
            <a:ext cx="296133" cy="287815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2FF5E66-4376-45E8-B3A0-2B59D3D3958B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2980992" y="4357003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2AF8F48-1B17-4C17-BB00-ED7D2D12B319}"/>
              </a:ext>
            </a:extLst>
          </p:cNvPr>
          <p:cNvCxnSpPr/>
          <p:nvPr/>
        </p:nvCxnSpPr>
        <p:spPr>
          <a:xfrm>
            <a:off x="2987824" y="5229200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F895E26C-642B-4963-BDC9-929016B163D2}"/>
              </a:ext>
            </a:extLst>
          </p:cNvPr>
          <p:cNvSpPr/>
          <p:nvPr/>
        </p:nvSpPr>
        <p:spPr>
          <a:xfrm>
            <a:off x="3491880" y="4653136"/>
            <a:ext cx="936104" cy="7200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0D1DD5F-E03A-4277-85EC-82A1010EBE50}"/>
              </a:ext>
            </a:extLst>
          </p:cNvPr>
          <p:cNvSpPr txBox="1"/>
          <p:nvPr/>
        </p:nvSpPr>
        <p:spPr>
          <a:xfrm>
            <a:off x="3419872" y="321297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カレント</a:t>
            </a:r>
            <a:endParaRPr kumimoji="1" lang="en-US" altLang="ja-JP" sz="1200"/>
          </a:p>
          <a:p>
            <a:r>
              <a:rPr kumimoji="1" lang="ja-JP" altLang="en-US" sz="1200"/>
              <a:t>ディレクトリ</a:t>
            </a:r>
          </a:p>
        </p:txBody>
      </p:sp>
      <p:sp>
        <p:nvSpPr>
          <p:cNvPr id="25" name="矢印: 左カーブ 24">
            <a:extLst>
              <a:ext uri="{FF2B5EF4-FFF2-40B4-BE49-F238E27FC236}">
                <a16:creationId xmlns:a16="http://schemas.microsoft.com/office/drawing/2014/main" id="{FD81E007-E98E-45B1-85D1-8406FB9AB0DA}"/>
              </a:ext>
            </a:extLst>
          </p:cNvPr>
          <p:cNvSpPr/>
          <p:nvPr/>
        </p:nvSpPr>
        <p:spPr>
          <a:xfrm rot="5400000">
            <a:off x="4247964" y="5193196"/>
            <a:ext cx="360040" cy="1008112"/>
          </a:xfrm>
          <a:prstGeom prst="curved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solidFill>
                <a:schemeClr val="tx1"/>
              </a:solidFill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A95460A5-BB69-4FBF-9789-959E6808F074}"/>
              </a:ext>
            </a:extLst>
          </p:cNvPr>
          <p:cNvCxnSpPr>
            <a:cxnSpLocks/>
          </p:cNvCxnSpPr>
          <p:nvPr/>
        </p:nvCxnSpPr>
        <p:spPr>
          <a:xfrm>
            <a:off x="3707904" y="3717032"/>
            <a:ext cx="0" cy="90648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1DE2399-0E15-4BFC-B510-F39B6459C928}"/>
              </a:ext>
            </a:extLst>
          </p:cNvPr>
          <p:cNvSpPr txBox="1"/>
          <p:nvPr/>
        </p:nvSpPr>
        <p:spPr>
          <a:xfrm>
            <a:off x="251520" y="2420888"/>
            <a:ext cx="428396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mv ../file1.txt .</a:t>
            </a:r>
          </a:p>
        </p:txBody>
      </p:sp>
    </p:spTree>
    <p:extLst>
      <p:ext uri="{BB962C8B-B14F-4D97-AF65-F5344CB8AC3E}">
        <p14:creationId xmlns:p14="http://schemas.microsoft.com/office/powerpoint/2010/main" val="3253703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4045D2D-7469-4CEA-9E90-D6226BAA7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mv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5ABA2B7-61BF-44B6-BAAC-69BCCD5F995D}"/>
              </a:ext>
            </a:extLst>
          </p:cNvPr>
          <p:cNvSpPr txBox="1"/>
          <p:nvPr/>
        </p:nvSpPr>
        <p:spPr>
          <a:xfrm>
            <a:off x="2051720" y="1052736"/>
            <a:ext cx="42418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mv </a:t>
            </a:r>
            <a:r>
              <a:rPr lang="ja-JP" altLang="en-US" sz="3200"/>
              <a:t>ファイル ファイル</a:t>
            </a:r>
            <a:endParaRPr lang="en-US" sz="3200"/>
          </a:p>
        </p:txBody>
      </p:sp>
      <p:pic>
        <p:nvPicPr>
          <p:cNvPr id="4" name="Picture 2" descr="フォルダのイラスト">
            <a:extLst>
              <a:ext uri="{FF2B5EF4-FFF2-40B4-BE49-F238E27FC236}">
                <a16:creationId xmlns:a16="http://schemas.microsoft.com/office/drawing/2014/main" id="{8FBF099F-4AFB-41EB-9E66-158598BC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887" y="3501008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51E0198-B561-4EFD-92D3-64E5D34F7527}"/>
              </a:ext>
            </a:extLst>
          </p:cNvPr>
          <p:cNvSpPr txBox="1"/>
          <p:nvPr/>
        </p:nvSpPr>
        <p:spPr>
          <a:xfrm>
            <a:off x="2339752" y="364502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temp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926B1572-821C-4236-8A06-E5D4917B4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887" y="4437112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F5748F-A5F3-4980-8ABA-346C74D0505E}"/>
              </a:ext>
            </a:extLst>
          </p:cNvPr>
          <p:cNvSpPr txBox="1"/>
          <p:nvPr/>
        </p:nvSpPr>
        <p:spPr>
          <a:xfrm>
            <a:off x="2339752" y="458112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dir1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B1720207-8CCD-4D8B-A678-113C8E5DA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437112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B69B129-9056-467F-9A85-A63B383DD5BA}"/>
              </a:ext>
            </a:extLst>
          </p:cNvPr>
          <p:cNvSpPr txBox="1"/>
          <p:nvPr/>
        </p:nvSpPr>
        <p:spPr>
          <a:xfrm>
            <a:off x="3304721" y="458112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dir2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2" descr="ファイルアイコン（ブランク）">
            <a:extLst>
              <a:ext uri="{FF2B5EF4-FFF2-40B4-BE49-F238E27FC236}">
                <a16:creationId xmlns:a16="http://schemas.microsoft.com/office/drawing/2014/main" id="{AB8E3F9A-6E25-4777-B31A-5C61F999F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437112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0324582-7FC4-466D-97C2-EBCCB0508E58}"/>
              </a:ext>
            </a:extLst>
          </p:cNvPr>
          <p:cNvSpPr txBox="1"/>
          <p:nvPr/>
        </p:nvSpPr>
        <p:spPr>
          <a:xfrm>
            <a:off x="4067944" y="5013176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file1.txt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2" name="Picture 2" descr="ファイルアイコン（ブランク）">
            <a:extLst>
              <a:ext uri="{FF2B5EF4-FFF2-40B4-BE49-F238E27FC236}">
                <a16:creationId xmlns:a16="http://schemas.microsoft.com/office/drawing/2014/main" id="{C2201630-E698-4405-A4C7-900DB4EA0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437112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0CE12E6-EA4E-40DF-96E1-55CBD3BCC3E7}"/>
              </a:ext>
            </a:extLst>
          </p:cNvPr>
          <p:cNvSpPr txBox="1"/>
          <p:nvPr/>
        </p:nvSpPr>
        <p:spPr>
          <a:xfrm>
            <a:off x="5076056" y="5013176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file2.txt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4" name="Picture 2" descr="ファイルアイコン（ブランク）">
            <a:extLst>
              <a:ext uri="{FF2B5EF4-FFF2-40B4-BE49-F238E27FC236}">
                <a16:creationId xmlns:a16="http://schemas.microsoft.com/office/drawing/2014/main" id="{7A49FDD5-2D74-4EC3-9B9B-1C5A90220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5445224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64E4F3B-8D2F-4572-A97F-9C81D373ACE6}"/>
              </a:ext>
            </a:extLst>
          </p:cNvPr>
          <p:cNvSpPr txBox="1"/>
          <p:nvPr/>
        </p:nvSpPr>
        <p:spPr>
          <a:xfrm>
            <a:off x="2230785" y="6070128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113F691F-4377-4EF6-8D3A-EC26CBE6B86A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3027378" y="3806560"/>
            <a:ext cx="296133" cy="96496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ED0DB23F-AFAC-457F-9C9E-C3DDCF86E5E4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rot="16200000" flipH="1">
            <a:off x="3479913" y="3354025"/>
            <a:ext cx="296133" cy="187003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C26E422C-5934-40E7-BB7D-418192C5AC83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16200000" flipH="1">
            <a:off x="3983969" y="2849969"/>
            <a:ext cx="296133" cy="287815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B3C29D9-6379-4322-B23A-7D63DF4903D4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2692960" y="4140979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CF2C7B5-3879-4D85-B431-E83D295AA919}"/>
              </a:ext>
            </a:extLst>
          </p:cNvPr>
          <p:cNvCxnSpPr/>
          <p:nvPr/>
        </p:nvCxnSpPr>
        <p:spPr>
          <a:xfrm>
            <a:off x="2699792" y="5013176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BC728C41-C77C-45E6-A7BE-C5B694D84E5D}"/>
              </a:ext>
            </a:extLst>
          </p:cNvPr>
          <p:cNvSpPr/>
          <p:nvPr/>
        </p:nvSpPr>
        <p:spPr>
          <a:xfrm>
            <a:off x="2195736" y="3429000"/>
            <a:ext cx="936104" cy="7200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8B8EABF-390A-44D7-87D9-FC783794C0AE}"/>
              </a:ext>
            </a:extLst>
          </p:cNvPr>
          <p:cNvSpPr txBox="1"/>
          <p:nvPr/>
        </p:nvSpPr>
        <p:spPr>
          <a:xfrm>
            <a:off x="1835696" y="3068960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カレントディレクトリ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86AF719-5E74-4859-93C8-8FA1A6D191F8}"/>
              </a:ext>
            </a:extLst>
          </p:cNvPr>
          <p:cNvSpPr txBox="1"/>
          <p:nvPr/>
        </p:nvSpPr>
        <p:spPr>
          <a:xfrm>
            <a:off x="251520" y="2204864"/>
            <a:ext cx="525658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mv file2.txt file3.txt</a:t>
            </a:r>
          </a:p>
        </p:txBody>
      </p:sp>
      <p:pic>
        <p:nvPicPr>
          <p:cNvPr id="27" name="Picture 2" descr="ファイルアイコン（ブランク）">
            <a:extLst>
              <a:ext uri="{FF2B5EF4-FFF2-40B4-BE49-F238E27FC236}">
                <a16:creationId xmlns:a16="http://schemas.microsoft.com/office/drawing/2014/main" id="{DD233E7A-D993-4029-9739-10D8CD7AD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4437112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541BEDC-7B78-4DEF-8DCB-BA9CA6254A6E}"/>
              </a:ext>
            </a:extLst>
          </p:cNvPr>
          <p:cNvSpPr txBox="1"/>
          <p:nvPr/>
        </p:nvSpPr>
        <p:spPr>
          <a:xfrm>
            <a:off x="6444208" y="5013176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AE52776F-6E6C-41E1-838F-DF8570F35733}"/>
              </a:ext>
            </a:extLst>
          </p:cNvPr>
          <p:cNvSpPr/>
          <p:nvPr/>
        </p:nvSpPr>
        <p:spPr>
          <a:xfrm>
            <a:off x="6012160" y="4581128"/>
            <a:ext cx="504056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913B529-665F-43D9-818A-CAFB4B98E27C}"/>
              </a:ext>
            </a:extLst>
          </p:cNvPr>
          <p:cNvSpPr txBox="1"/>
          <p:nvPr/>
        </p:nvSpPr>
        <p:spPr>
          <a:xfrm>
            <a:off x="5796136" y="422108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リネーム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703985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D7AD000-8F25-4E7A-A7C0-BD90BA41E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cp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1DD6E76-C162-4B68-B75C-0D4C958A2721}"/>
              </a:ext>
            </a:extLst>
          </p:cNvPr>
          <p:cNvSpPr txBox="1"/>
          <p:nvPr/>
        </p:nvSpPr>
        <p:spPr>
          <a:xfrm>
            <a:off x="395536" y="908720"/>
            <a:ext cx="82044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ファイルをコピーする</a:t>
            </a:r>
            <a:endParaRPr lang="en-US" altLang="ja-JP" sz="2800"/>
          </a:p>
          <a:p>
            <a:r>
              <a:rPr lang="ja-JP" altLang="en-US" sz="2800"/>
              <a:t>移動元のファイルが消えない以外はほぼ</a:t>
            </a:r>
            <a:r>
              <a:rPr lang="en-US" altLang="ja-JP" sz="2800"/>
              <a:t>mv</a:t>
            </a:r>
            <a:r>
              <a:rPr lang="ja-JP" altLang="en-US" sz="2800"/>
              <a:t>と同じ</a:t>
            </a:r>
            <a:endParaRPr lang="en-US" sz="2800"/>
          </a:p>
        </p:txBody>
      </p:sp>
      <p:pic>
        <p:nvPicPr>
          <p:cNvPr id="4" name="Picture 2" descr="フォルダのイラスト">
            <a:extLst>
              <a:ext uri="{FF2B5EF4-FFF2-40B4-BE49-F238E27FC236}">
                <a16:creationId xmlns:a16="http://schemas.microsoft.com/office/drawing/2014/main" id="{7CB1D655-73F7-4D82-AEDB-25733BE3D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887" y="3068960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7A3D295-5596-49A1-8AC5-038BFF035F89}"/>
              </a:ext>
            </a:extLst>
          </p:cNvPr>
          <p:cNvSpPr txBox="1"/>
          <p:nvPr/>
        </p:nvSpPr>
        <p:spPr>
          <a:xfrm>
            <a:off x="2339752" y="321297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temp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284CD96F-1270-4022-A1D8-23F3FC2B0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887" y="4005064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22F8A08-0E70-4D39-8ABF-88696745FFC1}"/>
              </a:ext>
            </a:extLst>
          </p:cNvPr>
          <p:cNvSpPr txBox="1"/>
          <p:nvPr/>
        </p:nvSpPr>
        <p:spPr>
          <a:xfrm>
            <a:off x="2339752" y="414908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dir1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366CDE48-1F71-4EF3-BA0C-E60CC9DF5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005064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1270E42-C7B4-43BA-B749-DB6F70AC7FF7}"/>
              </a:ext>
            </a:extLst>
          </p:cNvPr>
          <p:cNvSpPr txBox="1"/>
          <p:nvPr/>
        </p:nvSpPr>
        <p:spPr>
          <a:xfrm>
            <a:off x="3304721" y="414908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dir2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2" descr="ファイルアイコン（ブランク）">
            <a:extLst>
              <a:ext uri="{FF2B5EF4-FFF2-40B4-BE49-F238E27FC236}">
                <a16:creationId xmlns:a16="http://schemas.microsoft.com/office/drawing/2014/main" id="{4796F7EE-E31F-4DF6-B741-511D42A7D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005064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9A2A77A-50D9-45BA-8348-3401603FE534}"/>
              </a:ext>
            </a:extLst>
          </p:cNvPr>
          <p:cNvSpPr txBox="1"/>
          <p:nvPr/>
        </p:nvSpPr>
        <p:spPr>
          <a:xfrm>
            <a:off x="4067944" y="4581128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file1.txt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2" name="Picture 2" descr="ファイルアイコン（ブランク）">
            <a:extLst>
              <a:ext uri="{FF2B5EF4-FFF2-40B4-BE49-F238E27FC236}">
                <a16:creationId xmlns:a16="http://schemas.microsoft.com/office/drawing/2014/main" id="{D3CC8A89-F7FF-42E2-A0D8-DEB509548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005064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B1C753F-302C-45B7-8EC9-091FBFDFFC19}"/>
              </a:ext>
            </a:extLst>
          </p:cNvPr>
          <p:cNvSpPr txBox="1"/>
          <p:nvPr/>
        </p:nvSpPr>
        <p:spPr>
          <a:xfrm>
            <a:off x="5076056" y="4581128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file2.txt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4" name="Picture 2" descr="ファイルアイコン（ブランク）">
            <a:extLst>
              <a:ext uri="{FF2B5EF4-FFF2-40B4-BE49-F238E27FC236}">
                <a16:creationId xmlns:a16="http://schemas.microsoft.com/office/drawing/2014/main" id="{5C4BD243-4B76-4FA1-A79F-403EC32D5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5013176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D06350A-BD14-4BA6-A005-39AAB52917FC}"/>
              </a:ext>
            </a:extLst>
          </p:cNvPr>
          <p:cNvSpPr txBox="1"/>
          <p:nvPr/>
        </p:nvSpPr>
        <p:spPr>
          <a:xfrm>
            <a:off x="2230785" y="5638080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263CCE3F-8EF0-4E0B-BDB6-1286664A8B6E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3027378" y="3374512"/>
            <a:ext cx="296133" cy="96496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F2F9AB9F-5747-4378-9D8A-8D6CB402C7B8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rot="16200000" flipH="1">
            <a:off x="3479913" y="2921977"/>
            <a:ext cx="296133" cy="187003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AF18C547-EEDB-4C1B-8CBF-C5AF3A671721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16200000" flipH="1">
            <a:off x="3983969" y="2417921"/>
            <a:ext cx="296133" cy="287815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D63987A2-F5EA-473C-A2E5-EA8F2F32A835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2692960" y="3708931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5FC8BD1-E3A3-49B1-8B72-6206559280D6}"/>
              </a:ext>
            </a:extLst>
          </p:cNvPr>
          <p:cNvCxnSpPr/>
          <p:nvPr/>
        </p:nvCxnSpPr>
        <p:spPr>
          <a:xfrm>
            <a:off x="2699792" y="4581128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28279FA7-C00A-45FF-8355-571A74A29B6D}"/>
              </a:ext>
            </a:extLst>
          </p:cNvPr>
          <p:cNvSpPr/>
          <p:nvPr/>
        </p:nvSpPr>
        <p:spPr>
          <a:xfrm>
            <a:off x="2195736" y="2996952"/>
            <a:ext cx="936104" cy="7200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14C1CD0-1282-4667-89ED-DBDEC57C2ADF}"/>
              </a:ext>
            </a:extLst>
          </p:cNvPr>
          <p:cNvSpPr txBox="1"/>
          <p:nvPr/>
        </p:nvSpPr>
        <p:spPr>
          <a:xfrm>
            <a:off x="1043608" y="314096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カレント</a:t>
            </a:r>
            <a:endParaRPr kumimoji="1" lang="en-US" altLang="ja-JP" sz="1200"/>
          </a:p>
          <a:p>
            <a:r>
              <a:rPr kumimoji="1" lang="ja-JP" altLang="en-US" sz="1200"/>
              <a:t>ディレクトリ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B5E06B5-22AF-4C3B-A943-B8C569ACCD7D}"/>
              </a:ext>
            </a:extLst>
          </p:cNvPr>
          <p:cNvSpPr txBox="1"/>
          <p:nvPr/>
        </p:nvSpPr>
        <p:spPr>
          <a:xfrm>
            <a:off x="251520" y="1988840"/>
            <a:ext cx="525658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cp –r dir1 dir2</a:t>
            </a:r>
          </a:p>
        </p:txBody>
      </p:sp>
      <p:pic>
        <p:nvPicPr>
          <p:cNvPr id="35" name="Picture 2" descr="フォルダのイラスト">
            <a:extLst>
              <a:ext uri="{FF2B5EF4-FFF2-40B4-BE49-F238E27FC236}">
                <a16:creationId xmlns:a16="http://schemas.microsoft.com/office/drawing/2014/main" id="{0E531FB6-EBB4-489C-9C32-916A9D37E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941168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A7C9AE1-02D7-4F14-B0C7-5E81CDADEB0E}"/>
              </a:ext>
            </a:extLst>
          </p:cNvPr>
          <p:cNvSpPr txBox="1"/>
          <p:nvPr/>
        </p:nvSpPr>
        <p:spPr>
          <a:xfrm>
            <a:off x="3304721" y="508518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dir1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37" name="Picture 2" descr="ファイルアイコン（ブランク）">
            <a:extLst>
              <a:ext uri="{FF2B5EF4-FFF2-40B4-BE49-F238E27FC236}">
                <a16:creationId xmlns:a16="http://schemas.microsoft.com/office/drawing/2014/main" id="{2D44E2CB-E997-4EA3-A4DA-745E279B9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729" y="5805264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8D67D0E4-7690-4E87-BBFB-8B6B8F85CDDA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3655760" y="5581139"/>
            <a:ext cx="2169" cy="2241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C3CD0F5E-EC57-4DC9-85A7-2267FE0EC8AA}"/>
              </a:ext>
            </a:extLst>
          </p:cNvPr>
          <p:cNvCxnSpPr>
            <a:cxnSpLocks/>
            <a:stCxn id="8" idx="2"/>
            <a:endCxn id="35" idx="0"/>
          </p:cNvCxnSpPr>
          <p:nvPr/>
        </p:nvCxnSpPr>
        <p:spPr>
          <a:xfrm>
            <a:off x="3657929" y="4645035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2425BC05-2650-4EA0-AFC7-82E50BE8AAE9}"/>
              </a:ext>
            </a:extLst>
          </p:cNvPr>
          <p:cNvSpPr txBox="1"/>
          <p:nvPr/>
        </p:nvSpPr>
        <p:spPr>
          <a:xfrm>
            <a:off x="3131840" y="6406207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588F9256-2CDB-469F-8569-2D339735BE01}"/>
              </a:ext>
            </a:extLst>
          </p:cNvPr>
          <p:cNvSpPr/>
          <p:nvPr/>
        </p:nvSpPr>
        <p:spPr>
          <a:xfrm>
            <a:off x="2195736" y="4005064"/>
            <a:ext cx="936104" cy="1944216"/>
          </a:xfrm>
          <a:prstGeom prst="roundRect">
            <a:avLst/>
          </a:prstGeom>
          <a:noFill/>
          <a:ln w="28575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FA09DD12-1F6C-4B21-BB2F-808937D77AE5}"/>
              </a:ext>
            </a:extLst>
          </p:cNvPr>
          <p:cNvSpPr/>
          <p:nvPr/>
        </p:nvSpPr>
        <p:spPr>
          <a:xfrm>
            <a:off x="3203848" y="4769768"/>
            <a:ext cx="936104" cy="1944216"/>
          </a:xfrm>
          <a:prstGeom prst="roundRect">
            <a:avLst/>
          </a:prstGeom>
          <a:noFill/>
          <a:ln w="28575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B8730074-F957-4EC3-A494-A6B7A40A2C62}"/>
              </a:ext>
            </a:extLst>
          </p:cNvPr>
          <p:cNvSpPr/>
          <p:nvPr/>
        </p:nvSpPr>
        <p:spPr>
          <a:xfrm rot="2952038">
            <a:off x="2834478" y="4569827"/>
            <a:ext cx="53955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AC1DF97-CD67-41E5-9E70-5B28F16E89A9}"/>
              </a:ext>
            </a:extLst>
          </p:cNvPr>
          <p:cNvSpPr txBox="1"/>
          <p:nvPr/>
        </p:nvSpPr>
        <p:spPr>
          <a:xfrm>
            <a:off x="3995936" y="2636912"/>
            <a:ext cx="4955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ディレクトリのコピーには</a:t>
            </a:r>
            <a:r>
              <a:rPr lang="en-US" altLang="ja-JP"/>
              <a:t>-r</a:t>
            </a:r>
            <a:r>
              <a:rPr lang="ja-JP" altLang="en-US"/>
              <a:t>オプションが必要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70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13D186F-033B-4E9D-970A-CA6E39B22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rm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95298F-E918-4843-92C5-99D9F2D02A51}"/>
              </a:ext>
            </a:extLst>
          </p:cNvPr>
          <p:cNvSpPr txBox="1"/>
          <p:nvPr/>
        </p:nvSpPr>
        <p:spPr>
          <a:xfrm>
            <a:off x="395536" y="1052736"/>
            <a:ext cx="72474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ファイルやディレクトリを削除する</a:t>
            </a:r>
            <a:endParaRPr lang="en-US" altLang="ja-JP" sz="2800"/>
          </a:p>
          <a:p>
            <a:r>
              <a:rPr lang="ja-JP" altLang="en-US" sz="2800"/>
              <a:t>ディレクトリの削除には</a:t>
            </a:r>
            <a:r>
              <a:rPr lang="en-US" altLang="ja-JP" sz="2800"/>
              <a:t>-r</a:t>
            </a:r>
            <a:r>
              <a:rPr lang="ja-JP" altLang="en-US" sz="2800"/>
              <a:t>オプションが必要</a:t>
            </a:r>
            <a:endParaRPr lang="en-US" sz="2800"/>
          </a:p>
        </p:txBody>
      </p:sp>
      <p:pic>
        <p:nvPicPr>
          <p:cNvPr id="4" name="Picture 2" descr="フォルダのイラスト">
            <a:extLst>
              <a:ext uri="{FF2B5EF4-FFF2-40B4-BE49-F238E27FC236}">
                <a16:creationId xmlns:a16="http://schemas.microsoft.com/office/drawing/2014/main" id="{D772A356-CF4D-4DB2-A5CC-E9BBA8EED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143" y="3068960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0DB40DE-A2AD-4662-9C20-2DA99A70F5AB}"/>
              </a:ext>
            </a:extLst>
          </p:cNvPr>
          <p:cNvSpPr txBox="1"/>
          <p:nvPr/>
        </p:nvSpPr>
        <p:spPr>
          <a:xfrm>
            <a:off x="4644008" y="321297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temp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71010DC7-0E3E-4124-BD77-81DA683C9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143" y="4005064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9B490A5-1601-4A50-80A7-B5246FF31E15}"/>
              </a:ext>
            </a:extLst>
          </p:cNvPr>
          <p:cNvSpPr txBox="1"/>
          <p:nvPr/>
        </p:nvSpPr>
        <p:spPr>
          <a:xfrm>
            <a:off x="4644008" y="414908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dir1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8E5FE1A0-A0A7-4694-9C47-C2E9F5AF2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005064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56065F8-6320-48BC-864D-6BF5A1618117}"/>
              </a:ext>
            </a:extLst>
          </p:cNvPr>
          <p:cNvSpPr txBox="1"/>
          <p:nvPr/>
        </p:nvSpPr>
        <p:spPr>
          <a:xfrm>
            <a:off x="5608977" y="414908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dir2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2" descr="ファイルアイコン（ブランク）">
            <a:extLst>
              <a:ext uri="{FF2B5EF4-FFF2-40B4-BE49-F238E27FC236}">
                <a16:creationId xmlns:a16="http://schemas.microsoft.com/office/drawing/2014/main" id="{4D8E06F9-20F1-433E-BF93-316D31E3F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4005064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9C2BDA2-6597-4797-8E08-0FB7475D124F}"/>
              </a:ext>
            </a:extLst>
          </p:cNvPr>
          <p:cNvSpPr txBox="1"/>
          <p:nvPr/>
        </p:nvSpPr>
        <p:spPr>
          <a:xfrm>
            <a:off x="6372200" y="4581128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file1.txt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2" name="Picture 2" descr="ファイルアイコン（ブランク）">
            <a:extLst>
              <a:ext uri="{FF2B5EF4-FFF2-40B4-BE49-F238E27FC236}">
                <a16:creationId xmlns:a16="http://schemas.microsoft.com/office/drawing/2014/main" id="{A35C0925-8075-48BE-B8E3-9B7A02007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005064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201BBB9-8657-45AB-A21C-EA4F49E45818}"/>
              </a:ext>
            </a:extLst>
          </p:cNvPr>
          <p:cNvSpPr txBox="1"/>
          <p:nvPr/>
        </p:nvSpPr>
        <p:spPr>
          <a:xfrm>
            <a:off x="7380312" y="4581128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file2.txt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4" name="Picture 2" descr="ファイルアイコン（ブランク）">
            <a:extLst>
              <a:ext uri="{FF2B5EF4-FFF2-40B4-BE49-F238E27FC236}">
                <a16:creationId xmlns:a16="http://schemas.microsoft.com/office/drawing/2014/main" id="{7944010B-3E05-4F46-8216-66EF1ED30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5013176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D916EAA-0917-47CC-A582-FDA8B72BBDF1}"/>
              </a:ext>
            </a:extLst>
          </p:cNvPr>
          <p:cNvSpPr txBox="1"/>
          <p:nvPr/>
        </p:nvSpPr>
        <p:spPr>
          <a:xfrm>
            <a:off x="4535041" y="5638080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FD8E1BC1-FB05-4586-8EDB-0A224273F3BF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5331634" y="3374512"/>
            <a:ext cx="296133" cy="96496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B5219BA5-32A2-45A0-B16C-FB667C45D3A3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rot="16200000" flipH="1">
            <a:off x="5784169" y="2921977"/>
            <a:ext cx="296133" cy="187003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3B06CD51-10E6-4524-BDC9-983071B1D212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16200000" flipH="1">
            <a:off x="6288225" y="2417921"/>
            <a:ext cx="296133" cy="287815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1BD95D2-EEFB-42D8-B126-B92AC8D21D48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997216" y="3708931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8111B11-02C4-49C4-ADE9-AD09E73AFFA8}"/>
              </a:ext>
            </a:extLst>
          </p:cNvPr>
          <p:cNvCxnSpPr/>
          <p:nvPr/>
        </p:nvCxnSpPr>
        <p:spPr>
          <a:xfrm>
            <a:off x="5004048" y="4581128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F26E21A4-B9C7-4731-9316-5629C399BAEC}"/>
              </a:ext>
            </a:extLst>
          </p:cNvPr>
          <p:cNvSpPr/>
          <p:nvPr/>
        </p:nvSpPr>
        <p:spPr>
          <a:xfrm>
            <a:off x="4499992" y="2996952"/>
            <a:ext cx="936104" cy="7200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30B56E0-01D7-4E4C-8C9B-A935CC8D2C18}"/>
              </a:ext>
            </a:extLst>
          </p:cNvPr>
          <p:cNvSpPr txBox="1"/>
          <p:nvPr/>
        </p:nvSpPr>
        <p:spPr>
          <a:xfrm>
            <a:off x="4139952" y="2636912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カレントディレクトリ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FAC1EA14-CB4A-47B6-A5B6-08B1B1B24ABE}"/>
              </a:ext>
            </a:extLst>
          </p:cNvPr>
          <p:cNvSpPr/>
          <p:nvPr/>
        </p:nvSpPr>
        <p:spPr>
          <a:xfrm>
            <a:off x="4572000" y="4005064"/>
            <a:ext cx="936104" cy="1944216"/>
          </a:xfrm>
          <a:prstGeom prst="roundRect">
            <a:avLst/>
          </a:prstGeom>
          <a:noFill/>
          <a:ln w="28575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ゴミ箱のイラスト（満杯・丸）">
            <a:extLst>
              <a:ext uri="{FF2B5EF4-FFF2-40B4-BE49-F238E27FC236}">
                <a16:creationId xmlns:a16="http://schemas.microsoft.com/office/drawing/2014/main" id="{9DD27F30-7C74-43C6-8E01-97615F6E9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797152"/>
            <a:ext cx="1148774" cy="1400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矢印: 右 26">
            <a:extLst>
              <a:ext uri="{FF2B5EF4-FFF2-40B4-BE49-F238E27FC236}">
                <a16:creationId xmlns:a16="http://schemas.microsoft.com/office/drawing/2014/main" id="{1E62D0D8-D1D5-42FE-A0D4-CAEF378FBEAB}"/>
              </a:ext>
            </a:extLst>
          </p:cNvPr>
          <p:cNvSpPr/>
          <p:nvPr/>
        </p:nvSpPr>
        <p:spPr>
          <a:xfrm rot="8100000">
            <a:off x="3918790" y="4639453"/>
            <a:ext cx="53955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3AC9E05-0B7A-4BC0-A6D2-F1A3575FCDBC}"/>
              </a:ext>
            </a:extLst>
          </p:cNvPr>
          <p:cNvSpPr txBox="1"/>
          <p:nvPr/>
        </p:nvSpPr>
        <p:spPr>
          <a:xfrm>
            <a:off x="251520" y="2132856"/>
            <a:ext cx="525658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rm –r dir1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3F9AECB-B134-4841-9194-B7F89D44A70B}"/>
              </a:ext>
            </a:extLst>
          </p:cNvPr>
          <p:cNvSpPr txBox="1"/>
          <p:nvPr/>
        </p:nvSpPr>
        <p:spPr>
          <a:xfrm>
            <a:off x="251520" y="6309320"/>
            <a:ext cx="816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※ </a:t>
            </a:r>
            <a:r>
              <a:rPr lang="ja-JP" altLang="en-US"/>
              <a:t>問答無用で中身ごと削除するので注意。</a:t>
            </a:r>
            <a:r>
              <a:rPr lang="en-US" altLang="ja-JP"/>
              <a:t>-i</a:t>
            </a:r>
            <a:r>
              <a:rPr lang="ja-JP" altLang="en-US"/>
              <a:t>オプションを付けると確認する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04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B915941-7948-4535-B976-01BED15BC7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cat</a:t>
            </a:r>
            <a:r>
              <a:rPr lang="ja-JP" altLang="en-US"/>
              <a:t>と</a:t>
            </a:r>
            <a:r>
              <a:rPr lang="en-US"/>
              <a:t>echo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95C71A0-62BF-4D2C-AA35-7B5A1106CCE8}"/>
              </a:ext>
            </a:extLst>
          </p:cNvPr>
          <p:cNvSpPr txBox="1"/>
          <p:nvPr/>
        </p:nvSpPr>
        <p:spPr>
          <a:xfrm>
            <a:off x="467544" y="980728"/>
            <a:ext cx="39164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/>
              <a:t>cat </a:t>
            </a:r>
            <a:r>
              <a:rPr lang="ja-JP" altLang="en-US" sz="4400"/>
              <a:t>ファイル名</a:t>
            </a:r>
            <a:endParaRPr lang="en-US" sz="44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F9FBE83-B8A6-4718-A119-B14B40F868A2}"/>
              </a:ext>
            </a:extLst>
          </p:cNvPr>
          <p:cNvSpPr txBox="1"/>
          <p:nvPr/>
        </p:nvSpPr>
        <p:spPr>
          <a:xfrm>
            <a:off x="1043608" y="1844824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ファイルの中身を表示する</a:t>
            </a:r>
            <a:endParaRPr lang="en-US" sz="28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23EFBF2-B050-400F-AD1A-C4E0481AF522}"/>
              </a:ext>
            </a:extLst>
          </p:cNvPr>
          <p:cNvSpPr txBox="1"/>
          <p:nvPr/>
        </p:nvSpPr>
        <p:spPr>
          <a:xfrm>
            <a:off x="467544" y="2420888"/>
            <a:ext cx="43877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/>
              <a:t>echo </a:t>
            </a:r>
            <a:r>
              <a:rPr lang="ja-JP" altLang="en-US" sz="4400"/>
              <a:t>メッセージ</a:t>
            </a:r>
            <a:endParaRPr lang="en-US" sz="44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9CE5A0F-885A-47C9-8412-CFD92D394FA2}"/>
              </a:ext>
            </a:extLst>
          </p:cNvPr>
          <p:cNvSpPr txBox="1"/>
          <p:nvPr/>
        </p:nvSpPr>
        <p:spPr>
          <a:xfrm>
            <a:off x="827584" y="350100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メッセージを表示する</a:t>
            </a:r>
            <a:endParaRPr lang="en-US" sz="28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700FFB-E28C-49E5-9BAF-399FB8F2EEE1}"/>
              </a:ext>
            </a:extLst>
          </p:cNvPr>
          <p:cNvSpPr txBox="1"/>
          <p:nvPr/>
        </p:nvSpPr>
        <p:spPr>
          <a:xfrm>
            <a:off x="971600" y="5445224"/>
            <a:ext cx="5537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echo </a:t>
            </a:r>
            <a:r>
              <a:rPr lang="ja-JP" altLang="en-US" sz="2400"/>
              <a:t>メッセージ</a:t>
            </a:r>
            <a:r>
              <a:rPr lang="ja-JP" altLang="en-US" sz="3600"/>
              <a:t> </a:t>
            </a:r>
            <a:r>
              <a:rPr lang="en-US" altLang="ja-JP" sz="3600"/>
              <a:t>| </a:t>
            </a:r>
            <a:r>
              <a:rPr lang="ja-JP" altLang="en-US" sz="3600"/>
              <a:t>プログラム</a:t>
            </a:r>
            <a:endParaRPr lang="en-US" sz="36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6B3E0C7-AD8E-41D6-A046-543A698C7760}"/>
              </a:ext>
            </a:extLst>
          </p:cNvPr>
          <p:cNvSpPr txBox="1"/>
          <p:nvPr/>
        </p:nvSpPr>
        <p:spPr>
          <a:xfrm>
            <a:off x="1475656" y="4797152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メッセージを中身とするファイルを作成</a:t>
            </a:r>
            <a:endParaRPr lang="en-US" sz="28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0DE304-76C7-4316-957D-EB83A526829E}"/>
              </a:ext>
            </a:extLst>
          </p:cNvPr>
          <p:cNvSpPr txBox="1"/>
          <p:nvPr/>
        </p:nvSpPr>
        <p:spPr>
          <a:xfrm>
            <a:off x="971600" y="4149080"/>
            <a:ext cx="5686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echo </a:t>
            </a:r>
            <a:r>
              <a:rPr lang="ja-JP" altLang="en-US" sz="2400"/>
              <a:t>メッセージ</a:t>
            </a:r>
            <a:r>
              <a:rPr lang="ja-JP" altLang="en-US" sz="3600"/>
              <a:t> </a:t>
            </a:r>
            <a:r>
              <a:rPr lang="en-US" altLang="ja-JP" sz="3600"/>
              <a:t>&gt; </a:t>
            </a:r>
            <a:r>
              <a:rPr lang="ja-JP" altLang="en-US" sz="3600"/>
              <a:t>ファイル名</a:t>
            </a:r>
            <a:endParaRPr lang="en-US" sz="360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EA9C222-6673-4ECF-B9FE-5DEDC72461E6}"/>
              </a:ext>
            </a:extLst>
          </p:cNvPr>
          <p:cNvSpPr txBox="1"/>
          <p:nvPr/>
        </p:nvSpPr>
        <p:spPr>
          <a:xfrm>
            <a:off x="1547664" y="6093296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メッセージをプログラムの入力として実行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304321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189563E-9994-41E9-A955-A08EE61067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Vim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9BD616F-7FB0-4383-B8AB-46BF3815E504}"/>
              </a:ext>
            </a:extLst>
          </p:cNvPr>
          <p:cNvSpPr txBox="1"/>
          <p:nvPr/>
        </p:nvSpPr>
        <p:spPr>
          <a:xfrm>
            <a:off x="323528" y="989335"/>
            <a:ext cx="842493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/>
              <a:t>Vim (</a:t>
            </a:r>
            <a:r>
              <a:rPr lang="ja-JP" altLang="en-US" sz="3200"/>
              <a:t>ヴィム</a:t>
            </a:r>
            <a:r>
              <a:rPr lang="en-US" altLang="ja-JP" sz="3200"/>
              <a:t>)</a:t>
            </a:r>
          </a:p>
          <a:p>
            <a:r>
              <a:rPr lang="ja-JP" altLang="en-US" sz="3200"/>
              <a:t>多くの環境で</a:t>
            </a:r>
            <a:r>
              <a:rPr lang="en-US" altLang="ja-JP" sz="3200"/>
              <a:t>Git</a:t>
            </a:r>
            <a:r>
              <a:rPr lang="ja-JP" altLang="en-US" sz="3200"/>
              <a:t>のデフォルトエディタ</a:t>
            </a:r>
            <a:endParaRPr lang="en-US" altLang="ja-JP" sz="3200"/>
          </a:p>
          <a:p>
            <a:r>
              <a:rPr lang="ja-JP" altLang="en-US" sz="3200"/>
              <a:t>モードという概念がある</a:t>
            </a:r>
            <a:endParaRPr lang="en-US" altLang="ja-JP" sz="3200"/>
          </a:p>
          <a:p>
            <a:r>
              <a:rPr lang="ja-JP" altLang="en-US" sz="3200"/>
              <a:t>とっつきにくいが慣れると使いやすい</a:t>
            </a:r>
            <a:endParaRPr lang="en-US" altLang="ja-JP" sz="3200"/>
          </a:p>
        </p:txBody>
      </p:sp>
      <p:pic>
        <p:nvPicPr>
          <p:cNvPr id="2050" name="Picture 2" descr="vim">
            <a:extLst>
              <a:ext uri="{FF2B5EF4-FFF2-40B4-BE49-F238E27FC236}">
                <a16:creationId xmlns:a16="http://schemas.microsoft.com/office/drawing/2014/main" id="{1B3329A6-1495-438F-ACAC-ABF87687A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356992"/>
            <a:ext cx="5940152" cy="3284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512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E0078CE-BBA4-4446-8FE4-CFC1D9159F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Vim</a:t>
            </a:r>
            <a:r>
              <a:rPr lang="ja-JP" altLang="en-US"/>
              <a:t>のモード</a:t>
            </a:r>
            <a:endParaRPr 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9B25F49C-A7D7-41F6-97B2-0B6AE54C2EEF}"/>
              </a:ext>
            </a:extLst>
          </p:cNvPr>
          <p:cNvSpPr/>
          <p:nvPr/>
        </p:nvSpPr>
        <p:spPr>
          <a:xfrm>
            <a:off x="3533931" y="3933056"/>
            <a:ext cx="1938677" cy="7200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ノーマル</a:t>
            </a:r>
            <a:endParaRPr kumimoji="1" lang="en-US" altLang="ja-JP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モード</a:t>
            </a:r>
            <a:endParaRPr kumimoji="1" lang="en-US">
              <a:solidFill>
                <a:sysClr val="windowText" lastClr="000000"/>
              </a:solidFill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EDB53D2-E866-4549-BA0B-5CC57F12F259}"/>
              </a:ext>
            </a:extLst>
          </p:cNvPr>
          <p:cNvSpPr/>
          <p:nvPr/>
        </p:nvSpPr>
        <p:spPr>
          <a:xfrm>
            <a:off x="3533931" y="1700808"/>
            <a:ext cx="1938677" cy="7200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ysClr val="windowText" lastClr="000000"/>
                </a:solidFill>
              </a:rPr>
              <a:t>インサート</a:t>
            </a:r>
            <a:endParaRPr lang="en-US" altLang="ja-JP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モード</a:t>
            </a:r>
            <a:endParaRPr kumimoji="1" lang="en-US">
              <a:solidFill>
                <a:sysClr val="windowText" lastClr="000000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7CE0E17-3970-4C14-B206-6A9BA5074723}"/>
              </a:ext>
            </a:extLst>
          </p:cNvPr>
          <p:cNvSpPr/>
          <p:nvPr/>
        </p:nvSpPr>
        <p:spPr>
          <a:xfrm>
            <a:off x="6737779" y="3933056"/>
            <a:ext cx="1938677" cy="7200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ビジュアル</a:t>
            </a:r>
            <a:endParaRPr kumimoji="1" lang="en-US" altLang="ja-JP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モード</a:t>
            </a:r>
            <a:endParaRPr kumimoji="1" lang="en-US">
              <a:solidFill>
                <a:sysClr val="windowText" lastClr="000000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6E40B59-6521-4924-AD48-C21CDAA22E8F}"/>
              </a:ext>
            </a:extLst>
          </p:cNvPr>
          <p:cNvSpPr/>
          <p:nvPr/>
        </p:nvSpPr>
        <p:spPr>
          <a:xfrm>
            <a:off x="365579" y="3933056"/>
            <a:ext cx="1938677" cy="7200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コマンドライン</a:t>
            </a:r>
            <a:endParaRPr kumimoji="1" lang="en-US" altLang="ja-JP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モード</a:t>
            </a:r>
            <a:endParaRPr kumimoji="1" lang="en-US">
              <a:solidFill>
                <a:sysClr val="windowText" lastClr="00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1435CC0-0BD2-46D3-B755-C3CB5CA25691}"/>
              </a:ext>
            </a:extLst>
          </p:cNvPr>
          <p:cNvSpPr txBox="1"/>
          <p:nvPr/>
        </p:nvSpPr>
        <p:spPr>
          <a:xfrm>
            <a:off x="4427984" y="6381328"/>
            <a:ext cx="4576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https://knowledge.sakura.ad.jp/21687/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8C1963A-DAD9-4E5D-A7BB-1F6D83660446}"/>
              </a:ext>
            </a:extLst>
          </p:cNvPr>
          <p:cNvSpPr txBox="1"/>
          <p:nvPr/>
        </p:nvSpPr>
        <p:spPr>
          <a:xfrm>
            <a:off x="2123728" y="6381328"/>
            <a:ext cx="2448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i="0">
                <a:effectLst/>
                <a:latin typeface="ヒラギノ角ゴPro W3"/>
              </a:rPr>
              <a:t>ゴリラと学ぶ</a:t>
            </a:r>
            <a:r>
              <a:rPr lang="en-US" altLang="ja-JP" i="0">
                <a:effectLst/>
                <a:latin typeface="ヒラギノ角ゴPro W3"/>
              </a:rPr>
              <a:t>Vim</a:t>
            </a:r>
            <a:r>
              <a:rPr lang="ja-JP" altLang="en-US" i="0">
                <a:effectLst/>
                <a:latin typeface="ヒラギノ角ゴPro W3"/>
              </a:rPr>
              <a:t>講座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78B0EF05-3129-401F-85E8-9AC499B72712}"/>
              </a:ext>
            </a:extLst>
          </p:cNvPr>
          <p:cNvCxnSpPr/>
          <p:nvPr/>
        </p:nvCxnSpPr>
        <p:spPr>
          <a:xfrm flipV="1">
            <a:off x="3995936" y="2780928"/>
            <a:ext cx="0" cy="10081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E4458999-14FD-4E12-81B8-7CFC766FAD4D}"/>
              </a:ext>
            </a:extLst>
          </p:cNvPr>
          <p:cNvCxnSpPr>
            <a:cxnSpLocks/>
          </p:cNvCxnSpPr>
          <p:nvPr/>
        </p:nvCxnSpPr>
        <p:spPr>
          <a:xfrm>
            <a:off x="5004048" y="2780928"/>
            <a:ext cx="0" cy="10081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5B02A9CC-0474-4BDF-B077-01D02B3C8154}"/>
              </a:ext>
            </a:extLst>
          </p:cNvPr>
          <p:cNvCxnSpPr/>
          <p:nvPr/>
        </p:nvCxnSpPr>
        <p:spPr>
          <a:xfrm>
            <a:off x="5796136" y="4077072"/>
            <a:ext cx="79208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CB330BA0-3D47-41F3-83B0-74534B80F3F3}"/>
              </a:ext>
            </a:extLst>
          </p:cNvPr>
          <p:cNvCxnSpPr>
            <a:cxnSpLocks/>
          </p:cNvCxnSpPr>
          <p:nvPr/>
        </p:nvCxnSpPr>
        <p:spPr>
          <a:xfrm flipH="1">
            <a:off x="5796136" y="4509120"/>
            <a:ext cx="79208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0680BF31-376E-486F-B09C-D672155517BF}"/>
              </a:ext>
            </a:extLst>
          </p:cNvPr>
          <p:cNvCxnSpPr>
            <a:cxnSpLocks/>
          </p:cNvCxnSpPr>
          <p:nvPr/>
        </p:nvCxnSpPr>
        <p:spPr>
          <a:xfrm flipH="1">
            <a:off x="2555776" y="4077072"/>
            <a:ext cx="79208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CAA8A834-1643-4D93-8DBF-2093D81FAA7F}"/>
              </a:ext>
            </a:extLst>
          </p:cNvPr>
          <p:cNvCxnSpPr/>
          <p:nvPr/>
        </p:nvCxnSpPr>
        <p:spPr>
          <a:xfrm>
            <a:off x="2555776" y="4509120"/>
            <a:ext cx="79208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3568C5B-1292-44D9-BE16-8A3C8B568B6F}"/>
              </a:ext>
            </a:extLst>
          </p:cNvPr>
          <p:cNvSpPr txBox="1"/>
          <p:nvPr/>
        </p:nvSpPr>
        <p:spPr>
          <a:xfrm>
            <a:off x="3491880" y="3068960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i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7573436-10E5-4725-9143-D8598F727D43}"/>
              </a:ext>
            </a:extLst>
          </p:cNvPr>
          <p:cNvSpPr txBox="1"/>
          <p:nvPr/>
        </p:nvSpPr>
        <p:spPr>
          <a:xfrm>
            <a:off x="5148064" y="3068960"/>
            <a:ext cx="56457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ESC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5BD59AD-99E3-4716-949A-80D6737BF81C}"/>
              </a:ext>
            </a:extLst>
          </p:cNvPr>
          <p:cNvSpPr txBox="1"/>
          <p:nvPr/>
        </p:nvSpPr>
        <p:spPr>
          <a:xfrm>
            <a:off x="5940152" y="4581128"/>
            <a:ext cx="56457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ESC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0CE921D-EEBB-4FD9-AEB5-C0A2E69C7FF2}"/>
              </a:ext>
            </a:extLst>
          </p:cNvPr>
          <p:cNvSpPr txBox="1"/>
          <p:nvPr/>
        </p:nvSpPr>
        <p:spPr>
          <a:xfrm>
            <a:off x="2699792" y="4643844"/>
            <a:ext cx="56457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ESC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0F51E1E-62BE-4896-935C-B515176F5FBB}"/>
              </a:ext>
            </a:extLst>
          </p:cNvPr>
          <p:cNvSpPr txBox="1"/>
          <p:nvPr/>
        </p:nvSpPr>
        <p:spPr>
          <a:xfrm>
            <a:off x="2771800" y="3573016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: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D2A6FEF-77E4-4399-AB89-79DC3CD96298}"/>
              </a:ext>
            </a:extLst>
          </p:cNvPr>
          <p:cNvSpPr txBox="1"/>
          <p:nvPr/>
        </p:nvSpPr>
        <p:spPr>
          <a:xfrm>
            <a:off x="6084168" y="3573016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31324684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18FC0E0-E0D0-4AAE-B745-A505A2168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Vim</a:t>
            </a:r>
            <a:r>
              <a:rPr kumimoji="1" lang="ja-JP" altLang="en-US" dirty="0"/>
              <a:t>のモード</a:t>
            </a:r>
          </a:p>
        </p:txBody>
      </p:sp>
      <p:pic>
        <p:nvPicPr>
          <p:cNvPr id="3" name="Picture 2" descr="vim">
            <a:extLst>
              <a:ext uri="{FF2B5EF4-FFF2-40B4-BE49-F238E27FC236}">
                <a16:creationId xmlns:a16="http://schemas.microsoft.com/office/drawing/2014/main" id="{8483AF59-0D6A-478A-A8D6-9F4277505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980728"/>
            <a:ext cx="5940152" cy="3284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AA544CD-946E-49FF-A98F-1E73AB1D5747}"/>
              </a:ext>
            </a:extLst>
          </p:cNvPr>
          <p:cNvSpPr/>
          <p:nvPr/>
        </p:nvSpPr>
        <p:spPr>
          <a:xfrm>
            <a:off x="2123728" y="4149080"/>
            <a:ext cx="3168352" cy="1440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1D094CD-8C78-45A6-A1C4-2115DF2E5F29}"/>
              </a:ext>
            </a:extLst>
          </p:cNvPr>
          <p:cNvSpPr txBox="1"/>
          <p:nvPr/>
        </p:nvSpPr>
        <p:spPr>
          <a:xfrm>
            <a:off x="1043608" y="4581128"/>
            <a:ext cx="3809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Vim</a:t>
            </a:r>
            <a:r>
              <a:rPr kumimoji="1" lang="ja-JP" altLang="en-US" dirty="0"/>
              <a:t>のモードはここを見ればわかる</a:t>
            </a:r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F5CE4DC0-7B3A-4CE4-A515-8965D97E9EF4}"/>
              </a:ext>
            </a:extLst>
          </p:cNvPr>
          <p:cNvCxnSpPr>
            <a:stCxn id="5" idx="0"/>
            <a:endCxn id="4" idx="2"/>
          </p:cNvCxnSpPr>
          <p:nvPr/>
        </p:nvCxnSpPr>
        <p:spPr>
          <a:xfrm rot="5400000" flipH="1" flipV="1">
            <a:off x="3184164" y="4057389"/>
            <a:ext cx="288032" cy="759447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64C7993-3E4E-4AAA-912E-29F2FC0F6EEC}"/>
              </a:ext>
            </a:extLst>
          </p:cNvPr>
          <p:cNvSpPr txBox="1"/>
          <p:nvPr/>
        </p:nvSpPr>
        <p:spPr>
          <a:xfrm>
            <a:off x="467544" y="5085184"/>
            <a:ext cx="69028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ノーマルモード　：何も表示されない</a:t>
            </a:r>
            <a:endParaRPr kumimoji="1" lang="en-US" altLang="ja-JP" sz="2400" dirty="0"/>
          </a:p>
          <a:p>
            <a:r>
              <a:rPr kumimoji="1" lang="ja-JP" altLang="en-US" sz="2400" dirty="0"/>
              <a:t>インサートモード：「</a:t>
            </a:r>
            <a:r>
              <a:rPr kumimoji="1" lang="en-US" altLang="ja-JP" sz="2400" dirty="0">
                <a:latin typeface="Consolas" panose="020B0609020204030204" pitchFamily="49" charset="0"/>
              </a:rPr>
              <a:t>-- INSERT --</a:t>
            </a:r>
            <a:r>
              <a:rPr kumimoji="1" lang="ja-JP" altLang="en-US" sz="2400" dirty="0"/>
              <a:t>」</a:t>
            </a:r>
            <a:r>
              <a:rPr lang="ja-JP" altLang="en-US" sz="2400" dirty="0"/>
              <a:t>と表示</a:t>
            </a:r>
            <a:endParaRPr lang="en-US" altLang="ja-JP" sz="2400" dirty="0"/>
          </a:p>
          <a:p>
            <a:r>
              <a:rPr kumimoji="1" lang="ja-JP" altLang="en-US" sz="2400" dirty="0"/>
              <a:t>ビジュアルモード：「</a:t>
            </a:r>
            <a:r>
              <a:rPr kumimoji="1" lang="en-US" altLang="ja-JP" sz="2400" dirty="0">
                <a:latin typeface="Consolas" panose="020B0609020204030204" pitchFamily="49" charset="0"/>
              </a:rPr>
              <a:t>-- VISUAL --</a:t>
            </a:r>
            <a:r>
              <a:rPr kumimoji="1" lang="ja-JP" altLang="en-US" sz="2400" dirty="0"/>
              <a:t>」</a:t>
            </a:r>
            <a:r>
              <a:rPr lang="ja-JP" altLang="en-US" sz="2400" dirty="0"/>
              <a:t>と表示</a:t>
            </a:r>
            <a:endParaRPr lang="en-US" altLang="ja-JP" sz="2400" dirty="0"/>
          </a:p>
          <a:p>
            <a:r>
              <a:rPr kumimoji="1" lang="ja-JP" altLang="en-US" sz="2400" dirty="0"/>
              <a:t>コマンドモード　： 「</a:t>
            </a:r>
            <a:r>
              <a:rPr kumimoji="1" lang="en-US" altLang="ja-JP" sz="2400" dirty="0">
                <a:latin typeface="Consolas" panose="020B0609020204030204" pitchFamily="49" charset="0"/>
              </a:rPr>
              <a:t>:</a:t>
            </a:r>
            <a:r>
              <a:rPr kumimoji="1" lang="ja-JP" altLang="en-US" sz="2400" dirty="0"/>
              <a:t>」が表示され入力待ちに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6219557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7F86FAE-DDB4-47A6-9283-2E52244EC8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Vim</a:t>
            </a:r>
            <a:r>
              <a:rPr kumimoji="1" lang="ja-JP" altLang="en-US" dirty="0"/>
              <a:t>の終了の仕方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E299CB7-0C5F-4EF1-ADF2-9E5560F0DC45}"/>
              </a:ext>
            </a:extLst>
          </p:cNvPr>
          <p:cNvSpPr txBox="1"/>
          <p:nvPr/>
        </p:nvSpPr>
        <p:spPr>
          <a:xfrm>
            <a:off x="1710042" y="1196752"/>
            <a:ext cx="574227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ESC</a:t>
            </a:r>
            <a:r>
              <a:rPr kumimoji="1" lang="ja-JP" altLang="en-US" sz="2400" dirty="0"/>
              <a:t>キーを押してノーマルモードに戻る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9FC26D-72ED-497B-9786-30B6D82E7E2C}"/>
              </a:ext>
            </a:extLst>
          </p:cNvPr>
          <p:cNvSpPr txBox="1"/>
          <p:nvPr/>
        </p:nvSpPr>
        <p:spPr>
          <a:xfrm>
            <a:off x="2339752" y="2276872"/>
            <a:ext cx="449353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ファイル名が指定されている？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E3DCC56-97F1-49D7-B6D0-68EDD89A8FB0}"/>
              </a:ext>
            </a:extLst>
          </p:cNvPr>
          <p:cNvSpPr txBox="1"/>
          <p:nvPr/>
        </p:nvSpPr>
        <p:spPr>
          <a:xfrm>
            <a:off x="5292080" y="3573016"/>
            <a:ext cx="2925801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Shift + ZZ </a:t>
            </a:r>
          </a:p>
          <a:p>
            <a:r>
              <a:rPr kumimoji="1" lang="en-US" altLang="ja-JP" sz="1400" dirty="0"/>
              <a:t>(</a:t>
            </a:r>
            <a:r>
              <a:rPr kumimoji="1" lang="ja-JP" altLang="en-US" sz="1400" dirty="0"/>
              <a:t>シフトキーを押しながら</a:t>
            </a:r>
            <a:r>
              <a:rPr kumimoji="1" lang="en-US" altLang="ja-JP" sz="1400" dirty="0"/>
              <a:t>Z</a:t>
            </a:r>
            <a:r>
              <a:rPr kumimoji="1" lang="ja-JP" altLang="en-US" sz="1400" dirty="0"/>
              <a:t>を二回</a:t>
            </a:r>
            <a:r>
              <a:rPr kumimoji="1" lang="en-US" altLang="ja-JP" sz="1400" dirty="0"/>
              <a:t>)</a:t>
            </a:r>
            <a:endParaRPr kumimoji="1" lang="ja-JP" altLang="en-US" sz="1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30B9316-3C56-4FED-BDF9-7E6CE4385D60}"/>
              </a:ext>
            </a:extLst>
          </p:cNvPr>
          <p:cNvSpPr txBox="1"/>
          <p:nvPr/>
        </p:nvSpPr>
        <p:spPr>
          <a:xfrm>
            <a:off x="755576" y="3573016"/>
            <a:ext cx="418576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現在の編集内容を保存する？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5E2DAF0-4211-4175-B50F-E1AD4DFE51B7}"/>
              </a:ext>
            </a:extLst>
          </p:cNvPr>
          <p:cNvSpPr txBox="1"/>
          <p:nvPr/>
        </p:nvSpPr>
        <p:spPr>
          <a:xfrm>
            <a:off x="251520" y="5157192"/>
            <a:ext cx="264687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コマンドモードで</a:t>
            </a:r>
            <a:endParaRPr kumimoji="1" lang="en-US" altLang="ja-JP" sz="2400" dirty="0"/>
          </a:p>
          <a:p>
            <a:r>
              <a:rPr lang="en-US" altLang="ja-JP" sz="2400" dirty="0"/>
              <a:t>: q!</a:t>
            </a:r>
            <a:endParaRPr kumimoji="1" lang="ja-JP" altLang="en-US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6DFF741-08C4-45D7-BFB9-5EF08EC9E34C}"/>
              </a:ext>
            </a:extLst>
          </p:cNvPr>
          <p:cNvSpPr txBox="1"/>
          <p:nvPr/>
        </p:nvSpPr>
        <p:spPr>
          <a:xfrm>
            <a:off x="3347864" y="5157192"/>
            <a:ext cx="264687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コマンドモードで</a:t>
            </a:r>
            <a:endParaRPr kumimoji="1" lang="en-US" altLang="ja-JP" sz="2400" dirty="0"/>
          </a:p>
          <a:p>
            <a:r>
              <a:rPr lang="en-US" altLang="ja-JP" sz="2400" dirty="0"/>
              <a:t>:</a:t>
            </a:r>
            <a:r>
              <a:rPr lang="en-US" altLang="ja-JP" sz="2400" dirty="0" err="1"/>
              <a:t>wq</a:t>
            </a:r>
            <a:r>
              <a:rPr lang="en-US" altLang="ja-JP" sz="2400" dirty="0"/>
              <a:t> </a:t>
            </a:r>
            <a:r>
              <a:rPr lang="ja-JP" altLang="en-US" sz="2400" dirty="0"/>
              <a:t>ファイル名</a:t>
            </a:r>
            <a:endParaRPr kumimoji="1" lang="ja-JP" altLang="en-US" sz="2400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65CEC022-5291-4435-BE95-B6F4DC8F0F32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4581181" y="1658417"/>
            <a:ext cx="5340" cy="6184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C5E4FBBE-0A4D-4A99-ABDD-905A3429F297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16200000" flipH="1">
            <a:off x="5253512" y="2071546"/>
            <a:ext cx="834479" cy="216846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BC6D90F9-DC61-4C9F-A09E-305444C65911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3300250" y="2286744"/>
            <a:ext cx="834479" cy="173806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326B84A2-E8EC-4096-9F8E-5B29AF80D29F}"/>
              </a:ext>
            </a:extLst>
          </p:cNvPr>
          <p:cNvCxnSpPr>
            <a:stCxn id="6" idx="2"/>
            <a:endCxn id="8" idx="0"/>
          </p:cNvCxnSpPr>
          <p:nvPr/>
        </p:nvCxnSpPr>
        <p:spPr>
          <a:xfrm rot="16200000" flipH="1">
            <a:off x="3198625" y="3684513"/>
            <a:ext cx="1122511" cy="182284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C317014F-7FBF-42D5-993C-7C831E1D66AD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1650453" y="3959187"/>
            <a:ext cx="1122511" cy="127349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EE4CBEC-FD69-4CA9-A722-24ABC6C5B044}"/>
              </a:ext>
            </a:extLst>
          </p:cNvPr>
          <p:cNvSpPr txBox="1"/>
          <p:nvPr/>
        </p:nvSpPr>
        <p:spPr>
          <a:xfrm>
            <a:off x="3491880" y="285293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No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8510700-7D7E-4A63-AF6D-56D4EA17B7D6}"/>
              </a:ext>
            </a:extLst>
          </p:cNvPr>
          <p:cNvSpPr txBox="1"/>
          <p:nvPr/>
        </p:nvSpPr>
        <p:spPr>
          <a:xfrm>
            <a:off x="2076158" y="428380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No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1D2A05A-C754-43ED-B34B-155F58BF731E}"/>
              </a:ext>
            </a:extLst>
          </p:cNvPr>
          <p:cNvSpPr txBox="1"/>
          <p:nvPr/>
        </p:nvSpPr>
        <p:spPr>
          <a:xfrm>
            <a:off x="3419872" y="4283804"/>
            <a:ext cx="56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011893"/>
                </a:solidFill>
              </a:rPr>
              <a:t>Yes</a:t>
            </a:r>
            <a:endParaRPr kumimoji="1" lang="ja-JP" altLang="en-US" dirty="0">
              <a:solidFill>
                <a:srgbClr val="011893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4A9653B-5019-4246-8439-A6C761E04E9E}"/>
              </a:ext>
            </a:extLst>
          </p:cNvPr>
          <p:cNvSpPr txBox="1"/>
          <p:nvPr/>
        </p:nvSpPr>
        <p:spPr>
          <a:xfrm>
            <a:off x="5364088" y="2843644"/>
            <a:ext cx="56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011893"/>
                </a:solidFill>
              </a:rPr>
              <a:t>Yes</a:t>
            </a:r>
            <a:endParaRPr kumimoji="1" lang="ja-JP" altLang="en-US" dirty="0">
              <a:solidFill>
                <a:srgbClr val="011893"/>
              </a:solidFill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66CCB27-F1D6-41AA-ADED-33B2470DFEEC}"/>
              </a:ext>
            </a:extLst>
          </p:cNvPr>
          <p:cNvSpPr txBox="1"/>
          <p:nvPr/>
        </p:nvSpPr>
        <p:spPr>
          <a:xfrm>
            <a:off x="3707904" y="6165304"/>
            <a:ext cx="4532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 </a:t>
            </a:r>
            <a:r>
              <a:rPr kumimoji="1" lang="ja-JP" altLang="en-US" dirty="0"/>
              <a:t>既存のファイルを上書きする場合は</a:t>
            </a:r>
            <a:r>
              <a:rPr lang="en-US" altLang="ja-JP" dirty="0" err="1"/>
              <a:t>wq</a:t>
            </a:r>
            <a:r>
              <a:rPr lang="en-US" altLang="ja-JP" dirty="0"/>
              <a:t>!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435713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EE65909-9F13-4431-84BC-285AE627D6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Vim</a:t>
            </a:r>
            <a:r>
              <a:rPr kumimoji="1" lang="ja-JP" altLang="en-US" dirty="0"/>
              <a:t>と</a:t>
            </a:r>
            <a:r>
              <a:rPr kumimoji="1" lang="en-US" altLang="ja-JP" dirty="0"/>
              <a:t>Git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8579993-0846-45B5-BCDE-8C81441F2FC7}"/>
              </a:ext>
            </a:extLst>
          </p:cNvPr>
          <p:cNvSpPr txBox="1"/>
          <p:nvPr/>
        </p:nvSpPr>
        <p:spPr>
          <a:xfrm>
            <a:off x="323528" y="1196752"/>
            <a:ext cx="8712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Git</a:t>
            </a:r>
            <a:r>
              <a:rPr lang="ja-JP" altLang="en-US" sz="2400" dirty="0"/>
              <a:t>から</a:t>
            </a:r>
            <a:r>
              <a:rPr lang="en-US" altLang="ja-JP" sz="2400" dirty="0"/>
              <a:t>Vim</a:t>
            </a:r>
            <a:r>
              <a:rPr lang="ja-JP" altLang="en-US" sz="2400" dirty="0"/>
              <a:t>が呼び出される場合、ファイル名が指定された状態、かつ</a:t>
            </a:r>
            <a:r>
              <a:rPr kumimoji="1" lang="ja-JP" altLang="en-US" sz="2400" dirty="0"/>
              <a:t>ノーマルモードで起動される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7F7B8C-23D2-4206-8F80-0602EF73D7DE}"/>
              </a:ext>
            </a:extLst>
          </p:cNvPr>
          <p:cNvSpPr txBox="1"/>
          <p:nvPr/>
        </p:nvSpPr>
        <p:spPr>
          <a:xfrm>
            <a:off x="1187624" y="3212976"/>
            <a:ext cx="64940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ja-JP" altLang="en-US" sz="2400" dirty="0"/>
              <a:t>「</a:t>
            </a:r>
            <a:r>
              <a:rPr kumimoji="1" lang="en-US" altLang="ja-JP" sz="2400" dirty="0" err="1"/>
              <a:t>i</a:t>
            </a:r>
            <a:r>
              <a:rPr kumimoji="1" lang="ja-JP" altLang="en-US" sz="2400" dirty="0"/>
              <a:t>」を押してインサートモードへ</a:t>
            </a:r>
            <a:endParaRPr kumimoji="1" lang="en-US" altLang="ja-JP" sz="24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400" dirty="0"/>
              <a:t>内容を編集</a:t>
            </a:r>
            <a:endParaRPr lang="en-US" altLang="ja-JP" sz="2400" dirty="0"/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 sz="2400" dirty="0"/>
              <a:t>エスケープキーを押してノーマルモードへ</a:t>
            </a:r>
            <a:endParaRPr kumimoji="1" lang="en-US" altLang="ja-JP" sz="24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400" dirty="0"/>
              <a:t>「</a:t>
            </a:r>
            <a:r>
              <a:rPr lang="en-US" altLang="ja-JP" sz="2400" dirty="0"/>
              <a:t>ZZ</a:t>
            </a:r>
            <a:r>
              <a:rPr lang="ja-JP" altLang="en-US" sz="2400" dirty="0"/>
              <a:t>」でエディタを抜ける</a:t>
            </a:r>
            <a:endParaRPr kumimoji="1"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81002C-E640-45CB-A3E7-5258C46C9A0E}"/>
              </a:ext>
            </a:extLst>
          </p:cNvPr>
          <p:cNvSpPr txBox="1"/>
          <p:nvPr/>
        </p:nvSpPr>
        <p:spPr>
          <a:xfrm>
            <a:off x="395536" y="234888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その後、以下の作業をすればよい</a:t>
            </a:r>
          </a:p>
        </p:txBody>
      </p:sp>
    </p:spTree>
    <p:extLst>
      <p:ext uri="{BB962C8B-B14F-4D97-AF65-F5344CB8AC3E}">
        <p14:creationId xmlns:p14="http://schemas.microsoft.com/office/powerpoint/2010/main" val="3969616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3F8048B-7BD8-422D-916B-80133914A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Vim</a:t>
            </a:r>
            <a:r>
              <a:rPr kumimoji="1" lang="ja-JP" altLang="en-US" dirty="0"/>
              <a:t>のノーマルモードでの編集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8C6E20-F030-41F3-BEFB-8E358EE4533D}"/>
              </a:ext>
            </a:extLst>
          </p:cNvPr>
          <p:cNvSpPr txBox="1"/>
          <p:nvPr/>
        </p:nvSpPr>
        <p:spPr>
          <a:xfrm>
            <a:off x="611560" y="1412776"/>
            <a:ext cx="760657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ノーマルモードで様々な編集ができる</a:t>
            </a:r>
            <a:endParaRPr kumimoji="1" lang="en-US" altLang="ja-JP" sz="2800" dirty="0"/>
          </a:p>
          <a:p>
            <a:r>
              <a:rPr kumimoji="1" lang="ja-JP" altLang="en-US" sz="2800" dirty="0"/>
              <a:t>とりあえずこれだけ覚えておく</a:t>
            </a:r>
            <a:r>
              <a:rPr kumimoji="1" lang="en-US" altLang="ja-JP" sz="2800" dirty="0"/>
              <a:t>(</a:t>
            </a:r>
            <a:r>
              <a:rPr kumimoji="1" lang="ja-JP" altLang="en-US" sz="2800" dirty="0"/>
              <a:t>後で使います</a:t>
            </a:r>
            <a:r>
              <a:rPr kumimoji="1" lang="en-US" altLang="ja-JP" sz="2800" dirty="0"/>
              <a:t>)</a:t>
            </a:r>
            <a:endParaRPr kumimoji="1" lang="ja-JP" altLang="en-US" sz="28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21322E-45E0-474E-A9E2-42E72ADC4C12}"/>
              </a:ext>
            </a:extLst>
          </p:cNvPr>
          <p:cNvSpPr txBox="1"/>
          <p:nvPr/>
        </p:nvSpPr>
        <p:spPr>
          <a:xfrm>
            <a:off x="1835696" y="2852936"/>
            <a:ext cx="6955750" cy="22365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400" dirty="0"/>
              <a:t>カーソル移動</a:t>
            </a:r>
            <a:endParaRPr lang="en-US" altLang="ja-JP" sz="2400" dirty="0"/>
          </a:p>
          <a:p>
            <a:pPr>
              <a:lnSpc>
                <a:spcPct val="150000"/>
              </a:lnSpc>
            </a:pPr>
            <a:r>
              <a:rPr kumimoji="1" lang="ja-JP" altLang="en-US" sz="2400" dirty="0"/>
              <a:t>カーソル位置の行を切り取り</a:t>
            </a:r>
            <a:endParaRPr kumimoji="1" lang="en-US" altLang="ja-JP" sz="2400" dirty="0"/>
          </a:p>
          <a:p>
            <a:pPr>
              <a:lnSpc>
                <a:spcPct val="150000"/>
              </a:lnSpc>
            </a:pPr>
            <a:r>
              <a:rPr lang="ja-JP" altLang="en-US" sz="2400" dirty="0"/>
              <a:t>切り取った行をカーソル位置の行の下に貼り付け</a:t>
            </a:r>
            <a:endParaRPr lang="en-US" altLang="ja-JP" sz="2400" dirty="0"/>
          </a:p>
          <a:p>
            <a:pPr>
              <a:lnSpc>
                <a:spcPct val="150000"/>
              </a:lnSpc>
            </a:pPr>
            <a:r>
              <a:rPr lang="ja-JP" altLang="en-US" sz="2400" dirty="0"/>
              <a:t>切り取った行をカーソル位置の</a:t>
            </a:r>
            <a:r>
              <a:rPr lang="ja-JP" altLang="en-US" sz="2400"/>
              <a:t>行の上に</a:t>
            </a:r>
            <a:r>
              <a:rPr lang="ja-JP" altLang="en-US" sz="2400" dirty="0"/>
              <a:t>貼り付け</a:t>
            </a:r>
            <a:endParaRPr kumimoji="1"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5EAF32-A656-44FC-8E34-170A89612FB5}"/>
              </a:ext>
            </a:extLst>
          </p:cNvPr>
          <p:cNvSpPr txBox="1"/>
          <p:nvPr/>
        </p:nvSpPr>
        <p:spPr>
          <a:xfrm>
            <a:off x="467544" y="3059668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h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947A449-306F-40FE-822E-C18EBFEFBF2F}"/>
              </a:ext>
            </a:extLst>
          </p:cNvPr>
          <p:cNvSpPr txBox="1"/>
          <p:nvPr/>
        </p:nvSpPr>
        <p:spPr>
          <a:xfrm>
            <a:off x="827584" y="3059668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j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DDE4FC2-5C23-4582-AD4D-528CBE1F6BD8}"/>
              </a:ext>
            </a:extLst>
          </p:cNvPr>
          <p:cNvSpPr txBox="1"/>
          <p:nvPr/>
        </p:nvSpPr>
        <p:spPr>
          <a:xfrm>
            <a:off x="1187624" y="3059668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k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02D5AFC-39C6-4FEC-8ADA-5784F1DC98CE}"/>
              </a:ext>
            </a:extLst>
          </p:cNvPr>
          <p:cNvSpPr txBox="1"/>
          <p:nvPr/>
        </p:nvSpPr>
        <p:spPr>
          <a:xfrm>
            <a:off x="1547664" y="3059668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l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55AC817-DF22-49E7-AEC0-2B6BC55AE5AB}"/>
              </a:ext>
            </a:extLst>
          </p:cNvPr>
          <p:cNvSpPr txBox="1"/>
          <p:nvPr/>
        </p:nvSpPr>
        <p:spPr>
          <a:xfrm>
            <a:off x="1475656" y="3573016"/>
            <a:ext cx="43794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dd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88D9A6B-53A7-46B5-8249-6A5DC071C777}"/>
              </a:ext>
            </a:extLst>
          </p:cNvPr>
          <p:cNvSpPr txBox="1"/>
          <p:nvPr/>
        </p:nvSpPr>
        <p:spPr>
          <a:xfrm>
            <a:off x="1547664" y="4077072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AFA71F1-68FF-47DA-AFF3-15D52B64102A}"/>
              </a:ext>
            </a:extLst>
          </p:cNvPr>
          <p:cNvSpPr txBox="1"/>
          <p:nvPr/>
        </p:nvSpPr>
        <p:spPr>
          <a:xfrm>
            <a:off x="1547664" y="4653136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2911412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2BAB1D1-77B1-4FD7-92A3-0D7FF032B8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まとめ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1DECF6-CC41-451B-B6DD-74C039DB47FF}"/>
              </a:ext>
            </a:extLst>
          </p:cNvPr>
          <p:cNvSpPr txBox="1"/>
          <p:nvPr/>
        </p:nvSpPr>
        <p:spPr>
          <a:xfrm>
            <a:off x="591526" y="2015469"/>
            <a:ext cx="839204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インタフェースにはコマンドラインとグラフィカルなものがある</a:t>
            </a:r>
            <a:endParaRPr kumimoji="1" lang="en-US" altLang="ja-JP" sz="2000" dirty="0"/>
          </a:p>
          <a:p>
            <a:r>
              <a:rPr lang="ja-JP" altLang="en-US" sz="2000" dirty="0"/>
              <a:t>本講義では</a:t>
            </a:r>
            <a:r>
              <a:rPr lang="en-US" altLang="ja-JP" sz="2000" dirty="0"/>
              <a:t>Git</a:t>
            </a:r>
            <a:r>
              <a:rPr lang="ja-JP" altLang="en-US" sz="2000" dirty="0"/>
              <a:t>を主にコマンドラインで使う</a:t>
            </a:r>
            <a:endParaRPr lang="en-US" altLang="ja-JP" sz="2000" dirty="0"/>
          </a:p>
          <a:p>
            <a:r>
              <a:rPr kumimoji="1" lang="ja-JP" altLang="en-US" sz="2000" dirty="0"/>
              <a:t>コマンドラインインタフェースでは、プロンプトにコマンドを入力する</a:t>
            </a:r>
            <a:endParaRPr kumimoji="1" lang="en-US" altLang="ja-JP" sz="2000" dirty="0"/>
          </a:p>
          <a:p>
            <a:r>
              <a:rPr kumimoji="1" lang="ja-JP" altLang="en-US" sz="2000" dirty="0"/>
              <a:t>コマンドには引数やオプションを与える</a:t>
            </a:r>
            <a:endParaRPr kumimoji="1" lang="en-US" altLang="ja-JP" sz="2000" dirty="0"/>
          </a:p>
          <a:p>
            <a:r>
              <a:rPr lang="ja-JP" altLang="en-US" sz="2000" dirty="0"/>
              <a:t>エラーメッセージを読む</a:t>
            </a:r>
            <a:endParaRPr kumimoji="1" lang="ja-JP" altLang="en-US" sz="20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149F2D1-1E42-449B-BF41-799B1712FD3F}"/>
              </a:ext>
            </a:extLst>
          </p:cNvPr>
          <p:cNvSpPr txBox="1"/>
          <p:nvPr/>
        </p:nvSpPr>
        <p:spPr>
          <a:xfrm>
            <a:off x="251520" y="1340768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011893"/>
                </a:solidFill>
              </a:rPr>
              <a:t>インタフェースについて</a:t>
            </a:r>
            <a:endParaRPr kumimoji="1" lang="ja-JP" altLang="en-US" sz="2400" dirty="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4FDAC2-0E63-44B7-AEF2-8BC99411A3D8}"/>
              </a:ext>
            </a:extLst>
          </p:cNvPr>
          <p:cNvSpPr txBox="1"/>
          <p:nvPr/>
        </p:nvSpPr>
        <p:spPr>
          <a:xfrm>
            <a:off x="395536" y="4005064"/>
            <a:ext cx="70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011893"/>
                </a:solidFill>
              </a:rPr>
              <a:t>Vim</a:t>
            </a:r>
            <a:endParaRPr kumimoji="1" lang="ja-JP" altLang="en-US" sz="2400" dirty="0">
              <a:solidFill>
                <a:srgbClr val="011893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B889AFD-EFBD-48F2-A831-9C693E7EFE2F}"/>
              </a:ext>
            </a:extLst>
          </p:cNvPr>
          <p:cNvSpPr txBox="1"/>
          <p:nvPr/>
        </p:nvSpPr>
        <p:spPr>
          <a:xfrm>
            <a:off x="591526" y="4525877"/>
            <a:ext cx="67796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本講義では</a:t>
            </a:r>
            <a:r>
              <a:rPr lang="en-US" altLang="ja-JP" sz="2000" dirty="0"/>
              <a:t>Git</a:t>
            </a:r>
            <a:r>
              <a:rPr lang="ja-JP" altLang="en-US" sz="2000" dirty="0"/>
              <a:t>のエディタ</a:t>
            </a:r>
            <a:r>
              <a:rPr lang="ja-JP" altLang="en-US" sz="2000"/>
              <a:t>として</a:t>
            </a:r>
            <a:r>
              <a:rPr lang="en-US" altLang="ja-JP" sz="2000" dirty="0"/>
              <a:t>VS Code</a:t>
            </a:r>
            <a:r>
              <a:rPr lang="ja-JP" altLang="en-US" sz="2000"/>
              <a:t>及び</a:t>
            </a:r>
            <a:r>
              <a:rPr lang="en-US" altLang="ja-JP" sz="2000" dirty="0"/>
              <a:t>Vim</a:t>
            </a:r>
            <a:r>
              <a:rPr lang="ja-JP" altLang="en-US" sz="2000" dirty="0"/>
              <a:t>を使う</a:t>
            </a:r>
            <a:endParaRPr lang="en-US" altLang="ja-JP" sz="2000" dirty="0"/>
          </a:p>
          <a:p>
            <a:r>
              <a:rPr lang="en-US" altLang="ja-JP" sz="2000" dirty="0"/>
              <a:t>Vim</a:t>
            </a:r>
            <a:r>
              <a:rPr lang="ja-JP" altLang="en-US" sz="2000" dirty="0"/>
              <a:t>にはモードがある</a:t>
            </a:r>
            <a:endParaRPr lang="en-US" altLang="ja-JP" sz="2000" dirty="0"/>
          </a:p>
          <a:p>
            <a:r>
              <a:rPr lang="ja-JP" altLang="en-US" sz="2000" dirty="0"/>
              <a:t>困ったらエスケープキー</a:t>
            </a:r>
            <a:endParaRPr lang="en-US" altLang="ja-JP" sz="2000" dirty="0"/>
          </a:p>
          <a:p>
            <a:r>
              <a:rPr lang="ja-JP" altLang="en-US" sz="2000" dirty="0"/>
              <a:t>終了は「</a:t>
            </a:r>
            <a:r>
              <a:rPr lang="en-US" altLang="ja-JP" sz="2000" dirty="0"/>
              <a:t>ZZ</a:t>
            </a:r>
            <a:r>
              <a:rPr lang="ja-JP" altLang="en-US" sz="2000" dirty="0"/>
              <a:t>」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863805852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ユーザー定義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日常使う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7826</TotalTime>
  <Words>1844</Words>
  <Application>Microsoft Macintosh PowerPoint</Application>
  <PresentationFormat>画面に合わせる (4:3)</PresentationFormat>
  <Paragraphs>389</Paragraphs>
  <Slides>35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35</vt:i4>
      </vt:variant>
    </vt:vector>
  </HeadingPairs>
  <TitlesOfParts>
    <vt:vector size="42" baseType="lpstr">
      <vt:lpstr>-apple-system</vt:lpstr>
      <vt:lpstr>ヒラギノ角ゴPro W3</vt:lpstr>
      <vt:lpstr>游ゴシック</vt:lpstr>
      <vt:lpstr>Arial</vt:lpstr>
      <vt:lpstr>Consolas</vt:lpstr>
      <vt:lpstr>Lucida Console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渡辺 宙志</cp:lastModifiedBy>
  <cp:revision>1420</cp:revision>
  <dcterms:created xsi:type="dcterms:W3CDTF">2019-01-02T05:23:01Z</dcterms:created>
  <dcterms:modified xsi:type="dcterms:W3CDTF">2026-02-27T10:42:53Z</dcterms:modified>
</cp:coreProperties>
</file>