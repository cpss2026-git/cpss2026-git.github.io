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9"/>
  </p:notesMasterIdLst>
  <p:sldIdLst>
    <p:sldId id="256" r:id="rId2"/>
    <p:sldId id="302" r:id="rId3"/>
    <p:sldId id="304" r:id="rId4"/>
    <p:sldId id="305" r:id="rId5"/>
    <p:sldId id="306" r:id="rId6"/>
    <p:sldId id="308" r:id="rId7"/>
    <p:sldId id="307" r:id="rId8"/>
    <p:sldId id="309" r:id="rId9"/>
    <p:sldId id="310" r:id="rId10"/>
    <p:sldId id="311" r:id="rId11"/>
    <p:sldId id="303" r:id="rId12"/>
    <p:sldId id="312" r:id="rId13"/>
    <p:sldId id="313" r:id="rId14"/>
    <p:sldId id="314" r:id="rId15"/>
    <p:sldId id="315" r:id="rId16"/>
    <p:sldId id="316" r:id="rId17"/>
    <p:sldId id="294" r:id="rId1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1893"/>
    <a:srgbClr val="CCECFF"/>
    <a:srgbClr val="FFFF99"/>
    <a:srgbClr val="CCFFCC"/>
    <a:srgbClr val="FFCCCC"/>
    <a:srgbClr val="FF8AD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31" autoAdjust="0"/>
    <p:restoredTop sz="94660"/>
  </p:normalViewPr>
  <p:slideViewPr>
    <p:cSldViewPr>
      <p:cViewPr varScale="1">
        <p:scale>
          <a:sx n="154" d="100"/>
          <a:sy n="154" d="100"/>
        </p:scale>
        <p:origin x="1712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2026/3/2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2" name="円/楕円 3">
            <a:extLst>
              <a:ext uri="{FF2B5EF4-FFF2-40B4-BE49-F238E27FC236}">
                <a16:creationId xmlns:a16="http://schemas.microsoft.com/office/drawing/2014/main" id="{CDE809D1-218E-63FD-91C4-D6D842E83190}"/>
              </a:ext>
            </a:extLst>
          </p:cNvPr>
          <p:cNvSpPr/>
          <p:nvPr userDrawn="1"/>
        </p:nvSpPr>
        <p:spPr>
          <a:xfrm>
            <a:off x="8497721" y="6230795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DEF23ED-679B-AFA5-F04F-AB60A05DB698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6" name="弦 5">
            <a:extLst>
              <a:ext uri="{FF2B5EF4-FFF2-40B4-BE49-F238E27FC236}">
                <a16:creationId xmlns:a16="http://schemas.microsoft.com/office/drawing/2014/main" id="{9B103AC7-3AF9-2CD8-494E-153643B2A8AA}"/>
              </a:ext>
            </a:extLst>
          </p:cNvPr>
          <p:cNvSpPr/>
          <p:nvPr userDrawn="1"/>
        </p:nvSpPr>
        <p:spPr>
          <a:xfrm rot="16200000">
            <a:off x="8491626" y="6224701"/>
            <a:ext cx="588253" cy="576063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3401ADB-CCC7-F2A7-92C7-0B2285D8DE9C}"/>
              </a:ext>
            </a:extLst>
          </p:cNvPr>
          <p:cNvSpPr txBox="1"/>
          <p:nvPr userDrawn="1"/>
        </p:nvSpPr>
        <p:spPr>
          <a:xfrm>
            <a:off x="8596070" y="6442913"/>
            <a:ext cx="496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repo.mdcl.issp.u-tokyo.ac.jp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hyperlink" Target="https://isspns-gitlab.issp.u-tokyo.ac.jp/kaityo256/aging_network_data" TargetMode="External"/><Relationship Id="rId4" Type="http://schemas.openxmlformats.org/officeDocument/2006/relationships/hyperlink" Target="https://datarepo.mdcl.issp.u-tokyo.ac.jp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kaityo256.github.io/python_zero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107504" y="1268760"/>
            <a:ext cx="889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>
                <a:solidFill>
                  <a:srgbClr val="011893"/>
                </a:solidFill>
              </a:rPr>
              <a:t>計算物理における</a:t>
            </a:r>
            <a:r>
              <a:rPr lang="en-US" altLang="ja-JP" sz="4000" dirty="0">
                <a:solidFill>
                  <a:srgbClr val="011893"/>
                </a:solidFill>
              </a:rPr>
              <a:t>Git</a:t>
            </a:r>
            <a:r>
              <a:rPr lang="ja-JP" altLang="en-US" sz="4000">
                <a:solidFill>
                  <a:srgbClr val="011893"/>
                </a:solidFill>
              </a:rPr>
              <a:t>の使い方</a:t>
            </a:r>
            <a:endParaRPr lang="en-US" altLang="ja-JP" sz="4000" dirty="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6FF3F0-B80E-4A32-A410-E1A4C3A7A116}"/>
              </a:ext>
            </a:extLst>
          </p:cNvPr>
          <p:cNvSpPr txBox="1"/>
          <p:nvPr/>
        </p:nvSpPr>
        <p:spPr>
          <a:xfrm>
            <a:off x="3704546" y="531456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A82E08-1852-476D-B582-C7C001BDD60A}"/>
              </a:ext>
            </a:extLst>
          </p:cNvPr>
          <p:cNvSpPr txBox="1"/>
          <p:nvPr/>
        </p:nvSpPr>
        <p:spPr>
          <a:xfrm>
            <a:off x="8249826" y="57332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C6363B4-E307-15CC-2651-71CE69E71BC4}"/>
              </a:ext>
            </a:extLst>
          </p:cNvPr>
          <p:cNvSpPr txBox="1"/>
          <p:nvPr/>
        </p:nvSpPr>
        <p:spPr>
          <a:xfrm>
            <a:off x="0" y="6519446"/>
            <a:ext cx="7263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2026</a:t>
            </a:r>
            <a:r>
              <a:rPr kumimoji="1" lang="ja-JP" altLang="en-US" sz="1600"/>
              <a:t>年</a:t>
            </a:r>
            <a:r>
              <a:rPr kumimoji="1" lang="en-US" altLang="ja-JP" sz="1600" dirty="0"/>
              <a:t>3</a:t>
            </a:r>
            <a:r>
              <a:rPr kumimoji="1" lang="ja-JP" altLang="en-US" sz="1600"/>
              <a:t>月</a:t>
            </a:r>
            <a:r>
              <a:rPr kumimoji="1" lang="en-US" altLang="ja-JP" sz="1600" dirty="0"/>
              <a:t>9</a:t>
            </a:r>
            <a:r>
              <a:rPr kumimoji="1" lang="ja-JP" altLang="en-US" sz="1600"/>
              <a:t>日</a:t>
            </a:r>
            <a:r>
              <a:rPr kumimoji="1" lang="en-US" altLang="ja-JP" sz="1600" dirty="0"/>
              <a:t> </a:t>
            </a:r>
            <a:r>
              <a:rPr kumimoji="1" lang="ja-JP" altLang="en-US" sz="1600"/>
              <a:t>計算物理春の学校</a:t>
            </a:r>
            <a:r>
              <a:rPr kumimoji="1" lang="en-US" altLang="ja-JP" sz="1600" dirty="0"/>
              <a:t>2026</a:t>
            </a:r>
            <a:r>
              <a:rPr kumimoji="1" lang="ja-JP" altLang="en-US" sz="1600"/>
              <a:t>「計算物理屋のための</a:t>
            </a:r>
            <a:r>
              <a:rPr kumimoji="1" lang="en-US" altLang="ja-JP" sz="1600" dirty="0"/>
              <a:t>Git/GitHub</a:t>
            </a:r>
            <a:r>
              <a:rPr kumimoji="1" lang="ja-JP" altLang="en-US" sz="1600"/>
              <a:t>入門」</a:t>
            </a:r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619ADBA-8F49-D055-5351-79B070333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計算物理における</a:t>
            </a:r>
            <a:r>
              <a:rPr kumimoji="1" lang="en-US" altLang="ja-JP"/>
              <a:t>Git</a:t>
            </a:r>
            <a:r>
              <a:rPr lang="ja-JP" altLang="en-US"/>
              <a:t>の使い道</a:t>
            </a:r>
            <a:r>
              <a:rPr lang="en-US" altLang="ja-JP"/>
              <a:t>(</a:t>
            </a:r>
            <a:r>
              <a:rPr lang="ja-JP" altLang="en-US"/>
              <a:t>例</a:t>
            </a:r>
            <a:r>
              <a:rPr lang="en-US" altLang="ja-JP"/>
              <a:t>)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C28673F-4C95-D263-3625-008AE5880487}"/>
              </a:ext>
            </a:extLst>
          </p:cNvPr>
          <p:cNvSpPr txBox="1"/>
          <p:nvPr/>
        </p:nvSpPr>
        <p:spPr>
          <a:xfrm>
            <a:off x="179512" y="1196752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solidFill>
                  <a:srgbClr val="011893"/>
                </a:solidFill>
              </a:rPr>
              <a:t>コード開発</a:t>
            </a:r>
            <a:endParaRPr lang="en-US" sz="3200" dirty="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E54984-36AC-7CFA-3128-8A6F28537200}"/>
              </a:ext>
            </a:extLst>
          </p:cNvPr>
          <p:cNvSpPr txBox="1"/>
          <p:nvPr/>
        </p:nvSpPr>
        <p:spPr>
          <a:xfrm>
            <a:off x="899592" y="1844824"/>
            <a:ext cx="63401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開発するコードを</a:t>
            </a:r>
            <a:r>
              <a:rPr kumimoji="1" lang="en-US" altLang="ja-JP" sz="3200"/>
              <a:t>Git</a:t>
            </a:r>
            <a:r>
              <a:rPr kumimoji="1" lang="ja-JP" altLang="en-US" sz="3200"/>
              <a:t>で管理</a:t>
            </a:r>
            <a:endParaRPr lang="en-US" altLang="ja-JP" sz="3200"/>
          </a:p>
          <a:p>
            <a:r>
              <a:rPr lang="ja-JP" altLang="en-US" sz="3200"/>
              <a:t>ローカルでのデバッグ</a:t>
            </a:r>
            <a:endParaRPr lang="en-US" altLang="ja-JP" sz="3200"/>
          </a:p>
          <a:p>
            <a:r>
              <a:rPr lang="ja-JP" altLang="en-US" sz="3200"/>
              <a:t>クラスタ</a:t>
            </a:r>
            <a:r>
              <a:rPr kumimoji="1" lang="ja-JP" altLang="en-US" sz="3200"/>
              <a:t>やスパコンでコード共有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5A9B58-0098-C03A-5ABF-83B743FF1FDB}"/>
              </a:ext>
            </a:extLst>
          </p:cNvPr>
          <p:cNvSpPr txBox="1"/>
          <p:nvPr/>
        </p:nvSpPr>
        <p:spPr>
          <a:xfrm>
            <a:off x="179512" y="37170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solidFill>
                  <a:srgbClr val="011893"/>
                </a:solidFill>
              </a:rPr>
              <a:t>論文執筆</a:t>
            </a:r>
            <a:endParaRPr lang="en-US" sz="3200">
              <a:solidFill>
                <a:srgbClr val="011893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A1DCA10-AD10-2440-0665-5CBFE2A1C590}"/>
              </a:ext>
            </a:extLst>
          </p:cNvPr>
          <p:cNvSpPr txBox="1"/>
          <p:nvPr/>
        </p:nvSpPr>
        <p:spPr>
          <a:xfrm>
            <a:off x="971600" y="4365104"/>
            <a:ext cx="60885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論文を</a:t>
            </a:r>
            <a:r>
              <a:rPr lang="en-US" altLang="ja-JP" sz="3200"/>
              <a:t>Git</a:t>
            </a:r>
            <a:r>
              <a:rPr lang="ja-JP" altLang="en-US" sz="3200"/>
              <a:t>で管理、</a:t>
            </a:r>
            <a:r>
              <a:rPr lang="en-US" altLang="ja-JP" sz="3200"/>
              <a:t>GitHub</a:t>
            </a:r>
            <a:r>
              <a:rPr lang="ja-JP" altLang="en-US" sz="3200"/>
              <a:t>に保存</a:t>
            </a:r>
            <a:endParaRPr lang="en-US" altLang="ja-JP" sz="3200"/>
          </a:p>
          <a:p>
            <a:r>
              <a:rPr kumimoji="1" lang="ja-JP" altLang="en-US" sz="3200"/>
              <a:t>バックアップ</a:t>
            </a:r>
            <a:endParaRPr kumimoji="1" lang="en-US" altLang="ja-JP" sz="3200"/>
          </a:p>
          <a:p>
            <a:r>
              <a:rPr kumimoji="1" lang="ja-JP" altLang="en-US" sz="3200"/>
              <a:t>共著者と共有しやすい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3680EB1-E543-C6C6-57A4-62DABC34C169}"/>
              </a:ext>
            </a:extLst>
          </p:cNvPr>
          <p:cNvSpPr txBox="1"/>
          <p:nvPr/>
        </p:nvSpPr>
        <p:spPr>
          <a:xfrm>
            <a:off x="683568" y="6237312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※ Overleaf</a:t>
            </a:r>
            <a:r>
              <a:rPr kumimoji="1" lang="ja-JP" altLang="en-US"/>
              <a:t>派も多い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E41A0C-9182-E4EB-A872-03FFCF3634F9}"/>
              </a:ext>
            </a:extLst>
          </p:cNvPr>
          <p:cNvSpPr txBox="1"/>
          <p:nvPr/>
        </p:nvSpPr>
        <p:spPr>
          <a:xfrm>
            <a:off x="1835696" y="385175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※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116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0BB65D7-B109-65D9-3C45-A122A7524B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計算物理における</a:t>
            </a:r>
            <a:r>
              <a:rPr lang="en-US" altLang="ja-JP"/>
              <a:t>Git</a:t>
            </a:r>
            <a:r>
              <a:rPr lang="ja-JP" altLang="en-US"/>
              <a:t>の使い道</a:t>
            </a:r>
            <a:r>
              <a:rPr lang="en-US" altLang="ja-JP"/>
              <a:t>(</a:t>
            </a:r>
            <a:r>
              <a:rPr lang="ja-JP" altLang="en-US"/>
              <a:t>例</a:t>
            </a:r>
            <a:r>
              <a:rPr lang="en-US" altLang="ja-JP"/>
              <a:t>)</a:t>
            </a:r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370C6DC-365C-76D2-C359-DF1B5BC37FDA}"/>
              </a:ext>
            </a:extLst>
          </p:cNvPr>
          <p:cNvSpPr txBox="1"/>
          <p:nvPr/>
        </p:nvSpPr>
        <p:spPr>
          <a:xfrm>
            <a:off x="179512" y="1196752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solidFill>
                  <a:srgbClr val="011893"/>
                </a:solidFill>
              </a:rPr>
              <a:t>データ共有</a:t>
            </a:r>
            <a:endParaRPr lang="en-US" sz="320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3DC18B5-2656-46F0-9921-CBA330BED528}"/>
              </a:ext>
            </a:extLst>
          </p:cNvPr>
          <p:cNvSpPr txBox="1"/>
          <p:nvPr/>
        </p:nvSpPr>
        <p:spPr>
          <a:xfrm>
            <a:off x="899592" y="1844824"/>
            <a:ext cx="63401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論文執筆に使ったデータを公開</a:t>
            </a:r>
            <a:endParaRPr kumimoji="1" lang="en-US" altLang="ja-JP" sz="3200"/>
          </a:p>
          <a:p>
            <a:r>
              <a:rPr lang="en-US" altLang="ja-JP" sz="3200"/>
              <a:t>ex) </a:t>
            </a:r>
            <a:r>
              <a:rPr lang="ja-JP" altLang="en-US" sz="3200"/>
              <a:t>物性研究所データリポジトリ</a:t>
            </a:r>
            <a:endParaRPr kumimoji="1" lang="ja-JP" altLang="en-US" sz="32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8B01BB-FADF-0B47-B431-F8F6FCF9C128}"/>
              </a:ext>
            </a:extLst>
          </p:cNvPr>
          <p:cNvSpPr txBox="1"/>
          <p:nvPr/>
        </p:nvSpPr>
        <p:spPr>
          <a:xfrm>
            <a:off x="179512" y="3717032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solidFill>
                  <a:srgbClr val="011893"/>
                </a:solidFill>
              </a:rPr>
              <a:t>講義ノート公開</a:t>
            </a:r>
            <a:endParaRPr lang="en-US" sz="3200">
              <a:solidFill>
                <a:srgbClr val="011893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0E09486-8663-D7ED-0DDC-2F5D75B1ABD4}"/>
              </a:ext>
            </a:extLst>
          </p:cNvPr>
          <p:cNvSpPr txBox="1"/>
          <p:nvPr/>
        </p:nvSpPr>
        <p:spPr>
          <a:xfrm>
            <a:off x="899592" y="4509120"/>
            <a:ext cx="592982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/>
              <a:t>GitHub</a:t>
            </a:r>
            <a:r>
              <a:rPr kumimoji="1" lang="ja-JP" altLang="en-US" sz="3200"/>
              <a:t>で講義ノートを公開</a:t>
            </a:r>
            <a:endParaRPr kumimoji="1" lang="en-US" altLang="ja-JP" sz="3200"/>
          </a:p>
          <a:p>
            <a:r>
              <a:rPr lang="ja-JP" altLang="en-US" sz="3200"/>
              <a:t>スマホで閲覧可能</a:t>
            </a:r>
            <a:endParaRPr lang="en-US" altLang="ja-JP" sz="3200"/>
          </a:p>
          <a:p>
            <a:r>
              <a:rPr kumimoji="1" lang="ja-JP" altLang="en-US" sz="3200"/>
              <a:t>退職後も消えない可能性が高い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AC69FFC-18EA-26B2-F4D9-B91520A0965A}"/>
              </a:ext>
            </a:extLst>
          </p:cNvPr>
          <p:cNvSpPr txBox="1"/>
          <p:nvPr/>
        </p:nvSpPr>
        <p:spPr>
          <a:xfrm>
            <a:off x="1835696" y="2924944"/>
            <a:ext cx="6120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>
                <a:hlinkClick r:id="rId2"/>
              </a:rPr>
              <a:t>https://datarepo.mdcl.issp.u-tokyo.ac.jp/</a:t>
            </a:r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4177748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9D60D48-1340-B932-44CF-6A0165405F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コード開発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5FC0917-EB01-706F-A391-BC464EE3AE08}"/>
              </a:ext>
            </a:extLst>
          </p:cNvPr>
          <p:cNvSpPr txBox="1"/>
          <p:nvPr/>
        </p:nvSpPr>
        <p:spPr>
          <a:xfrm>
            <a:off x="1043608" y="1703081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ローカルで開発、リモートに保存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C8DC911-D90A-2610-A381-C81E917A1216}"/>
              </a:ext>
            </a:extLst>
          </p:cNvPr>
          <p:cNvSpPr txBox="1"/>
          <p:nvPr/>
        </p:nvSpPr>
        <p:spPr>
          <a:xfrm>
            <a:off x="179512" y="111830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solidFill>
                  <a:srgbClr val="011893"/>
                </a:solidFill>
              </a:rPr>
              <a:t>バックアップ</a:t>
            </a:r>
            <a:endParaRPr lang="en-US" sz="3200" dirty="0">
              <a:solidFill>
                <a:srgbClr val="011893"/>
              </a:solidFill>
            </a:endParaRPr>
          </a:p>
        </p:txBody>
      </p:sp>
      <p:pic>
        <p:nvPicPr>
          <p:cNvPr id="5" name="Picture 10" descr="パソコンを使う会社員のイラスト（男性・笑顔）">
            <a:extLst>
              <a:ext uri="{FF2B5EF4-FFF2-40B4-BE49-F238E27FC236}">
                <a16:creationId xmlns:a16="http://schemas.microsoft.com/office/drawing/2014/main" id="{1F3BCFC6-CFD1-21E5-5AE9-BDD2AE415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43" y="2811076"/>
            <a:ext cx="850171" cy="123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82CDAE1-C4FA-301C-9124-3D7BB3FEA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364" y="3303346"/>
            <a:ext cx="738048" cy="73804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5D0F384-B428-E95F-EFF6-155BF3D88D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324" y="2799290"/>
            <a:ext cx="1368152" cy="560942"/>
          </a:xfrm>
          <a:prstGeom prst="rect">
            <a:avLst/>
          </a:prstGeom>
        </p:spPr>
      </p:pic>
      <p:sp>
        <p:nvSpPr>
          <p:cNvPr id="9" name="円柱 8">
            <a:extLst>
              <a:ext uri="{FF2B5EF4-FFF2-40B4-BE49-F238E27FC236}">
                <a16:creationId xmlns:a16="http://schemas.microsoft.com/office/drawing/2014/main" id="{D8BF2671-E03C-C3D5-0528-863BA96195A9}"/>
              </a:ext>
            </a:extLst>
          </p:cNvPr>
          <p:cNvSpPr/>
          <p:nvPr/>
        </p:nvSpPr>
        <p:spPr>
          <a:xfrm>
            <a:off x="2704592" y="4566997"/>
            <a:ext cx="648072" cy="754178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CDCEF958-C7DC-BA3A-D819-7CC301F343FB}"/>
              </a:ext>
            </a:extLst>
          </p:cNvPr>
          <p:cNvCxnSpPr>
            <a:cxnSpLocks/>
            <a:stCxn id="5" idx="2"/>
            <a:endCxn id="9" idx="1"/>
          </p:cNvCxnSpPr>
          <p:nvPr/>
        </p:nvCxnSpPr>
        <p:spPr>
          <a:xfrm flipH="1">
            <a:off x="3028628" y="4045764"/>
            <a:ext cx="1" cy="5212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AFAE25F-055A-57CE-3EB1-313165F8EEC1}"/>
              </a:ext>
            </a:extLst>
          </p:cNvPr>
          <p:cNvSpPr txBox="1"/>
          <p:nvPr/>
        </p:nvSpPr>
        <p:spPr>
          <a:xfrm>
            <a:off x="3067010" y="410084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コミット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CFB474B8-4EFC-2947-30D7-FAFDF5EDCB4F}"/>
              </a:ext>
            </a:extLst>
          </p:cNvPr>
          <p:cNvCxnSpPr>
            <a:stCxn id="5" idx="3"/>
          </p:cNvCxnSpPr>
          <p:nvPr/>
        </p:nvCxnSpPr>
        <p:spPr>
          <a:xfrm>
            <a:off x="3453714" y="3428420"/>
            <a:ext cx="2800610" cy="58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6E0DA69-5062-0247-5F9B-24E2D39ECEBF}"/>
              </a:ext>
            </a:extLst>
          </p:cNvPr>
          <p:cNvSpPr txBox="1"/>
          <p:nvPr/>
        </p:nvSpPr>
        <p:spPr>
          <a:xfrm>
            <a:off x="4291388" y="289509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プッシュ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042180B-1A04-58B2-3EC7-B2F4639569A9}"/>
              </a:ext>
            </a:extLst>
          </p:cNvPr>
          <p:cNvSpPr txBox="1"/>
          <p:nvPr/>
        </p:nvSpPr>
        <p:spPr>
          <a:xfrm>
            <a:off x="505736" y="5661248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コミットの頻度：デバッグの単位</a:t>
            </a:r>
            <a:endParaRPr kumimoji="1" lang="en-US" altLang="ja-JP" sz="2400" dirty="0"/>
          </a:p>
          <a:p>
            <a:r>
              <a:rPr lang="ja-JP" altLang="en-US" sz="2400"/>
              <a:t>プッシュの頻度：データが失われた時の手戻りの時間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373820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22D9F46-541A-FB2E-3692-C7F204F26E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コード開発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1C019B-8674-B19D-B7E9-66404198C7E2}"/>
              </a:ext>
            </a:extLst>
          </p:cNvPr>
          <p:cNvSpPr txBox="1"/>
          <p:nvPr/>
        </p:nvSpPr>
        <p:spPr>
          <a:xfrm>
            <a:off x="323528" y="105273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solidFill>
                  <a:srgbClr val="011893"/>
                </a:solidFill>
              </a:rPr>
              <a:t>ブランチによる作業分離</a:t>
            </a:r>
            <a:endParaRPr lang="en-US" sz="3200" dirty="0">
              <a:solidFill>
                <a:srgbClr val="011893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091D037-CB44-3A94-5D0D-345C4226A87A}"/>
              </a:ext>
            </a:extLst>
          </p:cNvPr>
          <p:cNvSpPr/>
          <p:nvPr/>
        </p:nvSpPr>
        <p:spPr>
          <a:xfrm>
            <a:off x="1902211" y="3258720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3687B20-5DF2-1902-2065-270B4A49AFDD}"/>
              </a:ext>
            </a:extLst>
          </p:cNvPr>
          <p:cNvSpPr txBox="1"/>
          <p:nvPr/>
        </p:nvSpPr>
        <p:spPr>
          <a:xfrm>
            <a:off x="840928" y="3321436"/>
            <a:ext cx="1008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main</a:t>
            </a:r>
          </a:p>
        </p:txBody>
      </p:sp>
      <p:sp>
        <p:nvSpPr>
          <p:cNvPr id="7" name="楕円 4">
            <a:extLst>
              <a:ext uri="{FF2B5EF4-FFF2-40B4-BE49-F238E27FC236}">
                <a16:creationId xmlns:a16="http://schemas.microsoft.com/office/drawing/2014/main" id="{87856BB0-8DFF-67CF-0891-70A4B428933A}"/>
              </a:ext>
            </a:extLst>
          </p:cNvPr>
          <p:cNvSpPr/>
          <p:nvPr/>
        </p:nvSpPr>
        <p:spPr>
          <a:xfrm>
            <a:off x="4133778" y="4134798"/>
            <a:ext cx="432048" cy="432048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AAEADCA-0119-2C4E-48E9-3142C364798E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2270987" y="3627496"/>
            <a:ext cx="1926063" cy="570574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C53D56C-4E01-649E-5BB0-6E535445ACED}"/>
              </a:ext>
            </a:extLst>
          </p:cNvPr>
          <p:cNvSpPr txBox="1"/>
          <p:nvPr/>
        </p:nvSpPr>
        <p:spPr>
          <a:xfrm>
            <a:off x="755576" y="4134798"/>
            <a:ext cx="1008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feature</a:t>
            </a:r>
          </a:p>
        </p:txBody>
      </p:sp>
      <p:sp>
        <p:nvSpPr>
          <p:cNvPr id="13" name="楕円 4">
            <a:extLst>
              <a:ext uri="{FF2B5EF4-FFF2-40B4-BE49-F238E27FC236}">
                <a16:creationId xmlns:a16="http://schemas.microsoft.com/office/drawing/2014/main" id="{F729403F-5C13-6EA8-C5D0-13A1F3535153}"/>
              </a:ext>
            </a:extLst>
          </p:cNvPr>
          <p:cNvSpPr/>
          <p:nvPr/>
        </p:nvSpPr>
        <p:spPr>
          <a:xfrm>
            <a:off x="4138536" y="3265201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95FFB87-77F7-2461-F1AF-0A94D3258215}"/>
              </a:ext>
            </a:extLst>
          </p:cNvPr>
          <p:cNvCxnSpPr>
            <a:cxnSpLocks/>
            <a:stCxn id="5" idx="6"/>
            <a:endCxn id="13" idx="2"/>
          </p:cNvCxnSpPr>
          <p:nvPr/>
        </p:nvCxnSpPr>
        <p:spPr>
          <a:xfrm>
            <a:off x="2334259" y="3474744"/>
            <a:ext cx="1804277" cy="6481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3BDB4B8-DF87-9201-2B80-B08D0B7C44EB}"/>
              </a:ext>
            </a:extLst>
          </p:cNvPr>
          <p:cNvCxnSpPr>
            <a:cxnSpLocks/>
            <a:stCxn id="7" idx="7"/>
            <a:endCxn id="21" idx="3"/>
          </p:cNvCxnSpPr>
          <p:nvPr/>
        </p:nvCxnSpPr>
        <p:spPr>
          <a:xfrm flipV="1">
            <a:off x="4502554" y="3637393"/>
            <a:ext cx="1751889" cy="56067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楕円 4">
            <a:extLst>
              <a:ext uri="{FF2B5EF4-FFF2-40B4-BE49-F238E27FC236}">
                <a16:creationId xmlns:a16="http://schemas.microsoft.com/office/drawing/2014/main" id="{EB0C4457-0E26-25CB-12A6-9C36D2A2F25C}"/>
              </a:ext>
            </a:extLst>
          </p:cNvPr>
          <p:cNvSpPr/>
          <p:nvPr/>
        </p:nvSpPr>
        <p:spPr>
          <a:xfrm>
            <a:off x="6191171" y="3268617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830CA090-F3DC-7FE6-6CA0-784CF4D0A8B7}"/>
              </a:ext>
            </a:extLst>
          </p:cNvPr>
          <p:cNvCxnSpPr>
            <a:cxnSpLocks/>
            <a:stCxn id="13" idx="6"/>
            <a:endCxn id="21" idx="2"/>
          </p:cNvCxnSpPr>
          <p:nvPr/>
        </p:nvCxnSpPr>
        <p:spPr>
          <a:xfrm>
            <a:off x="4570584" y="3481225"/>
            <a:ext cx="1620587" cy="341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EDF98FE-4C20-EE7D-B31D-C036C99D9F78}"/>
              </a:ext>
            </a:extLst>
          </p:cNvPr>
          <p:cNvSpPr txBox="1"/>
          <p:nvPr/>
        </p:nvSpPr>
        <p:spPr>
          <a:xfrm>
            <a:off x="594850" y="1647719"/>
            <a:ext cx="5262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コードに新しい機能を追加中にバグが見つかった</a:t>
            </a:r>
            <a:endParaRPr kumimoji="1" lang="en-US" altLang="ja-JP" dirty="0"/>
          </a:p>
          <a:p>
            <a:r>
              <a:rPr lang="ja-JP" altLang="en-US"/>
              <a:t>新しい機能追加とバグ修正を同時にやりたくない</a:t>
            </a:r>
            <a:endParaRPr lang="en-US" altLang="ja-JP" dirty="0"/>
          </a:p>
          <a:p>
            <a:r>
              <a:rPr kumimoji="1" lang="ja-JP" altLang="en-US"/>
              <a:t>→</a:t>
            </a:r>
            <a:r>
              <a:rPr kumimoji="1" lang="en-US" altLang="ja-JP" dirty="0"/>
              <a:t> </a:t>
            </a:r>
            <a:r>
              <a:rPr kumimoji="1" lang="ja-JP" altLang="en-US">
                <a:solidFill>
                  <a:srgbClr val="FF0000"/>
                </a:solidFill>
              </a:rPr>
              <a:t>ブランチによる作業分離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45FEF0B-4D2D-E935-B46C-9233BB3E76CD}"/>
              </a:ext>
            </a:extLst>
          </p:cNvPr>
          <p:cNvSpPr txBox="1"/>
          <p:nvPr/>
        </p:nvSpPr>
        <p:spPr>
          <a:xfrm>
            <a:off x="2544510" y="3774993"/>
            <a:ext cx="146065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1. </a:t>
            </a:r>
            <a:r>
              <a:rPr kumimoji="1" lang="ja-JP" altLang="en-US" sz="1400"/>
              <a:t>機能追加開始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5008C87-FE0B-0582-F75D-464AA6687A27}"/>
              </a:ext>
            </a:extLst>
          </p:cNvPr>
          <p:cNvSpPr txBox="1"/>
          <p:nvPr/>
        </p:nvSpPr>
        <p:spPr>
          <a:xfrm>
            <a:off x="3779912" y="2873199"/>
            <a:ext cx="110158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2. </a:t>
            </a:r>
            <a:r>
              <a:rPr kumimoji="1" lang="ja-JP" altLang="en-US" sz="1400"/>
              <a:t>バグ修正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B724D2D-96CD-FE33-FB71-4F3A61AEA112}"/>
              </a:ext>
            </a:extLst>
          </p:cNvPr>
          <p:cNvSpPr txBox="1"/>
          <p:nvPr/>
        </p:nvSpPr>
        <p:spPr>
          <a:xfrm>
            <a:off x="4737938" y="3774993"/>
            <a:ext cx="128112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3. </a:t>
            </a:r>
            <a:r>
              <a:rPr kumimoji="1" lang="ja-JP" altLang="en-US" sz="1400"/>
              <a:t>機能マージ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F2EAFC94-1561-4DE5-32C3-DF298CBB9CD4}"/>
              </a:ext>
            </a:extLst>
          </p:cNvPr>
          <p:cNvSpPr txBox="1"/>
          <p:nvPr/>
        </p:nvSpPr>
        <p:spPr>
          <a:xfrm>
            <a:off x="1475656" y="4916661"/>
            <a:ext cx="51475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ja-JP" altLang="en-US"/>
              <a:t>機能追加時に新しいブランチで作業</a:t>
            </a:r>
            <a:endParaRPr lang="en-US" altLang="ja-JP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/>
              <a:t>バグ発見時、</a:t>
            </a:r>
            <a:r>
              <a:rPr kumimoji="1" lang="en-US" altLang="ja-JP" dirty="0"/>
              <a:t>main</a:t>
            </a:r>
            <a:r>
              <a:rPr kumimoji="1" lang="ja-JP" altLang="en-US"/>
              <a:t>に戻って修正</a:t>
            </a:r>
            <a:endParaRPr kumimoji="1" lang="en-US" altLang="ja-JP" dirty="0"/>
          </a:p>
          <a:p>
            <a:pPr marL="342900" indent="-342900">
              <a:buFont typeface="+mj-lt"/>
              <a:buAutoNum type="arabicPeriod"/>
            </a:pPr>
            <a:r>
              <a:rPr lang="ja-JP" altLang="en-US"/>
              <a:t>バグ修正後にブランチに戻り、機能をマージ</a:t>
            </a:r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DAD63B5-0679-CD74-3979-136042728E9A}"/>
              </a:ext>
            </a:extLst>
          </p:cNvPr>
          <p:cNvSpPr txBox="1"/>
          <p:nvPr/>
        </p:nvSpPr>
        <p:spPr>
          <a:xfrm>
            <a:off x="840928" y="6237312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自分がいまどの作業をしているかが明確に</a:t>
            </a:r>
          </a:p>
        </p:txBody>
      </p:sp>
    </p:spTree>
    <p:extLst>
      <p:ext uri="{BB962C8B-B14F-4D97-AF65-F5344CB8AC3E}">
        <p14:creationId xmlns:p14="http://schemas.microsoft.com/office/powerpoint/2010/main" val="4199013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ED543A0-297F-A75A-5AAC-DEA896CEE7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コード開発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9D5EA5C-5269-2ED3-B247-0312D4B594F0}"/>
              </a:ext>
            </a:extLst>
          </p:cNvPr>
          <p:cNvSpPr txBox="1"/>
          <p:nvPr/>
        </p:nvSpPr>
        <p:spPr>
          <a:xfrm>
            <a:off x="241103" y="1186085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solidFill>
                  <a:srgbClr val="011893"/>
                </a:solidFill>
              </a:rPr>
              <a:t>歴史を使ったデバッグ</a:t>
            </a:r>
            <a:endParaRPr lang="en-US" sz="3200" dirty="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0EB341D-F17B-5774-8D16-3687AC5EF515}"/>
              </a:ext>
            </a:extLst>
          </p:cNvPr>
          <p:cNvSpPr txBox="1"/>
          <p:nvPr/>
        </p:nvSpPr>
        <p:spPr>
          <a:xfrm>
            <a:off x="633330" y="1941665"/>
            <a:ext cx="5955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バグ発見時、古いバージョンへの切り替えが非常に簡単</a:t>
            </a:r>
            <a:endParaRPr kumimoji="1" lang="en-US" altLang="ja-JP" dirty="0"/>
          </a:p>
          <a:p>
            <a:r>
              <a:rPr kumimoji="1" lang="ja-JP" altLang="en-US"/>
              <a:t>二分探索によりバグの挿入箇所を特定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5E13204B-7C1E-0045-9558-F75CE047EFBD}"/>
              </a:ext>
            </a:extLst>
          </p:cNvPr>
          <p:cNvSpPr/>
          <p:nvPr/>
        </p:nvSpPr>
        <p:spPr>
          <a:xfrm>
            <a:off x="1826960" y="3764009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4">
            <a:extLst>
              <a:ext uri="{FF2B5EF4-FFF2-40B4-BE49-F238E27FC236}">
                <a16:creationId xmlns:a16="http://schemas.microsoft.com/office/drawing/2014/main" id="{10396E47-A81A-32AB-A2DF-043D003FBF20}"/>
              </a:ext>
            </a:extLst>
          </p:cNvPr>
          <p:cNvSpPr/>
          <p:nvPr/>
        </p:nvSpPr>
        <p:spPr>
          <a:xfrm>
            <a:off x="3267120" y="3764009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4">
            <a:extLst>
              <a:ext uri="{FF2B5EF4-FFF2-40B4-BE49-F238E27FC236}">
                <a16:creationId xmlns:a16="http://schemas.microsoft.com/office/drawing/2014/main" id="{BDD11890-773D-0534-BF5F-A44E300B91A5}"/>
              </a:ext>
            </a:extLst>
          </p:cNvPr>
          <p:cNvSpPr/>
          <p:nvPr/>
        </p:nvSpPr>
        <p:spPr>
          <a:xfrm>
            <a:off x="4707280" y="3764009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98513AB1-0307-5826-FEA7-E6951EA2C9E4}"/>
              </a:ext>
            </a:extLst>
          </p:cNvPr>
          <p:cNvSpPr/>
          <p:nvPr/>
        </p:nvSpPr>
        <p:spPr>
          <a:xfrm>
            <a:off x="6147440" y="3764009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FB33F36-E104-E4C7-C522-4F8A28E3B687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2259008" y="3980033"/>
            <a:ext cx="1008112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F18D32F-7824-8276-5396-D1E55FE57005}"/>
              </a:ext>
            </a:extLst>
          </p:cNvPr>
          <p:cNvCxnSpPr>
            <a:cxnSpLocks/>
          </p:cNvCxnSpPr>
          <p:nvPr/>
        </p:nvCxnSpPr>
        <p:spPr>
          <a:xfrm>
            <a:off x="3699168" y="3980033"/>
            <a:ext cx="1008112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3D680A3-2BC6-4C67-56C1-12B7E3316E22}"/>
              </a:ext>
            </a:extLst>
          </p:cNvPr>
          <p:cNvCxnSpPr>
            <a:cxnSpLocks/>
          </p:cNvCxnSpPr>
          <p:nvPr/>
        </p:nvCxnSpPr>
        <p:spPr>
          <a:xfrm>
            <a:off x="5139328" y="3980033"/>
            <a:ext cx="1008112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爆発 1 11">
            <a:extLst>
              <a:ext uri="{FF2B5EF4-FFF2-40B4-BE49-F238E27FC236}">
                <a16:creationId xmlns:a16="http://schemas.microsoft.com/office/drawing/2014/main" id="{1F3E0E89-296B-B8D3-0ED7-0BF1C79E3D4F}"/>
              </a:ext>
            </a:extLst>
          </p:cNvPr>
          <p:cNvSpPr/>
          <p:nvPr/>
        </p:nvSpPr>
        <p:spPr>
          <a:xfrm rot="20700000">
            <a:off x="3963485" y="3774115"/>
            <a:ext cx="447295" cy="419888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D0A6FE0-3093-E3A2-BDA7-8CACA14E6D39}"/>
              </a:ext>
            </a:extLst>
          </p:cNvPr>
          <p:cNvSpPr txBox="1"/>
          <p:nvPr/>
        </p:nvSpPr>
        <p:spPr>
          <a:xfrm>
            <a:off x="4590554" y="429365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バグってるバージョン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9478B87-9117-CDA9-BB9C-DB83271CF1AE}"/>
              </a:ext>
            </a:extLst>
          </p:cNvPr>
          <p:cNvSpPr txBox="1"/>
          <p:nvPr/>
        </p:nvSpPr>
        <p:spPr>
          <a:xfrm>
            <a:off x="1547664" y="427000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正常なバージョン</a:t>
            </a:r>
          </a:p>
        </p:txBody>
      </p:sp>
      <p:cxnSp>
        <p:nvCxnSpPr>
          <p:cNvPr id="15" name="カギ線コネクタ 14">
            <a:extLst>
              <a:ext uri="{FF2B5EF4-FFF2-40B4-BE49-F238E27FC236}">
                <a16:creationId xmlns:a16="http://schemas.microsoft.com/office/drawing/2014/main" id="{15F97BF3-EFEA-7D7D-7829-4CF43178F7A1}"/>
              </a:ext>
            </a:extLst>
          </p:cNvPr>
          <p:cNvCxnSpPr>
            <a:cxnSpLocks/>
            <a:stCxn id="6" idx="0"/>
            <a:endCxn id="7" idx="0"/>
          </p:cNvCxnSpPr>
          <p:nvPr/>
        </p:nvCxnSpPr>
        <p:spPr>
          <a:xfrm rot="5400000" flipH="1" flipV="1">
            <a:off x="4203224" y="3043929"/>
            <a:ext cx="12700" cy="1440160"/>
          </a:xfrm>
          <a:prstGeom prst="bentConnector3">
            <a:avLst>
              <a:gd name="adj1" fmla="val 1669087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5E2E618-8700-985F-7655-34DC50821823}"/>
              </a:ext>
            </a:extLst>
          </p:cNvPr>
          <p:cNvSpPr txBox="1"/>
          <p:nvPr/>
        </p:nvSpPr>
        <p:spPr>
          <a:xfrm>
            <a:off x="3521204" y="325578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バグの範囲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61DA33F-FAA5-EF4F-76D2-459933B7E356}"/>
              </a:ext>
            </a:extLst>
          </p:cNvPr>
          <p:cNvSpPr txBox="1"/>
          <p:nvPr/>
        </p:nvSpPr>
        <p:spPr>
          <a:xfrm>
            <a:off x="633330" y="5877272"/>
            <a:ext cx="70567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/>
              <a:t>容疑者の範囲は「コミットの頻度」により決まる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3989032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AC63E10-018D-F74F-2EC1-D1110BBD40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コード開発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3AF7CFB-0665-9A43-2C75-010D83945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952" y="1482852"/>
            <a:ext cx="738048" cy="73804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9277B0F3-C55F-398F-5964-702B867598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912" y="906788"/>
            <a:ext cx="1368152" cy="560942"/>
          </a:xfrm>
          <a:prstGeom prst="rect">
            <a:avLst/>
          </a:prstGeom>
        </p:spPr>
      </p:pic>
      <p:pic>
        <p:nvPicPr>
          <p:cNvPr id="5" name="Picture 2" descr="会社で働く人のイラスト（男性）">
            <a:extLst>
              <a:ext uri="{FF2B5EF4-FFF2-40B4-BE49-F238E27FC236}">
                <a16:creationId xmlns:a16="http://schemas.microsoft.com/office/drawing/2014/main" id="{6DBE4B78-1902-D628-50BC-43378A01F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356992"/>
            <a:ext cx="975544" cy="97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8ADDBF-4F6D-0A8A-7F9F-A211DC722AB9}"/>
              </a:ext>
            </a:extLst>
          </p:cNvPr>
          <p:cNvSpPr txBox="1"/>
          <p:nvPr/>
        </p:nvSpPr>
        <p:spPr>
          <a:xfrm>
            <a:off x="539552" y="29969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ローカル</a:t>
            </a:r>
          </a:p>
        </p:txBody>
      </p:sp>
      <p:pic>
        <p:nvPicPr>
          <p:cNvPr id="7" name="Picture 4" descr="スーパーコンピューターのイラスト（赤）">
            <a:extLst>
              <a:ext uri="{FF2B5EF4-FFF2-40B4-BE49-F238E27FC236}">
                <a16:creationId xmlns:a16="http://schemas.microsoft.com/office/drawing/2014/main" id="{E612E988-3C76-0D5C-7B9F-4A691767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3180408"/>
            <a:ext cx="1152128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サーバーのイラスト（1台）">
            <a:extLst>
              <a:ext uri="{FF2B5EF4-FFF2-40B4-BE49-F238E27FC236}">
                <a16:creationId xmlns:a16="http://schemas.microsoft.com/office/drawing/2014/main" id="{842B232E-1246-B186-26DB-72653F593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539" y="3296583"/>
            <a:ext cx="901607" cy="1066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2650198F-6AF6-EA95-38D5-9CBE567045B0}"/>
              </a:ext>
            </a:extLst>
          </p:cNvPr>
          <p:cNvCxnSpPr>
            <a:stCxn id="6" idx="3"/>
          </p:cNvCxnSpPr>
          <p:nvPr/>
        </p:nvCxnSpPr>
        <p:spPr>
          <a:xfrm flipV="1">
            <a:off x="1647548" y="1988840"/>
            <a:ext cx="1916340" cy="119277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80F8372-8C2A-E1A9-03EF-14396664F4C7}"/>
              </a:ext>
            </a:extLst>
          </p:cNvPr>
          <p:cNvCxnSpPr>
            <a:cxnSpLocks/>
            <a:stCxn id="3" idx="2"/>
            <a:endCxn id="16" idx="0"/>
          </p:cNvCxnSpPr>
          <p:nvPr/>
        </p:nvCxnSpPr>
        <p:spPr>
          <a:xfrm flipH="1">
            <a:off x="4202975" y="2220900"/>
            <a:ext cx="1" cy="69475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C975F71-BA8D-D0F1-781F-A4278C97910F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4572000" y="1988840"/>
            <a:ext cx="2348388" cy="89545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2EAB2BF-7130-0C64-AF63-BE110D2B607F}"/>
              </a:ext>
            </a:extLst>
          </p:cNvPr>
          <p:cNvSpPr txBox="1"/>
          <p:nvPr/>
        </p:nvSpPr>
        <p:spPr>
          <a:xfrm>
            <a:off x="3648977" y="29156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クラスタ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0D97388-7C76-0560-4C1D-C78B992345A0}"/>
              </a:ext>
            </a:extLst>
          </p:cNvPr>
          <p:cNvSpPr txBox="1"/>
          <p:nvPr/>
        </p:nvSpPr>
        <p:spPr>
          <a:xfrm>
            <a:off x="6920388" y="26996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スパコン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89FD145-155B-2365-4E0D-4C7ABBE27CFD}"/>
              </a:ext>
            </a:extLst>
          </p:cNvPr>
          <p:cNvSpPr txBox="1"/>
          <p:nvPr/>
        </p:nvSpPr>
        <p:spPr>
          <a:xfrm>
            <a:off x="311859" y="4501227"/>
            <a:ext cx="8520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原則として、コードはローカルで開発、</a:t>
            </a:r>
            <a:r>
              <a:rPr kumimoji="1" lang="en-US" altLang="ja-JP" dirty="0"/>
              <a:t>GitHub</a:t>
            </a:r>
            <a:r>
              <a:rPr kumimoji="1" lang="ja-JP" altLang="en-US"/>
              <a:t>を経由してクラスタやスパコンへ</a:t>
            </a:r>
            <a:endParaRPr kumimoji="1" lang="en-US" altLang="ja-JP" dirty="0"/>
          </a:p>
          <a:p>
            <a:r>
              <a:rPr kumimoji="1" lang="ja-JP" altLang="en-US">
                <a:solidFill>
                  <a:srgbClr val="FF0000"/>
                </a:solidFill>
              </a:rPr>
              <a:t>ローカルとクラスタやスパコンで異なるバージョンの共存を防ぐ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0CA77C7-132F-B08F-24BB-D335ADA8359F}"/>
              </a:ext>
            </a:extLst>
          </p:cNvPr>
          <p:cNvSpPr txBox="1"/>
          <p:nvPr/>
        </p:nvSpPr>
        <p:spPr>
          <a:xfrm>
            <a:off x="311859" y="5389025"/>
            <a:ext cx="7560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実行サイトに依存するコード</a:t>
            </a:r>
            <a:r>
              <a:rPr lang="en-US" altLang="ja-JP" sz="2000" dirty="0"/>
              <a:t>(SIMD</a:t>
            </a:r>
            <a:r>
              <a:rPr lang="ja-JP" altLang="en-US" sz="2000"/>
              <a:t>とか</a:t>
            </a:r>
            <a:r>
              <a:rPr lang="en-US" altLang="ja-JP" sz="2000" dirty="0"/>
              <a:t>)</a:t>
            </a:r>
            <a:r>
              <a:rPr lang="ja-JP" altLang="en-US" sz="2000"/>
              <a:t>の差異は、</a:t>
            </a:r>
            <a:r>
              <a:rPr kumimoji="1" lang="en-US" altLang="ja-JP" sz="2000" dirty="0"/>
              <a:t>Makefile</a:t>
            </a:r>
            <a:r>
              <a:rPr kumimoji="1" lang="ja-JP" altLang="en-US" sz="2000"/>
              <a:t>などのビルドシステムなどで吸収する</a:t>
            </a:r>
          </a:p>
        </p:txBody>
      </p:sp>
    </p:spTree>
    <p:extLst>
      <p:ext uri="{BB962C8B-B14F-4D97-AF65-F5344CB8AC3E}">
        <p14:creationId xmlns:p14="http://schemas.microsoft.com/office/powerpoint/2010/main" val="488755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FD0756C-E979-168E-80AC-59639D715E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ストレージサービスとの違い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0D251D-8249-A0A9-C2F2-70152B0F19EA}"/>
              </a:ext>
            </a:extLst>
          </p:cNvPr>
          <p:cNvSpPr txBox="1"/>
          <p:nvPr/>
        </p:nvSpPr>
        <p:spPr>
          <a:xfrm>
            <a:off x="323528" y="1176546"/>
            <a:ext cx="77893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Google</a:t>
            </a:r>
            <a:r>
              <a:rPr kumimoji="1" lang="ja-JP" altLang="en-US"/>
              <a:t>ドライブや</a:t>
            </a:r>
            <a:r>
              <a:rPr kumimoji="1" lang="en-US" altLang="ja-JP" dirty="0"/>
              <a:t>Box</a:t>
            </a:r>
            <a:r>
              <a:rPr kumimoji="1" lang="ja-JP" altLang="en-US"/>
              <a:t>など、オンラインのファイル保存サービスの利用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バージョン管理や履歴からの復元機能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バックアップとしての機能は充実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solidFill>
                  <a:srgbClr val="FF0000"/>
                </a:solidFill>
              </a:rPr>
              <a:t>管理対象ファイルの除外ができない</a:t>
            </a:r>
            <a:r>
              <a:rPr kumimoji="1" lang="en-US" altLang="ja-JP" dirty="0">
                <a:solidFill>
                  <a:srgbClr val="FF0000"/>
                </a:solidFill>
              </a:rPr>
              <a:t> or </a:t>
            </a:r>
            <a:r>
              <a:rPr kumimoji="1" lang="ja-JP" altLang="en-US">
                <a:solidFill>
                  <a:srgbClr val="FF0000"/>
                </a:solidFill>
              </a:rPr>
              <a:t>面倒であることが多い</a:t>
            </a:r>
            <a:endParaRPr lang="en-US" altLang="ja-JP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solidFill>
                  <a:srgbClr val="FF0000"/>
                </a:solidFill>
              </a:rPr>
              <a:t>バックアップのタイミングの指定ができない</a:t>
            </a:r>
            <a:r>
              <a:rPr kumimoji="1" lang="en-US" altLang="ja-JP" dirty="0">
                <a:solidFill>
                  <a:srgbClr val="FF0000"/>
                </a:solidFill>
              </a:rPr>
              <a:t> or </a:t>
            </a:r>
            <a:r>
              <a:rPr kumimoji="1" lang="ja-JP" altLang="en-US">
                <a:solidFill>
                  <a:srgbClr val="FF0000"/>
                </a:solidFill>
              </a:rPr>
              <a:t>面倒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(</a:t>
            </a:r>
            <a:r>
              <a:rPr kumimoji="1" lang="ja-JP" altLang="en-US"/>
              <a:t>個人的な意見だが</a:t>
            </a:r>
            <a:r>
              <a:rPr kumimoji="1" lang="en-US" altLang="ja-JP" dirty="0"/>
              <a:t>)</a:t>
            </a:r>
            <a:r>
              <a:rPr kumimoji="1" lang="ja-JP" altLang="en-US"/>
              <a:t>操作ミスがわりと起きる</a:t>
            </a:r>
            <a:endParaRPr kumimoji="1"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D6A5836-EF3D-7B26-96DF-B9ED952EB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524" y="4073030"/>
            <a:ext cx="738048" cy="73804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1378FB3-E304-79C3-3A59-81097F71F7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690" y="3450873"/>
            <a:ext cx="1368152" cy="560942"/>
          </a:xfrm>
          <a:prstGeom prst="rect">
            <a:avLst/>
          </a:prstGeom>
        </p:spPr>
      </p:pic>
      <p:pic>
        <p:nvPicPr>
          <p:cNvPr id="7" name="Picture 2" descr="会社で働く人のイラスト（男性）">
            <a:extLst>
              <a:ext uri="{FF2B5EF4-FFF2-40B4-BE49-F238E27FC236}">
                <a16:creationId xmlns:a16="http://schemas.microsoft.com/office/drawing/2014/main" id="{35519A7F-A8AF-667A-6E8F-64C3A23F6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524" y="3964162"/>
            <a:ext cx="975544" cy="97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4C8AE3-764F-C480-39C2-3CE619B0217A}"/>
              </a:ext>
            </a:extLst>
          </p:cNvPr>
          <p:cNvSpPr txBox="1"/>
          <p:nvPr/>
        </p:nvSpPr>
        <p:spPr>
          <a:xfrm>
            <a:off x="859516" y="36041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ローカル</a:t>
            </a:r>
          </a:p>
        </p:txBody>
      </p:sp>
      <p:pic>
        <p:nvPicPr>
          <p:cNvPr id="9" name="Picture 4" descr="スーパーコンピューターのイラスト（赤）">
            <a:extLst>
              <a:ext uri="{FF2B5EF4-FFF2-40B4-BE49-F238E27FC236}">
                <a16:creationId xmlns:a16="http://schemas.microsoft.com/office/drawing/2014/main" id="{4055B9E4-6B69-AC6C-DA87-D5B2B957A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938" y="3886828"/>
            <a:ext cx="1152128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907E7ED-2D2F-912D-ABCB-AF60A119678F}"/>
              </a:ext>
            </a:extLst>
          </p:cNvPr>
          <p:cNvSpPr txBox="1"/>
          <p:nvPr/>
        </p:nvSpPr>
        <p:spPr>
          <a:xfrm>
            <a:off x="5918070" y="348048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スパコン</a:t>
            </a:r>
          </a:p>
        </p:txBody>
      </p:sp>
      <p:pic>
        <p:nvPicPr>
          <p:cNvPr id="2050" name="Picture 2" descr="ファイルアイコン（テキスト）">
            <a:extLst>
              <a:ext uri="{FF2B5EF4-FFF2-40B4-BE49-F238E27FC236}">
                <a16:creationId xmlns:a16="http://schemas.microsoft.com/office/drawing/2014/main" id="{7E99B452-DF6C-4C1B-B728-A0C58E1F4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310" y="5014149"/>
            <a:ext cx="668160" cy="77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ファイルアイコン（テキスト）">
            <a:extLst>
              <a:ext uri="{FF2B5EF4-FFF2-40B4-BE49-F238E27FC236}">
                <a16:creationId xmlns:a16="http://schemas.microsoft.com/office/drawing/2014/main" id="{44497A58-5545-8C6F-D917-6B892BC94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830" y="5014149"/>
            <a:ext cx="668160" cy="77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古雑誌のイラスト（ゴミ）">
            <a:extLst>
              <a:ext uri="{FF2B5EF4-FFF2-40B4-BE49-F238E27FC236}">
                <a16:creationId xmlns:a16="http://schemas.microsoft.com/office/drawing/2014/main" id="{4EE1D72C-CBE7-D63A-BB8A-49A312AC2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068" y="4982837"/>
            <a:ext cx="891871" cy="77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92E8744-20E4-D18F-4F30-A5CCB0B6C69C}"/>
              </a:ext>
            </a:extLst>
          </p:cNvPr>
          <p:cNvSpPr txBox="1"/>
          <p:nvPr/>
        </p:nvSpPr>
        <p:spPr>
          <a:xfrm>
            <a:off x="969808" y="579007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コード</a:t>
            </a:r>
          </a:p>
        </p:txBody>
      </p:sp>
      <p:sp>
        <p:nvSpPr>
          <p:cNvPr id="13" name="右矢印 12">
            <a:extLst>
              <a:ext uri="{FF2B5EF4-FFF2-40B4-BE49-F238E27FC236}">
                <a16:creationId xmlns:a16="http://schemas.microsoft.com/office/drawing/2014/main" id="{2BD1B465-837C-1A73-9455-22604651AA04}"/>
              </a:ext>
            </a:extLst>
          </p:cNvPr>
          <p:cNvSpPr/>
          <p:nvPr/>
        </p:nvSpPr>
        <p:spPr>
          <a:xfrm>
            <a:off x="5976114" y="5275319"/>
            <a:ext cx="398724" cy="3628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47405E0-3525-27D1-3DE2-0DF1B31E0DD0}"/>
              </a:ext>
            </a:extLst>
          </p:cNvPr>
          <p:cNvSpPr txBox="1"/>
          <p:nvPr/>
        </p:nvSpPr>
        <p:spPr>
          <a:xfrm>
            <a:off x="5198328" y="579007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コード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D778F4E-0E8D-BF27-29B5-966B0AE51F04}"/>
              </a:ext>
            </a:extLst>
          </p:cNvPr>
          <p:cNvSpPr txBox="1"/>
          <p:nvPr/>
        </p:nvSpPr>
        <p:spPr>
          <a:xfrm>
            <a:off x="6440521" y="57733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データ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4C2873C2-585C-7C81-2580-6E51B2AD701F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1907068" y="4442054"/>
            <a:ext cx="1515456" cy="988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BA0DEDE1-3330-638C-3ED0-BACC70519376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4160572" y="4442054"/>
            <a:ext cx="1713366" cy="2083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5E59AD4-41FB-2192-A6F4-BE5CD8F9CF96}"/>
              </a:ext>
            </a:extLst>
          </p:cNvPr>
          <p:cNvSpPr txBox="1"/>
          <p:nvPr/>
        </p:nvSpPr>
        <p:spPr>
          <a:xfrm>
            <a:off x="611560" y="6350027"/>
            <a:ext cx="7173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Git</a:t>
            </a:r>
            <a:r>
              <a:rPr kumimoji="1" lang="ja-JP" altLang="en-US"/>
              <a:t>では原則として「コードから生成できるファイル」は管理しない</a:t>
            </a:r>
          </a:p>
        </p:txBody>
      </p:sp>
      <p:sp>
        <p:nvSpPr>
          <p:cNvPr id="26" name="角丸四角形 25">
            <a:extLst>
              <a:ext uri="{FF2B5EF4-FFF2-40B4-BE49-F238E27FC236}">
                <a16:creationId xmlns:a16="http://schemas.microsoft.com/office/drawing/2014/main" id="{9B3AF0D7-46FF-B65B-9281-E88DBC3341FF}"/>
              </a:ext>
            </a:extLst>
          </p:cNvPr>
          <p:cNvSpPr/>
          <p:nvPr/>
        </p:nvSpPr>
        <p:spPr>
          <a:xfrm>
            <a:off x="6374838" y="4982837"/>
            <a:ext cx="1152128" cy="118914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526035A-07EA-9C24-E567-04B2D6086331}"/>
              </a:ext>
            </a:extLst>
          </p:cNvPr>
          <p:cNvSpPr txBox="1"/>
          <p:nvPr/>
        </p:nvSpPr>
        <p:spPr>
          <a:xfrm>
            <a:off x="7513709" y="4632574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Git</a:t>
            </a:r>
            <a:r>
              <a:rPr kumimoji="1" lang="ja-JP" altLang="en-US"/>
              <a:t>の</a:t>
            </a:r>
            <a:endParaRPr kumimoji="1" lang="en-US" altLang="ja-JP" dirty="0"/>
          </a:p>
          <a:p>
            <a:r>
              <a:rPr lang="ja-JP" altLang="en-US"/>
              <a:t>管理対象外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1571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7B4462B-D97C-EAA3-4C40-B44D6BE02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論文執筆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CB9795-A1DD-2E3E-3DE2-E08335022055}"/>
              </a:ext>
            </a:extLst>
          </p:cNvPr>
          <p:cNvSpPr txBox="1"/>
          <p:nvPr/>
        </p:nvSpPr>
        <p:spPr>
          <a:xfrm>
            <a:off x="1043608" y="1703081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ローカルで執筆、リモートに保存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D04A739-5E74-8CDF-3AB3-DD144F0B1EC3}"/>
              </a:ext>
            </a:extLst>
          </p:cNvPr>
          <p:cNvSpPr txBox="1"/>
          <p:nvPr/>
        </p:nvSpPr>
        <p:spPr>
          <a:xfrm>
            <a:off x="179512" y="111830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solidFill>
                  <a:srgbClr val="011893"/>
                </a:solidFill>
              </a:rPr>
              <a:t>バックアップ</a:t>
            </a:r>
            <a:endParaRPr lang="en-US" sz="3200" dirty="0">
              <a:solidFill>
                <a:srgbClr val="011893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E8125B8-9B5A-00C3-2035-B111DAD24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316" y="2985187"/>
            <a:ext cx="738048" cy="73804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D06D05B-8848-0670-FCA2-A62C80CB47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276" y="2481131"/>
            <a:ext cx="1368152" cy="560942"/>
          </a:xfrm>
          <a:prstGeom prst="rect">
            <a:avLst/>
          </a:prstGeom>
        </p:spPr>
      </p:pic>
      <p:sp>
        <p:nvSpPr>
          <p:cNvPr id="8" name="円柱 7">
            <a:extLst>
              <a:ext uri="{FF2B5EF4-FFF2-40B4-BE49-F238E27FC236}">
                <a16:creationId xmlns:a16="http://schemas.microsoft.com/office/drawing/2014/main" id="{3BE08246-854A-7C9B-09F1-6EA7ADDCCF70}"/>
              </a:ext>
            </a:extLst>
          </p:cNvPr>
          <p:cNvSpPr/>
          <p:nvPr/>
        </p:nvSpPr>
        <p:spPr>
          <a:xfrm>
            <a:off x="1966544" y="4248838"/>
            <a:ext cx="648072" cy="754178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B88320F-0599-757F-C5DE-42210A37E76B}"/>
              </a:ext>
            </a:extLst>
          </p:cNvPr>
          <p:cNvCxnSpPr>
            <a:cxnSpLocks/>
            <a:endCxn id="8" idx="1"/>
          </p:cNvCxnSpPr>
          <p:nvPr/>
        </p:nvCxnSpPr>
        <p:spPr>
          <a:xfrm flipH="1">
            <a:off x="2290580" y="3727605"/>
            <a:ext cx="1" cy="5212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E0FAB5F-B041-4B25-3CAE-67AD6B8C01CD}"/>
              </a:ext>
            </a:extLst>
          </p:cNvPr>
          <p:cNvSpPr txBox="1"/>
          <p:nvPr/>
        </p:nvSpPr>
        <p:spPr>
          <a:xfrm>
            <a:off x="2328962" y="378268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コミット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E6F9786F-22E1-9F93-985F-2D0CD02EAA41}"/>
              </a:ext>
            </a:extLst>
          </p:cNvPr>
          <p:cNvCxnSpPr/>
          <p:nvPr/>
        </p:nvCxnSpPr>
        <p:spPr>
          <a:xfrm>
            <a:off x="2715666" y="3110261"/>
            <a:ext cx="2800610" cy="58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5E21973-4404-6879-C659-DF0BA8019B7F}"/>
              </a:ext>
            </a:extLst>
          </p:cNvPr>
          <p:cNvSpPr txBox="1"/>
          <p:nvPr/>
        </p:nvSpPr>
        <p:spPr>
          <a:xfrm>
            <a:off x="3553340" y="2576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プッシュ</a:t>
            </a:r>
          </a:p>
        </p:txBody>
      </p:sp>
      <p:pic>
        <p:nvPicPr>
          <p:cNvPr id="3074" name="Picture 2" descr="紙に何かを書く人のイラスト（男性）">
            <a:extLst>
              <a:ext uri="{FF2B5EF4-FFF2-40B4-BE49-F238E27FC236}">
                <a16:creationId xmlns:a16="http://schemas.microsoft.com/office/drawing/2014/main" id="{57328F86-E6BB-CF51-937D-140689791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783" y="2638289"/>
            <a:ext cx="787617" cy="104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A336686-F63C-4548-F0ED-62C22673BA73}"/>
              </a:ext>
            </a:extLst>
          </p:cNvPr>
          <p:cNvSpPr txBox="1"/>
          <p:nvPr/>
        </p:nvSpPr>
        <p:spPr>
          <a:xfrm>
            <a:off x="107504" y="5373216"/>
            <a:ext cx="872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投稿論文もそうだが、特に卒論、修論、博論のリモートバックアップは絶対に必要</a:t>
            </a:r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1A6A898-7BC6-547F-34E1-66243791B9B7}"/>
              </a:ext>
            </a:extLst>
          </p:cNvPr>
          <p:cNvSpPr txBox="1"/>
          <p:nvPr/>
        </p:nvSpPr>
        <p:spPr>
          <a:xfrm>
            <a:off x="480876" y="6331814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 Overleaf</a:t>
            </a:r>
            <a:r>
              <a:rPr kumimoji="1" lang="ja-JP" altLang="en-US"/>
              <a:t>でも可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B186312-274A-8324-BA72-BAD59349C912}"/>
              </a:ext>
            </a:extLst>
          </p:cNvPr>
          <p:cNvSpPr txBox="1"/>
          <p:nvPr/>
        </p:nvSpPr>
        <p:spPr>
          <a:xfrm>
            <a:off x="6892806" y="25649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6155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EEE8066-CE15-A286-5ABC-1C06CFC7F4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論文執筆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F4BF15F-2D27-22A9-C543-FF5FADE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968" y="2130924"/>
            <a:ext cx="738048" cy="73804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C917A378-BA96-0CC9-EA65-84856BB8F7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928" y="1554860"/>
            <a:ext cx="1368152" cy="560942"/>
          </a:xfrm>
          <a:prstGeom prst="rect">
            <a:avLst/>
          </a:prstGeom>
        </p:spPr>
      </p:pic>
      <p:pic>
        <p:nvPicPr>
          <p:cNvPr id="5" name="Picture 2" descr="紙に何かを書く人のイラスト（男性）">
            <a:extLst>
              <a:ext uri="{FF2B5EF4-FFF2-40B4-BE49-F238E27FC236}">
                <a16:creationId xmlns:a16="http://schemas.microsoft.com/office/drawing/2014/main" id="{8D5D1818-1C1A-F3E8-314A-E7C498AB8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728" y="3789040"/>
            <a:ext cx="787617" cy="104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教壇でタブレットを使う先生のイラスト（男性）">
            <a:extLst>
              <a:ext uri="{FF2B5EF4-FFF2-40B4-BE49-F238E27FC236}">
                <a16:creationId xmlns:a16="http://schemas.microsoft.com/office/drawing/2014/main" id="{8FAAAB3C-4862-1A66-DF04-228346D37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060" y="3320988"/>
            <a:ext cx="1089480" cy="156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D5109316-0C1E-F37B-9850-9B9E85ED0B7B}"/>
              </a:ext>
            </a:extLst>
          </p:cNvPr>
          <p:cNvCxnSpPr/>
          <p:nvPr/>
        </p:nvCxnSpPr>
        <p:spPr>
          <a:xfrm flipV="1">
            <a:off x="2555776" y="2708920"/>
            <a:ext cx="1422192" cy="122413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71F55B2-146C-32BA-64FA-D59D93A77D38}"/>
              </a:ext>
            </a:extLst>
          </p:cNvPr>
          <p:cNvCxnSpPr/>
          <p:nvPr/>
        </p:nvCxnSpPr>
        <p:spPr>
          <a:xfrm>
            <a:off x="4986080" y="2708920"/>
            <a:ext cx="1242104" cy="108012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A408A78-D8EF-6F17-8CCB-97465D4E4AA2}"/>
              </a:ext>
            </a:extLst>
          </p:cNvPr>
          <p:cNvSpPr txBox="1"/>
          <p:nvPr/>
        </p:nvSpPr>
        <p:spPr>
          <a:xfrm>
            <a:off x="307072" y="1105263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solidFill>
                  <a:srgbClr val="011893"/>
                </a:solidFill>
              </a:rPr>
              <a:t>共著者との共有</a:t>
            </a:r>
            <a:endParaRPr lang="en-US" sz="3200" dirty="0">
              <a:solidFill>
                <a:srgbClr val="011893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97841C6-8CD8-001D-5B90-64FB5AF5D3B8}"/>
              </a:ext>
            </a:extLst>
          </p:cNvPr>
          <p:cNvSpPr txBox="1"/>
          <p:nvPr/>
        </p:nvSpPr>
        <p:spPr>
          <a:xfrm>
            <a:off x="595566" y="5517038"/>
            <a:ext cx="66479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「常に最新版がリモートにある」状態をキープ</a:t>
            </a:r>
            <a:endParaRPr kumimoji="1" lang="en-US" altLang="ja-JP" sz="2400" dirty="0"/>
          </a:p>
          <a:p>
            <a:r>
              <a:rPr kumimoji="1" lang="ja-JP" altLang="en-US" sz="2400"/>
              <a:t>必要に応じてリモートを通じて共著者と共有</a:t>
            </a:r>
            <a:endParaRPr kumimoji="1" lang="en-US" altLang="ja-JP" sz="2400" dirty="0"/>
          </a:p>
          <a:p>
            <a:r>
              <a:rPr lang="en-US" altLang="ja-JP" sz="2400" dirty="0">
                <a:solidFill>
                  <a:srgbClr val="FF0000"/>
                </a:solidFill>
              </a:rPr>
              <a:t>USB</a:t>
            </a:r>
            <a:r>
              <a:rPr lang="ja-JP" altLang="en-US" sz="2400">
                <a:solidFill>
                  <a:srgbClr val="FF0000"/>
                </a:solidFill>
              </a:rPr>
              <a:t>受け渡しやメール添付は混乱の元</a:t>
            </a:r>
            <a:endParaRPr kumimoji="1" lang="ja-JP" altLang="en-US" sz="240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D2C0D79-1779-8709-E91E-7A402DFF743D}"/>
              </a:ext>
            </a:extLst>
          </p:cNvPr>
          <p:cNvSpPr txBox="1"/>
          <p:nvPr/>
        </p:nvSpPr>
        <p:spPr>
          <a:xfrm>
            <a:off x="1659538" y="482994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筆頭著者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9503D86-1EA3-D622-F21D-578375D0B7DD}"/>
              </a:ext>
            </a:extLst>
          </p:cNvPr>
          <p:cNvSpPr txBox="1"/>
          <p:nvPr/>
        </p:nvSpPr>
        <p:spPr>
          <a:xfrm>
            <a:off x="6228184" y="485039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共著者</a:t>
            </a:r>
          </a:p>
        </p:txBody>
      </p:sp>
    </p:spTree>
    <p:extLst>
      <p:ext uri="{BB962C8B-B14F-4D97-AF65-F5344CB8AC3E}">
        <p14:creationId xmlns:p14="http://schemas.microsoft.com/office/powerpoint/2010/main" val="1570105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A141EFB-397F-1633-869B-5D1D595690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論文執筆</a:t>
            </a:r>
          </a:p>
        </p:txBody>
      </p:sp>
      <p:sp>
        <p:nvSpPr>
          <p:cNvPr id="3" name="角丸四角形 5">
            <a:extLst>
              <a:ext uri="{FF2B5EF4-FFF2-40B4-BE49-F238E27FC236}">
                <a16:creationId xmlns:a16="http://schemas.microsoft.com/office/drawing/2014/main" id="{48070490-36A2-BBEE-E2FD-0CAC03CBBECA}"/>
              </a:ext>
            </a:extLst>
          </p:cNvPr>
          <p:cNvSpPr/>
          <p:nvPr/>
        </p:nvSpPr>
        <p:spPr>
          <a:xfrm>
            <a:off x="323528" y="1850341"/>
            <a:ext cx="3600400" cy="2154724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381C38-79CE-C2C5-98DB-07F80EB89BD2}"/>
              </a:ext>
            </a:extLst>
          </p:cNvPr>
          <p:cNvSpPr txBox="1"/>
          <p:nvPr/>
        </p:nvSpPr>
        <p:spPr>
          <a:xfrm>
            <a:off x="539552" y="1919444"/>
            <a:ext cx="326243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TeX</a:t>
            </a:r>
            <a:r>
              <a:rPr kumimoji="1" lang="ja-JP" altLang="en-US" sz="2400"/>
              <a:t>ファイル</a:t>
            </a:r>
            <a:endParaRPr kumimoji="1" lang="en-US" altLang="ja-JP" sz="2400" dirty="0"/>
          </a:p>
          <a:p>
            <a:r>
              <a:rPr kumimoji="1" lang="en-US" altLang="ja-JP" sz="2400" dirty="0"/>
              <a:t>bib</a:t>
            </a:r>
            <a:r>
              <a:rPr kumimoji="1" lang="ja-JP" altLang="en-US" sz="2400"/>
              <a:t>ファイル</a:t>
            </a:r>
            <a:endParaRPr kumimoji="1" lang="en-US" altLang="ja-JP" sz="2400" dirty="0"/>
          </a:p>
          <a:p>
            <a:r>
              <a:rPr kumimoji="1" lang="ja-JP" altLang="en-US" sz="2400"/>
              <a:t>図のファイル</a:t>
            </a:r>
            <a:endParaRPr kumimoji="1" lang="en-US" altLang="ja-JP" sz="2400" dirty="0"/>
          </a:p>
          <a:p>
            <a:r>
              <a:rPr lang="ja-JP" altLang="en-US" sz="2400">
                <a:solidFill>
                  <a:srgbClr val="FF0000"/>
                </a:solidFill>
              </a:rPr>
              <a:t>図を作るためのデータ</a:t>
            </a:r>
            <a:endParaRPr lang="en-US" altLang="ja-JP" sz="2400" dirty="0">
              <a:solidFill>
                <a:srgbClr val="FF0000"/>
              </a:solidFill>
            </a:endParaRPr>
          </a:p>
          <a:p>
            <a:r>
              <a:rPr lang="ja-JP" altLang="en-US" sz="2400"/>
              <a:t>図を作るスクリプト等</a:t>
            </a:r>
            <a:endParaRPr kumimoji="1" lang="ja-JP" altLang="en-US" sz="24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2C55377-EF16-2FBD-5389-C6D1E3AF1A58}"/>
              </a:ext>
            </a:extLst>
          </p:cNvPr>
          <p:cNvSpPr txBox="1"/>
          <p:nvPr/>
        </p:nvSpPr>
        <p:spPr>
          <a:xfrm>
            <a:off x="611560" y="1052736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論文</a:t>
            </a:r>
            <a:r>
              <a:rPr kumimoji="1" lang="ja-JP" altLang="en-US" sz="2400"/>
              <a:t>執筆用リポジトリ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D0B2558-8C83-5ED9-03EF-1FBE47137846}"/>
              </a:ext>
            </a:extLst>
          </p:cNvPr>
          <p:cNvSpPr txBox="1"/>
          <p:nvPr/>
        </p:nvSpPr>
        <p:spPr>
          <a:xfrm>
            <a:off x="4788024" y="1052736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プログラム開発用リポジトリ</a:t>
            </a:r>
          </a:p>
        </p:txBody>
      </p:sp>
      <p:sp>
        <p:nvSpPr>
          <p:cNvPr id="7" name="角丸四角形 16">
            <a:extLst>
              <a:ext uri="{FF2B5EF4-FFF2-40B4-BE49-F238E27FC236}">
                <a16:creationId xmlns:a16="http://schemas.microsoft.com/office/drawing/2014/main" id="{9E577FC5-1E18-5BF3-75A6-B82F174DE35B}"/>
              </a:ext>
            </a:extLst>
          </p:cNvPr>
          <p:cNvSpPr/>
          <p:nvPr/>
        </p:nvSpPr>
        <p:spPr>
          <a:xfrm>
            <a:off x="5004048" y="1628800"/>
            <a:ext cx="3600400" cy="136815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D2B51E6-2608-BC88-8608-85AFBC4CCE9E}"/>
              </a:ext>
            </a:extLst>
          </p:cNvPr>
          <p:cNvSpPr txBox="1"/>
          <p:nvPr/>
        </p:nvSpPr>
        <p:spPr>
          <a:xfrm>
            <a:off x="5076056" y="1700808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プログラムソース</a:t>
            </a:r>
            <a:endParaRPr kumimoji="1" lang="en-US" altLang="ja-JP" sz="2400"/>
          </a:p>
          <a:p>
            <a:r>
              <a:rPr lang="ja-JP" altLang="en-US" sz="2400"/>
              <a:t>インプットファイル</a:t>
            </a:r>
            <a:endParaRPr lang="en-US" altLang="ja-JP" sz="2400"/>
          </a:p>
          <a:p>
            <a:r>
              <a:rPr lang="ja-JP" altLang="en-US" sz="2400"/>
              <a:t>ジョブスクリプト等</a:t>
            </a:r>
            <a:endParaRPr lang="en-US" altLang="ja-JP" sz="24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1F1B830-D9E9-2092-1101-ABC95D4FCCF0}"/>
              </a:ext>
            </a:extLst>
          </p:cNvPr>
          <p:cNvSpPr txBox="1"/>
          <p:nvPr/>
        </p:nvSpPr>
        <p:spPr>
          <a:xfrm>
            <a:off x="971600" y="4485019"/>
            <a:ext cx="63017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/>
              <a:t>論文</a:t>
            </a:r>
            <a:r>
              <a:rPr kumimoji="1" lang="ja-JP" altLang="en-US"/>
              <a:t>執筆用</a:t>
            </a:r>
            <a:r>
              <a:rPr kumimoji="1" lang="ja-JP" altLang="en-US" dirty="0"/>
              <a:t>とプログラム開発のリポジトリ</a:t>
            </a:r>
            <a:r>
              <a:rPr lang="ja-JP" altLang="en-US" dirty="0"/>
              <a:t>を</a:t>
            </a:r>
            <a:r>
              <a:rPr kumimoji="1" lang="ja-JP" altLang="en-US" dirty="0"/>
              <a:t>分ける</a:t>
            </a:r>
            <a:endParaRPr kumimoji="1" lang="en-US" altLang="ja-JP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/>
              <a:t>出力データはプログラム開発リポジトリにいれない</a:t>
            </a:r>
            <a:endParaRPr lang="en-US" altLang="ja-JP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dirty="0"/>
              <a:t>図を作るための</a:t>
            </a:r>
            <a:r>
              <a:rPr kumimoji="1" lang="ja-JP" altLang="en-US"/>
              <a:t>データは論文執筆用</a:t>
            </a:r>
            <a:r>
              <a:rPr kumimoji="1" lang="ja-JP" altLang="en-US" dirty="0"/>
              <a:t>リポジトリに入れる</a:t>
            </a:r>
            <a:endParaRPr lang="en-US" altLang="ja-JP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/>
              <a:t>大きなデータ</a:t>
            </a:r>
            <a:r>
              <a:rPr lang="en-US" altLang="ja-JP" dirty="0"/>
              <a:t>(</a:t>
            </a:r>
            <a:r>
              <a:rPr lang="ja-JP" altLang="en-US" dirty="0"/>
              <a:t>ダンプなど</a:t>
            </a:r>
            <a:r>
              <a:rPr lang="en-US" altLang="ja-JP" dirty="0"/>
              <a:t>)</a:t>
            </a:r>
            <a:r>
              <a:rPr lang="ja-JP" altLang="en-US" dirty="0"/>
              <a:t>はリポジトリに入れない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26EC76E-665D-B934-1073-A42F0AD06453}"/>
              </a:ext>
            </a:extLst>
          </p:cNvPr>
          <p:cNvSpPr txBox="1"/>
          <p:nvPr/>
        </p:nvSpPr>
        <p:spPr>
          <a:xfrm>
            <a:off x="539552" y="6021288"/>
            <a:ext cx="7571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リポジトリにより管理すべきファイル、除外すべきファイルが異なる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663DD45-3DBB-C6CB-1FF5-98C7CFE082AE}"/>
              </a:ext>
            </a:extLst>
          </p:cNvPr>
          <p:cNvSpPr txBox="1"/>
          <p:nvPr/>
        </p:nvSpPr>
        <p:spPr>
          <a:xfrm>
            <a:off x="5067694" y="3006243"/>
            <a:ext cx="3473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>
                <a:solidFill>
                  <a:srgbClr val="FF0000"/>
                </a:solidFill>
              </a:rPr>
              <a:t>図を作るためのデータ</a:t>
            </a:r>
            <a:endParaRPr lang="en-US" altLang="ja-JP" sz="2400" dirty="0">
              <a:solidFill>
                <a:srgbClr val="FF0000"/>
              </a:solidFill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CE93A19F-B78B-547D-23DF-B56243B84894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3707904" y="3237075"/>
            <a:ext cx="1359790" cy="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247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C7D4563-2EA6-B487-0D50-5402649FC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論文執筆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5548037-C842-D4D2-F37B-F1B2953CA41B}"/>
              </a:ext>
            </a:extLst>
          </p:cNvPr>
          <p:cNvSpPr txBox="1"/>
          <p:nvPr/>
        </p:nvSpPr>
        <p:spPr>
          <a:xfrm>
            <a:off x="1187624" y="980728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計算と図の作成を一度にやらない</a:t>
            </a:r>
            <a:endParaRPr kumimoji="1" lang="ja-JP" altLang="en-US" sz="3200"/>
          </a:p>
        </p:txBody>
      </p:sp>
      <p:pic>
        <p:nvPicPr>
          <p:cNvPr id="4" name="Picture 2" descr="ファイルアイコン（テキスト）">
            <a:extLst>
              <a:ext uri="{FF2B5EF4-FFF2-40B4-BE49-F238E27FC236}">
                <a16:creationId xmlns:a16="http://schemas.microsoft.com/office/drawing/2014/main" id="{80A46C93-C891-7989-F0DF-EAF9EB63B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204864"/>
            <a:ext cx="792088" cy="919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C9BC17-23F1-F00B-EC2D-E43C04264FF3}"/>
              </a:ext>
            </a:extLst>
          </p:cNvPr>
          <p:cNvSpPr txBox="1"/>
          <p:nvPr/>
        </p:nvSpPr>
        <p:spPr>
          <a:xfrm>
            <a:off x="1259632" y="170080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インプット</a:t>
            </a:r>
            <a:endParaRPr kumimoji="1" lang="ja-JP" altLang="en-US"/>
          </a:p>
        </p:txBody>
      </p:sp>
      <p:sp>
        <p:nvSpPr>
          <p:cNvPr id="6" name="右矢印 5">
            <a:extLst>
              <a:ext uri="{FF2B5EF4-FFF2-40B4-BE49-F238E27FC236}">
                <a16:creationId xmlns:a16="http://schemas.microsoft.com/office/drawing/2014/main" id="{290ECB04-2B3D-0C0D-E4E0-87753DB58E9E}"/>
              </a:ext>
            </a:extLst>
          </p:cNvPr>
          <p:cNvSpPr/>
          <p:nvPr/>
        </p:nvSpPr>
        <p:spPr>
          <a:xfrm>
            <a:off x="2411760" y="2420888"/>
            <a:ext cx="576064" cy="50405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31264E4-A510-424F-63C3-430A7E602B73}"/>
              </a:ext>
            </a:extLst>
          </p:cNvPr>
          <p:cNvSpPr txBox="1"/>
          <p:nvPr/>
        </p:nvSpPr>
        <p:spPr>
          <a:xfrm>
            <a:off x="2915816" y="1558533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全部やる</a:t>
            </a:r>
            <a:endParaRPr lang="en-US" altLang="ja-JP"/>
          </a:p>
          <a:p>
            <a:r>
              <a:rPr lang="ja-JP" altLang="en-US"/>
              <a:t>プログラム</a:t>
            </a:r>
            <a:endParaRPr kumimoji="1"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32CCB02D-2152-AA88-F226-8539693C8D1E}"/>
              </a:ext>
            </a:extLst>
          </p:cNvPr>
          <p:cNvSpPr/>
          <p:nvPr/>
        </p:nvSpPr>
        <p:spPr>
          <a:xfrm>
            <a:off x="3923928" y="2348880"/>
            <a:ext cx="3816424" cy="57606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Picture 4" descr="ファイルアイコン（画像）">
            <a:extLst>
              <a:ext uri="{FF2B5EF4-FFF2-40B4-BE49-F238E27FC236}">
                <a16:creationId xmlns:a16="http://schemas.microsoft.com/office/drawing/2014/main" id="{7C6C63D9-9696-CD96-CFE8-30E8D3ACC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0366" y="2204864"/>
            <a:ext cx="806090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F193F9F-D5A9-C567-BC15-1D1AE477B87F}"/>
              </a:ext>
            </a:extLst>
          </p:cNvPr>
          <p:cNvSpPr txBox="1"/>
          <p:nvPr/>
        </p:nvSpPr>
        <p:spPr>
          <a:xfrm>
            <a:off x="8028384" y="176352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図</a:t>
            </a:r>
            <a:endParaRPr kumimoji="1" lang="ja-JP" altLang="en-US"/>
          </a:p>
        </p:txBody>
      </p:sp>
      <p:pic>
        <p:nvPicPr>
          <p:cNvPr id="11" name="Picture 8" descr="バツのマークのイラスト「×」">
            <a:extLst>
              <a:ext uri="{FF2B5EF4-FFF2-40B4-BE49-F238E27FC236}">
                <a16:creationId xmlns:a16="http://schemas.microsoft.com/office/drawing/2014/main" id="{E9AAF4EE-7CAB-646B-12EF-0B3D52549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132856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丸のマークのイラスト「○」">
            <a:extLst>
              <a:ext uri="{FF2B5EF4-FFF2-40B4-BE49-F238E27FC236}">
                <a16:creationId xmlns:a16="http://schemas.microsoft.com/office/drawing/2014/main" id="{E8E739A8-A176-A6F2-CFE7-CF5B09ABA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293096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ファイルアイコン（テキスト）">
            <a:extLst>
              <a:ext uri="{FF2B5EF4-FFF2-40B4-BE49-F238E27FC236}">
                <a16:creationId xmlns:a16="http://schemas.microsoft.com/office/drawing/2014/main" id="{0F95E36D-A945-0E14-1844-7415BE913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293096"/>
            <a:ext cx="792088" cy="919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2514A8F-C213-1C6F-35A9-302A98CF3C79}"/>
              </a:ext>
            </a:extLst>
          </p:cNvPr>
          <p:cNvSpPr txBox="1"/>
          <p:nvPr/>
        </p:nvSpPr>
        <p:spPr>
          <a:xfrm>
            <a:off x="1259632" y="385175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インプット</a:t>
            </a:r>
            <a:endParaRPr kumimoji="1" lang="ja-JP" altLang="en-US"/>
          </a:p>
        </p:txBody>
      </p:sp>
      <p:sp>
        <p:nvSpPr>
          <p:cNvPr id="15" name="右矢印 14">
            <a:extLst>
              <a:ext uri="{FF2B5EF4-FFF2-40B4-BE49-F238E27FC236}">
                <a16:creationId xmlns:a16="http://schemas.microsoft.com/office/drawing/2014/main" id="{ACFFD26C-6326-9F81-EABB-39F6F4601132}"/>
              </a:ext>
            </a:extLst>
          </p:cNvPr>
          <p:cNvSpPr/>
          <p:nvPr/>
        </p:nvSpPr>
        <p:spPr>
          <a:xfrm>
            <a:off x="2411760" y="4545124"/>
            <a:ext cx="576064" cy="50405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2B05CA1-C98B-1EA7-5E42-A91FD688698E}"/>
              </a:ext>
            </a:extLst>
          </p:cNvPr>
          <p:cNvSpPr txBox="1"/>
          <p:nvPr/>
        </p:nvSpPr>
        <p:spPr>
          <a:xfrm>
            <a:off x="2915816" y="3645024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計算</a:t>
            </a:r>
            <a:endParaRPr lang="en-US" altLang="ja-JP"/>
          </a:p>
          <a:p>
            <a:r>
              <a:rPr lang="ja-JP" altLang="en-US"/>
              <a:t>プログラム</a:t>
            </a:r>
            <a:endParaRPr kumimoji="1" lang="ja-JP" altLang="en-US"/>
          </a:p>
        </p:txBody>
      </p:sp>
      <p:pic>
        <p:nvPicPr>
          <p:cNvPr id="17" name="Picture 12" descr="ファイルアイコン（ブランク）">
            <a:extLst>
              <a:ext uri="{FF2B5EF4-FFF2-40B4-BE49-F238E27FC236}">
                <a16:creationId xmlns:a16="http://schemas.microsoft.com/office/drawing/2014/main" id="{B13582B4-7F0F-7AF8-A602-9A239CD05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4293096"/>
            <a:ext cx="806090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DA927F9-BB13-183C-B9FE-01645425A03B}"/>
              </a:ext>
            </a:extLst>
          </p:cNvPr>
          <p:cNvSpPr txBox="1"/>
          <p:nvPr/>
        </p:nvSpPr>
        <p:spPr>
          <a:xfrm>
            <a:off x="4789765" y="385175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結果</a:t>
            </a:r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82A1EED-E800-CFE3-32BE-504A09D798E3}"/>
              </a:ext>
            </a:extLst>
          </p:cNvPr>
          <p:cNvSpPr txBox="1"/>
          <p:nvPr/>
        </p:nvSpPr>
        <p:spPr>
          <a:xfrm>
            <a:off x="4858821" y="465313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dat</a:t>
            </a:r>
            <a:endParaRPr kumimoji="1" lang="ja-JP" altLang="en-US"/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06B54EF8-C58D-6D6E-FA8F-E05142DA51B9}"/>
              </a:ext>
            </a:extLst>
          </p:cNvPr>
          <p:cNvGrpSpPr/>
          <p:nvPr/>
        </p:nvGrpSpPr>
        <p:grpSpPr>
          <a:xfrm>
            <a:off x="3131840" y="4293096"/>
            <a:ext cx="806090" cy="936104"/>
            <a:chOff x="3131840" y="4221088"/>
            <a:chExt cx="806090" cy="936104"/>
          </a:xfrm>
        </p:grpSpPr>
        <p:pic>
          <p:nvPicPr>
            <p:cNvPr id="21" name="Picture 12" descr="ファイルアイコン（ブランク）">
              <a:extLst>
                <a:ext uri="{FF2B5EF4-FFF2-40B4-BE49-F238E27FC236}">
                  <a16:creationId xmlns:a16="http://schemas.microsoft.com/office/drawing/2014/main" id="{CB7CED36-BA65-7FE8-4F5C-9EB26EFB91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1840" y="4221088"/>
              <a:ext cx="806090" cy="936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15E2A05E-60D8-0F5C-200C-8B98FEF5A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75856" y="4509120"/>
              <a:ext cx="485814" cy="449739"/>
            </a:xfrm>
            <a:prstGeom prst="rect">
              <a:avLst/>
            </a:prstGeom>
          </p:spPr>
        </p:pic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6067BB06-52DB-550C-AD2E-56EBAFED77A2}"/>
              </a:ext>
            </a:extLst>
          </p:cNvPr>
          <p:cNvGrpSpPr/>
          <p:nvPr/>
        </p:nvGrpSpPr>
        <p:grpSpPr>
          <a:xfrm>
            <a:off x="3059832" y="2204864"/>
            <a:ext cx="806090" cy="936104"/>
            <a:chOff x="3059832" y="2276872"/>
            <a:chExt cx="806090" cy="936104"/>
          </a:xfrm>
        </p:grpSpPr>
        <p:pic>
          <p:nvPicPr>
            <p:cNvPr id="24" name="Picture 12" descr="ファイルアイコン（ブランク）">
              <a:extLst>
                <a:ext uri="{FF2B5EF4-FFF2-40B4-BE49-F238E27FC236}">
                  <a16:creationId xmlns:a16="http://schemas.microsoft.com/office/drawing/2014/main" id="{F3AAF19B-6753-5168-2D76-7D21AAA65C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9832" y="2276872"/>
              <a:ext cx="806090" cy="936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B075C425-2A45-890F-72B5-61DDEB4F7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03848" y="2564904"/>
              <a:ext cx="485814" cy="449739"/>
            </a:xfrm>
            <a:prstGeom prst="rect">
              <a:avLst/>
            </a:prstGeom>
          </p:spPr>
        </p:pic>
      </p:grpSp>
      <p:sp>
        <p:nvSpPr>
          <p:cNvPr id="26" name="右矢印 25">
            <a:extLst>
              <a:ext uri="{FF2B5EF4-FFF2-40B4-BE49-F238E27FC236}">
                <a16:creationId xmlns:a16="http://schemas.microsoft.com/office/drawing/2014/main" id="{14CC528D-EBE9-A5FF-3001-914D897186D2}"/>
              </a:ext>
            </a:extLst>
          </p:cNvPr>
          <p:cNvSpPr/>
          <p:nvPr/>
        </p:nvSpPr>
        <p:spPr>
          <a:xfrm>
            <a:off x="5724128" y="4509120"/>
            <a:ext cx="504056" cy="57606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Picture 4" descr="ファイルアイコン（画像）">
            <a:extLst>
              <a:ext uri="{FF2B5EF4-FFF2-40B4-BE49-F238E27FC236}">
                <a16:creationId xmlns:a16="http://schemas.microsoft.com/office/drawing/2014/main" id="{7F7E410C-C99F-169C-A8A4-05AC5B250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4293096"/>
            <a:ext cx="806090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右矢印 27">
            <a:extLst>
              <a:ext uri="{FF2B5EF4-FFF2-40B4-BE49-F238E27FC236}">
                <a16:creationId xmlns:a16="http://schemas.microsoft.com/office/drawing/2014/main" id="{2990623A-69CF-3CBC-02DD-73677B168ABF}"/>
              </a:ext>
            </a:extLst>
          </p:cNvPr>
          <p:cNvSpPr/>
          <p:nvPr/>
        </p:nvSpPr>
        <p:spPr>
          <a:xfrm>
            <a:off x="4067944" y="4509120"/>
            <a:ext cx="504056" cy="57606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4E07093-2695-D569-3113-295C347B4C13}"/>
              </a:ext>
            </a:extLst>
          </p:cNvPr>
          <p:cNvSpPr txBox="1"/>
          <p:nvPr/>
        </p:nvSpPr>
        <p:spPr>
          <a:xfrm>
            <a:off x="6156176" y="3645024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図の作成</a:t>
            </a:r>
            <a:endParaRPr lang="en-US" altLang="ja-JP"/>
          </a:p>
          <a:p>
            <a:r>
              <a:rPr lang="ja-JP" altLang="en-US"/>
              <a:t>プログラム</a:t>
            </a:r>
            <a:endParaRPr kumimoji="1" lang="ja-JP" altLang="en-US"/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7282B00B-DEF1-0405-7C36-4C748402F702}"/>
              </a:ext>
            </a:extLst>
          </p:cNvPr>
          <p:cNvGrpSpPr/>
          <p:nvPr/>
        </p:nvGrpSpPr>
        <p:grpSpPr>
          <a:xfrm>
            <a:off x="6300192" y="4293096"/>
            <a:ext cx="806090" cy="936104"/>
            <a:chOff x="6300192" y="4221088"/>
            <a:chExt cx="806090" cy="936104"/>
          </a:xfrm>
        </p:grpSpPr>
        <p:pic>
          <p:nvPicPr>
            <p:cNvPr id="31" name="Picture 12" descr="ファイルアイコン（ブランク）">
              <a:extLst>
                <a:ext uri="{FF2B5EF4-FFF2-40B4-BE49-F238E27FC236}">
                  <a16:creationId xmlns:a16="http://schemas.microsoft.com/office/drawing/2014/main" id="{D3B9BF70-D1D8-6FEB-0329-A37AC4A0E6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0192" y="4221088"/>
              <a:ext cx="806090" cy="936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EA1E063B-D53C-4138-09B6-FA1F12FD6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44208" y="4509120"/>
              <a:ext cx="485814" cy="449739"/>
            </a:xfrm>
            <a:prstGeom prst="rect">
              <a:avLst/>
            </a:prstGeom>
          </p:spPr>
        </p:pic>
      </p:grpSp>
      <p:sp>
        <p:nvSpPr>
          <p:cNvPr id="33" name="右矢印 32">
            <a:extLst>
              <a:ext uri="{FF2B5EF4-FFF2-40B4-BE49-F238E27FC236}">
                <a16:creationId xmlns:a16="http://schemas.microsoft.com/office/drawing/2014/main" id="{A3D8DE46-6C94-1EE8-C7D2-48E8A07226D5}"/>
              </a:ext>
            </a:extLst>
          </p:cNvPr>
          <p:cNvSpPr/>
          <p:nvPr/>
        </p:nvSpPr>
        <p:spPr>
          <a:xfrm>
            <a:off x="7308304" y="4509120"/>
            <a:ext cx="504056" cy="57606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BD46189-4EB6-E356-5282-83D7FD16D71B}"/>
              </a:ext>
            </a:extLst>
          </p:cNvPr>
          <p:cNvSpPr txBox="1"/>
          <p:nvPr/>
        </p:nvSpPr>
        <p:spPr>
          <a:xfrm>
            <a:off x="8028384" y="393305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図</a:t>
            </a:r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D785971-63B8-E7F9-8105-E6033E84C13C}"/>
              </a:ext>
            </a:extLst>
          </p:cNvPr>
          <p:cNvSpPr txBox="1"/>
          <p:nvPr/>
        </p:nvSpPr>
        <p:spPr>
          <a:xfrm>
            <a:off x="1043608" y="55892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8EB9717-1798-445A-ECBE-2E02DD7A43B6}"/>
              </a:ext>
            </a:extLst>
          </p:cNvPr>
          <p:cNvSpPr txBox="1"/>
          <p:nvPr/>
        </p:nvSpPr>
        <p:spPr>
          <a:xfrm>
            <a:off x="251520" y="5430705"/>
            <a:ext cx="79688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線の太さや軸のフォントなど、図はなんども作り直すから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結果ファイルと図の作成プログラムを論文リポジトリに入れたい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835885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612360C-921B-0CB5-33EE-F30F80B01F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論文執筆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3D90F22-75E4-9866-8C8B-EC379AD1ADD6}"/>
              </a:ext>
            </a:extLst>
          </p:cNvPr>
          <p:cNvSpPr txBox="1"/>
          <p:nvPr/>
        </p:nvSpPr>
        <p:spPr>
          <a:xfrm>
            <a:off x="755576" y="980728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図とスクリプトのファイル名は揃える</a:t>
            </a:r>
            <a:endParaRPr kumimoji="1" lang="ja-JP" altLang="en-US" sz="320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B96E526-AE08-F379-7DEF-D68A79777279}"/>
              </a:ext>
            </a:extLst>
          </p:cNvPr>
          <p:cNvSpPr/>
          <p:nvPr/>
        </p:nvSpPr>
        <p:spPr>
          <a:xfrm>
            <a:off x="5796136" y="2132856"/>
            <a:ext cx="2358008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/>
              <a:t>0.000000 0.041263</a:t>
            </a:r>
          </a:p>
          <a:p>
            <a:r>
              <a:rPr lang="ja-JP" altLang="en-US"/>
              <a:t>0.100000 0.143985</a:t>
            </a:r>
          </a:p>
          <a:p>
            <a:r>
              <a:rPr lang="ja-JP" altLang="en-US"/>
              <a:t>0.200000 0.188462</a:t>
            </a:r>
          </a:p>
          <a:p>
            <a:r>
              <a:rPr lang="ja-JP" altLang="en-US"/>
              <a:t>0.300000 0.241296</a:t>
            </a:r>
          </a:p>
          <a:p>
            <a:r>
              <a:rPr lang="ja-JP" altLang="en-US"/>
              <a:t>0.400000 0.264365</a:t>
            </a:r>
          </a:p>
          <a:p>
            <a:r>
              <a:rPr lang="ja-JP" altLang="en-US"/>
              <a:t>0.500000 0.309186</a:t>
            </a:r>
          </a:p>
          <a:p>
            <a:r>
              <a:rPr lang="ja-JP" altLang="en-US"/>
              <a:t>0.600000 0.444013</a:t>
            </a:r>
            <a:endParaRPr lang="en-US" altLang="ja-JP"/>
          </a:p>
          <a:p>
            <a:r>
              <a:rPr lang="en-US" altLang="ja-JP"/>
              <a:t>....</a:t>
            </a:r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6F7F615-D770-84E6-BA37-AF0982AE3744}"/>
              </a:ext>
            </a:extLst>
          </p:cNvPr>
          <p:cNvSpPr txBox="1"/>
          <p:nvPr/>
        </p:nvSpPr>
        <p:spPr>
          <a:xfrm>
            <a:off x="6084168" y="1700808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pressure.dat</a:t>
            </a:r>
            <a:endParaRPr kumimoji="1" lang="ja-JP" altLang="en-US">
              <a:latin typeface="Consolas" panose="020B0609020204030204" pitchFamily="49" charset="0"/>
            </a:endParaRPr>
          </a:p>
        </p:txBody>
      </p:sp>
      <p:sp>
        <p:nvSpPr>
          <p:cNvPr id="6" name="右矢印 5">
            <a:extLst>
              <a:ext uri="{FF2B5EF4-FFF2-40B4-BE49-F238E27FC236}">
                <a16:creationId xmlns:a16="http://schemas.microsoft.com/office/drawing/2014/main" id="{E1E3AA9A-2ABB-02C8-1E0E-0B7E11FB35FC}"/>
              </a:ext>
            </a:extLst>
          </p:cNvPr>
          <p:cNvSpPr/>
          <p:nvPr/>
        </p:nvSpPr>
        <p:spPr>
          <a:xfrm rot="10800000">
            <a:off x="5076056" y="2708920"/>
            <a:ext cx="576064" cy="50405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9ADDDE2-CAAA-A38C-12DA-DCC0878C0680}"/>
              </a:ext>
            </a:extLst>
          </p:cNvPr>
          <p:cNvSpPr/>
          <p:nvPr/>
        </p:nvSpPr>
        <p:spPr>
          <a:xfrm>
            <a:off x="323528" y="2204864"/>
            <a:ext cx="4572000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ja-JP" altLang="en-US">
                <a:latin typeface="Consolas" panose="020B0609020204030204" pitchFamily="49" charset="0"/>
              </a:rPr>
              <a:t>set term pdf</a:t>
            </a:r>
          </a:p>
          <a:p>
            <a:r>
              <a:rPr lang="ja-JP" altLang="en-US">
                <a:latin typeface="Consolas" panose="020B0609020204030204" pitchFamily="49" charset="0"/>
              </a:rPr>
              <a:t>set out "</a:t>
            </a:r>
            <a:r>
              <a:rPr lang="ja-JP" altLang="en-US">
                <a:solidFill>
                  <a:srgbClr val="FF0000"/>
                </a:solidFill>
                <a:latin typeface="Consolas" panose="020B0609020204030204" pitchFamily="49" charset="0"/>
              </a:rPr>
              <a:t>pressure</a:t>
            </a:r>
            <a:r>
              <a:rPr lang="ja-JP" altLang="en-US">
                <a:latin typeface="Consolas" panose="020B0609020204030204" pitchFamily="49" charset="0"/>
              </a:rPr>
              <a:t>.pdf"</a:t>
            </a:r>
          </a:p>
          <a:p>
            <a:r>
              <a:rPr lang="ja-JP" altLang="en-US">
                <a:latin typeface="Consolas" panose="020B0609020204030204" pitchFamily="49" charset="0"/>
              </a:rPr>
              <a:t>set xlabel "t"</a:t>
            </a:r>
          </a:p>
          <a:p>
            <a:r>
              <a:rPr lang="ja-JP" altLang="en-US">
                <a:latin typeface="Consolas" panose="020B0609020204030204" pitchFamily="49" charset="0"/>
              </a:rPr>
              <a:t>set ylabel "P"</a:t>
            </a:r>
          </a:p>
          <a:p>
            <a:r>
              <a:rPr lang="ja-JP" altLang="en-US">
                <a:latin typeface="Consolas" panose="020B0609020204030204" pitchFamily="49" charset="0"/>
              </a:rPr>
              <a:t>p "pressure.dat" pt 6 t "Data"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50B591A-C18D-7C26-8CC9-0FC3D2AA69FA}"/>
              </a:ext>
            </a:extLst>
          </p:cNvPr>
          <p:cNvSpPr txBox="1"/>
          <p:nvPr/>
        </p:nvSpPr>
        <p:spPr>
          <a:xfrm>
            <a:off x="1043608" y="1772816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pressure.plt</a:t>
            </a:r>
            <a:endParaRPr kumimoji="1" lang="ja-JP" altLang="en-US">
              <a:latin typeface="Consolas" panose="020B0609020204030204" pitchFamily="49" charset="0"/>
            </a:endParaRPr>
          </a:p>
        </p:txBody>
      </p:sp>
      <p:sp>
        <p:nvSpPr>
          <p:cNvPr id="9" name="右矢印 8">
            <a:extLst>
              <a:ext uri="{FF2B5EF4-FFF2-40B4-BE49-F238E27FC236}">
                <a16:creationId xmlns:a16="http://schemas.microsoft.com/office/drawing/2014/main" id="{2547A54D-A5AC-D3F7-CE65-A834DED1E809}"/>
              </a:ext>
            </a:extLst>
          </p:cNvPr>
          <p:cNvSpPr/>
          <p:nvPr/>
        </p:nvSpPr>
        <p:spPr>
          <a:xfrm rot="5400000">
            <a:off x="1871700" y="3825044"/>
            <a:ext cx="576064" cy="50405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94A5C46-4C18-E9C7-C10A-8AEADFE8437E}"/>
              </a:ext>
            </a:extLst>
          </p:cNvPr>
          <p:cNvSpPr txBox="1"/>
          <p:nvPr/>
        </p:nvSpPr>
        <p:spPr>
          <a:xfrm>
            <a:off x="2483768" y="3861048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$ gnuplot </a:t>
            </a:r>
            <a:r>
              <a:rPr kumimoji="1" lang="en-US" altLang="ja-JP">
                <a:solidFill>
                  <a:srgbClr val="FF0000"/>
                </a:solidFill>
                <a:latin typeface="Consolas" panose="020B0609020204030204" pitchFamily="49" charset="0"/>
              </a:rPr>
              <a:t>pressure</a:t>
            </a:r>
            <a:r>
              <a:rPr kumimoji="1" lang="en-US" altLang="ja-JP">
                <a:latin typeface="Consolas" panose="020B0609020204030204" pitchFamily="49" charset="0"/>
              </a:rPr>
              <a:t>.plt</a:t>
            </a:r>
            <a:endParaRPr kumimoji="1" lang="ja-JP" altLang="en-US">
              <a:latin typeface="Consolas" panose="020B0609020204030204" pitchFamily="49" charset="0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F9724CCF-C697-996A-2A88-929DD8508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725144"/>
            <a:ext cx="3294460" cy="1978298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52ABA35-C760-8213-DAE9-970E41F50A23}"/>
              </a:ext>
            </a:extLst>
          </p:cNvPr>
          <p:cNvSpPr txBox="1"/>
          <p:nvPr/>
        </p:nvSpPr>
        <p:spPr>
          <a:xfrm>
            <a:off x="1403648" y="4365104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solidFill>
                  <a:srgbClr val="FF0000"/>
                </a:solidFill>
                <a:latin typeface="Consolas" panose="020B0609020204030204" pitchFamily="49" charset="0"/>
              </a:rPr>
              <a:t>pressure</a:t>
            </a:r>
            <a:r>
              <a:rPr kumimoji="1" lang="en-US" altLang="ja-JP">
                <a:latin typeface="Consolas" panose="020B0609020204030204" pitchFamily="49" charset="0"/>
              </a:rPr>
              <a:t>.pdf</a:t>
            </a:r>
            <a:endParaRPr kumimoji="1" lang="ja-JP" altLang="en-US">
              <a:latin typeface="Consolas" panose="020B0609020204030204" pitchFamily="49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37094A2-FF1A-D8FA-E98C-C2F731490AFE}"/>
              </a:ext>
            </a:extLst>
          </p:cNvPr>
          <p:cNvSpPr txBox="1"/>
          <p:nvPr/>
        </p:nvSpPr>
        <p:spPr>
          <a:xfrm>
            <a:off x="3984795" y="5157192"/>
            <a:ext cx="4057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hoge.pdf</a:t>
            </a:r>
            <a:r>
              <a:rPr lang="ja-JP" altLang="en-US" dirty="0"/>
              <a:t>を作りたければ</a:t>
            </a:r>
            <a:r>
              <a:rPr lang="en-US" altLang="ja-JP" dirty="0" err="1">
                <a:latin typeface="Consolas" panose="020B0609020204030204" pitchFamily="49" charset="0"/>
              </a:rPr>
              <a:t>hoge.plt</a:t>
            </a:r>
            <a:r>
              <a:rPr lang="ja-JP" altLang="en-US" dirty="0">
                <a:latin typeface="Consolas" panose="020B0609020204030204" pitchFamily="49" charset="0"/>
              </a:rPr>
              <a:t>や</a:t>
            </a:r>
            <a:endParaRPr lang="en-US" altLang="ja-JP" dirty="0"/>
          </a:p>
          <a:p>
            <a:r>
              <a:rPr lang="en-US" altLang="ja-JP" dirty="0">
                <a:latin typeface="Consolas" panose="020B0609020204030204" pitchFamily="49" charset="0"/>
              </a:rPr>
              <a:t>hoge.py</a:t>
            </a:r>
            <a:r>
              <a:rPr lang="ja-JP" altLang="en-US" dirty="0"/>
              <a:t>を</a:t>
            </a:r>
            <a:r>
              <a:rPr kumimoji="1" lang="ja-JP" altLang="en-US" dirty="0"/>
              <a:t>探せばよい</a:t>
            </a:r>
          </a:p>
        </p:txBody>
      </p:sp>
    </p:spTree>
    <p:extLst>
      <p:ext uri="{BB962C8B-B14F-4D97-AF65-F5344CB8AC3E}">
        <p14:creationId xmlns:p14="http://schemas.microsoft.com/office/powerpoint/2010/main" val="4160180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461E8D0-1FA5-E9CE-FB7A-45503DAEF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論文執筆</a:t>
            </a:r>
            <a:endParaRPr kumimoji="1" lang="en-US" altLang="ja-JP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4A4120B-F3A1-99DA-AB86-E65F9FD60D9E}"/>
              </a:ext>
            </a:extLst>
          </p:cNvPr>
          <p:cNvSpPr txBox="1"/>
          <p:nvPr/>
        </p:nvSpPr>
        <p:spPr>
          <a:xfrm>
            <a:off x="395536" y="1116033"/>
            <a:ext cx="8392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コマンド</a:t>
            </a:r>
            <a:r>
              <a:rPr kumimoji="1" lang="ja-JP" altLang="en-US" sz="3200"/>
              <a:t>一発で図が全てできるのが望ましい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4A72FB8-1AF3-5715-511E-A76845260ED3}"/>
              </a:ext>
            </a:extLst>
          </p:cNvPr>
          <p:cNvSpPr/>
          <p:nvPr/>
        </p:nvSpPr>
        <p:spPr>
          <a:xfrm>
            <a:off x="1475656" y="3346113"/>
            <a:ext cx="5904656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2400">
                <a:latin typeface="Consolas" panose="020B0609020204030204" pitchFamily="49" charset="0"/>
              </a:rPr>
              <a:t>all: pressure.pdf temperature.pdf</a:t>
            </a:r>
          </a:p>
          <a:p>
            <a:endParaRPr lang="ja-JP" altLang="en-US" sz="2400">
              <a:latin typeface="Consolas" panose="020B0609020204030204" pitchFamily="49" charset="0"/>
            </a:endParaRPr>
          </a:p>
          <a:p>
            <a:r>
              <a:rPr lang="ja-JP" altLang="en-US" sz="2400">
                <a:latin typeface="Consolas" panose="020B0609020204030204" pitchFamily="49" charset="0"/>
              </a:rPr>
              <a:t>%.pdf: %.plt %.dat</a:t>
            </a:r>
          </a:p>
          <a:p>
            <a:r>
              <a:rPr lang="ja-JP" altLang="en-US" sz="2400">
                <a:latin typeface="Consolas" panose="020B0609020204030204" pitchFamily="49" charset="0"/>
              </a:rPr>
              <a:t>	gnuplot $&lt;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52BB26E-C472-03E3-21DA-2F1351AB2E21}"/>
              </a:ext>
            </a:extLst>
          </p:cNvPr>
          <p:cNvSpPr txBox="1"/>
          <p:nvPr/>
        </p:nvSpPr>
        <p:spPr>
          <a:xfrm>
            <a:off x="6732240" y="2204864"/>
            <a:ext cx="2210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>
                <a:latin typeface="Consolas" panose="020B0609020204030204" pitchFamily="49" charset="0"/>
              </a:rPr>
              <a:t>Makefile</a:t>
            </a:r>
            <a:endParaRPr kumimoji="1" lang="ja-JP" altLang="en-US" sz="3600">
              <a:latin typeface="Consolas" panose="020B0609020204030204" pitchFamily="49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650170B-D910-10C9-B449-39126160A741}"/>
              </a:ext>
            </a:extLst>
          </p:cNvPr>
          <p:cNvSpPr txBox="1"/>
          <p:nvPr/>
        </p:nvSpPr>
        <p:spPr>
          <a:xfrm>
            <a:off x="179512" y="1916832"/>
            <a:ext cx="63113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>
                <a:latin typeface="Consolas" panose="020B0609020204030204" pitchFamily="49" charset="0"/>
              </a:rPr>
              <a:t>pressure.dat</a:t>
            </a:r>
            <a:r>
              <a:rPr kumimoji="1" lang="ja-JP" altLang="en-US" sz="2400"/>
              <a:t>と</a:t>
            </a:r>
            <a:r>
              <a:rPr kumimoji="1" lang="en-US" altLang="ja-JP" sz="2400">
                <a:latin typeface="Consolas" panose="020B0609020204030204" pitchFamily="49" charset="0"/>
              </a:rPr>
              <a:t>temperature.dat</a:t>
            </a:r>
            <a:r>
              <a:rPr kumimoji="1" lang="ja-JP" altLang="en-US" sz="2400"/>
              <a:t>から</a:t>
            </a:r>
            <a:endParaRPr kumimoji="1" lang="en-US" altLang="ja-JP" sz="2400"/>
          </a:p>
          <a:p>
            <a:r>
              <a:rPr lang="en-US" altLang="ja-JP" sz="2400">
                <a:latin typeface="Consolas" panose="020B0609020204030204" pitchFamily="49" charset="0"/>
              </a:rPr>
              <a:t>pressure.plt</a:t>
            </a:r>
            <a:r>
              <a:rPr lang="ja-JP" altLang="en-US" sz="2400"/>
              <a:t>と</a:t>
            </a:r>
            <a:r>
              <a:rPr lang="en-US" altLang="ja-JP" sz="2400">
                <a:latin typeface="Consolas" panose="020B0609020204030204" pitchFamily="49" charset="0"/>
              </a:rPr>
              <a:t>temperature.plt</a:t>
            </a:r>
            <a:r>
              <a:rPr lang="ja-JP" altLang="en-US" sz="2400"/>
              <a:t>を使って</a:t>
            </a:r>
            <a:endParaRPr lang="en-US" altLang="ja-JP" sz="2400"/>
          </a:p>
          <a:p>
            <a:r>
              <a:rPr kumimoji="1" lang="en-US" altLang="ja-JP" sz="2400">
                <a:latin typeface="Consolas" panose="020B0609020204030204" pitchFamily="49" charset="0"/>
              </a:rPr>
              <a:t>pressure.pdf</a:t>
            </a:r>
            <a:r>
              <a:rPr kumimoji="1" lang="ja-JP" altLang="en-US" sz="2400"/>
              <a:t>と</a:t>
            </a:r>
            <a:r>
              <a:rPr lang="en-US" altLang="ja-JP" sz="2400">
                <a:latin typeface="Consolas" panose="020B0609020204030204" pitchFamily="49" charset="0"/>
              </a:rPr>
              <a:t>temperature.pdf</a:t>
            </a:r>
            <a:r>
              <a:rPr lang="ja-JP" altLang="en-US" sz="2400"/>
              <a:t>を作る</a:t>
            </a:r>
            <a:endParaRPr lang="en-US" altLang="ja-JP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C7D749-2DF6-E6EC-5A1C-B5F2BF1812A2}"/>
              </a:ext>
            </a:extLst>
          </p:cNvPr>
          <p:cNvSpPr txBox="1"/>
          <p:nvPr/>
        </p:nvSpPr>
        <p:spPr>
          <a:xfrm>
            <a:off x="251520" y="5046275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「そのディレクトリに入って</a:t>
            </a:r>
            <a:r>
              <a:rPr lang="en-US" altLang="ja-JP" sz="2400"/>
              <a:t>make</a:t>
            </a:r>
            <a:r>
              <a:rPr lang="ja-JP" altLang="en-US" sz="2400"/>
              <a:t>したら必要なものが揃う」という状況を作る</a:t>
            </a:r>
            <a:endParaRPr kumimoji="1" lang="en-US" altLang="ja-JP" sz="24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4382F46-FDF7-15C4-F8ED-928F236DBBAF}"/>
              </a:ext>
            </a:extLst>
          </p:cNvPr>
          <p:cNvSpPr txBox="1"/>
          <p:nvPr/>
        </p:nvSpPr>
        <p:spPr>
          <a:xfrm>
            <a:off x="1187624" y="6309320"/>
            <a:ext cx="7430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※ Python</a:t>
            </a:r>
            <a:r>
              <a:rPr lang="ja-JP" altLang="en-US"/>
              <a:t>やシェルスクリプト等でも良い。とにかくコマンド一発で。</a:t>
            </a:r>
            <a:endParaRPr kumimoji="1" lang="ja-JP" altLang="en-US"/>
          </a:p>
        </p:txBody>
      </p:sp>
      <p:sp>
        <p:nvSpPr>
          <p:cNvPr id="9" name="右中かっこ 8">
            <a:extLst>
              <a:ext uri="{FF2B5EF4-FFF2-40B4-BE49-F238E27FC236}">
                <a16:creationId xmlns:a16="http://schemas.microsoft.com/office/drawing/2014/main" id="{2468B0BE-21FF-8573-5029-A6ED4B70419C}"/>
              </a:ext>
            </a:extLst>
          </p:cNvPr>
          <p:cNvSpPr/>
          <p:nvPr/>
        </p:nvSpPr>
        <p:spPr>
          <a:xfrm>
            <a:off x="6372200" y="1916832"/>
            <a:ext cx="288032" cy="1274440"/>
          </a:xfrm>
          <a:prstGeom prst="righ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コネクタ: カギ線 10">
            <a:extLst>
              <a:ext uri="{FF2B5EF4-FFF2-40B4-BE49-F238E27FC236}">
                <a16:creationId xmlns:a16="http://schemas.microsoft.com/office/drawing/2014/main" id="{1C0CB108-5B21-F43F-1913-E80793A94A86}"/>
              </a:ext>
            </a:extLst>
          </p:cNvPr>
          <p:cNvCxnSpPr>
            <a:stCxn id="5" idx="2"/>
            <a:endCxn id="4" idx="3"/>
          </p:cNvCxnSpPr>
          <p:nvPr/>
        </p:nvCxnSpPr>
        <p:spPr>
          <a:xfrm rot="5400000">
            <a:off x="6969118" y="3262390"/>
            <a:ext cx="1279748" cy="457359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306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角丸四角形吹き出し 5">
            <a:extLst>
              <a:ext uri="{FF2B5EF4-FFF2-40B4-BE49-F238E27FC236}">
                <a16:creationId xmlns:a16="http://schemas.microsoft.com/office/drawing/2014/main" id="{0FCEB3DF-8A87-D818-FB02-5F09ABDFBD4C}"/>
              </a:ext>
            </a:extLst>
          </p:cNvPr>
          <p:cNvSpPr/>
          <p:nvPr/>
        </p:nvSpPr>
        <p:spPr>
          <a:xfrm>
            <a:off x="3923928" y="1413281"/>
            <a:ext cx="3240360" cy="1531888"/>
          </a:xfrm>
          <a:prstGeom prst="wedgeRoundRectCallout">
            <a:avLst>
              <a:gd name="adj1" fmla="val -73167"/>
              <a:gd name="adj2" fmla="val 15290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86BE164-62D0-350F-E2D1-086607D82A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データ共有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F9DE8EB-CF9C-7F1E-A289-BEB8FE5D6112}"/>
              </a:ext>
            </a:extLst>
          </p:cNvPr>
          <p:cNvSpPr txBox="1"/>
          <p:nvPr/>
        </p:nvSpPr>
        <p:spPr>
          <a:xfrm>
            <a:off x="323528" y="954927"/>
            <a:ext cx="6596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近年、論文執筆に使ったデータを公開する動きが活発に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D75F13-3E3A-3F3F-7E27-81E7DC2AC4DD}"/>
              </a:ext>
            </a:extLst>
          </p:cNvPr>
          <p:cNvSpPr txBox="1"/>
          <p:nvPr/>
        </p:nvSpPr>
        <p:spPr>
          <a:xfrm>
            <a:off x="4067944" y="1505009"/>
            <a:ext cx="33843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0" i="0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The data that support the findings of this study are available upon reasonable request.</a:t>
            </a:r>
            <a:endParaRPr lang="ja-JP" altLang="en-US" sz="2000"/>
          </a:p>
        </p:txBody>
      </p:sp>
      <p:pic>
        <p:nvPicPr>
          <p:cNvPr id="5122" name="Picture 2" descr="メガネが光る人のイラスト（男性）">
            <a:extLst>
              <a:ext uri="{FF2B5EF4-FFF2-40B4-BE49-F238E27FC236}">
                <a16:creationId xmlns:a16="http://schemas.microsoft.com/office/drawing/2014/main" id="{A46A1E6F-7B9A-6E6E-009E-94D367D3B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413281"/>
            <a:ext cx="1339253" cy="160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057DFC2-BD7E-8E62-B350-367366A51378}"/>
              </a:ext>
            </a:extLst>
          </p:cNvPr>
          <p:cNvSpPr txBox="1"/>
          <p:nvPr/>
        </p:nvSpPr>
        <p:spPr>
          <a:xfrm>
            <a:off x="4606752" y="3029934"/>
            <a:ext cx="3595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こんなこと言ってたらもう引用されない？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683D64E-29B0-2E7E-229D-39F544813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82" y="3981906"/>
            <a:ext cx="3047159" cy="191868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A36E42C-2557-133B-8138-D1183D5D3C74}"/>
              </a:ext>
            </a:extLst>
          </p:cNvPr>
          <p:cNvSpPr txBox="1"/>
          <p:nvPr/>
        </p:nvSpPr>
        <p:spPr>
          <a:xfrm>
            <a:off x="290705" y="6130263"/>
            <a:ext cx="39465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hlinkClick r:id="rId4"/>
              </a:rPr>
              <a:t>https://</a:t>
            </a:r>
            <a:r>
              <a:rPr lang="en-US" altLang="ja-JP" sz="1600" dirty="0" err="1">
                <a:hlinkClick r:id="rId4"/>
              </a:rPr>
              <a:t>datarepo.mdcl.issp.u-tokyo.ac.jp</a:t>
            </a:r>
            <a:r>
              <a:rPr lang="en-US" altLang="ja-JP" sz="1600" dirty="0">
                <a:hlinkClick r:id="rId4"/>
              </a:rPr>
              <a:t>/</a:t>
            </a:r>
            <a:endParaRPr lang="ja-JP" altLang="en-US" sz="160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85935F7-B64B-7D65-CCAC-2E296DE58853}"/>
              </a:ext>
            </a:extLst>
          </p:cNvPr>
          <p:cNvSpPr txBox="1"/>
          <p:nvPr/>
        </p:nvSpPr>
        <p:spPr>
          <a:xfrm>
            <a:off x="193438" y="3571064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rgbClr val="011893"/>
                </a:solidFill>
              </a:rPr>
              <a:t>物性研究所データリポジトリ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21129D4-CBEA-DE74-5A30-82F9100EB421}"/>
              </a:ext>
            </a:extLst>
          </p:cNvPr>
          <p:cNvSpPr txBox="1"/>
          <p:nvPr/>
        </p:nvSpPr>
        <p:spPr>
          <a:xfrm>
            <a:off x="4208405" y="6211122"/>
            <a:ext cx="4436431" cy="269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>
                <a:hlinkClick r:id="rId5"/>
              </a:rPr>
              <a:t>https://isspns-gitlab.issp.u-tokyo.ac.jp/kaityo256/aging_network_data</a:t>
            </a:r>
            <a:endParaRPr lang="ja-JP" altLang="en-US" sz="11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C57451B-5190-7FCC-EC3C-7C820B6D9D44}"/>
              </a:ext>
            </a:extLst>
          </p:cNvPr>
          <p:cNvSpPr txBox="1"/>
          <p:nvPr/>
        </p:nvSpPr>
        <p:spPr>
          <a:xfrm>
            <a:off x="4365184" y="362145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データ公開例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30286169-C49C-0F27-2F2E-F22647C723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362" y="4034139"/>
            <a:ext cx="3392868" cy="194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69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BA37551-B108-F443-8C3B-3A1140EBBE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講義ノート公開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9E94EF-F62C-B04C-5397-C13CD05F18E6}"/>
              </a:ext>
            </a:extLst>
          </p:cNvPr>
          <p:cNvSpPr txBox="1"/>
          <p:nvPr/>
        </p:nvSpPr>
        <p:spPr>
          <a:xfrm>
            <a:off x="395536" y="1052736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大学のサーバに置くと、退職後に消える</a:t>
            </a:r>
            <a:endParaRPr kumimoji="1" lang="en-US" altLang="ja-JP" sz="2400" dirty="0"/>
          </a:p>
          <a:p>
            <a:r>
              <a:rPr lang="en-US" altLang="ja-JP" sz="2400" dirty="0"/>
              <a:t>PDF</a:t>
            </a:r>
            <a:r>
              <a:rPr lang="ja-JP" altLang="en-US" sz="2400"/>
              <a:t>で置くと、スマホで見られない</a:t>
            </a:r>
            <a:endParaRPr kumimoji="1" lang="ja-JP" altLang="en-US" sz="24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884D4F3-FE3A-D285-3DDE-057203845B36}"/>
              </a:ext>
            </a:extLst>
          </p:cNvPr>
          <p:cNvSpPr txBox="1"/>
          <p:nvPr/>
        </p:nvSpPr>
        <p:spPr>
          <a:xfrm>
            <a:off x="107504" y="2018990"/>
            <a:ext cx="3913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011893"/>
                </a:solidFill>
              </a:rPr>
              <a:t>GitHub</a:t>
            </a:r>
            <a:r>
              <a:rPr kumimoji="1" lang="ja-JP" altLang="en-US" sz="2400">
                <a:solidFill>
                  <a:srgbClr val="011893"/>
                </a:solidFill>
              </a:rPr>
              <a:t>への講義ノート公開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3E00448-0A1C-F831-DAEC-E645D6F6AD64}"/>
              </a:ext>
            </a:extLst>
          </p:cNvPr>
          <p:cNvSpPr txBox="1"/>
          <p:nvPr/>
        </p:nvSpPr>
        <p:spPr>
          <a:xfrm>
            <a:off x="564866" y="5318068"/>
            <a:ext cx="39132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>
                <a:hlinkClick r:id="rId2"/>
              </a:rPr>
              <a:t>https://kaityo256.github.io/python_zero/</a:t>
            </a:r>
            <a:endParaRPr lang="ja-JP" altLang="en-US" sz="160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EB83BF4-E2D7-1221-9681-E92AAE236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87" y="2480655"/>
            <a:ext cx="3598168" cy="2850070"/>
          </a:xfrm>
          <a:prstGeom prst="rect">
            <a:avLst/>
          </a:prstGeom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50598C5-F27F-AF3B-655A-1911051C0E90}"/>
              </a:ext>
            </a:extLst>
          </p:cNvPr>
          <p:cNvGrpSpPr/>
          <p:nvPr/>
        </p:nvGrpSpPr>
        <p:grpSpPr>
          <a:xfrm>
            <a:off x="6120180" y="1883733"/>
            <a:ext cx="2376264" cy="4248472"/>
            <a:chOff x="5414400" y="2414032"/>
            <a:chExt cx="2376264" cy="4248472"/>
          </a:xfrm>
        </p:grpSpPr>
        <p:sp>
          <p:nvSpPr>
            <p:cNvPr id="9" name="角丸四角形 8">
              <a:extLst>
                <a:ext uri="{FF2B5EF4-FFF2-40B4-BE49-F238E27FC236}">
                  <a16:creationId xmlns:a16="http://schemas.microsoft.com/office/drawing/2014/main" id="{D52A6743-4D12-C20D-8E91-ECD467CD1776}"/>
                </a:ext>
              </a:extLst>
            </p:cNvPr>
            <p:cNvSpPr/>
            <p:nvPr/>
          </p:nvSpPr>
          <p:spPr>
            <a:xfrm>
              <a:off x="5414400" y="2414032"/>
              <a:ext cx="2376264" cy="4248472"/>
            </a:xfrm>
            <a:prstGeom prst="roundRect">
              <a:avLst>
                <a:gd name="adj" fmla="val 6872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B224BF67-B3D0-291F-F037-928091EB0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08104" y="2636912"/>
              <a:ext cx="2188857" cy="3380732"/>
            </a:xfrm>
            <a:prstGeom prst="rect">
              <a:avLst/>
            </a:prstGeom>
          </p:spPr>
        </p:pic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14788084-E50D-9A1C-2873-836BB2922A90}"/>
                </a:ext>
              </a:extLst>
            </p:cNvPr>
            <p:cNvSpPr/>
            <p:nvPr/>
          </p:nvSpPr>
          <p:spPr>
            <a:xfrm>
              <a:off x="6530524" y="2440343"/>
              <a:ext cx="144016" cy="14401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円/楕円 10">
              <a:extLst>
                <a:ext uri="{FF2B5EF4-FFF2-40B4-BE49-F238E27FC236}">
                  <a16:creationId xmlns:a16="http://schemas.microsoft.com/office/drawing/2014/main" id="{9EAEB524-81D4-86E0-B55D-CF92AAE20833}"/>
                </a:ext>
              </a:extLst>
            </p:cNvPr>
            <p:cNvSpPr/>
            <p:nvPr/>
          </p:nvSpPr>
          <p:spPr>
            <a:xfrm>
              <a:off x="6404510" y="6156045"/>
              <a:ext cx="396043" cy="39604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右矢印 12">
            <a:extLst>
              <a:ext uri="{FF2B5EF4-FFF2-40B4-BE49-F238E27FC236}">
                <a16:creationId xmlns:a16="http://schemas.microsoft.com/office/drawing/2014/main" id="{6C4E6DBD-445C-FE96-A521-0E63D9A2AE94}"/>
              </a:ext>
            </a:extLst>
          </p:cNvPr>
          <p:cNvSpPr/>
          <p:nvPr/>
        </p:nvSpPr>
        <p:spPr>
          <a:xfrm>
            <a:off x="4572000" y="3645024"/>
            <a:ext cx="1008112" cy="3771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5195015-2B84-9986-6DD6-235BE4C85EF0}"/>
              </a:ext>
            </a:extLst>
          </p:cNvPr>
          <p:cNvSpPr txBox="1"/>
          <p:nvPr/>
        </p:nvSpPr>
        <p:spPr>
          <a:xfrm>
            <a:off x="4381005" y="3242071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レスポンシブ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34FCDA2-9A36-65DC-3DF5-3F769DD29DB3}"/>
              </a:ext>
            </a:extLst>
          </p:cNvPr>
          <p:cNvSpPr txBox="1"/>
          <p:nvPr/>
        </p:nvSpPr>
        <p:spPr>
          <a:xfrm>
            <a:off x="178112" y="5900587"/>
            <a:ext cx="59362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/>
              <a:t>退職後も</a:t>
            </a:r>
            <a:r>
              <a:rPr kumimoji="1" lang="en-US" altLang="ja-JP" dirty="0"/>
              <a:t>(</a:t>
            </a:r>
            <a:r>
              <a:rPr kumimoji="1" lang="ja-JP" altLang="en-US"/>
              <a:t>多分</a:t>
            </a:r>
            <a:r>
              <a:rPr kumimoji="1" lang="en-US" altLang="ja-JP" dirty="0"/>
              <a:t>)</a:t>
            </a:r>
            <a:r>
              <a:rPr kumimoji="1" lang="ja-JP" altLang="en-US"/>
              <a:t>消えない。消える前にフォーク可能。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>
                <a:solidFill>
                  <a:srgbClr val="FF0000"/>
                </a:solidFill>
              </a:rPr>
              <a:t>レスポンシブにすればスマホでも閲覧可能</a:t>
            </a:r>
          </a:p>
        </p:txBody>
      </p:sp>
    </p:spTree>
    <p:extLst>
      <p:ext uri="{BB962C8B-B14F-4D97-AF65-F5344CB8AC3E}">
        <p14:creationId xmlns:p14="http://schemas.microsoft.com/office/powerpoint/2010/main" val="2554865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210F7DB-11A3-429C-B866-7F0C5CC0B7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まとめ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1BC6D4-76BF-4671-8D7A-34B66018A0F9}"/>
              </a:ext>
            </a:extLst>
          </p:cNvPr>
          <p:cNvSpPr txBox="1"/>
          <p:nvPr/>
        </p:nvSpPr>
        <p:spPr>
          <a:xfrm>
            <a:off x="17828" y="1124744"/>
            <a:ext cx="88569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/>
              <a:t>計算物理における</a:t>
            </a:r>
            <a:r>
              <a:rPr lang="en-US" altLang="ja-JP" sz="2800" dirty="0"/>
              <a:t>Git/GitHub</a:t>
            </a:r>
            <a:r>
              <a:rPr lang="ja-JP" altLang="en-US" sz="2800"/>
              <a:t>の用途は主にコード開発と論文執筆</a:t>
            </a:r>
            <a:endParaRPr lang="en-US" altLang="ja-JP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/>
              <a:t>リモートリポジトリを使うことで自動的にバックアップ</a:t>
            </a:r>
            <a:endParaRPr lang="en-US" altLang="ja-JP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800" dirty="0"/>
              <a:t>GitHub</a:t>
            </a:r>
            <a:r>
              <a:rPr lang="ja-JP" altLang="en-US" sz="2800"/>
              <a:t>をコードや論文の「ハブ」として使う</a:t>
            </a:r>
            <a:endParaRPr lang="en-US" altLang="ja-JP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sz="2800" dirty="0"/>
              <a:t>GitHub</a:t>
            </a:r>
            <a:r>
              <a:rPr lang="ja-JP" altLang="en-US" sz="2800"/>
              <a:t>経由でコードをクラスタやスパコンへ</a:t>
            </a:r>
            <a:endParaRPr lang="en-US" altLang="ja-JP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sz="2800" dirty="0"/>
              <a:t>GitHub</a:t>
            </a:r>
            <a:r>
              <a:rPr lang="ja-JP" altLang="en-US" sz="2800"/>
              <a:t>経由で論文を共著者へ共有</a:t>
            </a:r>
            <a:endParaRPr lang="en-US" altLang="ja-JP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/>
              <a:t>公開手段としての</a:t>
            </a:r>
            <a:r>
              <a:rPr lang="en-US" altLang="ja-JP" sz="2800" dirty="0"/>
              <a:t>GitHub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800"/>
              <a:t>データを公開</a:t>
            </a:r>
            <a:r>
              <a:rPr lang="en-US" altLang="ja-JP" sz="2800" dirty="0"/>
              <a:t> (</a:t>
            </a:r>
            <a:r>
              <a:rPr lang="ja-JP" altLang="en-US" sz="2800"/>
              <a:t>物性研データリポジトリの利用</a:t>
            </a:r>
            <a:r>
              <a:rPr lang="en-US" altLang="ja-JP" sz="28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800"/>
              <a:t>講義ノートの公開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708715004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パーセル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6828</TotalTime>
  <Words>1077</Words>
  <Application>Microsoft Macintosh PowerPoint</Application>
  <PresentationFormat>画面に合わせる (4:3)</PresentationFormat>
  <Paragraphs>181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2" baseType="lpstr">
      <vt:lpstr>游ゴシック</vt:lpstr>
      <vt:lpstr>Arial</vt:lpstr>
      <vt:lpstr>Consolas</vt:lpstr>
      <vt:lpstr>Lato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渡辺 宙志</cp:lastModifiedBy>
  <cp:revision>1398</cp:revision>
  <dcterms:created xsi:type="dcterms:W3CDTF">2019-01-02T05:23:01Z</dcterms:created>
  <dcterms:modified xsi:type="dcterms:W3CDTF">2026-03-02T08:37:02Z</dcterms:modified>
</cp:coreProperties>
</file>