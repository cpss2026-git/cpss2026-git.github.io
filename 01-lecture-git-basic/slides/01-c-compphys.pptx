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3" r:id="rId1"/>
  </p:sldMasterIdLst>
  <p:notesMasterIdLst>
    <p:notesMasterId r:id="rId7"/>
  </p:notesMasterIdLst>
  <p:sldIdLst>
    <p:sldId id="256" r:id="rId2"/>
    <p:sldId id="302" r:id="rId3"/>
    <p:sldId id="304" r:id="rId4"/>
    <p:sldId id="303" r:id="rId5"/>
    <p:sldId id="294" r:id="rId6"/>
  </p:sldIdLst>
  <p:sldSz cx="9144000" cy="6858000" type="screen4x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11893"/>
    <a:srgbClr val="CCECFF"/>
    <a:srgbClr val="FFFF99"/>
    <a:srgbClr val="CCFFCC"/>
    <a:srgbClr val="FFCCCC"/>
    <a:srgbClr val="FF8AD8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淡色スタイル 1 - アクセント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982" autoAdjust="0"/>
    <p:restoredTop sz="94660"/>
  </p:normalViewPr>
  <p:slideViewPr>
    <p:cSldViewPr>
      <p:cViewPr varScale="1">
        <p:scale>
          <a:sx n="63" d="100"/>
          <a:sy n="63" d="100"/>
        </p:scale>
        <p:origin x="1480" y="5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8D1B20-A248-FB47-8240-73C0C5F47C9D}" type="datetimeFigureOut">
              <a:t>2026/3/1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kumimoji="1" lang="ja-JP" altLang="en-US"/>
              <a:t>マスター テキストの書式設定
第 </a:t>
            </a:r>
            <a:r>
              <a:rPr kumimoji="1" lang="en-US" altLang="ja-JP"/>
              <a:t>2 </a:t>
            </a:r>
            <a:r>
              <a:rPr kumimoji="1" lang="ja-JP" altLang="en-US"/>
              <a:t>レベル
第 </a:t>
            </a:r>
            <a:r>
              <a:rPr kumimoji="1" lang="en-US" altLang="ja-JP"/>
              <a:t>3 </a:t>
            </a:r>
            <a:r>
              <a:rPr kumimoji="1" lang="ja-JP" altLang="en-US"/>
              <a:t>レベル
第 </a:t>
            </a:r>
            <a:r>
              <a:rPr kumimoji="1" lang="en-US" altLang="ja-JP"/>
              <a:t>4 </a:t>
            </a:r>
            <a:r>
              <a:rPr kumimoji="1" lang="ja-JP" altLang="en-US"/>
              <a:t>レベル
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FA746F-AF1F-C048-A2ED-B38EF01E9631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5976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テキスト プレースホルダー 6">
            <a:extLst>
              <a:ext uri="{FF2B5EF4-FFF2-40B4-BE49-F238E27FC236}">
                <a16:creationId xmlns:a16="http://schemas.microsoft.com/office/drawing/2014/main" id="{1977278B-6103-7448-8885-11FCA29D84A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190133"/>
            <a:ext cx="9144000" cy="7540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000">
                <a:ln>
                  <a:solidFill>
                    <a:srgbClr val="011893"/>
                  </a:solidFill>
                </a:ln>
              </a:defRPr>
            </a:lvl1pPr>
          </a:lstStyle>
          <a:p>
            <a:endParaRPr kumimoji="1" lang="ja-JP" altLang="en-US"/>
          </a:p>
        </p:txBody>
      </p:sp>
      <p:sp>
        <p:nvSpPr>
          <p:cNvPr id="2" name="円/楕円 3">
            <a:extLst>
              <a:ext uri="{FF2B5EF4-FFF2-40B4-BE49-F238E27FC236}">
                <a16:creationId xmlns:a16="http://schemas.microsoft.com/office/drawing/2014/main" id="{CDE809D1-218E-63FD-91C4-D6D842E83190}"/>
              </a:ext>
            </a:extLst>
          </p:cNvPr>
          <p:cNvSpPr/>
          <p:nvPr userDrawn="1"/>
        </p:nvSpPr>
        <p:spPr>
          <a:xfrm>
            <a:off x="8497721" y="6230795"/>
            <a:ext cx="531173" cy="531173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50">
              <a:latin typeface="+mj-ea"/>
              <a:ea typeface="+mj-ea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DEF23ED-679B-AFA5-F04F-AB60A05DB698}"/>
              </a:ext>
            </a:extLst>
          </p:cNvPr>
          <p:cNvSpPr txBox="1"/>
          <p:nvPr userDrawn="1"/>
        </p:nvSpPr>
        <p:spPr>
          <a:xfrm>
            <a:off x="8491428" y="6270575"/>
            <a:ext cx="4010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E8E17320-8F29-C346-80F3-7693511BE498}" type="slidenum">
              <a:rPr kumimoji="1" lang="ja-JP" altLang="en-US" sz="1400"/>
              <a:pPr algn="ctr"/>
              <a:t>‹#›</a:t>
            </a:fld>
            <a:endParaRPr kumimoji="1" lang="ja-JP" altLang="en-US" sz="1400" dirty="0"/>
          </a:p>
        </p:txBody>
      </p:sp>
      <p:sp>
        <p:nvSpPr>
          <p:cNvPr id="6" name="弦 5">
            <a:extLst>
              <a:ext uri="{FF2B5EF4-FFF2-40B4-BE49-F238E27FC236}">
                <a16:creationId xmlns:a16="http://schemas.microsoft.com/office/drawing/2014/main" id="{9B103AC7-3AF9-2CD8-494E-153643B2A8AA}"/>
              </a:ext>
            </a:extLst>
          </p:cNvPr>
          <p:cNvSpPr/>
          <p:nvPr userDrawn="1"/>
        </p:nvSpPr>
        <p:spPr>
          <a:xfrm rot="16200000">
            <a:off x="8491626" y="6224701"/>
            <a:ext cx="588253" cy="576063"/>
          </a:xfrm>
          <a:prstGeom prst="chord">
            <a:avLst>
              <a:gd name="adj1" fmla="val 2700000"/>
              <a:gd name="adj2" fmla="val 14142403"/>
            </a:avLst>
          </a:prstGeom>
          <a:solidFill>
            <a:schemeClr val="bg1">
              <a:lumMod val="65000"/>
            </a:schemeClr>
          </a:solidFill>
          <a:ln>
            <a:noFill/>
          </a:ln>
          <a:effectLst>
            <a:softEdge rad="3175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3401ADB-CCC7-F2A7-92C7-0B2285D8DE9C}"/>
              </a:ext>
            </a:extLst>
          </p:cNvPr>
          <p:cNvSpPr txBox="1"/>
          <p:nvPr userDrawn="1"/>
        </p:nvSpPr>
        <p:spPr>
          <a:xfrm>
            <a:off x="8596070" y="6442913"/>
            <a:ext cx="496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400"/>
              <a:t>26</a:t>
            </a:r>
            <a:endParaRPr kumimoji="1" lang="en-US" altLang="ja-JP" sz="1400" dirty="0"/>
          </a:p>
        </p:txBody>
      </p:sp>
    </p:spTree>
    <p:extLst>
      <p:ext uri="{BB962C8B-B14F-4D97-AF65-F5344CB8AC3E}">
        <p14:creationId xmlns:p14="http://schemas.microsoft.com/office/powerpoint/2010/main" val="23847815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49306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</p:sldLayoutIdLst>
  <p:hf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kumimoji="1" sz="26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datarepo.mdcl.issp.u-tokyo.ac.jp/" TargetMode="Externa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6C4099E-EB60-DC4F-967D-225ED88E614D}"/>
              </a:ext>
            </a:extLst>
          </p:cNvPr>
          <p:cNvSpPr txBox="1"/>
          <p:nvPr/>
        </p:nvSpPr>
        <p:spPr>
          <a:xfrm>
            <a:off x="107504" y="1268760"/>
            <a:ext cx="889248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4000">
                <a:solidFill>
                  <a:srgbClr val="011893"/>
                </a:solidFill>
              </a:rPr>
              <a:t>計算物理における</a:t>
            </a:r>
            <a:r>
              <a:rPr lang="en-US" altLang="ja-JP" sz="4000">
                <a:solidFill>
                  <a:srgbClr val="011893"/>
                </a:solidFill>
              </a:rPr>
              <a:t>Git</a:t>
            </a:r>
            <a:r>
              <a:rPr lang="ja-JP" altLang="en-US" sz="4000">
                <a:solidFill>
                  <a:srgbClr val="011893"/>
                </a:solidFill>
              </a:rPr>
              <a:t>の使い方</a:t>
            </a:r>
            <a:endParaRPr lang="en-US" altLang="ja-JP" sz="4000" dirty="0">
              <a:solidFill>
                <a:srgbClr val="011893"/>
              </a:solidFill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F6FF3F0-B80E-4A32-A410-E1A4C3A7A116}"/>
              </a:ext>
            </a:extLst>
          </p:cNvPr>
          <p:cNvSpPr txBox="1"/>
          <p:nvPr/>
        </p:nvSpPr>
        <p:spPr>
          <a:xfrm>
            <a:off x="3704546" y="5314568"/>
            <a:ext cx="5416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慶應義塾大学理工学部物理情報工学科</a:t>
            </a:r>
            <a:endParaRPr lang="en-US" altLang="ja-JP" sz="2400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4A82E08-1852-476D-B582-C7C001BDD60A}"/>
              </a:ext>
            </a:extLst>
          </p:cNvPr>
          <p:cNvSpPr txBox="1"/>
          <p:nvPr/>
        </p:nvSpPr>
        <p:spPr>
          <a:xfrm>
            <a:off x="8249826" y="5733256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渡辺</a:t>
            </a:r>
            <a:endParaRPr lang="en-US" altLang="ja-JP" sz="2400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C6363B4-E307-15CC-2651-71CE69E71BC4}"/>
              </a:ext>
            </a:extLst>
          </p:cNvPr>
          <p:cNvSpPr txBox="1"/>
          <p:nvPr/>
        </p:nvSpPr>
        <p:spPr>
          <a:xfrm>
            <a:off x="0" y="6519446"/>
            <a:ext cx="72635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600" dirty="0"/>
              <a:t>2026</a:t>
            </a:r>
            <a:r>
              <a:rPr kumimoji="1" lang="ja-JP" altLang="en-US" sz="1600"/>
              <a:t>年</a:t>
            </a:r>
            <a:r>
              <a:rPr kumimoji="1" lang="en-US" altLang="ja-JP" sz="1600" dirty="0"/>
              <a:t>3</a:t>
            </a:r>
            <a:r>
              <a:rPr kumimoji="1" lang="ja-JP" altLang="en-US" sz="1600"/>
              <a:t>月</a:t>
            </a:r>
            <a:r>
              <a:rPr kumimoji="1" lang="en-US" altLang="ja-JP" sz="1600" dirty="0"/>
              <a:t>9</a:t>
            </a:r>
            <a:r>
              <a:rPr kumimoji="1" lang="ja-JP" altLang="en-US" sz="1600"/>
              <a:t>日</a:t>
            </a:r>
            <a:r>
              <a:rPr kumimoji="1" lang="en-US" altLang="ja-JP" sz="1600" dirty="0"/>
              <a:t> </a:t>
            </a:r>
            <a:r>
              <a:rPr kumimoji="1" lang="ja-JP" altLang="en-US" sz="1600"/>
              <a:t>計算物理春の学校</a:t>
            </a:r>
            <a:r>
              <a:rPr kumimoji="1" lang="en-US" altLang="ja-JP" sz="1600" dirty="0"/>
              <a:t>2026</a:t>
            </a:r>
            <a:r>
              <a:rPr kumimoji="1" lang="ja-JP" altLang="en-US" sz="1600"/>
              <a:t>「計算物理屋のための</a:t>
            </a:r>
            <a:r>
              <a:rPr kumimoji="1" lang="en-US" altLang="ja-JP" sz="1600" dirty="0"/>
              <a:t>Git/GitHub</a:t>
            </a:r>
            <a:r>
              <a:rPr kumimoji="1" lang="ja-JP" altLang="en-US" sz="1600"/>
              <a:t>入門」</a:t>
            </a:r>
          </a:p>
        </p:txBody>
      </p:sp>
    </p:spTree>
    <p:extLst>
      <p:ext uri="{BB962C8B-B14F-4D97-AF65-F5344CB8AC3E}">
        <p14:creationId xmlns:p14="http://schemas.microsoft.com/office/powerpoint/2010/main" val="40795339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9619ADBA-8F49-D055-5351-79B070333B0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/>
              <a:t>計算物理における</a:t>
            </a:r>
            <a:r>
              <a:rPr kumimoji="1" lang="en-US" altLang="ja-JP"/>
              <a:t>Git</a:t>
            </a:r>
            <a:r>
              <a:rPr lang="ja-JP" altLang="en-US"/>
              <a:t>の使い道</a:t>
            </a:r>
            <a:r>
              <a:rPr lang="en-US" altLang="ja-JP"/>
              <a:t>(</a:t>
            </a:r>
            <a:r>
              <a:rPr lang="ja-JP" altLang="en-US"/>
              <a:t>例</a:t>
            </a:r>
            <a:r>
              <a:rPr lang="en-US" altLang="ja-JP"/>
              <a:t>)</a:t>
            </a:r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C28673F-4C95-D263-3625-008AE5880487}"/>
              </a:ext>
            </a:extLst>
          </p:cNvPr>
          <p:cNvSpPr txBox="1"/>
          <p:nvPr/>
        </p:nvSpPr>
        <p:spPr>
          <a:xfrm>
            <a:off x="179512" y="1196752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>
                <a:solidFill>
                  <a:srgbClr val="011893"/>
                </a:solidFill>
              </a:rPr>
              <a:t>コード開発</a:t>
            </a:r>
            <a:endParaRPr lang="en-US" sz="3200">
              <a:solidFill>
                <a:srgbClr val="011893"/>
              </a:solidFill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9E54984-36AC-7CFA-3128-8A6F28537200}"/>
              </a:ext>
            </a:extLst>
          </p:cNvPr>
          <p:cNvSpPr txBox="1"/>
          <p:nvPr/>
        </p:nvSpPr>
        <p:spPr>
          <a:xfrm>
            <a:off x="899592" y="1844824"/>
            <a:ext cx="634019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/>
              <a:t>開発するコードを</a:t>
            </a:r>
            <a:r>
              <a:rPr kumimoji="1" lang="en-US" altLang="ja-JP" sz="3200"/>
              <a:t>Git</a:t>
            </a:r>
            <a:r>
              <a:rPr kumimoji="1" lang="ja-JP" altLang="en-US" sz="3200"/>
              <a:t>で管理</a:t>
            </a:r>
            <a:endParaRPr lang="en-US" altLang="ja-JP" sz="3200"/>
          </a:p>
          <a:p>
            <a:r>
              <a:rPr lang="ja-JP" altLang="en-US" sz="3200"/>
              <a:t>ローカルでのデバッグ</a:t>
            </a:r>
            <a:endParaRPr lang="en-US" altLang="ja-JP" sz="3200"/>
          </a:p>
          <a:p>
            <a:r>
              <a:rPr lang="ja-JP" altLang="en-US" sz="3200"/>
              <a:t>クラスタ</a:t>
            </a:r>
            <a:r>
              <a:rPr kumimoji="1" lang="ja-JP" altLang="en-US" sz="3200"/>
              <a:t>やスパコンでコード共有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A5A9B58-0098-C03A-5ABF-83B743FF1FDB}"/>
              </a:ext>
            </a:extLst>
          </p:cNvPr>
          <p:cNvSpPr txBox="1"/>
          <p:nvPr/>
        </p:nvSpPr>
        <p:spPr>
          <a:xfrm>
            <a:off x="179512" y="3717032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>
                <a:solidFill>
                  <a:srgbClr val="011893"/>
                </a:solidFill>
              </a:rPr>
              <a:t>論文執筆</a:t>
            </a:r>
            <a:endParaRPr lang="en-US" sz="3200">
              <a:solidFill>
                <a:srgbClr val="011893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A1DCA10-AD10-2440-0665-5CBFE2A1C590}"/>
              </a:ext>
            </a:extLst>
          </p:cNvPr>
          <p:cNvSpPr txBox="1"/>
          <p:nvPr/>
        </p:nvSpPr>
        <p:spPr>
          <a:xfrm>
            <a:off x="971600" y="4365104"/>
            <a:ext cx="608852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/>
              <a:t>論文を</a:t>
            </a:r>
            <a:r>
              <a:rPr lang="en-US" altLang="ja-JP" sz="3200"/>
              <a:t>Git</a:t>
            </a:r>
            <a:r>
              <a:rPr lang="ja-JP" altLang="en-US" sz="3200"/>
              <a:t>で管理、</a:t>
            </a:r>
            <a:r>
              <a:rPr lang="en-US" altLang="ja-JP" sz="3200"/>
              <a:t>GitHub</a:t>
            </a:r>
            <a:r>
              <a:rPr lang="ja-JP" altLang="en-US" sz="3200"/>
              <a:t>に保存</a:t>
            </a:r>
            <a:endParaRPr lang="en-US" altLang="ja-JP" sz="3200"/>
          </a:p>
          <a:p>
            <a:r>
              <a:rPr kumimoji="1" lang="ja-JP" altLang="en-US" sz="3200"/>
              <a:t>バックアップ</a:t>
            </a:r>
            <a:endParaRPr kumimoji="1" lang="en-US" altLang="ja-JP" sz="3200"/>
          </a:p>
          <a:p>
            <a:r>
              <a:rPr kumimoji="1" lang="ja-JP" altLang="en-US" sz="3200"/>
              <a:t>共著者と共有しやすい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3680EB1-E543-C6C6-57A4-62DABC34C169}"/>
              </a:ext>
            </a:extLst>
          </p:cNvPr>
          <p:cNvSpPr txBox="1"/>
          <p:nvPr/>
        </p:nvSpPr>
        <p:spPr>
          <a:xfrm>
            <a:off x="683568" y="6237312"/>
            <a:ext cx="2274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※ Overleaf</a:t>
            </a:r>
            <a:r>
              <a:rPr kumimoji="1" lang="ja-JP" altLang="en-US"/>
              <a:t>派も多い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9E41A0C-9182-E4EB-A872-03FFCF3634F9}"/>
              </a:ext>
            </a:extLst>
          </p:cNvPr>
          <p:cNvSpPr txBox="1"/>
          <p:nvPr/>
        </p:nvSpPr>
        <p:spPr>
          <a:xfrm>
            <a:off x="1835696" y="3851756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※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361168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A0BB65D7-B109-65D9-3C45-A122A7524B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計算物理における</a:t>
            </a:r>
            <a:r>
              <a:rPr lang="en-US" altLang="ja-JP"/>
              <a:t>Git</a:t>
            </a:r>
            <a:r>
              <a:rPr lang="ja-JP" altLang="en-US"/>
              <a:t>の使い道</a:t>
            </a:r>
            <a:r>
              <a:rPr lang="en-US" altLang="ja-JP"/>
              <a:t>(</a:t>
            </a:r>
            <a:r>
              <a:rPr lang="ja-JP" altLang="en-US"/>
              <a:t>例</a:t>
            </a:r>
            <a:r>
              <a:rPr lang="en-US" altLang="ja-JP"/>
              <a:t>)</a:t>
            </a:r>
            <a:endParaRPr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370C6DC-365C-76D2-C359-DF1B5BC37FDA}"/>
              </a:ext>
            </a:extLst>
          </p:cNvPr>
          <p:cNvSpPr txBox="1"/>
          <p:nvPr/>
        </p:nvSpPr>
        <p:spPr>
          <a:xfrm>
            <a:off x="179512" y="1196752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>
                <a:solidFill>
                  <a:srgbClr val="011893"/>
                </a:solidFill>
              </a:rPr>
              <a:t>データ共有</a:t>
            </a:r>
            <a:endParaRPr lang="en-US" sz="3200">
              <a:solidFill>
                <a:srgbClr val="011893"/>
              </a:solidFill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3DC18B5-2656-46F0-9921-CBA330BED528}"/>
              </a:ext>
            </a:extLst>
          </p:cNvPr>
          <p:cNvSpPr txBox="1"/>
          <p:nvPr/>
        </p:nvSpPr>
        <p:spPr>
          <a:xfrm>
            <a:off x="899592" y="1844824"/>
            <a:ext cx="634019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/>
              <a:t>論文執筆に使ったデータを公開</a:t>
            </a:r>
            <a:endParaRPr kumimoji="1" lang="en-US" altLang="ja-JP" sz="3200"/>
          </a:p>
          <a:p>
            <a:r>
              <a:rPr lang="en-US" altLang="ja-JP" sz="3200"/>
              <a:t>ex) </a:t>
            </a:r>
            <a:r>
              <a:rPr lang="ja-JP" altLang="en-US" sz="3200"/>
              <a:t>物性研究所データリポジトリ</a:t>
            </a:r>
            <a:endParaRPr kumimoji="1" lang="ja-JP" altLang="en-US" sz="320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08B01BB-FADF-0B47-B431-F8F6FCF9C128}"/>
              </a:ext>
            </a:extLst>
          </p:cNvPr>
          <p:cNvSpPr txBox="1"/>
          <p:nvPr/>
        </p:nvSpPr>
        <p:spPr>
          <a:xfrm>
            <a:off x="179512" y="3717032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>
                <a:solidFill>
                  <a:srgbClr val="011893"/>
                </a:solidFill>
              </a:rPr>
              <a:t>講義ノート公開</a:t>
            </a:r>
            <a:endParaRPr lang="en-US" sz="3200">
              <a:solidFill>
                <a:srgbClr val="011893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0E09486-8663-D7ED-0DDC-2F5D75B1ABD4}"/>
              </a:ext>
            </a:extLst>
          </p:cNvPr>
          <p:cNvSpPr txBox="1"/>
          <p:nvPr/>
        </p:nvSpPr>
        <p:spPr>
          <a:xfrm>
            <a:off x="899592" y="4509120"/>
            <a:ext cx="592982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/>
              <a:t>GitHub</a:t>
            </a:r>
            <a:r>
              <a:rPr kumimoji="1" lang="ja-JP" altLang="en-US" sz="3200"/>
              <a:t>で講義ノートを公開</a:t>
            </a:r>
            <a:endParaRPr kumimoji="1" lang="en-US" altLang="ja-JP" sz="3200"/>
          </a:p>
          <a:p>
            <a:r>
              <a:rPr lang="ja-JP" altLang="en-US" sz="3200"/>
              <a:t>スマホで閲覧可能</a:t>
            </a:r>
            <a:endParaRPr lang="en-US" altLang="ja-JP" sz="3200"/>
          </a:p>
          <a:p>
            <a:r>
              <a:rPr kumimoji="1" lang="ja-JP" altLang="en-US" sz="3200"/>
              <a:t>退職後も消えない可能性が高い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AC69FFC-18EA-26B2-F4D9-B91520A0965A}"/>
              </a:ext>
            </a:extLst>
          </p:cNvPr>
          <p:cNvSpPr txBox="1"/>
          <p:nvPr/>
        </p:nvSpPr>
        <p:spPr>
          <a:xfrm>
            <a:off x="1835696" y="2924944"/>
            <a:ext cx="61206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2400">
                <a:hlinkClick r:id="rId2"/>
              </a:rPr>
              <a:t>https://datarepo.mdcl.issp.u-tokyo.ac.jp/</a:t>
            </a:r>
            <a:endParaRPr lang="ja-JP" altLang="en-US" sz="2400"/>
          </a:p>
        </p:txBody>
      </p:sp>
    </p:spTree>
    <p:extLst>
      <p:ext uri="{BB962C8B-B14F-4D97-AF65-F5344CB8AC3E}">
        <p14:creationId xmlns:p14="http://schemas.microsoft.com/office/powerpoint/2010/main" val="41777486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6A141EFB-397F-1633-869B-5D1D5956907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ja-JP"/>
              <a:t>Git/GitHub</a:t>
            </a:r>
            <a:r>
              <a:rPr lang="ja-JP" altLang="en-US"/>
              <a:t>による論文執筆管理</a:t>
            </a:r>
          </a:p>
        </p:txBody>
      </p:sp>
      <p:sp>
        <p:nvSpPr>
          <p:cNvPr id="3" name="角丸四角形 5">
            <a:extLst>
              <a:ext uri="{FF2B5EF4-FFF2-40B4-BE49-F238E27FC236}">
                <a16:creationId xmlns:a16="http://schemas.microsoft.com/office/drawing/2014/main" id="{48070490-36A2-BBEE-E2FD-0CAC03CBBECA}"/>
              </a:ext>
            </a:extLst>
          </p:cNvPr>
          <p:cNvSpPr/>
          <p:nvPr/>
        </p:nvSpPr>
        <p:spPr>
          <a:xfrm>
            <a:off x="323528" y="1628800"/>
            <a:ext cx="3600400" cy="2520280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2381C38-79CE-C2C5-98DB-07F80EB89BD2}"/>
              </a:ext>
            </a:extLst>
          </p:cNvPr>
          <p:cNvSpPr txBox="1"/>
          <p:nvPr/>
        </p:nvSpPr>
        <p:spPr>
          <a:xfrm>
            <a:off x="539552" y="1844824"/>
            <a:ext cx="3262432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/>
              <a:t>TeX</a:t>
            </a:r>
            <a:r>
              <a:rPr kumimoji="1" lang="ja-JP" altLang="en-US" sz="2400"/>
              <a:t>ファイル</a:t>
            </a:r>
            <a:endParaRPr kumimoji="1" lang="en-US" altLang="ja-JP" sz="2400"/>
          </a:p>
          <a:p>
            <a:r>
              <a:rPr kumimoji="1" lang="en-US" altLang="ja-JP" sz="2400"/>
              <a:t>bib</a:t>
            </a:r>
            <a:r>
              <a:rPr kumimoji="1" lang="ja-JP" altLang="en-US" sz="2400"/>
              <a:t>ファイル</a:t>
            </a:r>
            <a:endParaRPr kumimoji="1" lang="en-US" altLang="ja-JP" sz="2400"/>
          </a:p>
          <a:p>
            <a:r>
              <a:rPr kumimoji="1" lang="ja-JP" altLang="en-US" sz="2400"/>
              <a:t>図のファイル</a:t>
            </a:r>
            <a:endParaRPr kumimoji="1" lang="en-US" altLang="ja-JP" sz="2400"/>
          </a:p>
          <a:p>
            <a:r>
              <a:rPr lang="ja-JP" altLang="en-US" sz="2400">
                <a:solidFill>
                  <a:srgbClr val="FF0000"/>
                </a:solidFill>
              </a:rPr>
              <a:t>図を作るためのデータ</a:t>
            </a:r>
            <a:endParaRPr lang="en-US" altLang="ja-JP" sz="2400">
              <a:solidFill>
                <a:srgbClr val="FF0000"/>
              </a:solidFill>
            </a:endParaRPr>
          </a:p>
          <a:p>
            <a:r>
              <a:rPr lang="ja-JP" altLang="en-US" sz="2400"/>
              <a:t>図を作るスクリプト等</a:t>
            </a:r>
            <a:endParaRPr kumimoji="1" lang="ja-JP" altLang="en-US" sz="240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2C55377-EF16-2FBD-5389-C6D1E3AF1A58}"/>
              </a:ext>
            </a:extLst>
          </p:cNvPr>
          <p:cNvSpPr txBox="1"/>
          <p:nvPr/>
        </p:nvSpPr>
        <p:spPr>
          <a:xfrm>
            <a:off x="611560" y="1052736"/>
            <a:ext cx="3262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/>
              <a:t>論文</a:t>
            </a:r>
            <a:r>
              <a:rPr kumimoji="1" lang="ja-JP" altLang="en-US" sz="2400"/>
              <a:t>執筆用リポジトリ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D0B2558-8C83-5ED9-03EF-1FBE47137846}"/>
              </a:ext>
            </a:extLst>
          </p:cNvPr>
          <p:cNvSpPr txBox="1"/>
          <p:nvPr/>
        </p:nvSpPr>
        <p:spPr>
          <a:xfrm>
            <a:off x="4788024" y="1052736"/>
            <a:ext cx="41857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/>
              <a:t>プログラム開発用リポジトリ</a:t>
            </a:r>
          </a:p>
        </p:txBody>
      </p:sp>
      <p:sp>
        <p:nvSpPr>
          <p:cNvPr id="7" name="角丸四角形 16">
            <a:extLst>
              <a:ext uri="{FF2B5EF4-FFF2-40B4-BE49-F238E27FC236}">
                <a16:creationId xmlns:a16="http://schemas.microsoft.com/office/drawing/2014/main" id="{9E577FC5-1E18-5BF3-75A6-B82F174DE35B}"/>
              </a:ext>
            </a:extLst>
          </p:cNvPr>
          <p:cNvSpPr/>
          <p:nvPr/>
        </p:nvSpPr>
        <p:spPr>
          <a:xfrm>
            <a:off x="5004048" y="1628800"/>
            <a:ext cx="3600400" cy="1728192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D2B51E6-2608-BC88-8608-85AFBC4CCE9E}"/>
              </a:ext>
            </a:extLst>
          </p:cNvPr>
          <p:cNvSpPr txBox="1"/>
          <p:nvPr/>
        </p:nvSpPr>
        <p:spPr>
          <a:xfrm>
            <a:off x="5076056" y="1700808"/>
            <a:ext cx="295465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/>
              <a:t>プログラムソース</a:t>
            </a:r>
            <a:endParaRPr kumimoji="1" lang="en-US" altLang="ja-JP" sz="2400"/>
          </a:p>
          <a:p>
            <a:r>
              <a:rPr lang="ja-JP" altLang="en-US" sz="2400"/>
              <a:t>インプットファイル</a:t>
            </a:r>
            <a:endParaRPr lang="en-US" altLang="ja-JP" sz="2400"/>
          </a:p>
          <a:p>
            <a:r>
              <a:rPr lang="ja-JP" altLang="en-US" sz="2400"/>
              <a:t>ジョブスクリプト等</a:t>
            </a:r>
            <a:endParaRPr lang="en-US" altLang="ja-JP" sz="240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1F1B830-D9E9-2092-1101-ABC95D4FCCF0}"/>
              </a:ext>
            </a:extLst>
          </p:cNvPr>
          <p:cNvSpPr txBox="1"/>
          <p:nvPr/>
        </p:nvSpPr>
        <p:spPr>
          <a:xfrm>
            <a:off x="179512" y="4581128"/>
            <a:ext cx="822532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/>
              <a:t>論文</a:t>
            </a:r>
            <a:r>
              <a:rPr kumimoji="1" lang="ja-JP" altLang="en-US" sz="2400"/>
              <a:t>執筆用</a:t>
            </a:r>
            <a:r>
              <a:rPr kumimoji="1" lang="ja-JP" altLang="en-US" sz="2400" dirty="0"/>
              <a:t>とプログラム開発のリポジトリ</a:t>
            </a:r>
            <a:r>
              <a:rPr lang="ja-JP" altLang="en-US" sz="2400" dirty="0"/>
              <a:t>を</a:t>
            </a:r>
            <a:r>
              <a:rPr kumimoji="1" lang="ja-JP" altLang="en-US" sz="2400" dirty="0"/>
              <a:t>分ける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出力データはプログラム開発リポジトリにいれない</a:t>
            </a:r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図を作るためのデータは卒論執筆用リポジトリに入れる</a:t>
            </a:r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大きなデータ</a:t>
            </a:r>
            <a:r>
              <a:rPr lang="en-US" altLang="ja-JP" sz="2400" dirty="0"/>
              <a:t>(</a:t>
            </a:r>
            <a:r>
              <a:rPr lang="ja-JP" altLang="en-US" sz="2400" dirty="0"/>
              <a:t>ダンプなど</a:t>
            </a:r>
            <a:r>
              <a:rPr lang="en-US" altLang="ja-JP" sz="2400" dirty="0"/>
              <a:t>)</a:t>
            </a:r>
            <a:r>
              <a:rPr lang="ja-JP" altLang="en-US" sz="2400" dirty="0"/>
              <a:t>はリポジトリに入れない</a:t>
            </a:r>
            <a:endParaRPr kumimoji="1" lang="ja-JP" altLang="en-US" sz="2400" dirty="0"/>
          </a:p>
        </p:txBody>
      </p:sp>
    </p:spTree>
    <p:extLst>
      <p:ext uri="{BB962C8B-B14F-4D97-AF65-F5344CB8AC3E}">
        <p14:creationId xmlns:p14="http://schemas.microsoft.com/office/powerpoint/2010/main" val="16412478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5210F7DB-11A3-429C-B866-7F0C5CC0B7B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まとめ</a:t>
            </a:r>
            <a:endParaRPr 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71BC6D4-76BF-4671-8D7A-34B66018A0F9}"/>
              </a:ext>
            </a:extLst>
          </p:cNvPr>
          <p:cNvSpPr txBox="1"/>
          <p:nvPr/>
        </p:nvSpPr>
        <p:spPr>
          <a:xfrm>
            <a:off x="107504" y="980728"/>
            <a:ext cx="8856984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800"/>
              <a:t>計算物理における</a:t>
            </a:r>
            <a:r>
              <a:rPr lang="en-US" altLang="ja-JP" sz="2800"/>
              <a:t>Git/GitHub</a:t>
            </a:r>
            <a:r>
              <a:rPr lang="ja-JP" altLang="en-US" sz="2800"/>
              <a:t>の用途は主にコード開発と論文執筆</a:t>
            </a:r>
            <a:endParaRPr lang="en-US" altLang="ja-JP" sz="280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800"/>
              <a:t>リモートリポジトリを使うことで、自動的にバックアップされる</a:t>
            </a:r>
            <a:endParaRPr lang="en-US" altLang="ja-JP" sz="2800"/>
          </a:p>
        </p:txBody>
      </p:sp>
    </p:spTree>
    <p:extLst>
      <p:ext uri="{BB962C8B-B14F-4D97-AF65-F5344CB8AC3E}">
        <p14:creationId xmlns:p14="http://schemas.microsoft.com/office/powerpoint/2010/main" val="708715004"/>
      </p:ext>
    </p:extLst>
  </p:cSld>
  <p:clrMapOvr>
    <a:masterClrMapping/>
  </p:clrMapOvr>
</p:sld>
</file>

<file path=ppt/theme/theme1.xml><?xml version="1.0" encoding="utf-8"?>
<a:theme xmlns:a="http://schemas.openxmlformats.org/drawingml/2006/main" name="パーセル">
  <a:themeElements>
    <a:clrScheme name="パーセル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日常使う用">
      <a:majorFont>
        <a:latin typeface="Arial"/>
        <a:ea typeface="HGｺﾞｼｯｸE"/>
        <a:cs typeface=""/>
      </a:majorFont>
      <a:minorFont>
        <a:latin typeface="Arial"/>
        <a:ea typeface="HGｺﾞｼｯｸE"/>
        <a:cs typeface=""/>
      </a:minorFont>
    </a:fontScheme>
    <a:fmtScheme name="パーセル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>
    <a:spDef>
      <a:spPr>
        <a:solidFill>
          <a:srgbClr val="FF0000"/>
        </a:solidFill>
        <a:ln>
          <a:solidFill>
            <a:schemeClr val="tx1"/>
          </a:solidFill>
        </a:ln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med" len="med"/>
          <a:tailEnd type="non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{11DA09EC-ABC8-2D40-8DBB-00E840906C4E}tf10001120</Template>
  <TotalTime>6671</TotalTime>
  <Words>254</Words>
  <Application>Microsoft Office PowerPoint</Application>
  <PresentationFormat>画面に合わせる (4:3)</PresentationFormat>
  <Paragraphs>42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8" baseType="lpstr">
      <vt:lpstr>游ゴシック</vt:lpstr>
      <vt:lpstr>Arial</vt:lpstr>
      <vt:lpstr>パーセル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watanabe</dc:creator>
  <cp:lastModifiedBy>watanabe_hiroshi@keio.jp</cp:lastModifiedBy>
  <cp:revision>1344</cp:revision>
  <dcterms:created xsi:type="dcterms:W3CDTF">2019-01-02T05:23:01Z</dcterms:created>
  <dcterms:modified xsi:type="dcterms:W3CDTF">2026-03-01T10:39:17Z</dcterms:modified>
</cp:coreProperties>
</file>