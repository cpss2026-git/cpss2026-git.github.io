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6"/>
  </p:notesMasterIdLst>
  <p:sldIdLst>
    <p:sldId id="256" r:id="rId2"/>
    <p:sldId id="302" r:id="rId3"/>
    <p:sldId id="303" r:id="rId4"/>
    <p:sldId id="294" r:id="rId5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1893"/>
    <a:srgbClr val="CCECFF"/>
    <a:srgbClr val="FFFF99"/>
    <a:srgbClr val="CCFFCC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82" autoAdjust="0"/>
    <p:restoredTop sz="94660"/>
  </p:normalViewPr>
  <p:slideViewPr>
    <p:cSldViewPr>
      <p:cViewPr varScale="1">
        <p:scale>
          <a:sx n="63" d="100"/>
          <a:sy n="63" d="100"/>
        </p:scale>
        <p:origin x="148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2" name="円/楕円 3">
            <a:extLst>
              <a:ext uri="{FF2B5EF4-FFF2-40B4-BE49-F238E27FC236}">
                <a16:creationId xmlns:a16="http://schemas.microsoft.com/office/drawing/2014/main" id="{CDE809D1-218E-63FD-91C4-D6D842E83190}"/>
              </a:ext>
            </a:extLst>
          </p:cNvPr>
          <p:cNvSpPr/>
          <p:nvPr userDrawn="1"/>
        </p:nvSpPr>
        <p:spPr>
          <a:xfrm>
            <a:off x="8497721" y="6230795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EF23ED-679B-AFA5-F04F-AB60A05DB698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6" name="弦 5">
            <a:extLst>
              <a:ext uri="{FF2B5EF4-FFF2-40B4-BE49-F238E27FC236}">
                <a16:creationId xmlns:a16="http://schemas.microsoft.com/office/drawing/2014/main" id="{9B103AC7-3AF9-2CD8-494E-153643B2A8AA}"/>
              </a:ext>
            </a:extLst>
          </p:cNvPr>
          <p:cNvSpPr/>
          <p:nvPr userDrawn="1"/>
        </p:nvSpPr>
        <p:spPr>
          <a:xfrm rot="16200000">
            <a:off x="8491626" y="6224701"/>
            <a:ext cx="588253" cy="576063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3401ADB-CCC7-F2A7-92C7-0B2285D8DE9C}"/>
              </a:ext>
            </a:extLst>
          </p:cNvPr>
          <p:cNvSpPr txBox="1"/>
          <p:nvPr userDrawn="1"/>
        </p:nvSpPr>
        <p:spPr>
          <a:xfrm>
            <a:off x="8596070" y="6442913"/>
            <a:ext cx="49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/>
              <a:t>26</a:t>
            </a:r>
            <a:endParaRPr kumimoji="1"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>
                <a:solidFill>
                  <a:srgbClr val="011893"/>
                </a:solidFill>
              </a:rPr>
              <a:t>計算物理における</a:t>
            </a:r>
            <a:r>
              <a:rPr lang="en-US" altLang="ja-JP" sz="4000">
                <a:solidFill>
                  <a:srgbClr val="011893"/>
                </a:solidFill>
              </a:rPr>
              <a:t>Git</a:t>
            </a:r>
            <a:r>
              <a:rPr lang="ja-JP" altLang="en-US" sz="4000">
                <a:solidFill>
                  <a:srgbClr val="011893"/>
                </a:solidFill>
              </a:rPr>
              <a:t>の使い方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6363B4-E307-15CC-2651-71CE69E71BC4}"/>
              </a:ext>
            </a:extLst>
          </p:cNvPr>
          <p:cNvSpPr txBox="1"/>
          <p:nvPr/>
        </p:nvSpPr>
        <p:spPr>
          <a:xfrm>
            <a:off x="0" y="651944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619ADBA-8F49-D055-5351-79B070333B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計算物理における</a:t>
            </a:r>
            <a:r>
              <a:rPr kumimoji="1" lang="en-US" altLang="ja-JP"/>
              <a:t>Git</a:t>
            </a:r>
            <a:r>
              <a:rPr lang="ja-JP" altLang="en-US"/>
              <a:t>の使い道</a:t>
            </a:r>
            <a:r>
              <a:rPr lang="en-US" altLang="ja-JP"/>
              <a:t>(</a:t>
            </a:r>
            <a:r>
              <a:rPr lang="ja-JP" altLang="en-US"/>
              <a:t>例</a:t>
            </a:r>
            <a:r>
              <a:rPr lang="en-US" altLang="ja-JP"/>
              <a:t>)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28673F-4C95-D263-3625-008AE5880487}"/>
              </a:ext>
            </a:extLst>
          </p:cNvPr>
          <p:cNvSpPr txBox="1"/>
          <p:nvPr/>
        </p:nvSpPr>
        <p:spPr>
          <a:xfrm>
            <a:off x="179512" y="1196752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コード開発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9E54984-36AC-7CFA-3128-8A6F28537200}"/>
              </a:ext>
            </a:extLst>
          </p:cNvPr>
          <p:cNvSpPr txBox="1"/>
          <p:nvPr/>
        </p:nvSpPr>
        <p:spPr>
          <a:xfrm>
            <a:off x="899592" y="1844824"/>
            <a:ext cx="675056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開発するコードを</a:t>
            </a:r>
            <a:r>
              <a:rPr kumimoji="1" lang="en-US" altLang="ja-JP" sz="3200"/>
              <a:t>Git</a:t>
            </a:r>
            <a:r>
              <a:rPr kumimoji="1" lang="ja-JP" altLang="en-US" sz="3200"/>
              <a:t>で管理</a:t>
            </a:r>
            <a:endParaRPr lang="en-US" altLang="ja-JP" sz="3200"/>
          </a:p>
          <a:p>
            <a:r>
              <a:rPr lang="ja-JP" altLang="en-US" sz="3200"/>
              <a:t>ローカルでのデバッグ</a:t>
            </a:r>
            <a:endParaRPr lang="en-US" altLang="ja-JP" sz="3200"/>
          </a:p>
          <a:p>
            <a:r>
              <a:rPr kumimoji="1" lang="ja-JP" altLang="en-US" sz="3200"/>
              <a:t>計算サーバやスパコンでコード共有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A9B58-0098-C03A-5ABF-83B743FF1FDB}"/>
              </a:ext>
            </a:extLst>
          </p:cNvPr>
          <p:cNvSpPr txBox="1"/>
          <p:nvPr/>
        </p:nvSpPr>
        <p:spPr>
          <a:xfrm>
            <a:off x="179512" y="3717032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論文執筆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A1DCA10-AD10-2440-0665-5CBFE2A1C590}"/>
              </a:ext>
            </a:extLst>
          </p:cNvPr>
          <p:cNvSpPr txBox="1"/>
          <p:nvPr/>
        </p:nvSpPr>
        <p:spPr>
          <a:xfrm>
            <a:off x="899592" y="4509120"/>
            <a:ext cx="675056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開発するコードを</a:t>
            </a:r>
            <a:r>
              <a:rPr kumimoji="1" lang="en-US" altLang="ja-JP" sz="3200"/>
              <a:t>Git</a:t>
            </a:r>
            <a:r>
              <a:rPr kumimoji="1" lang="ja-JP" altLang="en-US" sz="3200"/>
              <a:t>で管理</a:t>
            </a:r>
            <a:endParaRPr lang="en-US" altLang="ja-JP" sz="3200"/>
          </a:p>
          <a:p>
            <a:r>
              <a:rPr lang="ja-JP" altLang="en-US" sz="3200"/>
              <a:t>ローカルでのデバッグ</a:t>
            </a:r>
            <a:endParaRPr lang="en-US" altLang="ja-JP" sz="3200"/>
          </a:p>
          <a:p>
            <a:r>
              <a:rPr kumimoji="1" lang="ja-JP" altLang="en-US" sz="3200"/>
              <a:t>計算サーバやスパコンでコード共有</a:t>
            </a:r>
          </a:p>
        </p:txBody>
      </p:sp>
    </p:spTree>
    <p:extLst>
      <p:ext uri="{BB962C8B-B14F-4D97-AF65-F5344CB8AC3E}">
        <p14:creationId xmlns:p14="http://schemas.microsoft.com/office/powerpoint/2010/main" val="1936116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A141EFB-397F-1633-869B-5D1D595690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/>
              <a:t>Git/GitHub</a:t>
            </a:r>
            <a:r>
              <a:rPr lang="ja-JP" altLang="en-US"/>
              <a:t>による論文執筆管理</a:t>
            </a:r>
          </a:p>
        </p:txBody>
      </p:sp>
      <p:sp>
        <p:nvSpPr>
          <p:cNvPr id="3" name="角丸四角形 5">
            <a:extLst>
              <a:ext uri="{FF2B5EF4-FFF2-40B4-BE49-F238E27FC236}">
                <a16:creationId xmlns:a16="http://schemas.microsoft.com/office/drawing/2014/main" id="{48070490-36A2-BBEE-E2FD-0CAC03CBBECA}"/>
              </a:ext>
            </a:extLst>
          </p:cNvPr>
          <p:cNvSpPr/>
          <p:nvPr/>
        </p:nvSpPr>
        <p:spPr>
          <a:xfrm>
            <a:off x="323528" y="1628800"/>
            <a:ext cx="3600400" cy="252028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2381C38-79CE-C2C5-98DB-07F80EB89BD2}"/>
              </a:ext>
            </a:extLst>
          </p:cNvPr>
          <p:cNvSpPr txBox="1"/>
          <p:nvPr/>
        </p:nvSpPr>
        <p:spPr>
          <a:xfrm>
            <a:off x="539552" y="1844824"/>
            <a:ext cx="32624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TeX</a:t>
            </a:r>
            <a:r>
              <a:rPr kumimoji="1" lang="ja-JP" altLang="en-US" sz="2400"/>
              <a:t>ファイル</a:t>
            </a:r>
            <a:endParaRPr kumimoji="1" lang="en-US" altLang="ja-JP" sz="2400"/>
          </a:p>
          <a:p>
            <a:r>
              <a:rPr kumimoji="1" lang="en-US" altLang="ja-JP" sz="2400"/>
              <a:t>bib</a:t>
            </a:r>
            <a:r>
              <a:rPr kumimoji="1" lang="ja-JP" altLang="en-US" sz="2400"/>
              <a:t>ファイル</a:t>
            </a:r>
            <a:endParaRPr kumimoji="1" lang="en-US" altLang="ja-JP" sz="2400"/>
          </a:p>
          <a:p>
            <a:r>
              <a:rPr kumimoji="1" lang="ja-JP" altLang="en-US" sz="2400"/>
              <a:t>図のファイル</a:t>
            </a:r>
            <a:endParaRPr kumimoji="1" lang="en-US" altLang="ja-JP" sz="2400"/>
          </a:p>
          <a:p>
            <a:r>
              <a:rPr lang="ja-JP" altLang="en-US" sz="2400">
                <a:solidFill>
                  <a:srgbClr val="FF0000"/>
                </a:solidFill>
              </a:rPr>
              <a:t>図を作るためのデータ</a:t>
            </a:r>
            <a:endParaRPr lang="en-US" altLang="ja-JP" sz="2400">
              <a:solidFill>
                <a:srgbClr val="FF0000"/>
              </a:solidFill>
            </a:endParaRPr>
          </a:p>
          <a:p>
            <a:r>
              <a:rPr lang="ja-JP" altLang="en-US" sz="2400"/>
              <a:t>図を作るスクリプト等</a:t>
            </a:r>
            <a:endParaRPr kumimoji="1" lang="ja-JP" alt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C55377-EF16-2FBD-5389-C6D1E3AF1A58}"/>
              </a:ext>
            </a:extLst>
          </p:cNvPr>
          <p:cNvSpPr txBox="1"/>
          <p:nvPr/>
        </p:nvSpPr>
        <p:spPr>
          <a:xfrm>
            <a:off x="611560" y="105273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論文</a:t>
            </a:r>
            <a:r>
              <a:rPr kumimoji="1" lang="ja-JP" altLang="en-US" sz="2400"/>
              <a:t>執筆用リポジトリ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D0B2558-8C83-5ED9-03EF-1FBE47137846}"/>
              </a:ext>
            </a:extLst>
          </p:cNvPr>
          <p:cNvSpPr txBox="1"/>
          <p:nvPr/>
        </p:nvSpPr>
        <p:spPr>
          <a:xfrm>
            <a:off x="4788024" y="1052736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プログラム開発用リポジトリ</a:t>
            </a:r>
          </a:p>
        </p:txBody>
      </p:sp>
      <p:sp>
        <p:nvSpPr>
          <p:cNvPr id="7" name="角丸四角形 16">
            <a:extLst>
              <a:ext uri="{FF2B5EF4-FFF2-40B4-BE49-F238E27FC236}">
                <a16:creationId xmlns:a16="http://schemas.microsoft.com/office/drawing/2014/main" id="{9E577FC5-1E18-5BF3-75A6-B82F174DE35B}"/>
              </a:ext>
            </a:extLst>
          </p:cNvPr>
          <p:cNvSpPr/>
          <p:nvPr/>
        </p:nvSpPr>
        <p:spPr>
          <a:xfrm>
            <a:off x="5004048" y="1628800"/>
            <a:ext cx="3600400" cy="172819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D2B51E6-2608-BC88-8608-85AFBC4CCE9E}"/>
              </a:ext>
            </a:extLst>
          </p:cNvPr>
          <p:cNvSpPr txBox="1"/>
          <p:nvPr/>
        </p:nvSpPr>
        <p:spPr>
          <a:xfrm>
            <a:off x="5076056" y="1700808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プログラムソース</a:t>
            </a:r>
            <a:endParaRPr kumimoji="1" lang="en-US" altLang="ja-JP" sz="2400"/>
          </a:p>
          <a:p>
            <a:r>
              <a:rPr lang="ja-JP" altLang="en-US" sz="2400"/>
              <a:t>インプットファイル</a:t>
            </a:r>
            <a:endParaRPr lang="en-US" altLang="ja-JP" sz="2400"/>
          </a:p>
          <a:p>
            <a:r>
              <a:rPr lang="ja-JP" altLang="en-US" sz="2400"/>
              <a:t>ジョブスクリプト等</a:t>
            </a:r>
            <a:endParaRPr lang="en-US" altLang="ja-JP" sz="24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1F1B830-D9E9-2092-1101-ABC95D4FCCF0}"/>
              </a:ext>
            </a:extLst>
          </p:cNvPr>
          <p:cNvSpPr txBox="1"/>
          <p:nvPr/>
        </p:nvSpPr>
        <p:spPr>
          <a:xfrm>
            <a:off x="179512" y="4581128"/>
            <a:ext cx="82253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論文</a:t>
            </a:r>
            <a:r>
              <a:rPr kumimoji="1" lang="ja-JP" altLang="en-US" sz="2400"/>
              <a:t>執筆用</a:t>
            </a:r>
            <a:r>
              <a:rPr kumimoji="1" lang="ja-JP" altLang="en-US" sz="2400" dirty="0"/>
              <a:t>とプログラム開発のリポジトリ</a:t>
            </a:r>
            <a:r>
              <a:rPr lang="ja-JP" altLang="en-US" sz="2400" dirty="0"/>
              <a:t>を</a:t>
            </a:r>
            <a:r>
              <a:rPr kumimoji="1" lang="ja-JP" altLang="en-US" sz="2400" dirty="0"/>
              <a:t>分ける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出力データはプログラム開発リポジトリにいれない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図を作るためのデータは卒論執筆用リポジトリに入れる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大きなデータ</a:t>
            </a:r>
            <a:r>
              <a:rPr lang="en-US" altLang="ja-JP" sz="2400" dirty="0"/>
              <a:t>(</a:t>
            </a:r>
            <a:r>
              <a:rPr lang="ja-JP" altLang="en-US" sz="2400" dirty="0"/>
              <a:t>ダンプなど</a:t>
            </a:r>
            <a:r>
              <a:rPr lang="en-US" altLang="ja-JP" sz="2400" dirty="0"/>
              <a:t>)</a:t>
            </a:r>
            <a:r>
              <a:rPr lang="ja-JP" altLang="en-US" sz="2400" dirty="0"/>
              <a:t>はリポジトリに入れない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641247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210F7DB-11A3-429C-B866-7F0C5CC0B7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1BC6D4-76BF-4671-8D7A-34B66018A0F9}"/>
              </a:ext>
            </a:extLst>
          </p:cNvPr>
          <p:cNvSpPr txBox="1"/>
          <p:nvPr/>
        </p:nvSpPr>
        <p:spPr>
          <a:xfrm>
            <a:off x="107504" y="980728"/>
            <a:ext cx="88569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計算物理における</a:t>
            </a:r>
            <a:r>
              <a:rPr lang="en-US" altLang="ja-JP" sz="2800"/>
              <a:t>Git/GitHub</a:t>
            </a:r>
            <a:r>
              <a:rPr lang="ja-JP" altLang="en-US" sz="2800"/>
              <a:t>の用途は主にコード開発と論文執筆</a:t>
            </a:r>
            <a:endParaRPr lang="en-US" altLang="ja-JP" sz="28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リモートリポジトリを使うことで、自動的にバックアップされる</a:t>
            </a:r>
            <a:endParaRPr lang="en-US" altLang="ja-JP" sz="2800"/>
          </a:p>
        </p:txBody>
      </p:sp>
    </p:spTree>
    <p:extLst>
      <p:ext uri="{BB962C8B-B14F-4D97-AF65-F5344CB8AC3E}">
        <p14:creationId xmlns:p14="http://schemas.microsoft.com/office/powerpoint/2010/main" val="708715004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パーセル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6661</TotalTime>
  <Words>192</Words>
  <Application>Microsoft Office PowerPoint</Application>
  <PresentationFormat>画面に合わせる (4:3)</PresentationFormat>
  <Paragraphs>31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游ゴシック</vt:lpstr>
      <vt:lpstr>Arial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1342</cp:revision>
  <dcterms:created xsi:type="dcterms:W3CDTF">2019-01-02T05:23:01Z</dcterms:created>
  <dcterms:modified xsi:type="dcterms:W3CDTF">2026-03-01T10:06:33Z</dcterms:modified>
</cp:coreProperties>
</file>