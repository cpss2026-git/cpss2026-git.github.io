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3" r:id="rId1"/>
  </p:sldMasterIdLst>
  <p:notesMasterIdLst>
    <p:notesMasterId r:id="rId25"/>
  </p:notesMasterIdLst>
  <p:sldIdLst>
    <p:sldId id="256" r:id="rId2"/>
    <p:sldId id="274" r:id="rId3"/>
    <p:sldId id="276" r:id="rId4"/>
    <p:sldId id="298" r:id="rId5"/>
    <p:sldId id="296" r:id="rId6"/>
    <p:sldId id="277" r:id="rId7"/>
    <p:sldId id="289" r:id="rId8"/>
    <p:sldId id="290" r:id="rId9"/>
    <p:sldId id="291" r:id="rId10"/>
    <p:sldId id="292" r:id="rId11"/>
    <p:sldId id="293" r:id="rId12"/>
    <p:sldId id="278" r:id="rId13"/>
    <p:sldId id="295" r:id="rId14"/>
    <p:sldId id="281" r:id="rId15"/>
    <p:sldId id="283" r:id="rId16"/>
    <p:sldId id="284" r:id="rId17"/>
    <p:sldId id="286" r:id="rId18"/>
    <p:sldId id="285" r:id="rId19"/>
    <p:sldId id="287" r:id="rId20"/>
    <p:sldId id="282" r:id="rId21"/>
    <p:sldId id="297" r:id="rId22"/>
    <p:sldId id="288" r:id="rId23"/>
    <p:sldId id="294" r:id="rId24"/>
  </p:sldIdLst>
  <p:sldSz cx="9144000" cy="6858000" type="screen4x3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1893"/>
    <a:srgbClr val="CCECFF"/>
    <a:srgbClr val="FFFF99"/>
    <a:srgbClr val="CCFFCC"/>
    <a:srgbClr val="FFCCCC"/>
    <a:srgbClr val="FF8AD8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淡色スタイル 1 - アクセント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 horzBarState="maximized">
    <p:restoredLeft sz="12982" autoAdjust="0"/>
    <p:restoredTop sz="94660"/>
  </p:normalViewPr>
  <p:slideViewPr>
    <p:cSldViewPr>
      <p:cViewPr varScale="1">
        <p:scale>
          <a:sx n="147" d="100"/>
          <a:sy n="147" d="100"/>
        </p:scale>
        <p:origin x="76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B8D1B20-A248-FB47-8240-73C0C5F47C9D}" type="datetimeFigureOut">
              <a:t>2026/2/27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kumimoji="1" lang="ja-JP" altLang="en-US"/>
              <a:t>マスター テキストの書式設定
第 </a:t>
            </a:r>
            <a:r>
              <a:rPr kumimoji="1" lang="en-US" altLang="ja-JP"/>
              <a:t>2 </a:t>
            </a:r>
            <a:r>
              <a:rPr kumimoji="1" lang="ja-JP" altLang="en-US"/>
              <a:t>レベル
第 </a:t>
            </a:r>
            <a:r>
              <a:rPr kumimoji="1" lang="en-US" altLang="ja-JP"/>
              <a:t>3 </a:t>
            </a:r>
            <a:r>
              <a:rPr kumimoji="1" lang="ja-JP" altLang="en-US"/>
              <a:t>レベル
第 </a:t>
            </a:r>
            <a:r>
              <a:rPr kumimoji="1" lang="en-US" altLang="ja-JP"/>
              <a:t>4 </a:t>
            </a:r>
            <a:r>
              <a:rPr kumimoji="1" lang="ja-JP" altLang="en-US"/>
              <a:t>レベル
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FA746F-AF1F-C048-A2ED-B38EF01E9631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976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プレースホルダー 6">
            <a:extLst>
              <a:ext uri="{FF2B5EF4-FFF2-40B4-BE49-F238E27FC236}">
                <a16:creationId xmlns:a16="http://schemas.microsoft.com/office/drawing/2014/main" id="{1977278B-6103-7448-8885-11FCA29D84A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0" y="190133"/>
            <a:ext cx="9144000" cy="7540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4000">
                <a:ln>
                  <a:solidFill>
                    <a:srgbClr val="011893"/>
                  </a:solidFill>
                </a:ln>
              </a:defRPr>
            </a:lvl1pPr>
          </a:lstStyle>
          <a:p>
            <a:endParaRPr kumimoji="1" lang="ja-JP" altLang="en-US"/>
          </a:p>
        </p:txBody>
      </p:sp>
      <p:sp>
        <p:nvSpPr>
          <p:cNvPr id="2" name="円/楕円 3">
            <a:extLst>
              <a:ext uri="{FF2B5EF4-FFF2-40B4-BE49-F238E27FC236}">
                <a16:creationId xmlns:a16="http://schemas.microsoft.com/office/drawing/2014/main" id="{CDE809D1-218E-63FD-91C4-D6D842E83190}"/>
              </a:ext>
            </a:extLst>
          </p:cNvPr>
          <p:cNvSpPr/>
          <p:nvPr userDrawn="1"/>
        </p:nvSpPr>
        <p:spPr>
          <a:xfrm>
            <a:off x="8497721" y="6230795"/>
            <a:ext cx="531173" cy="531173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50">
              <a:latin typeface="+mj-ea"/>
              <a:ea typeface="+mj-ea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DEF23ED-679B-AFA5-F04F-AB60A05DB698}"/>
              </a:ext>
            </a:extLst>
          </p:cNvPr>
          <p:cNvSpPr txBox="1"/>
          <p:nvPr userDrawn="1"/>
        </p:nvSpPr>
        <p:spPr>
          <a:xfrm>
            <a:off x="8491428" y="6270575"/>
            <a:ext cx="4010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fld id="{E8E17320-8F29-C346-80F3-7693511BE498}" type="slidenum">
              <a:rPr kumimoji="1" lang="ja-JP" altLang="en-US" sz="1400"/>
              <a:pPr algn="ctr"/>
              <a:t>‹#›</a:t>
            </a:fld>
            <a:endParaRPr kumimoji="1" lang="ja-JP" altLang="en-US" sz="1400" dirty="0"/>
          </a:p>
        </p:txBody>
      </p:sp>
      <p:sp>
        <p:nvSpPr>
          <p:cNvPr id="6" name="弦 5">
            <a:extLst>
              <a:ext uri="{FF2B5EF4-FFF2-40B4-BE49-F238E27FC236}">
                <a16:creationId xmlns:a16="http://schemas.microsoft.com/office/drawing/2014/main" id="{9B103AC7-3AF9-2CD8-494E-153643B2A8AA}"/>
              </a:ext>
            </a:extLst>
          </p:cNvPr>
          <p:cNvSpPr/>
          <p:nvPr userDrawn="1"/>
        </p:nvSpPr>
        <p:spPr>
          <a:xfrm rot="16200000">
            <a:off x="8491626" y="6224701"/>
            <a:ext cx="588253" cy="576063"/>
          </a:xfrm>
          <a:prstGeom prst="chord">
            <a:avLst>
              <a:gd name="adj1" fmla="val 2700000"/>
              <a:gd name="adj2" fmla="val 14142403"/>
            </a:avLst>
          </a:prstGeom>
          <a:solidFill>
            <a:schemeClr val="bg1">
              <a:lumMod val="65000"/>
            </a:schemeClr>
          </a:solidFill>
          <a:ln>
            <a:noFill/>
          </a:ln>
          <a:effectLst>
            <a:softEdge rad="317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3401ADB-CCC7-F2A7-92C7-0B2285D8DE9C}"/>
              </a:ext>
            </a:extLst>
          </p:cNvPr>
          <p:cNvSpPr txBox="1"/>
          <p:nvPr userDrawn="1"/>
        </p:nvSpPr>
        <p:spPr>
          <a:xfrm>
            <a:off x="8596070" y="6442913"/>
            <a:ext cx="496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400" dirty="0"/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384781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49306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</p:sldLayoutIdLst>
  <p:hf hdr="0" ft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kumimoji="1"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kumimoji="1"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4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6C4099E-EB60-DC4F-967D-225ED88E614D}"/>
              </a:ext>
            </a:extLst>
          </p:cNvPr>
          <p:cNvSpPr txBox="1"/>
          <p:nvPr/>
        </p:nvSpPr>
        <p:spPr>
          <a:xfrm>
            <a:off x="107504" y="1268760"/>
            <a:ext cx="889248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4000" dirty="0">
                <a:solidFill>
                  <a:srgbClr val="011893"/>
                </a:solidFill>
              </a:rPr>
              <a:t>バージョン管理とは</a:t>
            </a:r>
            <a:endParaRPr lang="en-US" altLang="ja-JP" sz="4000" dirty="0">
              <a:solidFill>
                <a:srgbClr val="011893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F6FF3F0-B80E-4A32-A410-E1A4C3A7A116}"/>
              </a:ext>
            </a:extLst>
          </p:cNvPr>
          <p:cNvSpPr txBox="1"/>
          <p:nvPr/>
        </p:nvSpPr>
        <p:spPr>
          <a:xfrm>
            <a:off x="3704546" y="5314568"/>
            <a:ext cx="54168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慶應義塾大学理工学部物理情報工学科</a:t>
            </a:r>
            <a:endParaRPr lang="en-US" altLang="ja-JP" sz="2400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4A82E08-1852-476D-B582-C7C001BDD60A}"/>
              </a:ext>
            </a:extLst>
          </p:cNvPr>
          <p:cNvSpPr txBox="1"/>
          <p:nvPr/>
        </p:nvSpPr>
        <p:spPr>
          <a:xfrm>
            <a:off x="8249826" y="573325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渡辺</a:t>
            </a:r>
            <a:endParaRPr lang="en-US" altLang="ja-JP" sz="2400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C6363B4-E307-15CC-2651-71CE69E71BC4}"/>
              </a:ext>
            </a:extLst>
          </p:cNvPr>
          <p:cNvSpPr txBox="1"/>
          <p:nvPr/>
        </p:nvSpPr>
        <p:spPr>
          <a:xfrm>
            <a:off x="0" y="6519446"/>
            <a:ext cx="72635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600" dirty="0"/>
              <a:t>2026</a:t>
            </a:r>
            <a:r>
              <a:rPr kumimoji="1" lang="ja-JP" altLang="en-US" sz="1600"/>
              <a:t>年</a:t>
            </a:r>
            <a:r>
              <a:rPr kumimoji="1" lang="en-US" altLang="ja-JP" sz="1600" dirty="0"/>
              <a:t>3</a:t>
            </a:r>
            <a:r>
              <a:rPr kumimoji="1" lang="ja-JP" altLang="en-US" sz="1600"/>
              <a:t>月</a:t>
            </a:r>
            <a:r>
              <a:rPr kumimoji="1" lang="en-US" altLang="ja-JP" sz="1600" dirty="0"/>
              <a:t>9</a:t>
            </a:r>
            <a:r>
              <a:rPr kumimoji="1" lang="ja-JP" altLang="en-US" sz="1600"/>
              <a:t>日</a:t>
            </a:r>
            <a:r>
              <a:rPr kumimoji="1" lang="en-US" altLang="ja-JP" sz="1600" dirty="0"/>
              <a:t> </a:t>
            </a:r>
            <a:r>
              <a:rPr kumimoji="1" lang="ja-JP" altLang="en-US" sz="1600"/>
              <a:t>計算物理春の学校</a:t>
            </a:r>
            <a:r>
              <a:rPr kumimoji="1" lang="en-US" altLang="ja-JP" sz="1600" dirty="0"/>
              <a:t>2026</a:t>
            </a:r>
            <a:r>
              <a:rPr kumimoji="1" lang="ja-JP" altLang="en-US" sz="1600"/>
              <a:t>「計算物理屋のための</a:t>
            </a:r>
            <a:r>
              <a:rPr kumimoji="1" lang="en-US" altLang="ja-JP" sz="1600" dirty="0"/>
              <a:t>Git/GitHub</a:t>
            </a:r>
            <a:r>
              <a:rPr kumimoji="1" lang="ja-JP" altLang="en-US" sz="1600"/>
              <a:t>入門」</a:t>
            </a:r>
          </a:p>
        </p:txBody>
      </p:sp>
    </p:spTree>
    <p:extLst>
      <p:ext uri="{BB962C8B-B14F-4D97-AF65-F5344CB8AC3E}">
        <p14:creationId xmlns:p14="http://schemas.microsoft.com/office/powerpoint/2010/main" val="407953392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8C4BE27-0953-4591-A77E-4A66CC690E0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バージョンを管理するということ</a:t>
            </a:r>
            <a:endParaRPr kumimoji="1" lang="ja-JP" altLang="en-US" dirty="0"/>
          </a:p>
        </p:txBody>
      </p:sp>
      <p:pic>
        <p:nvPicPr>
          <p:cNvPr id="1034" name="Picture 10" descr="パソコンを使う会社員のイラスト（男性・笑顔）">
            <a:extLst>
              <a:ext uri="{FF2B5EF4-FFF2-40B4-BE49-F238E27FC236}">
                <a16:creationId xmlns:a16="http://schemas.microsoft.com/office/drawing/2014/main" id="{C19E5CC8-555F-44FD-A2F6-4C7B76C052A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4234439"/>
            <a:ext cx="850171" cy="12346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パソコンを使う会社員のイラスト（男性・怒った顔）">
            <a:extLst>
              <a:ext uri="{FF2B5EF4-FFF2-40B4-BE49-F238E27FC236}">
                <a16:creationId xmlns:a16="http://schemas.microsoft.com/office/drawing/2014/main" id="{29D361C8-32D7-4565-BF59-903FA5346A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3928" y="4293096"/>
            <a:ext cx="800684" cy="116281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ノートパソコンのキャラクター（笑顔）">
            <a:extLst>
              <a:ext uri="{FF2B5EF4-FFF2-40B4-BE49-F238E27FC236}">
                <a16:creationId xmlns:a16="http://schemas.microsoft.com/office/drawing/2014/main" id="{90148B63-9254-46AE-9085-E0ECB7BABC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79712" y="1988840"/>
            <a:ext cx="1296144" cy="1211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110726-C59B-40EC-8D36-DB48706FF173}"/>
              </a:ext>
            </a:extLst>
          </p:cNvPr>
          <p:cNvSpPr txBox="1"/>
          <p:nvPr/>
        </p:nvSpPr>
        <p:spPr>
          <a:xfrm>
            <a:off x="2195736" y="321297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実行</a:t>
            </a:r>
            <a:endParaRPr kumimoji="1" lang="ja-JP" altLang="en-US" sz="28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39119F40-FF6B-44E2-8255-959E11EEBA48}"/>
              </a:ext>
            </a:extLst>
          </p:cNvPr>
          <p:cNvSpPr txBox="1"/>
          <p:nvPr/>
        </p:nvSpPr>
        <p:spPr>
          <a:xfrm>
            <a:off x="539552" y="5439637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開発</a:t>
            </a:r>
            <a:endParaRPr kumimoji="1" lang="ja-JP" altLang="en-US" sz="2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555866E-DCB5-4F69-B3B8-BD8293C731AA}"/>
              </a:ext>
            </a:extLst>
          </p:cNvPr>
          <p:cNvSpPr txBox="1"/>
          <p:nvPr/>
        </p:nvSpPr>
        <p:spPr>
          <a:xfrm>
            <a:off x="3635896" y="5445224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デバッグ</a:t>
            </a:r>
            <a:endParaRPr kumimoji="1" lang="ja-JP" altLang="en-US" sz="2800" dirty="0"/>
          </a:p>
        </p:txBody>
      </p:sp>
      <p:sp>
        <p:nvSpPr>
          <p:cNvPr id="5" name="矢印: 下 4">
            <a:extLst>
              <a:ext uri="{FF2B5EF4-FFF2-40B4-BE49-F238E27FC236}">
                <a16:creationId xmlns:a16="http://schemas.microsoft.com/office/drawing/2014/main" id="{53EA26A2-9114-49D6-8CB8-E74B0AF76B5C}"/>
              </a:ext>
            </a:extLst>
          </p:cNvPr>
          <p:cNvSpPr/>
          <p:nvPr/>
        </p:nvSpPr>
        <p:spPr>
          <a:xfrm rot="2700000">
            <a:off x="1332432" y="3372637"/>
            <a:ext cx="504056" cy="618368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矢印: 下 14">
            <a:extLst>
              <a:ext uri="{FF2B5EF4-FFF2-40B4-BE49-F238E27FC236}">
                <a16:creationId xmlns:a16="http://schemas.microsoft.com/office/drawing/2014/main" id="{F21E51E4-A8B1-4A8F-9D7E-14B0CFED8318}"/>
              </a:ext>
            </a:extLst>
          </p:cNvPr>
          <p:cNvSpPr/>
          <p:nvPr/>
        </p:nvSpPr>
        <p:spPr>
          <a:xfrm rot="16200000">
            <a:off x="2396908" y="5172044"/>
            <a:ext cx="504056" cy="618368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A84D48F6-840A-4DE6-A03A-5C8122DEF969}"/>
              </a:ext>
            </a:extLst>
          </p:cNvPr>
          <p:cNvSpPr/>
          <p:nvPr/>
        </p:nvSpPr>
        <p:spPr>
          <a:xfrm rot="8100000">
            <a:off x="3564680" y="3300629"/>
            <a:ext cx="504056" cy="618368"/>
          </a:xfrm>
          <a:prstGeom prst="down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7" name="Picture 6" descr="作文の添削をしている先生のイラスト（男性）">
            <a:extLst>
              <a:ext uri="{FF2B5EF4-FFF2-40B4-BE49-F238E27FC236}">
                <a16:creationId xmlns:a16="http://schemas.microsoft.com/office/drawing/2014/main" id="{3CF1DA45-B532-49C0-B4ED-9A1B0843FF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0232" y="1916832"/>
            <a:ext cx="1080120" cy="12896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Picture 2" descr="読書感想文を書く男の子のイラスト">
            <a:extLst>
              <a:ext uri="{FF2B5EF4-FFF2-40B4-BE49-F238E27FC236}">
                <a16:creationId xmlns:a16="http://schemas.microsoft.com/office/drawing/2014/main" id="{90A7C53A-C621-438B-A31E-680D37172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60232" y="4293096"/>
            <a:ext cx="1222010" cy="12897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2D7F916-7104-407D-A595-51543E1B2866}"/>
              </a:ext>
            </a:extLst>
          </p:cNvPr>
          <p:cNvSpPr txBox="1"/>
          <p:nvPr/>
        </p:nvSpPr>
        <p:spPr>
          <a:xfrm>
            <a:off x="1331640" y="6237312"/>
            <a:ext cx="664797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800" dirty="0"/>
              <a:t>多くの知的生産活動は、修正を繰り返す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534F153-3A30-4062-80AB-C30E6D3D9F1F}"/>
              </a:ext>
            </a:extLst>
          </p:cNvPr>
          <p:cNvSpPr txBox="1"/>
          <p:nvPr/>
        </p:nvSpPr>
        <p:spPr>
          <a:xfrm>
            <a:off x="6804248" y="5589240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 dirty="0"/>
              <a:t>執筆</a:t>
            </a:r>
            <a:endParaRPr kumimoji="1" lang="ja-JP" altLang="en-US" sz="2800" dirty="0"/>
          </a:p>
        </p:txBody>
      </p:sp>
      <p:sp>
        <p:nvSpPr>
          <p:cNvPr id="6" name="矢印: 右カーブ 5">
            <a:extLst>
              <a:ext uri="{FF2B5EF4-FFF2-40B4-BE49-F238E27FC236}">
                <a16:creationId xmlns:a16="http://schemas.microsoft.com/office/drawing/2014/main" id="{0435D55A-71AE-425D-8FF7-3D66C9D01B9E}"/>
              </a:ext>
            </a:extLst>
          </p:cNvPr>
          <p:cNvSpPr/>
          <p:nvPr/>
        </p:nvSpPr>
        <p:spPr>
          <a:xfrm>
            <a:off x="6084168" y="3140968"/>
            <a:ext cx="504056" cy="1360168"/>
          </a:xfrm>
          <a:prstGeom prst="curved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2" name="矢印: 右カーブ 21">
            <a:extLst>
              <a:ext uri="{FF2B5EF4-FFF2-40B4-BE49-F238E27FC236}">
                <a16:creationId xmlns:a16="http://schemas.microsoft.com/office/drawing/2014/main" id="{CD013CB6-5BAB-466B-AD1F-0D59530D21E2}"/>
              </a:ext>
            </a:extLst>
          </p:cNvPr>
          <p:cNvSpPr/>
          <p:nvPr/>
        </p:nvSpPr>
        <p:spPr>
          <a:xfrm rot="10800000">
            <a:off x="7884368" y="3068960"/>
            <a:ext cx="504056" cy="1360168"/>
          </a:xfrm>
          <a:prstGeom prst="curved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tx1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5C5C9915-9979-4836-A8A6-35620A9723F1}"/>
              </a:ext>
            </a:extLst>
          </p:cNvPr>
          <p:cNvSpPr txBox="1"/>
          <p:nvPr/>
        </p:nvSpPr>
        <p:spPr>
          <a:xfrm>
            <a:off x="6804248" y="3140968"/>
            <a:ext cx="108011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dirty="0"/>
              <a:t>添削</a:t>
            </a:r>
            <a:endParaRPr kumimoji="1" lang="ja-JP" altLang="en-US" sz="28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B1C9387-1A78-4F46-953C-6B931F990022}"/>
              </a:ext>
            </a:extLst>
          </p:cNvPr>
          <p:cNvSpPr txBox="1"/>
          <p:nvPr/>
        </p:nvSpPr>
        <p:spPr>
          <a:xfrm>
            <a:off x="1331640" y="1412776"/>
            <a:ext cx="233910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プログラム開発</a:t>
            </a:r>
            <a:endParaRPr kumimoji="1" lang="ja-JP" altLang="en-US" sz="2400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A24FEEA-C97A-44D4-8857-6D747B584A02}"/>
              </a:ext>
            </a:extLst>
          </p:cNvPr>
          <p:cNvSpPr txBox="1"/>
          <p:nvPr/>
        </p:nvSpPr>
        <p:spPr>
          <a:xfrm>
            <a:off x="6444208" y="141277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論文執筆</a:t>
            </a:r>
          </a:p>
        </p:txBody>
      </p:sp>
    </p:spTree>
    <p:extLst>
      <p:ext uri="{BB962C8B-B14F-4D97-AF65-F5344CB8AC3E}">
        <p14:creationId xmlns:p14="http://schemas.microsoft.com/office/powerpoint/2010/main" val="11848855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B3D7CBA-DA71-44A3-9771-3276185B843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dirty="0"/>
              <a:t>バージョンを管理するということ</a:t>
            </a:r>
            <a:endParaRPr kumimoji="1" lang="ja-JP" altLang="en-US" dirty="0"/>
          </a:p>
        </p:txBody>
      </p:sp>
      <p:pic>
        <p:nvPicPr>
          <p:cNvPr id="3074" name="Picture 2" descr="中年男性の表情のイラスト「疑問」">
            <a:extLst>
              <a:ext uri="{FF2B5EF4-FFF2-40B4-BE49-F238E27FC236}">
                <a16:creationId xmlns:a16="http://schemas.microsoft.com/office/drawing/2014/main" id="{1B2D9DAC-838F-4DD7-B986-9B223827D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9912" y="2060848"/>
            <a:ext cx="1584176" cy="1827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ファイルアイコン（ブランク）">
            <a:extLst>
              <a:ext uri="{FF2B5EF4-FFF2-40B4-BE49-F238E27FC236}">
                <a16:creationId xmlns:a16="http://schemas.microsoft.com/office/drawing/2014/main" id="{E0B1B8DB-9149-4E38-A9A0-82EE9C5EF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9632" y="2492896"/>
            <a:ext cx="1476375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ファイルアイコン（ブランク）">
            <a:extLst>
              <a:ext uri="{FF2B5EF4-FFF2-40B4-BE49-F238E27FC236}">
                <a16:creationId xmlns:a16="http://schemas.microsoft.com/office/drawing/2014/main" id="{7D19C7D1-85B4-4960-A9B6-459565FD2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2564904"/>
            <a:ext cx="1476375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5D425A3-8181-4CEC-862C-15C5D45554E5}"/>
              </a:ext>
            </a:extLst>
          </p:cNvPr>
          <p:cNvSpPr txBox="1"/>
          <p:nvPr/>
        </p:nvSpPr>
        <p:spPr>
          <a:xfrm>
            <a:off x="611560" y="4365104"/>
            <a:ext cx="35317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仕様書</a:t>
            </a:r>
            <a:r>
              <a:rPr lang="en-US" altLang="ja-JP" dirty="0"/>
              <a:t>_</a:t>
            </a:r>
            <a:r>
              <a:rPr lang="ja-JP" altLang="en-US" dirty="0"/>
              <a:t>佐藤修正</a:t>
            </a:r>
            <a:r>
              <a:rPr lang="en-US" altLang="ja-JP" dirty="0"/>
              <a:t>_</a:t>
            </a:r>
            <a:r>
              <a:rPr lang="ja-JP" altLang="en-US" dirty="0"/>
              <a:t>吉本追記</a:t>
            </a:r>
            <a:r>
              <a:rPr lang="en-US" altLang="ja-JP" dirty="0"/>
              <a:t>.docx</a:t>
            </a:r>
            <a:endParaRPr kumimoji="1" lang="ja-JP" altLang="en-US" dirty="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661C8E62-6363-4878-A537-CF0E6C990449}"/>
              </a:ext>
            </a:extLst>
          </p:cNvPr>
          <p:cNvSpPr txBox="1"/>
          <p:nvPr/>
        </p:nvSpPr>
        <p:spPr>
          <a:xfrm>
            <a:off x="5364088" y="4365104"/>
            <a:ext cx="35445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dirty="0"/>
              <a:t>仕様書</a:t>
            </a:r>
            <a:r>
              <a:rPr lang="en-US" altLang="ja-JP" dirty="0"/>
              <a:t>_</a:t>
            </a:r>
            <a:r>
              <a:rPr lang="ja-JP" altLang="en-US" dirty="0"/>
              <a:t>最終版</a:t>
            </a:r>
            <a:r>
              <a:rPr lang="en-US" altLang="ja-JP" dirty="0"/>
              <a:t>_</a:t>
            </a:r>
            <a:r>
              <a:rPr lang="ja-JP" altLang="en-US" dirty="0"/>
              <a:t>田中修正</a:t>
            </a:r>
            <a:r>
              <a:rPr lang="en-US" altLang="ja-JP" dirty="0"/>
              <a:t>v2.docx</a:t>
            </a:r>
            <a:endParaRPr kumimoji="1" lang="ja-JP" altLang="en-US" dirty="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3DF782A-3932-4303-BB4D-7C206AEA2AA4}"/>
              </a:ext>
            </a:extLst>
          </p:cNvPr>
          <p:cNvSpPr txBox="1"/>
          <p:nvPr/>
        </p:nvSpPr>
        <p:spPr>
          <a:xfrm>
            <a:off x="2771800" y="1268760"/>
            <a:ext cx="34163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600" dirty="0"/>
              <a:t>どっちが最新？</a:t>
            </a:r>
            <a:endParaRPr kumimoji="1" lang="ja-JP" altLang="en-US" sz="3600" dirty="0"/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D12A8489-9BD5-43A7-AF94-AC57B02A838F}"/>
              </a:ext>
            </a:extLst>
          </p:cNvPr>
          <p:cNvSpPr/>
          <p:nvPr/>
        </p:nvSpPr>
        <p:spPr>
          <a:xfrm>
            <a:off x="1619672" y="5589240"/>
            <a:ext cx="792088" cy="628648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1DA4083-1E38-4AB5-BC66-783FAD94C926}"/>
              </a:ext>
            </a:extLst>
          </p:cNvPr>
          <p:cNvSpPr txBox="1"/>
          <p:nvPr/>
        </p:nvSpPr>
        <p:spPr>
          <a:xfrm>
            <a:off x="2555777" y="5301208"/>
            <a:ext cx="57606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 dirty="0"/>
              <a:t>バージョン</a:t>
            </a:r>
            <a:r>
              <a:rPr lang="ja-JP" altLang="en-US" sz="3200"/>
              <a:t>管理システム</a:t>
            </a:r>
            <a:endParaRPr lang="en-US" altLang="ja-JP" sz="3200"/>
          </a:p>
          <a:p>
            <a:r>
              <a:rPr kumimoji="1" lang="en-US" altLang="ja-JP" sz="3200"/>
              <a:t>(Version Control System, VCS)</a:t>
            </a:r>
            <a:endParaRPr kumimoji="1" lang="ja-JP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370463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3DE6CA8D-8A11-A198-483B-A5EC4502E3F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ありがちなパターン</a:t>
            </a:r>
            <a:r>
              <a:rPr lang="en-US" altLang="ja-JP" dirty="0"/>
              <a:t>1</a:t>
            </a:r>
            <a:endParaRPr lang="ja-JP" altLang="en-US"/>
          </a:p>
        </p:txBody>
      </p:sp>
      <p:pic>
        <p:nvPicPr>
          <p:cNvPr id="3" name="Picture 4" descr="書類を見て焦る会社員のイラスト（男性）">
            <a:extLst>
              <a:ext uri="{FF2B5EF4-FFF2-40B4-BE49-F238E27FC236}">
                <a16:creationId xmlns:a16="http://schemas.microsoft.com/office/drawing/2014/main" id="{A2B44304-C6E9-BDC3-67BA-9C5E7B7902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9070" y="5350647"/>
            <a:ext cx="1080120" cy="131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98" name="Picture 2" descr="家のイラスト1">
            <a:extLst>
              <a:ext uri="{FF2B5EF4-FFF2-40B4-BE49-F238E27FC236}">
                <a16:creationId xmlns:a16="http://schemas.microsoft.com/office/drawing/2014/main" id="{D436A6A0-1584-4F9D-0D42-4D032F34A8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87624" y="1453426"/>
            <a:ext cx="1270000" cy="1174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大学のイラスト">
            <a:extLst>
              <a:ext uri="{FF2B5EF4-FFF2-40B4-BE49-F238E27FC236}">
                <a16:creationId xmlns:a16="http://schemas.microsoft.com/office/drawing/2014/main" id="{ED4F75DA-E60E-A568-7EBE-4EA11E0EEE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168" y="1386031"/>
            <a:ext cx="1387872" cy="12421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自転車通学のイラスト（ブレザー・男子学生）">
            <a:extLst>
              <a:ext uri="{FF2B5EF4-FFF2-40B4-BE49-F238E27FC236}">
                <a16:creationId xmlns:a16="http://schemas.microsoft.com/office/drawing/2014/main" id="{2117F0F3-26DA-BA8D-DE9D-23AA8C186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1723" y="1536203"/>
            <a:ext cx="961717" cy="10368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31F8837-C8BD-7E96-EC73-423DB32F9E13}"/>
              </a:ext>
            </a:extLst>
          </p:cNvPr>
          <p:cNvSpPr txBox="1"/>
          <p:nvPr/>
        </p:nvSpPr>
        <p:spPr>
          <a:xfrm>
            <a:off x="375497" y="1016699"/>
            <a:ext cx="3211135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1. </a:t>
            </a:r>
            <a:r>
              <a:rPr kumimoji="1" lang="ja-JP" altLang="en-US"/>
              <a:t>自宅と大学で論文執筆作業</a:t>
            </a:r>
          </a:p>
        </p:txBody>
      </p:sp>
      <p:pic>
        <p:nvPicPr>
          <p:cNvPr id="4106" name="Picture 10" descr="書類を渡している・受け取っている人のイラスト（男性）">
            <a:extLst>
              <a:ext uri="{FF2B5EF4-FFF2-40B4-BE49-F238E27FC236}">
                <a16:creationId xmlns:a16="http://schemas.microsoft.com/office/drawing/2014/main" id="{B988CF0F-5BCF-5792-DA16-ED3D04D7FA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9070" y="3122949"/>
            <a:ext cx="1122930" cy="13172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BAA5F8E-73B5-A4A7-6D57-459AEBF751B3}"/>
              </a:ext>
            </a:extLst>
          </p:cNvPr>
          <p:cNvSpPr txBox="1"/>
          <p:nvPr/>
        </p:nvSpPr>
        <p:spPr>
          <a:xfrm>
            <a:off x="375497" y="2938283"/>
            <a:ext cx="274947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dirty="0"/>
              <a:t>2. </a:t>
            </a:r>
            <a:r>
              <a:rPr kumimoji="1" lang="ja-JP" altLang="en-US"/>
              <a:t>先生に論文添削を依頼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F9A7FE3E-A159-DA45-62D1-F2CE21CF4896}"/>
              </a:ext>
            </a:extLst>
          </p:cNvPr>
          <p:cNvSpPr txBox="1"/>
          <p:nvPr/>
        </p:nvSpPr>
        <p:spPr>
          <a:xfrm>
            <a:off x="375496" y="4675201"/>
            <a:ext cx="7596951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dirty="0"/>
              <a:t>3</a:t>
            </a:r>
            <a:r>
              <a:rPr kumimoji="1" lang="en-US" altLang="ja-JP" dirty="0"/>
              <a:t>. </a:t>
            </a:r>
            <a:r>
              <a:rPr kumimoji="1" lang="ja-JP" altLang="en-US"/>
              <a:t>添削が返ってきた時、古いバージョンを渡してしまったことに気づく</a:t>
            </a:r>
          </a:p>
        </p:txBody>
      </p:sp>
    </p:spTree>
    <p:extLst>
      <p:ext uri="{BB962C8B-B14F-4D97-AF65-F5344CB8AC3E}">
        <p14:creationId xmlns:p14="http://schemas.microsoft.com/office/powerpoint/2010/main" val="35753304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863F12AA-AAC0-9B40-CB88-BE33D014991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ありがちなパターン</a:t>
            </a:r>
            <a:r>
              <a:rPr kumimoji="1" lang="en-US" altLang="ja-JP" dirty="0"/>
              <a:t>2</a:t>
            </a:r>
            <a:endParaRPr kumimoji="1" lang="ja-JP" altLang="en-US"/>
          </a:p>
        </p:txBody>
      </p:sp>
      <p:pic>
        <p:nvPicPr>
          <p:cNvPr id="2050" name="Picture 2" descr="会社で働く人のイラスト（男性）">
            <a:extLst>
              <a:ext uri="{FF2B5EF4-FFF2-40B4-BE49-F238E27FC236}">
                <a16:creationId xmlns:a16="http://schemas.microsoft.com/office/drawing/2014/main" id="{C6795E56-43A5-FDB3-6E58-1EE35757D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63" y="1576338"/>
            <a:ext cx="975544" cy="9755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スーパーコンピューターのイラスト（赤）">
            <a:extLst>
              <a:ext uri="{FF2B5EF4-FFF2-40B4-BE49-F238E27FC236}">
                <a16:creationId xmlns:a16="http://schemas.microsoft.com/office/drawing/2014/main" id="{50C870FA-2E6A-93CA-1E19-1BC6A26E37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224" y="1484784"/>
            <a:ext cx="1152128" cy="11521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43C311D-70BE-1F1B-EF62-0A73A19D7A44}"/>
              </a:ext>
            </a:extLst>
          </p:cNvPr>
          <p:cNvSpPr txBox="1"/>
          <p:nvPr/>
        </p:nvSpPr>
        <p:spPr>
          <a:xfrm>
            <a:off x="156517" y="115537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ローカル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DC2C256-C239-B709-D12D-8254EBE7C339}"/>
              </a:ext>
            </a:extLst>
          </p:cNvPr>
          <p:cNvSpPr txBox="1"/>
          <p:nvPr/>
        </p:nvSpPr>
        <p:spPr>
          <a:xfrm>
            <a:off x="6667068" y="1082111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/>
              <a:t>スパコン</a:t>
            </a:r>
          </a:p>
        </p:txBody>
      </p:sp>
      <p:pic>
        <p:nvPicPr>
          <p:cNvPr id="2054" name="Picture 6" descr="ファイルアイコン（水色）">
            <a:extLst>
              <a:ext uri="{FF2B5EF4-FFF2-40B4-BE49-F238E27FC236}">
                <a16:creationId xmlns:a16="http://schemas.microsoft.com/office/drawing/2014/main" id="{E5932A36-DA2A-C506-7DB3-6A367CF80F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91650" y="1633364"/>
            <a:ext cx="736222" cy="854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6" descr="ファイルアイコン（水色）">
            <a:extLst>
              <a:ext uri="{FF2B5EF4-FFF2-40B4-BE49-F238E27FC236}">
                <a16:creationId xmlns:a16="http://schemas.microsoft.com/office/drawing/2014/main" id="{00966916-4CBB-3B20-E8F5-CDBB5DE432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90268" y="1633364"/>
            <a:ext cx="736222" cy="8549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ファイルアイコン（黄色）">
            <a:extLst>
              <a:ext uri="{FF2B5EF4-FFF2-40B4-BE49-F238E27FC236}">
                <a16:creationId xmlns:a16="http://schemas.microsoft.com/office/drawing/2014/main" id="{E1EFCECB-7610-091C-9116-1471EF7D36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4211" y="3355823"/>
            <a:ext cx="788335" cy="91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ファイルアイコン（赤）">
            <a:extLst>
              <a:ext uri="{FF2B5EF4-FFF2-40B4-BE49-F238E27FC236}">
                <a16:creationId xmlns:a16="http://schemas.microsoft.com/office/drawing/2014/main" id="{E965A538-1DB7-F87C-36A2-DB81E55EC0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5974" y="4966587"/>
            <a:ext cx="788335" cy="91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BCAA5E41-EF5F-4571-9F0A-F5A0116CB0C7}"/>
              </a:ext>
            </a:extLst>
          </p:cNvPr>
          <p:cNvCxnSpPr>
            <a:stCxn id="2054" idx="3"/>
            <a:endCxn id="5" idx="1"/>
          </p:cNvCxnSpPr>
          <p:nvPr/>
        </p:nvCxnSpPr>
        <p:spPr>
          <a:xfrm>
            <a:off x="2527872" y="2060848"/>
            <a:ext cx="2962396" cy="0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650318E-D7B1-E72F-558F-2379FD77A53C}"/>
              </a:ext>
            </a:extLst>
          </p:cNvPr>
          <p:cNvSpPr txBox="1"/>
          <p:nvPr/>
        </p:nvSpPr>
        <p:spPr>
          <a:xfrm>
            <a:off x="2591990" y="1609654"/>
            <a:ext cx="2717411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1. </a:t>
            </a:r>
            <a:r>
              <a:rPr kumimoji="1" lang="ja-JP" altLang="en-US" sz="1400"/>
              <a:t>開発したコードをスパコンへ</a:t>
            </a:r>
          </a:p>
        </p:txBody>
      </p:sp>
      <p:cxnSp>
        <p:nvCxnSpPr>
          <p:cNvPr id="11" name="直線矢印コネクタ 10">
            <a:extLst>
              <a:ext uri="{FF2B5EF4-FFF2-40B4-BE49-F238E27FC236}">
                <a16:creationId xmlns:a16="http://schemas.microsoft.com/office/drawing/2014/main" id="{E5DCCD4D-AB47-9C69-CC65-B270CB39805F}"/>
              </a:ext>
            </a:extLst>
          </p:cNvPr>
          <p:cNvCxnSpPr>
            <a:stCxn id="5" idx="2"/>
            <a:endCxn id="2056" idx="0"/>
          </p:cNvCxnSpPr>
          <p:nvPr/>
        </p:nvCxnSpPr>
        <p:spPr>
          <a:xfrm>
            <a:off x="5858379" y="2488332"/>
            <a:ext cx="0" cy="867491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EED347F0-D1E3-ADCF-5552-A0B7E064EE51}"/>
              </a:ext>
            </a:extLst>
          </p:cNvPr>
          <p:cNvSpPr txBox="1"/>
          <p:nvPr/>
        </p:nvSpPr>
        <p:spPr>
          <a:xfrm>
            <a:off x="4858745" y="2780291"/>
            <a:ext cx="1999265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2</a:t>
            </a:r>
            <a:r>
              <a:rPr kumimoji="1" lang="en-US" altLang="ja-JP" sz="1400" dirty="0"/>
              <a:t>. </a:t>
            </a:r>
            <a:r>
              <a:rPr kumimoji="1" lang="ja-JP" altLang="en-US" sz="1400"/>
              <a:t>動かなかったの修正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9673EFE-F063-5DB8-93C5-1ED73780840B}"/>
              </a:ext>
            </a:extLst>
          </p:cNvPr>
          <p:cNvCxnSpPr>
            <a:cxnSpLocks/>
            <a:stCxn id="2054" idx="2"/>
            <a:endCxn id="2058" idx="0"/>
          </p:cNvCxnSpPr>
          <p:nvPr/>
        </p:nvCxnSpPr>
        <p:spPr>
          <a:xfrm>
            <a:off x="2159761" y="2488332"/>
            <a:ext cx="10381" cy="2478255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213FCFD-F62D-AF84-AA42-F964EED0B7B5}"/>
              </a:ext>
            </a:extLst>
          </p:cNvPr>
          <p:cNvSpPr txBox="1"/>
          <p:nvPr/>
        </p:nvSpPr>
        <p:spPr>
          <a:xfrm>
            <a:off x="990972" y="3588701"/>
            <a:ext cx="2358338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3</a:t>
            </a:r>
            <a:r>
              <a:rPr kumimoji="1" lang="en-US" altLang="ja-JP" sz="1400" dirty="0"/>
              <a:t>. </a:t>
            </a:r>
            <a:r>
              <a:rPr kumimoji="1" lang="ja-JP" altLang="en-US" sz="1400"/>
              <a:t>ジョブ実行中、機能追加</a:t>
            </a:r>
          </a:p>
        </p:txBody>
      </p:sp>
      <p:pic>
        <p:nvPicPr>
          <p:cNvPr id="21" name="Picture 10" descr="ファイルアイコン（赤）">
            <a:extLst>
              <a:ext uri="{FF2B5EF4-FFF2-40B4-BE49-F238E27FC236}">
                <a16:creationId xmlns:a16="http://schemas.microsoft.com/office/drawing/2014/main" id="{FC0A678B-1CF3-2D16-26A2-D408461E7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64211" y="4984681"/>
            <a:ext cx="788335" cy="915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28F7528B-A7D6-EDAE-3FFA-1988AD4B7281}"/>
              </a:ext>
            </a:extLst>
          </p:cNvPr>
          <p:cNvCxnSpPr>
            <a:cxnSpLocks/>
            <a:stCxn id="2056" idx="2"/>
            <a:endCxn id="21" idx="0"/>
          </p:cNvCxnSpPr>
          <p:nvPr/>
        </p:nvCxnSpPr>
        <p:spPr>
          <a:xfrm>
            <a:off x="5858379" y="4271309"/>
            <a:ext cx="0" cy="713372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E32E789-0123-0E75-FE64-6C42C7C523FC}"/>
              </a:ext>
            </a:extLst>
          </p:cNvPr>
          <p:cNvCxnSpPr>
            <a:cxnSpLocks/>
            <a:stCxn id="2058" idx="3"/>
            <a:endCxn id="21" idx="1"/>
          </p:cNvCxnSpPr>
          <p:nvPr/>
        </p:nvCxnSpPr>
        <p:spPr>
          <a:xfrm>
            <a:off x="2564309" y="5424330"/>
            <a:ext cx="2899902" cy="18094"/>
          </a:xfrm>
          <a:prstGeom prst="straightConnector1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28BF6154-BD79-6C0C-E073-DE3C99A1CA91}"/>
              </a:ext>
            </a:extLst>
          </p:cNvPr>
          <p:cNvSpPr txBox="1"/>
          <p:nvPr/>
        </p:nvSpPr>
        <p:spPr>
          <a:xfrm>
            <a:off x="2628387" y="5014013"/>
            <a:ext cx="2717411" cy="30777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ja-JP" sz="1400" dirty="0"/>
              <a:t>4</a:t>
            </a:r>
            <a:r>
              <a:rPr kumimoji="1" lang="en-US" altLang="ja-JP" sz="1400" dirty="0"/>
              <a:t>. </a:t>
            </a:r>
            <a:r>
              <a:rPr kumimoji="1" lang="ja-JP" altLang="en-US" sz="1400"/>
              <a:t>修正したコードをスパコンへ</a:t>
            </a:r>
          </a:p>
        </p:txBody>
      </p:sp>
      <p:sp>
        <p:nvSpPr>
          <p:cNvPr id="31" name="爆発 1 30">
            <a:extLst>
              <a:ext uri="{FF2B5EF4-FFF2-40B4-BE49-F238E27FC236}">
                <a16:creationId xmlns:a16="http://schemas.microsoft.com/office/drawing/2014/main" id="{8706BF29-61A6-10E7-EE6F-279A2C2CE087}"/>
              </a:ext>
            </a:extLst>
          </p:cNvPr>
          <p:cNvSpPr/>
          <p:nvPr/>
        </p:nvSpPr>
        <p:spPr>
          <a:xfrm>
            <a:off x="5648393" y="4338327"/>
            <a:ext cx="419968" cy="497799"/>
          </a:xfrm>
          <a:prstGeom prst="irregularSeal1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7576A01D-95F7-9C7C-47C0-C2A88CA21C2D}"/>
              </a:ext>
            </a:extLst>
          </p:cNvPr>
          <p:cNvSpPr txBox="1"/>
          <p:nvPr/>
        </p:nvSpPr>
        <p:spPr>
          <a:xfrm>
            <a:off x="2498153" y="6197254"/>
            <a:ext cx="3570208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あ！上書きしちゃった！</a:t>
            </a:r>
          </a:p>
        </p:txBody>
      </p:sp>
      <p:cxnSp>
        <p:nvCxnSpPr>
          <p:cNvPr id="34" name="カギ線コネクタ 33">
            <a:extLst>
              <a:ext uri="{FF2B5EF4-FFF2-40B4-BE49-F238E27FC236}">
                <a16:creationId xmlns:a16="http://schemas.microsoft.com/office/drawing/2014/main" id="{426679C0-0ACB-13D4-D8D5-F5949733D549}"/>
              </a:ext>
            </a:extLst>
          </p:cNvPr>
          <p:cNvCxnSpPr>
            <a:stCxn id="32" idx="3"/>
            <a:endCxn id="31" idx="3"/>
          </p:cNvCxnSpPr>
          <p:nvPr/>
        </p:nvCxnSpPr>
        <p:spPr>
          <a:xfrm flipV="1">
            <a:off x="6068361" y="4644612"/>
            <a:ext cx="12700" cy="1783475"/>
          </a:xfrm>
          <a:prstGeom prst="bentConnector3">
            <a:avLst>
              <a:gd name="adj1" fmla="val 3788575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60" name="Picture 12" descr="中年男性の表情のイラスト「驚いた顔」">
            <a:extLst>
              <a:ext uri="{FF2B5EF4-FFF2-40B4-BE49-F238E27FC236}">
                <a16:creationId xmlns:a16="http://schemas.microsoft.com/office/drawing/2014/main" id="{CA6DB0AD-383E-2EC3-EDA0-1F69A08E07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75229" y="5040032"/>
            <a:ext cx="1002926" cy="1157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494531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86585F2-52AE-4F31-8521-6F56CC420F4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 dirty="0"/>
              <a:t>バージョン管理システム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9B41241-5A38-4279-BDB1-EE0F73AB0423}"/>
              </a:ext>
            </a:extLst>
          </p:cNvPr>
          <p:cNvSpPr txBox="1"/>
          <p:nvPr/>
        </p:nvSpPr>
        <p:spPr>
          <a:xfrm>
            <a:off x="467544" y="1628800"/>
            <a:ext cx="8424101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ファイルの編集履歴を管理するためのシステム</a:t>
            </a:r>
            <a:endParaRPr lang="en-US" altLang="ja-JP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000" dirty="0"/>
              <a:t>編集履歴をすべて保存する「リポジトリ」というデータベースを持つ</a:t>
            </a:r>
            <a:endParaRPr kumimoji="1" lang="en-US" altLang="ja-JP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 dirty="0"/>
              <a:t>ユーザはリポジトリにアクセスしながら開発を行う</a:t>
            </a:r>
            <a:endParaRPr kumimoji="1" lang="ja-JP" altLang="en-US" sz="2000" dirty="0"/>
          </a:p>
        </p:txBody>
      </p:sp>
      <p:pic>
        <p:nvPicPr>
          <p:cNvPr id="4100" name="Picture 4" descr="ホテルのフロントのイラスト">
            <a:extLst>
              <a:ext uri="{FF2B5EF4-FFF2-40B4-BE49-F238E27FC236}">
                <a16:creationId xmlns:a16="http://schemas.microsoft.com/office/drawing/2014/main" id="{9E2C8B98-02BB-46F8-AFDF-FC6C8B4D91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2200" y="3861048"/>
            <a:ext cx="2337048" cy="23370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E7291CA-4330-4523-8671-88F7FE5B732E}"/>
              </a:ext>
            </a:extLst>
          </p:cNvPr>
          <p:cNvSpPr txBox="1"/>
          <p:nvPr/>
        </p:nvSpPr>
        <p:spPr>
          <a:xfrm>
            <a:off x="107504" y="1124744"/>
            <a:ext cx="44935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>
                <a:solidFill>
                  <a:srgbClr val="011893"/>
                </a:solidFill>
              </a:rPr>
              <a:t>バージョン管理システムとは？</a:t>
            </a:r>
            <a:endParaRPr lang="en-US" sz="2400">
              <a:solidFill>
                <a:srgbClr val="011893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A643521-21B1-4D8D-A36B-DE817E8C1C63}"/>
              </a:ext>
            </a:extLst>
          </p:cNvPr>
          <p:cNvSpPr txBox="1"/>
          <p:nvPr/>
        </p:nvSpPr>
        <p:spPr>
          <a:xfrm>
            <a:off x="179512" y="2996952"/>
            <a:ext cx="387798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>
                <a:solidFill>
                  <a:srgbClr val="011893"/>
                </a:solidFill>
              </a:rPr>
              <a:t>何ができるようになるの？</a:t>
            </a:r>
            <a:endParaRPr lang="en-US" sz="2400">
              <a:solidFill>
                <a:srgbClr val="011893"/>
              </a:solidFill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4672979-5484-4367-B91F-8D781811B3B9}"/>
              </a:ext>
            </a:extLst>
          </p:cNvPr>
          <p:cNvSpPr txBox="1"/>
          <p:nvPr/>
        </p:nvSpPr>
        <p:spPr>
          <a:xfrm>
            <a:off x="395536" y="3789040"/>
            <a:ext cx="534633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000"/>
              <a:t>任意の時点に状態を戻すことができる</a:t>
            </a:r>
            <a:endParaRPr kumimoji="1" lang="en-US" altLang="ja-JP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/>
              <a:t>任意の時点間の差分を確認できる</a:t>
            </a:r>
            <a:endParaRPr lang="en-US" altLang="ja-JP" sz="20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000"/>
              <a:t>誰が、いつ、どこを修正したか確認できる</a:t>
            </a:r>
            <a:endParaRPr lang="en-US" altLang="ja-JP" sz="20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8938FFD-AA54-4704-A832-24A979300647}"/>
              </a:ext>
            </a:extLst>
          </p:cNvPr>
          <p:cNvSpPr txBox="1"/>
          <p:nvPr/>
        </p:nvSpPr>
        <p:spPr>
          <a:xfrm>
            <a:off x="251520" y="5301208"/>
            <a:ext cx="510909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FF0000"/>
                </a:solidFill>
              </a:rPr>
              <a:t>超優秀な秘書のようなもの</a:t>
            </a:r>
            <a:endParaRPr lang="en-US" sz="320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880579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C46E6D90-D2FD-4C21-B95F-89DCEE5345F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バージョン管理システム</a:t>
            </a:r>
            <a:r>
              <a:rPr lang="ja-JP" altLang="en-US"/>
              <a:t>の歴史</a:t>
            </a:r>
            <a:endParaRPr kumimoji="1" lang="ja-JP" altLang="en-US"/>
          </a:p>
        </p:txBody>
      </p:sp>
      <p:pic>
        <p:nvPicPr>
          <p:cNvPr id="4" name="Picture 2" descr="パソコンを使う会社員のイラスト（男性・笑顔）">
            <a:extLst>
              <a:ext uri="{FF2B5EF4-FFF2-40B4-BE49-F238E27FC236}">
                <a16:creationId xmlns:a16="http://schemas.microsoft.com/office/drawing/2014/main" id="{2CD01D26-0AF8-4242-87AD-7045C506CF6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2485" y="4034681"/>
            <a:ext cx="850267" cy="1234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5CB73886-B528-4A1F-8D08-44A55877CB33}"/>
              </a:ext>
            </a:extLst>
          </p:cNvPr>
          <p:cNvGrpSpPr/>
          <p:nvPr/>
        </p:nvGrpSpPr>
        <p:grpSpPr>
          <a:xfrm>
            <a:off x="1464533" y="5618857"/>
            <a:ext cx="518457" cy="648072"/>
            <a:chOff x="1691680" y="3429000"/>
            <a:chExt cx="1440160" cy="1800200"/>
          </a:xfrm>
        </p:grpSpPr>
        <p:sp>
          <p:nvSpPr>
            <p:cNvPr id="6" name="楕円 5">
              <a:extLst>
                <a:ext uri="{FF2B5EF4-FFF2-40B4-BE49-F238E27FC236}">
                  <a16:creationId xmlns:a16="http://schemas.microsoft.com/office/drawing/2014/main" id="{15849040-4253-4F71-B084-387D4441108E}"/>
                </a:ext>
              </a:extLst>
            </p:cNvPr>
            <p:cNvSpPr/>
            <p:nvPr/>
          </p:nvSpPr>
          <p:spPr>
            <a:xfrm>
              <a:off x="1691680" y="3429000"/>
              <a:ext cx="1440160" cy="720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円弧 6">
              <a:extLst>
                <a:ext uri="{FF2B5EF4-FFF2-40B4-BE49-F238E27FC236}">
                  <a16:creationId xmlns:a16="http://schemas.microsoft.com/office/drawing/2014/main" id="{FEC6B259-0348-4B25-B86B-A411F5D81FA7}"/>
                </a:ext>
              </a:extLst>
            </p:cNvPr>
            <p:cNvSpPr/>
            <p:nvPr/>
          </p:nvSpPr>
          <p:spPr>
            <a:xfrm rot="5400000">
              <a:off x="2051720" y="3429000"/>
              <a:ext cx="720080" cy="1440160"/>
            </a:xfrm>
            <a:prstGeom prst="arc">
              <a:avLst>
                <a:gd name="adj1" fmla="val 16200000"/>
                <a:gd name="adj2" fmla="val 529850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円弧 7">
              <a:extLst>
                <a:ext uri="{FF2B5EF4-FFF2-40B4-BE49-F238E27FC236}">
                  <a16:creationId xmlns:a16="http://schemas.microsoft.com/office/drawing/2014/main" id="{E9C812F1-29C8-485F-919E-5FCA186E166D}"/>
                </a:ext>
              </a:extLst>
            </p:cNvPr>
            <p:cNvSpPr/>
            <p:nvPr/>
          </p:nvSpPr>
          <p:spPr>
            <a:xfrm rot="5400000">
              <a:off x="2051720" y="4149080"/>
              <a:ext cx="720080" cy="1440160"/>
            </a:xfrm>
            <a:prstGeom prst="arc">
              <a:avLst>
                <a:gd name="adj1" fmla="val 16200000"/>
                <a:gd name="adj2" fmla="val 529850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円弧 8">
              <a:extLst>
                <a:ext uri="{FF2B5EF4-FFF2-40B4-BE49-F238E27FC236}">
                  <a16:creationId xmlns:a16="http://schemas.microsoft.com/office/drawing/2014/main" id="{F7D5BD76-4F73-4CE3-A01B-2F9A89BED501}"/>
                </a:ext>
              </a:extLst>
            </p:cNvPr>
            <p:cNvSpPr/>
            <p:nvPr/>
          </p:nvSpPr>
          <p:spPr>
            <a:xfrm rot="5400000">
              <a:off x="2051720" y="3789040"/>
              <a:ext cx="720080" cy="1440160"/>
            </a:xfrm>
            <a:prstGeom prst="arc">
              <a:avLst>
                <a:gd name="adj1" fmla="val 16200000"/>
                <a:gd name="adj2" fmla="val 529850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0" name="直線コネクタ 9">
              <a:extLst>
                <a:ext uri="{FF2B5EF4-FFF2-40B4-BE49-F238E27FC236}">
                  <a16:creationId xmlns:a16="http://schemas.microsoft.com/office/drawing/2014/main" id="{7051CB66-2EB8-4369-905D-13F854B17790}"/>
                </a:ext>
              </a:extLst>
            </p:cNvPr>
            <p:cNvCxnSpPr>
              <a:stCxn id="6" idx="6"/>
              <a:endCxn id="8" idx="0"/>
            </p:cNvCxnSpPr>
            <p:nvPr/>
          </p:nvCxnSpPr>
          <p:spPr>
            <a:xfrm>
              <a:off x="3131840" y="3789040"/>
              <a:ext cx="0" cy="10801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F9971EA4-A8F7-4A21-9DF2-B2A28D64062E}"/>
                </a:ext>
              </a:extLst>
            </p:cNvPr>
            <p:cNvCxnSpPr>
              <a:stCxn id="6" idx="2"/>
              <a:endCxn id="8" idx="2"/>
            </p:cNvCxnSpPr>
            <p:nvPr/>
          </p:nvCxnSpPr>
          <p:spPr>
            <a:xfrm>
              <a:off x="1691680" y="3789040"/>
              <a:ext cx="1253" cy="110134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DFA0628B-ECE7-44FD-80C1-CA36BBDC7C46}"/>
              </a:ext>
            </a:extLst>
          </p:cNvPr>
          <p:cNvCxnSpPr>
            <a:stCxn id="4" idx="2"/>
            <a:endCxn id="6" idx="0"/>
          </p:cNvCxnSpPr>
          <p:nvPr/>
        </p:nvCxnSpPr>
        <p:spPr>
          <a:xfrm rot="16200000" flipH="1">
            <a:off x="1416016" y="5311110"/>
            <a:ext cx="349349" cy="266143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Picture 2" descr="パソコンを使う会社員のイラスト（男性・笑顔）">
            <a:extLst>
              <a:ext uri="{FF2B5EF4-FFF2-40B4-BE49-F238E27FC236}">
                <a16:creationId xmlns:a16="http://schemas.microsoft.com/office/drawing/2014/main" id="{65327392-FE64-4366-A078-AE180E32A5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0717" y="4610745"/>
            <a:ext cx="850267" cy="1234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DAC7A9C2-0782-45B2-BFE9-5E67EC377023}"/>
              </a:ext>
            </a:extLst>
          </p:cNvPr>
          <p:cNvGrpSpPr/>
          <p:nvPr/>
        </p:nvGrpSpPr>
        <p:grpSpPr>
          <a:xfrm>
            <a:off x="4632885" y="4106689"/>
            <a:ext cx="864096" cy="1944216"/>
            <a:chOff x="4427984" y="692696"/>
            <a:chExt cx="864096" cy="1944216"/>
          </a:xfrm>
        </p:grpSpPr>
        <p:pic>
          <p:nvPicPr>
            <p:cNvPr id="15" name="Picture 4" descr="サーバのイラスト（グレー）">
              <a:extLst>
                <a:ext uri="{FF2B5EF4-FFF2-40B4-BE49-F238E27FC236}">
                  <a16:creationId xmlns:a16="http://schemas.microsoft.com/office/drawing/2014/main" id="{8DAA4A2D-FFE3-44DD-A9E3-91EBFD3272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7984" y="692696"/>
              <a:ext cx="654501" cy="996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CC902276-C31D-4C48-B8B9-F512A5EB5E56}"/>
                </a:ext>
              </a:extLst>
            </p:cNvPr>
            <p:cNvGrpSpPr/>
            <p:nvPr/>
          </p:nvGrpSpPr>
          <p:grpSpPr>
            <a:xfrm>
              <a:off x="4773623" y="1988840"/>
              <a:ext cx="518457" cy="648072"/>
              <a:chOff x="1691680" y="3429000"/>
              <a:chExt cx="1440160" cy="1800200"/>
            </a:xfrm>
          </p:grpSpPr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6B2F7FE8-CD63-4414-AC4E-246D2C118654}"/>
                  </a:ext>
                </a:extLst>
              </p:cNvPr>
              <p:cNvSpPr/>
              <p:nvPr/>
            </p:nvSpPr>
            <p:spPr>
              <a:xfrm>
                <a:off x="1691680" y="3429000"/>
                <a:ext cx="1440160" cy="720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円弧 18">
                <a:extLst>
                  <a:ext uri="{FF2B5EF4-FFF2-40B4-BE49-F238E27FC236}">
                    <a16:creationId xmlns:a16="http://schemas.microsoft.com/office/drawing/2014/main" id="{BDE1D379-F89E-404C-AEA6-6B2EFA2D36F8}"/>
                  </a:ext>
                </a:extLst>
              </p:cNvPr>
              <p:cNvSpPr/>
              <p:nvPr/>
            </p:nvSpPr>
            <p:spPr>
              <a:xfrm rot="5400000">
                <a:off x="2051720" y="342900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弧 19">
                <a:extLst>
                  <a:ext uri="{FF2B5EF4-FFF2-40B4-BE49-F238E27FC236}">
                    <a16:creationId xmlns:a16="http://schemas.microsoft.com/office/drawing/2014/main" id="{CCB774DD-2EC6-4F45-9EB7-93C22C9AEE69}"/>
                  </a:ext>
                </a:extLst>
              </p:cNvPr>
              <p:cNvSpPr/>
              <p:nvPr/>
            </p:nvSpPr>
            <p:spPr>
              <a:xfrm rot="5400000">
                <a:off x="2051720" y="414908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円弧 20">
                <a:extLst>
                  <a:ext uri="{FF2B5EF4-FFF2-40B4-BE49-F238E27FC236}">
                    <a16:creationId xmlns:a16="http://schemas.microsoft.com/office/drawing/2014/main" id="{6D92490A-C423-49FF-B29F-A41804C40D47}"/>
                  </a:ext>
                </a:extLst>
              </p:cNvPr>
              <p:cNvSpPr/>
              <p:nvPr/>
            </p:nvSpPr>
            <p:spPr>
              <a:xfrm rot="5400000">
                <a:off x="2051720" y="378904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218856E4-2EB8-46C5-886F-25A6884761F6}"/>
                  </a:ext>
                </a:extLst>
              </p:cNvPr>
              <p:cNvCxnSpPr>
                <a:stCxn id="18" idx="6"/>
                <a:endCxn id="20" idx="0"/>
              </p:cNvCxnSpPr>
              <p:nvPr/>
            </p:nvCxnSpPr>
            <p:spPr>
              <a:xfrm>
                <a:off x="3131840" y="3789040"/>
                <a:ext cx="0" cy="10801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コネクタ 22">
                <a:extLst>
                  <a:ext uri="{FF2B5EF4-FFF2-40B4-BE49-F238E27FC236}">
                    <a16:creationId xmlns:a16="http://schemas.microsoft.com/office/drawing/2014/main" id="{9F1B2338-1CE5-49A1-8F9F-511CD8909EBB}"/>
                  </a:ext>
                </a:extLst>
              </p:cNvPr>
              <p:cNvCxnSpPr>
                <a:stCxn id="18" idx="2"/>
                <a:endCxn id="20" idx="2"/>
              </p:cNvCxnSpPr>
              <p:nvPr/>
            </p:nvCxnSpPr>
            <p:spPr>
              <a:xfrm>
                <a:off x="1691680" y="3789040"/>
                <a:ext cx="1253" cy="1101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コネクタ: カギ線 16">
              <a:extLst>
                <a:ext uri="{FF2B5EF4-FFF2-40B4-BE49-F238E27FC236}">
                  <a16:creationId xmlns:a16="http://schemas.microsoft.com/office/drawing/2014/main" id="{67110E00-3B1A-4641-998C-5C53D5931EB6}"/>
                </a:ext>
              </a:extLst>
            </p:cNvPr>
            <p:cNvCxnSpPr>
              <a:cxnSpLocks/>
              <a:stCxn id="15" idx="2"/>
              <a:endCxn id="18" idx="0"/>
            </p:cNvCxnSpPr>
            <p:nvPr/>
          </p:nvCxnSpPr>
          <p:spPr>
            <a:xfrm rot="16200000" flipH="1">
              <a:off x="4744322" y="1700310"/>
              <a:ext cx="299442" cy="277617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4" name="図 23" descr="アイコン&#10;&#10;自動的に生成された説明">
            <a:extLst>
              <a:ext uri="{FF2B5EF4-FFF2-40B4-BE49-F238E27FC236}">
                <a16:creationId xmlns:a16="http://schemas.microsoft.com/office/drawing/2014/main" id="{F7109F7B-E3C8-455A-AE0D-9D82EA1CD9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800000">
            <a:off x="4020541" y="4869332"/>
            <a:ext cx="618136" cy="596573"/>
          </a:xfrm>
          <a:prstGeom prst="rect">
            <a:avLst/>
          </a:prstGeom>
        </p:spPr>
      </p:pic>
      <p:grpSp>
        <p:nvGrpSpPr>
          <p:cNvPr id="25" name="グループ化 24">
            <a:extLst>
              <a:ext uri="{FF2B5EF4-FFF2-40B4-BE49-F238E27FC236}">
                <a16:creationId xmlns:a16="http://schemas.microsoft.com/office/drawing/2014/main" id="{C57BC4FB-9F42-4CC6-B1A7-0E7B5F7B612A}"/>
              </a:ext>
            </a:extLst>
          </p:cNvPr>
          <p:cNvGrpSpPr/>
          <p:nvPr/>
        </p:nvGrpSpPr>
        <p:grpSpPr>
          <a:xfrm>
            <a:off x="6318785" y="4947915"/>
            <a:ext cx="490583" cy="1152128"/>
            <a:chOff x="6444208" y="1196752"/>
            <a:chExt cx="950505" cy="2232248"/>
          </a:xfrm>
        </p:grpSpPr>
        <p:pic>
          <p:nvPicPr>
            <p:cNvPr id="26" name="Picture 2" descr="パソコンを使う会社員のイラスト（男性・笑顔）">
              <a:extLst>
                <a:ext uri="{FF2B5EF4-FFF2-40B4-BE49-F238E27FC236}">
                  <a16:creationId xmlns:a16="http://schemas.microsoft.com/office/drawing/2014/main" id="{FCB5325E-ABCB-4BC2-B59B-FA5E8298C54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1196752"/>
              <a:ext cx="850267" cy="12348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D938B85F-320D-4FDC-A897-85959B96B6EA}"/>
                </a:ext>
              </a:extLst>
            </p:cNvPr>
            <p:cNvGrpSpPr/>
            <p:nvPr/>
          </p:nvGrpSpPr>
          <p:grpSpPr>
            <a:xfrm>
              <a:off x="6876256" y="2780928"/>
              <a:ext cx="518457" cy="648072"/>
              <a:chOff x="1691680" y="3429000"/>
              <a:chExt cx="1440160" cy="1800200"/>
            </a:xfrm>
          </p:grpSpPr>
          <p:sp>
            <p:nvSpPr>
              <p:cNvPr id="29" name="楕円 28">
                <a:extLst>
                  <a:ext uri="{FF2B5EF4-FFF2-40B4-BE49-F238E27FC236}">
                    <a16:creationId xmlns:a16="http://schemas.microsoft.com/office/drawing/2014/main" id="{F39AC39A-132C-4A73-9364-3E4AF7CDBF29}"/>
                  </a:ext>
                </a:extLst>
              </p:cNvPr>
              <p:cNvSpPr/>
              <p:nvPr/>
            </p:nvSpPr>
            <p:spPr>
              <a:xfrm>
                <a:off x="1691680" y="3429000"/>
                <a:ext cx="1440160" cy="720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弧 29">
                <a:extLst>
                  <a:ext uri="{FF2B5EF4-FFF2-40B4-BE49-F238E27FC236}">
                    <a16:creationId xmlns:a16="http://schemas.microsoft.com/office/drawing/2014/main" id="{440A9362-4C84-484D-A91F-1520CF762BC1}"/>
                  </a:ext>
                </a:extLst>
              </p:cNvPr>
              <p:cNvSpPr/>
              <p:nvPr/>
            </p:nvSpPr>
            <p:spPr>
              <a:xfrm rot="5400000">
                <a:off x="2051720" y="342900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円弧 30">
                <a:extLst>
                  <a:ext uri="{FF2B5EF4-FFF2-40B4-BE49-F238E27FC236}">
                    <a16:creationId xmlns:a16="http://schemas.microsoft.com/office/drawing/2014/main" id="{0EF68790-904C-4CDB-92E9-618FA52FFB7F}"/>
                  </a:ext>
                </a:extLst>
              </p:cNvPr>
              <p:cNvSpPr/>
              <p:nvPr/>
            </p:nvSpPr>
            <p:spPr>
              <a:xfrm rot="5400000">
                <a:off x="2051720" y="414908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2" name="円弧 31">
                <a:extLst>
                  <a:ext uri="{FF2B5EF4-FFF2-40B4-BE49-F238E27FC236}">
                    <a16:creationId xmlns:a16="http://schemas.microsoft.com/office/drawing/2014/main" id="{0B6FD42D-DE01-43AC-AFEB-5B091652A5BA}"/>
                  </a:ext>
                </a:extLst>
              </p:cNvPr>
              <p:cNvSpPr/>
              <p:nvPr/>
            </p:nvSpPr>
            <p:spPr>
              <a:xfrm rot="5400000">
                <a:off x="2051720" y="378904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D702F7E4-E275-4984-BC17-0240621EAC4F}"/>
                  </a:ext>
                </a:extLst>
              </p:cNvPr>
              <p:cNvCxnSpPr>
                <a:stCxn id="29" idx="6"/>
                <a:endCxn id="31" idx="0"/>
              </p:cNvCxnSpPr>
              <p:nvPr/>
            </p:nvCxnSpPr>
            <p:spPr>
              <a:xfrm>
                <a:off x="3131840" y="3789040"/>
                <a:ext cx="0" cy="10801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CC8B486C-029C-4598-B201-4F4A27068967}"/>
                  </a:ext>
                </a:extLst>
              </p:cNvPr>
              <p:cNvCxnSpPr>
                <a:stCxn id="29" idx="2"/>
                <a:endCxn id="31" idx="2"/>
              </p:cNvCxnSpPr>
              <p:nvPr/>
            </p:nvCxnSpPr>
            <p:spPr>
              <a:xfrm>
                <a:off x="1691680" y="3789040"/>
                <a:ext cx="1253" cy="1101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CCA10BAA-9C8A-41AF-9807-C0A87BACA1B3}"/>
                </a:ext>
              </a:extLst>
            </p:cNvPr>
            <p:cNvCxnSpPr>
              <a:stCxn id="26" idx="2"/>
              <a:endCxn id="29" idx="0"/>
            </p:cNvCxnSpPr>
            <p:nvPr/>
          </p:nvCxnSpPr>
          <p:spPr>
            <a:xfrm rot="16200000" flipH="1">
              <a:off x="6827739" y="2473181"/>
              <a:ext cx="349349" cy="266143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FD309767-AF0A-45B0-B7BC-ACACF8C947EA}"/>
              </a:ext>
            </a:extLst>
          </p:cNvPr>
          <p:cNvGrpSpPr/>
          <p:nvPr/>
        </p:nvGrpSpPr>
        <p:grpSpPr>
          <a:xfrm>
            <a:off x="8109460" y="4852665"/>
            <a:ext cx="490583" cy="1152128"/>
            <a:chOff x="6444208" y="1196752"/>
            <a:chExt cx="950505" cy="2232248"/>
          </a:xfrm>
        </p:grpSpPr>
        <p:pic>
          <p:nvPicPr>
            <p:cNvPr id="36" name="Picture 2" descr="パソコンを使う会社員のイラスト（男性・笑顔）">
              <a:extLst>
                <a:ext uri="{FF2B5EF4-FFF2-40B4-BE49-F238E27FC236}">
                  <a16:creationId xmlns:a16="http://schemas.microsoft.com/office/drawing/2014/main" id="{D5D5D167-DD18-49C2-A2C5-3888F7DD5D7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1196752"/>
              <a:ext cx="850267" cy="12348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37" name="グループ化 36">
              <a:extLst>
                <a:ext uri="{FF2B5EF4-FFF2-40B4-BE49-F238E27FC236}">
                  <a16:creationId xmlns:a16="http://schemas.microsoft.com/office/drawing/2014/main" id="{2822E9E9-6138-437A-8175-ABD16FAC12C4}"/>
                </a:ext>
              </a:extLst>
            </p:cNvPr>
            <p:cNvGrpSpPr/>
            <p:nvPr/>
          </p:nvGrpSpPr>
          <p:grpSpPr>
            <a:xfrm>
              <a:off x="6876256" y="2780928"/>
              <a:ext cx="518457" cy="648072"/>
              <a:chOff x="1691680" y="3429000"/>
              <a:chExt cx="1440160" cy="1800200"/>
            </a:xfrm>
          </p:grpSpPr>
          <p:sp>
            <p:nvSpPr>
              <p:cNvPr id="39" name="楕円 38">
                <a:extLst>
                  <a:ext uri="{FF2B5EF4-FFF2-40B4-BE49-F238E27FC236}">
                    <a16:creationId xmlns:a16="http://schemas.microsoft.com/office/drawing/2014/main" id="{5F13744A-6116-4846-B0D9-F3FF975164BF}"/>
                  </a:ext>
                </a:extLst>
              </p:cNvPr>
              <p:cNvSpPr/>
              <p:nvPr/>
            </p:nvSpPr>
            <p:spPr>
              <a:xfrm>
                <a:off x="1691680" y="3429000"/>
                <a:ext cx="1440160" cy="720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0" name="円弧 39">
                <a:extLst>
                  <a:ext uri="{FF2B5EF4-FFF2-40B4-BE49-F238E27FC236}">
                    <a16:creationId xmlns:a16="http://schemas.microsoft.com/office/drawing/2014/main" id="{CA4CF78A-6CD3-45CE-8139-6E3C8E613B93}"/>
                  </a:ext>
                </a:extLst>
              </p:cNvPr>
              <p:cNvSpPr/>
              <p:nvPr/>
            </p:nvSpPr>
            <p:spPr>
              <a:xfrm rot="5400000">
                <a:off x="2051720" y="342900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1" name="円弧 40">
                <a:extLst>
                  <a:ext uri="{FF2B5EF4-FFF2-40B4-BE49-F238E27FC236}">
                    <a16:creationId xmlns:a16="http://schemas.microsoft.com/office/drawing/2014/main" id="{DC8E5618-0F24-43DC-8F1F-AA27D736663F}"/>
                  </a:ext>
                </a:extLst>
              </p:cNvPr>
              <p:cNvSpPr/>
              <p:nvPr/>
            </p:nvSpPr>
            <p:spPr>
              <a:xfrm rot="5400000">
                <a:off x="2051720" y="414908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42" name="円弧 41">
                <a:extLst>
                  <a:ext uri="{FF2B5EF4-FFF2-40B4-BE49-F238E27FC236}">
                    <a16:creationId xmlns:a16="http://schemas.microsoft.com/office/drawing/2014/main" id="{9ABDBB62-056F-4B00-BAB1-A33FAE912820}"/>
                  </a:ext>
                </a:extLst>
              </p:cNvPr>
              <p:cNvSpPr/>
              <p:nvPr/>
            </p:nvSpPr>
            <p:spPr>
              <a:xfrm rot="5400000">
                <a:off x="2051720" y="378904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43" name="直線コネクタ 42">
                <a:extLst>
                  <a:ext uri="{FF2B5EF4-FFF2-40B4-BE49-F238E27FC236}">
                    <a16:creationId xmlns:a16="http://schemas.microsoft.com/office/drawing/2014/main" id="{BD6504D7-E2FA-4A3B-A6A0-6F9D3FE8732C}"/>
                  </a:ext>
                </a:extLst>
              </p:cNvPr>
              <p:cNvCxnSpPr>
                <a:stCxn id="39" idx="6"/>
                <a:endCxn id="41" idx="0"/>
              </p:cNvCxnSpPr>
              <p:nvPr/>
            </p:nvCxnSpPr>
            <p:spPr>
              <a:xfrm>
                <a:off x="3131840" y="3789040"/>
                <a:ext cx="0" cy="10801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直線コネクタ 43">
                <a:extLst>
                  <a:ext uri="{FF2B5EF4-FFF2-40B4-BE49-F238E27FC236}">
                    <a16:creationId xmlns:a16="http://schemas.microsoft.com/office/drawing/2014/main" id="{5F795983-332F-4552-A0E6-231B7FE43091}"/>
                  </a:ext>
                </a:extLst>
              </p:cNvPr>
              <p:cNvCxnSpPr>
                <a:stCxn id="39" idx="2"/>
                <a:endCxn id="41" idx="2"/>
              </p:cNvCxnSpPr>
              <p:nvPr/>
            </p:nvCxnSpPr>
            <p:spPr>
              <a:xfrm>
                <a:off x="1691680" y="3789040"/>
                <a:ext cx="1253" cy="1101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84740668-3DA2-44EE-B2F0-6A0412FA4442}"/>
                </a:ext>
              </a:extLst>
            </p:cNvPr>
            <p:cNvCxnSpPr>
              <a:stCxn id="36" idx="2"/>
              <a:endCxn id="39" idx="0"/>
            </p:cNvCxnSpPr>
            <p:nvPr/>
          </p:nvCxnSpPr>
          <p:spPr>
            <a:xfrm rot="16200000" flipH="1">
              <a:off x="6827739" y="2473181"/>
              <a:ext cx="349349" cy="266143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2F1D8103-4BF3-4EF7-AE84-053210E877C5}"/>
              </a:ext>
            </a:extLst>
          </p:cNvPr>
          <p:cNvGrpSpPr/>
          <p:nvPr/>
        </p:nvGrpSpPr>
        <p:grpSpPr>
          <a:xfrm>
            <a:off x="7225173" y="4119637"/>
            <a:ext cx="512057" cy="1152128"/>
            <a:chOff x="4427984" y="692696"/>
            <a:chExt cx="864096" cy="1944216"/>
          </a:xfrm>
        </p:grpSpPr>
        <p:pic>
          <p:nvPicPr>
            <p:cNvPr id="46" name="Picture 4" descr="サーバのイラスト（グレー）">
              <a:extLst>
                <a:ext uri="{FF2B5EF4-FFF2-40B4-BE49-F238E27FC236}">
                  <a16:creationId xmlns:a16="http://schemas.microsoft.com/office/drawing/2014/main" id="{23036A4B-166E-491A-BA2F-C259FE47347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7984" y="692696"/>
              <a:ext cx="654501" cy="996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47" name="グループ化 46">
              <a:extLst>
                <a:ext uri="{FF2B5EF4-FFF2-40B4-BE49-F238E27FC236}">
                  <a16:creationId xmlns:a16="http://schemas.microsoft.com/office/drawing/2014/main" id="{D3BC2235-E711-42C8-8582-82B5DE2B3E17}"/>
                </a:ext>
              </a:extLst>
            </p:cNvPr>
            <p:cNvGrpSpPr/>
            <p:nvPr/>
          </p:nvGrpSpPr>
          <p:grpSpPr>
            <a:xfrm>
              <a:off x="4773623" y="1988840"/>
              <a:ext cx="518457" cy="648072"/>
              <a:chOff x="1691680" y="3429000"/>
              <a:chExt cx="1440160" cy="1800200"/>
            </a:xfrm>
          </p:grpSpPr>
          <p:sp>
            <p:nvSpPr>
              <p:cNvPr id="49" name="楕円 48">
                <a:extLst>
                  <a:ext uri="{FF2B5EF4-FFF2-40B4-BE49-F238E27FC236}">
                    <a16:creationId xmlns:a16="http://schemas.microsoft.com/office/drawing/2014/main" id="{E7877DAC-80A0-45F2-8FBB-42E14A2BF859}"/>
                  </a:ext>
                </a:extLst>
              </p:cNvPr>
              <p:cNvSpPr/>
              <p:nvPr/>
            </p:nvSpPr>
            <p:spPr>
              <a:xfrm>
                <a:off x="1691680" y="3429000"/>
                <a:ext cx="1440160" cy="720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0" name="円弧 49">
                <a:extLst>
                  <a:ext uri="{FF2B5EF4-FFF2-40B4-BE49-F238E27FC236}">
                    <a16:creationId xmlns:a16="http://schemas.microsoft.com/office/drawing/2014/main" id="{8F4B2439-5CBB-4C31-A237-AA7204E8D831}"/>
                  </a:ext>
                </a:extLst>
              </p:cNvPr>
              <p:cNvSpPr/>
              <p:nvPr/>
            </p:nvSpPr>
            <p:spPr>
              <a:xfrm rot="5400000">
                <a:off x="2051720" y="342900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1" name="円弧 50">
                <a:extLst>
                  <a:ext uri="{FF2B5EF4-FFF2-40B4-BE49-F238E27FC236}">
                    <a16:creationId xmlns:a16="http://schemas.microsoft.com/office/drawing/2014/main" id="{08FB8644-C421-4297-8612-623CD9D376CA}"/>
                  </a:ext>
                </a:extLst>
              </p:cNvPr>
              <p:cNvSpPr/>
              <p:nvPr/>
            </p:nvSpPr>
            <p:spPr>
              <a:xfrm rot="5400000">
                <a:off x="2051720" y="414908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52" name="円弧 51">
                <a:extLst>
                  <a:ext uri="{FF2B5EF4-FFF2-40B4-BE49-F238E27FC236}">
                    <a16:creationId xmlns:a16="http://schemas.microsoft.com/office/drawing/2014/main" id="{761A5B42-AFE7-4D4C-A938-C587B366FC91}"/>
                  </a:ext>
                </a:extLst>
              </p:cNvPr>
              <p:cNvSpPr/>
              <p:nvPr/>
            </p:nvSpPr>
            <p:spPr>
              <a:xfrm rot="5400000">
                <a:off x="2051720" y="378904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53" name="直線コネクタ 52">
                <a:extLst>
                  <a:ext uri="{FF2B5EF4-FFF2-40B4-BE49-F238E27FC236}">
                    <a16:creationId xmlns:a16="http://schemas.microsoft.com/office/drawing/2014/main" id="{16334CA6-B85A-49AC-B88F-73F98B52C773}"/>
                  </a:ext>
                </a:extLst>
              </p:cNvPr>
              <p:cNvCxnSpPr>
                <a:stCxn id="49" idx="6"/>
                <a:endCxn id="51" idx="0"/>
              </p:cNvCxnSpPr>
              <p:nvPr/>
            </p:nvCxnSpPr>
            <p:spPr>
              <a:xfrm>
                <a:off x="3131840" y="3789040"/>
                <a:ext cx="0" cy="10801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4" name="直線コネクタ 53">
                <a:extLst>
                  <a:ext uri="{FF2B5EF4-FFF2-40B4-BE49-F238E27FC236}">
                    <a16:creationId xmlns:a16="http://schemas.microsoft.com/office/drawing/2014/main" id="{9B7C3D0A-FD3C-4408-BEF6-CCD34471C3A6}"/>
                  </a:ext>
                </a:extLst>
              </p:cNvPr>
              <p:cNvCxnSpPr>
                <a:stCxn id="49" idx="2"/>
                <a:endCxn id="51" idx="2"/>
              </p:cNvCxnSpPr>
              <p:nvPr/>
            </p:nvCxnSpPr>
            <p:spPr>
              <a:xfrm>
                <a:off x="1691680" y="3789040"/>
                <a:ext cx="1253" cy="1101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4BC2203C-1AB7-46D2-9F19-A9540BB43019}"/>
                </a:ext>
              </a:extLst>
            </p:cNvPr>
            <p:cNvCxnSpPr>
              <a:cxnSpLocks/>
              <a:stCxn id="46" idx="2"/>
              <a:endCxn id="49" idx="0"/>
            </p:cNvCxnSpPr>
            <p:nvPr/>
          </p:nvCxnSpPr>
          <p:spPr>
            <a:xfrm rot="16200000" flipH="1">
              <a:off x="4744322" y="1700310"/>
              <a:ext cx="299442" cy="277617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5" name="矢印: 左右 54">
            <a:extLst>
              <a:ext uri="{FF2B5EF4-FFF2-40B4-BE49-F238E27FC236}">
                <a16:creationId xmlns:a16="http://schemas.microsoft.com/office/drawing/2014/main" id="{B920F839-06CD-4789-8CDC-AF6A4CCC0BE7}"/>
              </a:ext>
            </a:extLst>
          </p:cNvPr>
          <p:cNvSpPr/>
          <p:nvPr/>
        </p:nvSpPr>
        <p:spPr>
          <a:xfrm rot="18525137">
            <a:off x="6912757" y="5434805"/>
            <a:ext cx="512093" cy="212202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矢印: 左右 55">
            <a:extLst>
              <a:ext uri="{FF2B5EF4-FFF2-40B4-BE49-F238E27FC236}">
                <a16:creationId xmlns:a16="http://schemas.microsoft.com/office/drawing/2014/main" id="{78CD29E1-F58E-420E-A796-900788882879}"/>
              </a:ext>
            </a:extLst>
          </p:cNvPr>
          <p:cNvSpPr/>
          <p:nvPr/>
        </p:nvSpPr>
        <p:spPr>
          <a:xfrm rot="2700000">
            <a:off x="7741433" y="5425282"/>
            <a:ext cx="512093" cy="212202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矢印: 左右 56">
            <a:extLst>
              <a:ext uri="{FF2B5EF4-FFF2-40B4-BE49-F238E27FC236}">
                <a16:creationId xmlns:a16="http://schemas.microsoft.com/office/drawing/2014/main" id="{A1E3FAB6-07A5-4A6F-8E3E-E00998C438D0}"/>
              </a:ext>
            </a:extLst>
          </p:cNvPr>
          <p:cNvSpPr/>
          <p:nvPr/>
        </p:nvSpPr>
        <p:spPr>
          <a:xfrm>
            <a:off x="7322333" y="5796757"/>
            <a:ext cx="512093" cy="212202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F024A99B-C9F3-4514-9A7A-7C681A9B0E63}"/>
              </a:ext>
            </a:extLst>
          </p:cNvPr>
          <p:cNvSpPr txBox="1"/>
          <p:nvPr/>
        </p:nvSpPr>
        <p:spPr>
          <a:xfrm>
            <a:off x="744453" y="2666529"/>
            <a:ext cx="172354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>
                <a:solidFill>
                  <a:srgbClr val="011893"/>
                </a:solidFill>
              </a:rPr>
              <a:t>ローカル型</a:t>
            </a: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AFFA0C98-10D7-4674-98F4-B579E470BD0F}"/>
              </a:ext>
            </a:extLst>
          </p:cNvPr>
          <p:cNvSpPr txBox="1"/>
          <p:nvPr/>
        </p:nvSpPr>
        <p:spPr>
          <a:xfrm>
            <a:off x="2904693" y="2666529"/>
            <a:ext cx="357020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>
                <a:solidFill>
                  <a:srgbClr val="011893"/>
                </a:solidFill>
              </a:rPr>
              <a:t>クライアント・サーバ</a:t>
            </a:r>
            <a:r>
              <a:rPr kumimoji="1" lang="ja-JP" altLang="en-US" sz="2400">
                <a:solidFill>
                  <a:srgbClr val="011893"/>
                </a:solidFill>
              </a:rPr>
              <a:t>型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A17157E4-932A-4FDE-8150-5EEAB59962A3}"/>
              </a:ext>
            </a:extLst>
          </p:cNvPr>
          <p:cNvSpPr txBox="1"/>
          <p:nvPr/>
        </p:nvSpPr>
        <p:spPr>
          <a:xfrm>
            <a:off x="6924074" y="266652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>
                <a:solidFill>
                  <a:srgbClr val="011893"/>
                </a:solidFill>
              </a:rPr>
              <a:t>分散</a:t>
            </a:r>
            <a:r>
              <a:rPr kumimoji="1" lang="ja-JP" altLang="en-US" sz="2400">
                <a:solidFill>
                  <a:srgbClr val="011893"/>
                </a:solidFill>
              </a:rPr>
              <a:t>型</a:t>
            </a:r>
          </a:p>
        </p:txBody>
      </p: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752DA943-F9B7-4A8E-A74F-0C0E041C331D}"/>
              </a:ext>
            </a:extLst>
          </p:cNvPr>
          <p:cNvSpPr txBox="1"/>
          <p:nvPr/>
        </p:nvSpPr>
        <p:spPr>
          <a:xfrm>
            <a:off x="600437" y="3356992"/>
            <a:ext cx="216024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/>
              <a:t>SCCS, RCS</a:t>
            </a:r>
            <a:r>
              <a:rPr kumimoji="1" lang="ja-JP" altLang="en-US" sz="2400"/>
              <a:t>等</a:t>
            </a: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E37E1F93-9043-4BC6-8F8D-6BA9B8943268}"/>
              </a:ext>
            </a:extLst>
          </p:cNvPr>
          <p:cNvSpPr txBox="1"/>
          <p:nvPr/>
        </p:nvSpPr>
        <p:spPr>
          <a:xfrm>
            <a:off x="3131840" y="3356992"/>
            <a:ext cx="28691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/>
              <a:t>CVS, Subversion</a:t>
            </a:r>
            <a:r>
              <a:rPr kumimoji="1" lang="ja-JP" altLang="en-US" sz="2400"/>
              <a:t>等</a:t>
            </a: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9D363899-A7FC-4E9D-AD43-261DDBD4D19A}"/>
              </a:ext>
            </a:extLst>
          </p:cNvPr>
          <p:cNvSpPr txBox="1"/>
          <p:nvPr/>
        </p:nvSpPr>
        <p:spPr>
          <a:xfrm>
            <a:off x="6433085" y="3356992"/>
            <a:ext cx="252028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/>
              <a:t>Mercurial, Git</a:t>
            </a:r>
            <a:r>
              <a:rPr kumimoji="1" lang="ja-JP" altLang="en-US" sz="2400"/>
              <a:t>等</a:t>
            </a:r>
          </a:p>
        </p:txBody>
      </p:sp>
      <p:sp>
        <p:nvSpPr>
          <p:cNvPr id="64" name="テキスト ボックス 63">
            <a:extLst>
              <a:ext uri="{FF2B5EF4-FFF2-40B4-BE49-F238E27FC236}">
                <a16:creationId xmlns:a16="http://schemas.microsoft.com/office/drawing/2014/main" id="{FA25A780-2CA3-4027-BE4A-611196902836}"/>
              </a:ext>
            </a:extLst>
          </p:cNvPr>
          <p:cNvSpPr txBox="1"/>
          <p:nvPr/>
        </p:nvSpPr>
        <p:spPr>
          <a:xfrm>
            <a:off x="1691680" y="1484784"/>
            <a:ext cx="57246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歴史的に大きく分けると、以下の三種類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9775169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1A2EF49-74C7-49F0-828F-8FF4889D9D4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バージョン管理システム</a:t>
            </a:r>
            <a:r>
              <a:rPr lang="ja-JP" altLang="en-US"/>
              <a:t>の歴史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881EA0F-7786-4E41-A61D-C603875E2FA7}"/>
              </a:ext>
            </a:extLst>
          </p:cNvPr>
          <p:cNvSpPr txBox="1"/>
          <p:nvPr/>
        </p:nvSpPr>
        <p:spPr>
          <a:xfrm>
            <a:off x="107504" y="1340768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第一期：ローカル型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7B937C7-B814-4DB7-8D79-4B0FC856121A}"/>
              </a:ext>
            </a:extLst>
          </p:cNvPr>
          <p:cNvSpPr txBox="1"/>
          <p:nvPr/>
        </p:nvSpPr>
        <p:spPr>
          <a:xfrm>
            <a:off x="1331640" y="2636912"/>
            <a:ext cx="633670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/>
              <a:t>(</a:t>
            </a:r>
            <a:r>
              <a:rPr lang="ja-JP" altLang="en-US" sz="2000"/>
              <a:t>おそらく</a:t>
            </a:r>
            <a:r>
              <a:rPr lang="en-US" sz="2000"/>
              <a:t>)</a:t>
            </a:r>
            <a:r>
              <a:rPr lang="ja-JP" altLang="en-US" sz="2000"/>
              <a:t>世界初の</a:t>
            </a:r>
            <a:r>
              <a:rPr lang="en-US" altLang="ja-JP" sz="2000"/>
              <a:t>VCS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/>
              <a:t>IBM System/370</a:t>
            </a:r>
            <a:r>
              <a:rPr lang="ja-JP" altLang="en-US" sz="2000"/>
              <a:t>向けに開発、後に</a:t>
            </a:r>
            <a:r>
              <a:rPr lang="en-US" sz="2000"/>
              <a:t>PDP-11</a:t>
            </a:r>
            <a:r>
              <a:rPr lang="ja-JP" altLang="en-US" sz="2000"/>
              <a:t>へ移植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複数のバージョンを一つのファイルに保存</a:t>
            </a:r>
            <a:endParaRPr lang="en-US" sz="20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1471547-30A6-45CE-8495-5A3A7A5A9900}"/>
              </a:ext>
            </a:extLst>
          </p:cNvPr>
          <p:cNvSpPr txBox="1"/>
          <p:nvPr/>
        </p:nvSpPr>
        <p:spPr>
          <a:xfrm>
            <a:off x="539552" y="2132856"/>
            <a:ext cx="63979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1992</a:t>
            </a:r>
            <a:r>
              <a:rPr lang="ja-JP" altLang="en-US" sz="2400"/>
              <a:t>年 </a:t>
            </a:r>
            <a:r>
              <a:rPr lang="en-US" altLang="ja-JP" sz="2400"/>
              <a:t>Source Code Control System (SCCS)</a:t>
            </a:r>
            <a:endParaRPr lang="en-US" sz="2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0862BF6A-3CF3-466B-98AE-F8164EF34BCD}"/>
              </a:ext>
            </a:extLst>
          </p:cNvPr>
          <p:cNvSpPr txBox="1"/>
          <p:nvPr/>
        </p:nvSpPr>
        <p:spPr>
          <a:xfrm>
            <a:off x="539552" y="3759423"/>
            <a:ext cx="557716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1982</a:t>
            </a:r>
            <a:r>
              <a:rPr lang="ja-JP" altLang="en-US" sz="2400"/>
              <a:t>年 </a:t>
            </a:r>
            <a:r>
              <a:rPr lang="en-US" altLang="ja-JP" sz="2400"/>
              <a:t>Revision Control System (RCS)</a:t>
            </a:r>
            <a:endParaRPr 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755E7F45-0AC7-47A7-BD1C-EEC6C3771437}"/>
              </a:ext>
            </a:extLst>
          </p:cNvPr>
          <p:cNvSpPr txBox="1"/>
          <p:nvPr/>
        </p:nvSpPr>
        <p:spPr>
          <a:xfrm>
            <a:off x="1331640" y="4293096"/>
            <a:ext cx="63367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バージョン管理はファイル単位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ファイルを修正する時に「チェックアウト」する</a:t>
            </a:r>
            <a:endParaRPr lang="en-US" altLang="ja-JP" sz="2000"/>
          </a:p>
        </p:txBody>
      </p:sp>
      <p:pic>
        <p:nvPicPr>
          <p:cNvPr id="8" name="Picture 2" descr="パソコンを使う会社員のイラスト（男性・笑顔）">
            <a:extLst>
              <a:ext uri="{FF2B5EF4-FFF2-40B4-BE49-F238E27FC236}">
                <a16:creationId xmlns:a16="http://schemas.microsoft.com/office/drawing/2014/main" id="{D59F2A65-49F8-44E6-B4F9-B3C34AEE67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8344" y="1340768"/>
            <a:ext cx="850267" cy="1234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5701F918-F8F3-40FA-B659-F2D7ADC7B115}"/>
              </a:ext>
            </a:extLst>
          </p:cNvPr>
          <p:cNvGrpSpPr/>
          <p:nvPr/>
        </p:nvGrpSpPr>
        <p:grpSpPr>
          <a:xfrm>
            <a:off x="8100392" y="2924944"/>
            <a:ext cx="518457" cy="648072"/>
            <a:chOff x="1691680" y="3429000"/>
            <a:chExt cx="1440160" cy="1800200"/>
          </a:xfrm>
        </p:grpSpPr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7911265A-1019-4889-89AF-F651716D2BEB}"/>
                </a:ext>
              </a:extLst>
            </p:cNvPr>
            <p:cNvSpPr/>
            <p:nvPr/>
          </p:nvSpPr>
          <p:spPr>
            <a:xfrm>
              <a:off x="1691680" y="3429000"/>
              <a:ext cx="1440160" cy="720080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1" name="円弧 10">
              <a:extLst>
                <a:ext uri="{FF2B5EF4-FFF2-40B4-BE49-F238E27FC236}">
                  <a16:creationId xmlns:a16="http://schemas.microsoft.com/office/drawing/2014/main" id="{C339D0F6-6C8E-4640-90D5-2A8255E8726C}"/>
                </a:ext>
              </a:extLst>
            </p:cNvPr>
            <p:cNvSpPr/>
            <p:nvPr/>
          </p:nvSpPr>
          <p:spPr>
            <a:xfrm rot="5400000">
              <a:off x="2051720" y="3429000"/>
              <a:ext cx="720080" cy="1440160"/>
            </a:xfrm>
            <a:prstGeom prst="arc">
              <a:avLst>
                <a:gd name="adj1" fmla="val 16200000"/>
                <a:gd name="adj2" fmla="val 529850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2" name="円弧 11">
              <a:extLst>
                <a:ext uri="{FF2B5EF4-FFF2-40B4-BE49-F238E27FC236}">
                  <a16:creationId xmlns:a16="http://schemas.microsoft.com/office/drawing/2014/main" id="{9246626F-5088-477C-B76C-9454A41D4063}"/>
                </a:ext>
              </a:extLst>
            </p:cNvPr>
            <p:cNvSpPr/>
            <p:nvPr/>
          </p:nvSpPr>
          <p:spPr>
            <a:xfrm rot="5400000">
              <a:off x="2051720" y="4149080"/>
              <a:ext cx="720080" cy="1440160"/>
            </a:xfrm>
            <a:prstGeom prst="arc">
              <a:avLst>
                <a:gd name="adj1" fmla="val 16200000"/>
                <a:gd name="adj2" fmla="val 529850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3" name="円弧 12">
              <a:extLst>
                <a:ext uri="{FF2B5EF4-FFF2-40B4-BE49-F238E27FC236}">
                  <a16:creationId xmlns:a16="http://schemas.microsoft.com/office/drawing/2014/main" id="{B8FD1E77-6B9B-472F-B83C-E748BC59D2F7}"/>
                </a:ext>
              </a:extLst>
            </p:cNvPr>
            <p:cNvSpPr/>
            <p:nvPr/>
          </p:nvSpPr>
          <p:spPr>
            <a:xfrm rot="5400000">
              <a:off x="2051720" y="3789040"/>
              <a:ext cx="720080" cy="1440160"/>
            </a:xfrm>
            <a:prstGeom prst="arc">
              <a:avLst>
                <a:gd name="adj1" fmla="val 16200000"/>
                <a:gd name="adj2" fmla="val 5298501"/>
              </a:avLst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AC4416CD-76B2-4DEB-A142-C67E9A448FF6}"/>
                </a:ext>
              </a:extLst>
            </p:cNvPr>
            <p:cNvCxnSpPr>
              <a:stCxn id="10" idx="6"/>
              <a:endCxn id="12" idx="0"/>
            </p:cNvCxnSpPr>
            <p:nvPr/>
          </p:nvCxnSpPr>
          <p:spPr>
            <a:xfrm>
              <a:off x="3131840" y="3789040"/>
              <a:ext cx="0" cy="108012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21B6FD3-0689-4A08-8FD2-64203A5FA0A0}"/>
                </a:ext>
              </a:extLst>
            </p:cNvPr>
            <p:cNvCxnSpPr>
              <a:stCxn id="10" idx="2"/>
              <a:endCxn id="12" idx="2"/>
            </p:cNvCxnSpPr>
            <p:nvPr/>
          </p:nvCxnSpPr>
          <p:spPr>
            <a:xfrm>
              <a:off x="1691680" y="3789040"/>
              <a:ext cx="1253" cy="110134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6" name="コネクタ: カギ線 15">
            <a:extLst>
              <a:ext uri="{FF2B5EF4-FFF2-40B4-BE49-F238E27FC236}">
                <a16:creationId xmlns:a16="http://schemas.microsoft.com/office/drawing/2014/main" id="{2846759D-A566-4DBA-B3B9-6AC3A90336B3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rot="16200000" flipH="1">
            <a:off x="8051875" y="2617197"/>
            <a:ext cx="349349" cy="266143"/>
          </a:xfrm>
          <a:prstGeom prst="bentConnector3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E0CC027-25C8-4509-9901-4BFB68A51B35}"/>
              </a:ext>
            </a:extLst>
          </p:cNvPr>
          <p:cNvSpPr txBox="1"/>
          <p:nvPr/>
        </p:nvSpPr>
        <p:spPr>
          <a:xfrm>
            <a:off x="539552" y="5301208"/>
            <a:ext cx="6120680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 sz="2000"/>
              <a:t>ファイル修正時にロックをかける</a:t>
            </a:r>
            <a:r>
              <a:rPr lang="en-US" altLang="ja-JP" sz="2000"/>
              <a:t>(</a:t>
            </a:r>
            <a:r>
              <a:rPr lang="ja-JP" altLang="en-US" sz="2000"/>
              <a:t>排他制御</a:t>
            </a:r>
            <a:r>
              <a:rPr lang="en-US" altLang="ja-JP" sz="2000"/>
              <a:t>)</a:t>
            </a:r>
          </a:p>
          <a:p>
            <a:r>
              <a:rPr lang="ja-JP" altLang="en-US" sz="2000"/>
              <a:t>→ 複数の人が同時に編集できない</a:t>
            </a:r>
            <a:endParaRPr lang="en-US" altLang="ja-JP" sz="2000"/>
          </a:p>
          <a:p>
            <a:r>
              <a:rPr lang="ja-JP" altLang="en-US" sz="2000"/>
              <a:t>管理がファイル単位</a:t>
            </a:r>
            <a:endParaRPr lang="en-US" altLang="ja-JP" sz="2000"/>
          </a:p>
          <a:p>
            <a:r>
              <a:rPr lang="ja-JP" altLang="en-US" sz="2000"/>
              <a:t>→プロジェクトとして管理できない</a:t>
            </a: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40545609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65601C97-7578-4E0D-9D00-3469DCCB387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バージョン管理システム</a:t>
            </a:r>
            <a:r>
              <a:rPr lang="ja-JP" altLang="en-US"/>
              <a:t>の歴史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E4AD8A1-C592-40C8-B711-C98C8E08B705}"/>
              </a:ext>
            </a:extLst>
          </p:cNvPr>
          <p:cNvSpPr txBox="1"/>
          <p:nvPr/>
        </p:nvSpPr>
        <p:spPr>
          <a:xfrm>
            <a:off x="176019" y="1196752"/>
            <a:ext cx="634019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第二期：クライアント・サーバ型</a:t>
            </a:r>
            <a:endParaRPr lang="en-US" sz="3200">
              <a:solidFill>
                <a:srgbClr val="011893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C2C2527-F9A3-4067-8A9C-8C17A116FD19}"/>
              </a:ext>
            </a:extLst>
          </p:cNvPr>
          <p:cNvSpPr txBox="1"/>
          <p:nvPr/>
        </p:nvSpPr>
        <p:spPr>
          <a:xfrm>
            <a:off x="1331640" y="2636912"/>
            <a:ext cx="6336704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000"/>
              <a:t>RCS</a:t>
            </a:r>
            <a:r>
              <a:rPr lang="ja-JP" altLang="en-US" sz="2000"/>
              <a:t>のフロントエンド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リモートリポジトリを導入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複数の人が同時に修正可能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>
                <a:solidFill>
                  <a:srgbClr val="FF0000"/>
                </a:solidFill>
              </a:rPr>
              <a:t>「マージ」の導入</a:t>
            </a:r>
            <a:endParaRPr lang="en-US" altLang="ja-JP" sz="2000">
              <a:solidFill>
                <a:srgbClr val="FF0000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740B0C9-2D87-403E-8C24-8BA4C63247C4}"/>
              </a:ext>
            </a:extLst>
          </p:cNvPr>
          <p:cNvSpPr txBox="1"/>
          <p:nvPr/>
        </p:nvSpPr>
        <p:spPr>
          <a:xfrm>
            <a:off x="580937" y="2060848"/>
            <a:ext cx="593527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1986</a:t>
            </a:r>
            <a:r>
              <a:rPr lang="ja-JP" altLang="en-US" sz="2400"/>
              <a:t>年 </a:t>
            </a:r>
            <a:r>
              <a:rPr lang="en-US" altLang="ja-JP" sz="2400"/>
              <a:t>Concurrent Version System (CVS)</a:t>
            </a:r>
            <a:endParaRPr lang="en-US" sz="2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26104897-D0F8-4D7F-97B0-A626AA8C4939}"/>
              </a:ext>
            </a:extLst>
          </p:cNvPr>
          <p:cNvSpPr txBox="1"/>
          <p:nvPr/>
        </p:nvSpPr>
        <p:spPr>
          <a:xfrm>
            <a:off x="539552" y="4005064"/>
            <a:ext cx="28055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2000</a:t>
            </a:r>
            <a:r>
              <a:rPr lang="ja-JP" altLang="en-US" sz="2400"/>
              <a:t>年 </a:t>
            </a:r>
            <a:r>
              <a:rPr lang="en-US" altLang="ja-JP" sz="2400"/>
              <a:t>Subversion</a:t>
            </a:r>
            <a:endParaRPr 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A7E2772D-3E45-40E3-BAFE-352B39409482}"/>
              </a:ext>
            </a:extLst>
          </p:cNvPr>
          <p:cNvSpPr txBox="1"/>
          <p:nvPr/>
        </p:nvSpPr>
        <p:spPr>
          <a:xfrm>
            <a:off x="1331640" y="4509120"/>
            <a:ext cx="72728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ファイル名変更やディレクトリの管理をサポート</a:t>
            </a:r>
            <a:endParaRPr lang="en-US" altLang="ja-JP" sz="20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プロジェクト全体にバージョン番号</a:t>
            </a:r>
            <a:r>
              <a:rPr lang="en-US" altLang="ja-JP" sz="2000"/>
              <a:t>(</a:t>
            </a:r>
            <a:r>
              <a:rPr lang="ja-JP" altLang="en-US" sz="2000"/>
              <a:t>リビジョン</a:t>
            </a:r>
            <a:r>
              <a:rPr lang="en-US" altLang="ja-JP" sz="2000"/>
              <a:t>)</a:t>
            </a:r>
            <a:r>
              <a:rPr lang="ja-JP" altLang="en-US" sz="2000"/>
              <a:t>を付与</a:t>
            </a:r>
            <a:endParaRPr lang="en-US" altLang="ja-JP" sz="2000"/>
          </a:p>
        </p:txBody>
      </p:sp>
      <p:pic>
        <p:nvPicPr>
          <p:cNvPr id="8" name="Picture 2" descr="パソコンを使う会社員のイラスト（男性・笑顔）">
            <a:extLst>
              <a:ext uri="{FF2B5EF4-FFF2-40B4-BE49-F238E27FC236}">
                <a16:creationId xmlns:a16="http://schemas.microsoft.com/office/drawing/2014/main" id="{8386C44E-D20C-43AC-9C67-9A685F36D64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28184" y="2636912"/>
            <a:ext cx="850267" cy="12348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8B3CD51A-40AA-424D-9D99-20156982049A}"/>
              </a:ext>
            </a:extLst>
          </p:cNvPr>
          <p:cNvGrpSpPr/>
          <p:nvPr/>
        </p:nvGrpSpPr>
        <p:grpSpPr>
          <a:xfrm>
            <a:off x="7740352" y="2132856"/>
            <a:ext cx="864096" cy="1944216"/>
            <a:chOff x="4427984" y="692696"/>
            <a:chExt cx="864096" cy="1944216"/>
          </a:xfrm>
        </p:grpSpPr>
        <p:pic>
          <p:nvPicPr>
            <p:cNvPr id="10" name="Picture 4" descr="サーバのイラスト（グレー）">
              <a:extLst>
                <a:ext uri="{FF2B5EF4-FFF2-40B4-BE49-F238E27FC236}">
                  <a16:creationId xmlns:a16="http://schemas.microsoft.com/office/drawing/2014/main" id="{46214CEE-96AB-481C-B48E-79931C49878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7984" y="692696"/>
              <a:ext cx="654501" cy="996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3C427FDE-7010-40BF-8C46-86FFCDB62F3B}"/>
                </a:ext>
              </a:extLst>
            </p:cNvPr>
            <p:cNvGrpSpPr/>
            <p:nvPr/>
          </p:nvGrpSpPr>
          <p:grpSpPr>
            <a:xfrm>
              <a:off x="4773623" y="1988840"/>
              <a:ext cx="518457" cy="648072"/>
              <a:chOff x="1691680" y="3429000"/>
              <a:chExt cx="1440160" cy="1800200"/>
            </a:xfrm>
          </p:grpSpPr>
          <p:sp>
            <p:nvSpPr>
              <p:cNvPr id="13" name="楕円 12">
                <a:extLst>
                  <a:ext uri="{FF2B5EF4-FFF2-40B4-BE49-F238E27FC236}">
                    <a16:creationId xmlns:a16="http://schemas.microsoft.com/office/drawing/2014/main" id="{6904B7AE-B5DF-46C9-928D-0947E2ED8FDB}"/>
                  </a:ext>
                </a:extLst>
              </p:cNvPr>
              <p:cNvSpPr/>
              <p:nvPr/>
            </p:nvSpPr>
            <p:spPr>
              <a:xfrm>
                <a:off x="1691680" y="3429000"/>
                <a:ext cx="1440160" cy="720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4" name="円弧 13">
                <a:extLst>
                  <a:ext uri="{FF2B5EF4-FFF2-40B4-BE49-F238E27FC236}">
                    <a16:creationId xmlns:a16="http://schemas.microsoft.com/office/drawing/2014/main" id="{CB6EDEB6-EDCA-42AA-A628-5610823F91EE}"/>
                  </a:ext>
                </a:extLst>
              </p:cNvPr>
              <p:cNvSpPr/>
              <p:nvPr/>
            </p:nvSpPr>
            <p:spPr>
              <a:xfrm rot="5400000">
                <a:off x="2051720" y="342900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5" name="円弧 14">
                <a:extLst>
                  <a:ext uri="{FF2B5EF4-FFF2-40B4-BE49-F238E27FC236}">
                    <a16:creationId xmlns:a16="http://schemas.microsoft.com/office/drawing/2014/main" id="{C0FA15C6-F284-41C2-B023-E3FA62EE4638}"/>
                  </a:ext>
                </a:extLst>
              </p:cNvPr>
              <p:cNvSpPr/>
              <p:nvPr/>
            </p:nvSpPr>
            <p:spPr>
              <a:xfrm rot="5400000">
                <a:off x="2051720" y="414908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6" name="円弧 15">
                <a:extLst>
                  <a:ext uri="{FF2B5EF4-FFF2-40B4-BE49-F238E27FC236}">
                    <a16:creationId xmlns:a16="http://schemas.microsoft.com/office/drawing/2014/main" id="{F6196FFB-36A8-473A-BC21-18BE8B1CC122}"/>
                  </a:ext>
                </a:extLst>
              </p:cNvPr>
              <p:cNvSpPr/>
              <p:nvPr/>
            </p:nvSpPr>
            <p:spPr>
              <a:xfrm rot="5400000">
                <a:off x="2051720" y="378904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a16:creationId xmlns:a16="http://schemas.microsoft.com/office/drawing/2014/main" id="{F2B704CB-257B-4EA3-B8FE-EB918F29B3E8}"/>
                  </a:ext>
                </a:extLst>
              </p:cNvPr>
              <p:cNvCxnSpPr>
                <a:stCxn id="13" idx="6"/>
                <a:endCxn id="15" idx="0"/>
              </p:cNvCxnSpPr>
              <p:nvPr/>
            </p:nvCxnSpPr>
            <p:spPr>
              <a:xfrm>
                <a:off x="3131840" y="3789040"/>
                <a:ext cx="0" cy="10801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線コネクタ 17">
                <a:extLst>
                  <a:ext uri="{FF2B5EF4-FFF2-40B4-BE49-F238E27FC236}">
                    <a16:creationId xmlns:a16="http://schemas.microsoft.com/office/drawing/2014/main" id="{F3657BAC-EF13-418C-8D49-EF091FD5A9E1}"/>
                  </a:ext>
                </a:extLst>
              </p:cNvPr>
              <p:cNvCxnSpPr>
                <a:stCxn id="13" idx="2"/>
                <a:endCxn id="15" idx="2"/>
              </p:cNvCxnSpPr>
              <p:nvPr/>
            </p:nvCxnSpPr>
            <p:spPr>
              <a:xfrm>
                <a:off x="1691680" y="3789040"/>
                <a:ext cx="1253" cy="1101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2" name="コネクタ: カギ線 11">
              <a:extLst>
                <a:ext uri="{FF2B5EF4-FFF2-40B4-BE49-F238E27FC236}">
                  <a16:creationId xmlns:a16="http://schemas.microsoft.com/office/drawing/2014/main" id="{83CFB4EC-0AF5-43E9-A5EB-42F59AE0740F}"/>
                </a:ext>
              </a:extLst>
            </p:cNvPr>
            <p:cNvCxnSpPr>
              <a:cxnSpLocks/>
              <a:stCxn id="10" idx="2"/>
              <a:endCxn id="13" idx="0"/>
            </p:cNvCxnSpPr>
            <p:nvPr/>
          </p:nvCxnSpPr>
          <p:spPr>
            <a:xfrm rot="16200000" flipH="1">
              <a:off x="4744322" y="1700310"/>
              <a:ext cx="299442" cy="277617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19" name="図 18" descr="アイコン&#10;&#10;自動的に生成された説明">
            <a:extLst>
              <a:ext uri="{FF2B5EF4-FFF2-40B4-BE49-F238E27FC236}">
                <a16:creationId xmlns:a16="http://schemas.microsoft.com/office/drawing/2014/main" id="{C0476F43-391E-4C16-866F-58A6E6BCEA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9800000">
            <a:off x="7128008" y="2895499"/>
            <a:ext cx="618136" cy="596573"/>
          </a:xfrm>
          <a:prstGeom prst="rect">
            <a:avLst/>
          </a:prstGeom>
        </p:spPr>
      </p:pic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B070B85E-74E8-49C1-8F2F-9189DD9F1A20}"/>
              </a:ext>
            </a:extLst>
          </p:cNvPr>
          <p:cNvSpPr txBox="1"/>
          <p:nvPr/>
        </p:nvSpPr>
        <p:spPr>
          <a:xfrm>
            <a:off x="611560" y="5445224"/>
            <a:ext cx="612068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 sz="2400"/>
              <a:t>中央集権的なリモートリポジトリ</a:t>
            </a:r>
            <a:endParaRPr lang="en-US" altLang="ja-JP" sz="2400"/>
          </a:p>
          <a:p>
            <a:r>
              <a:rPr lang="ja-JP" altLang="en-US" sz="2400"/>
              <a:t>→ 全ての歴史がリモート側にある</a:t>
            </a:r>
            <a:endParaRPr lang="en-US" altLang="ja-JP" sz="2400"/>
          </a:p>
          <a:p>
            <a:r>
              <a:rPr lang="ja-JP" altLang="en-US" sz="2400"/>
              <a:t>→ 単一障害点になってしまう</a:t>
            </a:r>
            <a:endParaRPr lang="en-US" altLang="ja-JP" sz="2400"/>
          </a:p>
        </p:txBody>
      </p:sp>
    </p:spTree>
    <p:extLst>
      <p:ext uri="{BB962C8B-B14F-4D97-AF65-F5344CB8AC3E}">
        <p14:creationId xmlns:p14="http://schemas.microsoft.com/office/powerpoint/2010/main" val="27302125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69550F3-CD2E-4FA3-B0E3-51677D7DB8A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バージョン管理システム</a:t>
            </a:r>
            <a:r>
              <a:rPr lang="ja-JP" altLang="en-US"/>
              <a:t>の歴史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89D711D-26E4-47D1-B411-014FBB9BBA60}"/>
              </a:ext>
            </a:extLst>
          </p:cNvPr>
          <p:cNvSpPr txBox="1"/>
          <p:nvPr/>
        </p:nvSpPr>
        <p:spPr>
          <a:xfrm>
            <a:off x="176019" y="1196752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>
                <a:solidFill>
                  <a:srgbClr val="011893"/>
                </a:solidFill>
              </a:rPr>
              <a:t>第三期：分散型</a:t>
            </a:r>
            <a:endParaRPr lang="en-US" sz="3200">
              <a:solidFill>
                <a:srgbClr val="011893"/>
              </a:solidFill>
            </a:endParaRPr>
          </a:p>
        </p:txBody>
      </p: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5632CA3D-2044-4CF6-8C1A-AB67109A1DF7}"/>
              </a:ext>
            </a:extLst>
          </p:cNvPr>
          <p:cNvGrpSpPr/>
          <p:nvPr/>
        </p:nvGrpSpPr>
        <p:grpSpPr>
          <a:xfrm>
            <a:off x="6588224" y="1916832"/>
            <a:ext cx="490583" cy="1152128"/>
            <a:chOff x="6444208" y="1196752"/>
            <a:chExt cx="950505" cy="2232248"/>
          </a:xfrm>
        </p:grpSpPr>
        <p:pic>
          <p:nvPicPr>
            <p:cNvPr id="5" name="Picture 2" descr="パソコンを使う会社員のイラスト（男性・笑顔）">
              <a:extLst>
                <a:ext uri="{FF2B5EF4-FFF2-40B4-BE49-F238E27FC236}">
                  <a16:creationId xmlns:a16="http://schemas.microsoft.com/office/drawing/2014/main" id="{3880D59C-E146-4C7E-9BF2-FE768287ECB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1196752"/>
              <a:ext cx="850267" cy="12348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1333653E-07FF-478C-9500-E4850D7E9E84}"/>
                </a:ext>
              </a:extLst>
            </p:cNvPr>
            <p:cNvGrpSpPr/>
            <p:nvPr/>
          </p:nvGrpSpPr>
          <p:grpSpPr>
            <a:xfrm>
              <a:off x="6876256" y="2780928"/>
              <a:ext cx="518457" cy="648072"/>
              <a:chOff x="1691680" y="3429000"/>
              <a:chExt cx="1440160" cy="1800200"/>
            </a:xfrm>
          </p:grpSpPr>
          <p:sp>
            <p:nvSpPr>
              <p:cNvPr id="8" name="楕円 7">
                <a:extLst>
                  <a:ext uri="{FF2B5EF4-FFF2-40B4-BE49-F238E27FC236}">
                    <a16:creationId xmlns:a16="http://schemas.microsoft.com/office/drawing/2014/main" id="{71556117-AEF3-4C88-9021-572D08A4F981}"/>
                  </a:ext>
                </a:extLst>
              </p:cNvPr>
              <p:cNvSpPr/>
              <p:nvPr/>
            </p:nvSpPr>
            <p:spPr>
              <a:xfrm>
                <a:off x="1691680" y="3429000"/>
                <a:ext cx="1440160" cy="720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9" name="円弧 8">
                <a:extLst>
                  <a:ext uri="{FF2B5EF4-FFF2-40B4-BE49-F238E27FC236}">
                    <a16:creationId xmlns:a16="http://schemas.microsoft.com/office/drawing/2014/main" id="{28F3D1AC-66D5-49C5-83C6-392297BA9BCE}"/>
                  </a:ext>
                </a:extLst>
              </p:cNvPr>
              <p:cNvSpPr/>
              <p:nvPr/>
            </p:nvSpPr>
            <p:spPr>
              <a:xfrm rot="5400000">
                <a:off x="2051720" y="342900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0" name="円弧 9">
                <a:extLst>
                  <a:ext uri="{FF2B5EF4-FFF2-40B4-BE49-F238E27FC236}">
                    <a16:creationId xmlns:a16="http://schemas.microsoft.com/office/drawing/2014/main" id="{7DFA1AFE-C567-4FDF-9731-7F7588F893D5}"/>
                  </a:ext>
                </a:extLst>
              </p:cNvPr>
              <p:cNvSpPr/>
              <p:nvPr/>
            </p:nvSpPr>
            <p:spPr>
              <a:xfrm rot="5400000">
                <a:off x="2051720" y="414908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円弧 10">
                <a:extLst>
                  <a:ext uri="{FF2B5EF4-FFF2-40B4-BE49-F238E27FC236}">
                    <a16:creationId xmlns:a16="http://schemas.microsoft.com/office/drawing/2014/main" id="{7BCC32D5-C3B9-434C-AAE4-E4383D0EC641}"/>
                  </a:ext>
                </a:extLst>
              </p:cNvPr>
              <p:cNvSpPr/>
              <p:nvPr/>
            </p:nvSpPr>
            <p:spPr>
              <a:xfrm rot="5400000">
                <a:off x="2051720" y="378904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12" name="直線コネクタ 11">
                <a:extLst>
                  <a:ext uri="{FF2B5EF4-FFF2-40B4-BE49-F238E27FC236}">
                    <a16:creationId xmlns:a16="http://schemas.microsoft.com/office/drawing/2014/main" id="{65402350-5322-4EDF-8871-079755E8EFE4}"/>
                  </a:ext>
                </a:extLst>
              </p:cNvPr>
              <p:cNvCxnSpPr>
                <a:stCxn id="8" idx="6"/>
                <a:endCxn id="10" idx="0"/>
              </p:cNvCxnSpPr>
              <p:nvPr/>
            </p:nvCxnSpPr>
            <p:spPr>
              <a:xfrm>
                <a:off x="3131840" y="3789040"/>
                <a:ext cx="0" cy="10801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6A58DB6C-7157-483A-BAB1-A7702F1CC670}"/>
                  </a:ext>
                </a:extLst>
              </p:cNvPr>
              <p:cNvCxnSpPr>
                <a:stCxn id="8" idx="2"/>
                <a:endCxn id="10" idx="2"/>
              </p:cNvCxnSpPr>
              <p:nvPr/>
            </p:nvCxnSpPr>
            <p:spPr>
              <a:xfrm>
                <a:off x="1691680" y="3789040"/>
                <a:ext cx="1253" cy="1101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" name="コネクタ: カギ線 6">
              <a:extLst>
                <a:ext uri="{FF2B5EF4-FFF2-40B4-BE49-F238E27FC236}">
                  <a16:creationId xmlns:a16="http://schemas.microsoft.com/office/drawing/2014/main" id="{90C27C7C-8D13-42C4-9D94-408159A970DB}"/>
                </a:ext>
              </a:extLst>
            </p:cNvPr>
            <p:cNvCxnSpPr>
              <a:stCxn id="5" idx="2"/>
              <a:endCxn id="8" idx="0"/>
            </p:cNvCxnSpPr>
            <p:nvPr/>
          </p:nvCxnSpPr>
          <p:spPr>
            <a:xfrm rot="16200000" flipH="1">
              <a:off x="6827739" y="2473181"/>
              <a:ext cx="349349" cy="266143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A811DD04-A71A-4D77-A6CD-CE0BC62E5741}"/>
              </a:ext>
            </a:extLst>
          </p:cNvPr>
          <p:cNvGrpSpPr/>
          <p:nvPr/>
        </p:nvGrpSpPr>
        <p:grpSpPr>
          <a:xfrm>
            <a:off x="8378899" y="1821582"/>
            <a:ext cx="490583" cy="1152128"/>
            <a:chOff x="6444208" y="1196752"/>
            <a:chExt cx="950505" cy="2232248"/>
          </a:xfrm>
        </p:grpSpPr>
        <p:pic>
          <p:nvPicPr>
            <p:cNvPr id="15" name="Picture 2" descr="パソコンを使う会社員のイラスト（男性・笑顔）">
              <a:extLst>
                <a:ext uri="{FF2B5EF4-FFF2-40B4-BE49-F238E27FC236}">
                  <a16:creationId xmlns:a16="http://schemas.microsoft.com/office/drawing/2014/main" id="{155F057C-7703-40E0-94E0-1D4E8A03524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444208" y="1196752"/>
              <a:ext cx="850267" cy="123482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0E3E39C4-AAFA-4BE2-AAB6-A0CCE3C9E0B9}"/>
                </a:ext>
              </a:extLst>
            </p:cNvPr>
            <p:cNvGrpSpPr/>
            <p:nvPr/>
          </p:nvGrpSpPr>
          <p:grpSpPr>
            <a:xfrm>
              <a:off x="6876256" y="2780928"/>
              <a:ext cx="518457" cy="648072"/>
              <a:chOff x="1691680" y="3429000"/>
              <a:chExt cx="1440160" cy="1800200"/>
            </a:xfrm>
          </p:grpSpPr>
          <p:sp>
            <p:nvSpPr>
              <p:cNvPr id="18" name="楕円 17">
                <a:extLst>
                  <a:ext uri="{FF2B5EF4-FFF2-40B4-BE49-F238E27FC236}">
                    <a16:creationId xmlns:a16="http://schemas.microsoft.com/office/drawing/2014/main" id="{18DCCFCD-C5DA-42A6-8998-942EBC660891}"/>
                  </a:ext>
                </a:extLst>
              </p:cNvPr>
              <p:cNvSpPr/>
              <p:nvPr/>
            </p:nvSpPr>
            <p:spPr>
              <a:xfrm>
                <a:off x="1691680" y="3429000"/>
                <a:ext cx="1440160" cy="720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9" name="円弧 18">
                <a:extLst>
                  <a:ext uri="{FF2B5EF4-FFF2-40B4-BE49-F238E27FC236}">
                    <a16:creationId xmlns:a16="http://schemas.microsoft.com/office/drawing/2014/main" id="{C9904022-194D-47C3-B4D0-3FC3FA3B9024}"/>
                  </a:ext>
                </a:extLst>
              </p:cNvPr>
              <p:cNvSpPr/>
              <p:nvPr/>
            </p:nvSpPr>
            <p:spPr>
              <a:xfrm rot="5400000">
                <a:off x="2051720" y="342900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0" name="円弧 19">
                <a:extLst>
                  <a:ext uri="{FF2B5EF4-FFF2-40B4-BE49-F238E27FC236}">
                    <a16:creationId xmlns:a16="http://schemas.microsoft.com/office/drawing/2014/main" id="{88C68C04-9505-45D8-BD2E-185C4550F944}"/>
                  </a:ext>
                </a:extLst>
              </p:cNvPr>
              <p:cNvSpPr/>
              <p:nvPr/>
            </p:nvSpPr>
            <p:spPr>
              <a:xfrm rot="5400000">
                <a:off x="2051720" y="414908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1" name="円弧 20">
                <a:extLst>
                  <a:ext uri="{FF2B5EF4-FFF2-40B4-BE49-F238E27FC236}">
                    <a16:creationId xmlns:a16="http://schemas.microsoft.com/office/drawing/2014/main" id="{B05778AD-0708-4064-AD37-E67B1CC86ED8}"/>
                  </a:ext>
                </a:extLst>
              </p:cNvPr>
              <p:cNvSpPr/>
              <p:nvPr/>
            </p:nvSpPr>
            <p:spPr>
              <a:xfrm rot="5400000">
                <a:off x="2051720" y="378904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22" name="直線コネクタ 21">
                <a:extLst>
                  <a:ext uri="{FF2B5EF4-FFF2-40B4-BE49-F238E27FC236}">
                    <a16:creationId xmlns:a16="http://schemas.microsoft.com/office/drawing/2014/main" id="{5050620E-A9DF-49D1-8079-4669043FC23A}"/>
                  </a:ext>
                </a:extLst>
              </p:cNvPr>
              <p:cNvCxnSpPr>
                <a:stCxn id="18" idx="6"/>
                <a:endCxn id="20" idx="0"/>
              </p:cNvCxnSpPr>
              <p:nvPr/>
            </p:nvCxnSpPr>
            <p:spPr>
              <a:xfrm>
                <a:off x="3131840" y="3789040"/>
                <a:ext cx="0" cy="10801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" name="直線コネクタ 22">
                <a:extLst>
                  <a:ext uri="{FF2B5EF4-FFF2-40B4-BE49-F238E27FC236}">
                    <a16:creationId xmlns:a16="http://schemas.microsoft.com/office/drawing/2014/main" id="{DCD21BA8-0EAC-4DF0-9087-1663FF5AF463}"/>
                  </a:ext>
                </a:extLst>
              </p:cNvPr>
              <p:cNvCxnSpPr>
                <a:stCxn id="18" idx="2"/>
                <a:endCxn id="20" idx="2"/>
              </p:cNvCxnSpPr>
              <p:nvPr/>
            </p:nvCxnSpPr>
            <p:spPr>
              <a:xfrm>
                <a:off x="1691680" y="3789040"/>
                <a:ext cx="1253" cy="1101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7" name="コネクタ: カギ線 16">
              <a:extLst>
                <a:ext uri="{FF2B5EF4-FFF2-40B4-BE49-F238E27FC236}">
                  <a16:creationId xmlns:a16="http://schemas.microsoft.com/office/drawing/2014/main" id="{B266E46A-5AC6-4E32-B51A-BE981061ADDA}"/>
                </a:ext>
              </a:extLst>
            </p:cNvPr>
            <p:cNvCxnSpPr>
              <a:stCxn id="15" idx="2"/>
              <a:endCxn id="18" idx="0"/>
            </p:cNvCxnSpPr>
            <p:nvPr/>
          </p:nvCxnSpPr>
          <p:spPr>
            <a:xfrm rot="16200000" flipH="1">
              <a:off x="6827739" y="2473181"/>
              <a:ext cx="349349" cy="266143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918423FE-039A-4B54-9006-C726FE4A3828}"/>
              </a:ext>
            </a:extLst>
          </p:cNvPr>
          <p:cNvGrpSpPr/>
          <p:nvPr/>
        </p:nvGrpSpPr>
        <p:grpSpPr>
          <a:xfrm>
            <a:off x="7494612" y="1088554"/>
            <a:ext cx="512057" cy="1152128"/>
            <a:chOff x="4427984" y="692696"/>
            <a:chExt cx="864096" cy="1944216"/>
          </a:xfrm>
        </p:grpSpPr>
        <p:pic>
          <p:nvPicPr>
            <p:cNvPr id="25" name="Picture 4" descr="サーバのイラスト（グレー）">
              <a:extLst>
                <a:ext uri="{FF2B5EF4-FFF2-40B4-BE49-F238E27FC236}">
                  <a16:creationId xmlns:a16="http://schemas.microsoft.com/office/drawing/2014/main" id="{F928A259-7730-4D29-A9B7-7BF5A7679D1B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27984" y="692696"/>
              <a:ext cx="654501" cy="996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6" name="グループ化 25">
              <a:extLst>
                <a:ext uri="{FF2B5EF4-FFF2-40B4-BE49-F238E27FC236}">
                  <a16:creationId xmlns:a16="http://schemas.microsoft.com/office/drawing/2014/main" id="{0D264867-5F40-4DE5-8FC7-082F9528C57E}"/>
                </a:ext>
              </a:extLst>
            </p:cNvPr>
            <p:cNvGrpSpPr/>
            <p:nvPr/>
          </p:nvGrpSpPr>
          <p:grpSpPr>
            <a:xfrm>
              <a:off x="4773623" y="1988840"/>
              <a:ext cx="518457" cy="648072"/>
              <a:chOff x="1691680" y="3429000"/>
              <a:chExt cx="1440160" cy="1800200"/>
            </a:xfrm>
          </p:grpSpPr>
          <p:sp>
            <p:nvSpPr>
              <p:cNvPr id="28" name="楕円 27">
                <a:extLst>
                  <a:ext uri="{FF2B5EF4-FFF2-40B4-BE49-F238E27FC236}">
                    <a16:creationId xmlns:a16="http://schemas.microsoft.com/office/drawing/2014/main" id="{6C326119-CF2F-4729-B4E9-772EDDC47127}"/>
                  </a:ext>
                </a:extLst>
              </p:cNvPr>
              <p:cNvSpPr/>
              <p:nvPr/>
            </p:nvSpPr>
            <p:spPr>
              <a:xfrm>
                <a:off x="1691680" y="3429000"/>
                <a:ext cx="1440160" cy="720080"/>
              </a:xfrm>
              <a:prstGeom prst="ellipse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9" name="円弧 28">
                <a:extLst>
                  <a:ext uri="{FF2B5EF4-FFF2-40B4-BE49-F238E27FC236}">
                    <a16:creationId xmlns:a16="http://schemas.microsoft.com/office/drawing/2014/main" id="{51D29ABD-547E-4DBD-BF20-817C34085948}"/>
                  </a:ext>
                </a:extLst>
              </p:cNvPr>
              <p:cNvSpPr/>
              <p:nvPr/>
            </p:nvSpPr>
            <p:spPr>
              <a:xfrm rot="5400000">
                <a:off x="2051720" y="342900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0" name="円弧 29">
                <a:extLst>
                  <a:ext uri="{FF2B5EF4-FFF2-40B4-BE49-F238E27FC236}">
                    <a16:creationId xmlns:a16="http://schemas.microsoft.com/office/drawing/2014/main" id="{6A9B8381-1C1E-4C2B-869A-D26AB1169E53}"/>
                  </a:ext>
                </a:extLst>
              </p:cNvPr>
              <p:cNvSpPr/>
              <p:nvPr/>
            </p:nvSpPr>
            <p:spPr>
              <a:xfrm rot="5400000">
                <a:off x="2051720" y="414908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1" name="円弧 30">
                <a:extLst>
                  <a:ext uri="{FF2B5EF4-FFF2-40B4-BE49-F238E27FC236}">
                    <a16:creationId xmlns:a16="http://schemas.microsoft.com/office/drawing/2014/main" id="{57898A1F-5317-45BA-8C03-3751F371389A}"/>
                  </a:ext>
                </a:extLst>
              </p:cNvPr>
              <p:cNvSpPr/>
              <p:nvPr/>
            </p:nvSpPr>
            <p:spPr>
              <a:xfrm rot="5400000">
                <a:off x="2051720" y="3789040"/>
                <a:ext cx="720080" cy="1440160"/>
              </a:xfrm>
              <a:prstGeom prst="arc">
                <a:avLst>
                  <a:gd name="adj1" fmla="val 16200000"/>
                  <a:gd name="adj2" fmla="val 5298501"/>
                </a:avLst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cxnSp>
            <p:nvCxnSpPr>
              <p:cNvPr id="32" name="直線コネクタ 31">
                <a:extLst>
                  <a:ext uri="{FF2B5EF4-FFF2-40B4-BE49-F238E27FC236}">
                    <a16:creationId xmlns:a16="http://schemas.microsoft.com/office/drawing/2014/main" id="{B7BE7512-3DEC-47E3-8F3A-C1EEFD4C3176}"/>
                  </a:ext>
                </a:extLst>
              </p:cNvPr>
              <p:cNvCxnSpPr>
                <a:stCxn id="28" idx="6"/>
                <a:endCxn id="30" idx="0"/>
              </p:cNvCxnSpPr>
              <p:nvPr/>
            </p:nvCxnSpPr>
            <p:spPr>
              <a:xfrm>
                <a:off x="3131840" y="3789040"/>
                <a:ext cx="0" cy="108012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コネクタ 32">
                <a:extLst>
                  <a:ext uri="{FF2B5EF4-FFF2-40B4-BE49-F238E27FC236}">
                    <a16:creationId xmlns:a16="http://schemas.microsoft.com/office/drawing/2014/main" id="{D10B5274-381A-420B-BFF3-9132CB475EE7}"/>
                  </a:ext>
                </a:extLst>
              </p:cNvPr>
              <p:cNvCxnSpPr>
                <a:stCxn id="28" idx="2"/>
                <a:endCxn id="30" idx="2"/>
              </p:cNvCxnSpPr>
              <p:nvPr/>
            </p:nvCxnSpPr>
            <p:spPr>
              <a:xfrm>
                <a:off x="1691680" y="3789040"/>
                <a:ext cx="1253" cy="110134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27" name="コネクタ: カギ線 26">
              <a:extLst>
                <a:ext uri="{FF2B5EF4-FFF2-40B4-BE49-F238E27FC236}">
                  <a16:creationId xmlns:a16="http://schemas.microsoft.com/office/drawing/2014/main" id="{5D696E4B-64B5-46DA-A1D7-C82C8DAA176C}"/>
                </a:ext>
              </a:extLst>
            </p:cNvPr>
            <p:cNvCxnSpPr>
              <a:cxnSpLocks/>
              <a:stCxn id="25" idx="2"/>
              <a:endCxn id="28" idx="0"/>
            </p:cNvCxnSpPr>
            <p:nvPr/>
          </p:nvCxnSpPr>
          <p:spPr>
            <a:xfrm rot="16200000" flipH="1">
              <a:off x="4744322" y="1700310"/>
              <a:ext cx="299442" cy="277617"/>
            </a:xfrm>
            <a:prstGeom prst="bentConnector3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4" name="矢印: 左右 33">
            <a:extLst>
              <a:ext uri="{FF2B5EF4-FFF2-40B4-BE49-F238E27FC236}">
                <a16:creationId xmlns:a16="http://schemas.microsoft.com/office/drawing/2014/main" id="{ACA2BC82-0DA9-4ADE-897E-2C483AAD6245}"/>
              </a:ext>
            </a:extLst>
          </p:cNvPr>
          <p:cNvSpPr/>
          <p:nvPr/>
        </p:nvSpPr>
        <p:spPr>
          <a:xfrm rot="18525137">
            <a:off x="7182196" y="2403722"/>
            <a:ext cx="512093" cy="212202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矢印: 左右 34">
            <a:extLst>
              <a:ext uri="{FF2B5EF4-FFF2-40B4-BE49-F238E27FC236}">
                <a16:creationId xmlns:a16="http://schemas.microsoft.com/office/drawing/2014/main" id="{12375590-A29B-4A56-972E-661C37F2654A}"/>
              </a:ext>
            </a:extLst>
          </p:cNvPr>
          <p:cNvSpPr/>
          <p:nvPr/>
        </p:nvSpPr>
        <p:spPr>
          <a:xfrm rot="2700000">
            <a:off x="8010872" y="2394199"/>
            <a:ext cx="512093" cy="212202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6" name="矢印: 左右 35">
            <a:extLst>
              <a:ext uri="{FF2B5EF4-FFF2-40B4-BE49-F238E27FC236}">
                <a16:creationId xmlns:a16="http://schemas.microsoft.com/office/drawing/2014/main" id="{F048BB1F-1A2D-4E0C-BA7E-BDB0181C706B}"/>
              </a:ext>
            </a:extLst>
          </p:cNvPr>
          <p:cNvSpPr/>
          <p:nvPr/>
        </p:nvSpPr>
        <p:spPr>
          <a:xfrm>
            <a:off x="7591772" y="2765674"/>
            <a:ext cx="512093" cy="212202"/>
          </a:xfrm>
          <a:prstGeom prst="left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3714E88A-39A8-471D-B957-3EC0F3A6CA27}"/>
              </a:ext>
            </a:extLst>
          </p:cNvPr>
          <p:cNvSpPr txBox="1"/>
          <p:nvPr/>
        </p:nvSpPr>
        <p:spPr>
          <a:xfrm>
            <a:off x="580937" y="2276872"/>
            <a:ext cx="26164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/>
              <a:t>2000</a:t>
            </a:r>
            <a:r>
              <a:rPr lang="ja-JP" altLang="en-US" sz="2400"/>
              <a:t>年 </a:t>
            </a:r>
            <a:r>
              <a:rPr lang="en-US" altLang="ja-JP" sz="2400"/>
              <a:t>BitKeeper</a:t>
            </a:r>
            <a:endParaRPr lang="en-US" sz="240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DF27A330-F456-406D-BB0F-FF8B8C94FAA7}"/>
              </a:ext>
            </a:extLst>
          </p:cNvPr>
          <p:cNvSpPr txBox="1"/>
          <p:nvPr/>
        </p:nvSpPr>
        <p:spPr>
          <a:xfrm>
            <a:off x="971600" y="2780928"/>
            <a:ext cx="62646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/>
              <a:t>ローカルに全ての情報がある</a:t>
            </a:r>
            <a:r>
              <a:rPr lang="en-US" altLang="ja-JP" sz="2000"/>
              <a:t>(</a:t>
            </a:r>
            <a:r>
              <a:rPr lang="ja-JP" altLang="en-US" sz="2000"/>
              <a:t>分散型</a:t>
            </a:r>
            <a:r>
              <a:rPr lang="en-US" altLang="ja-JP" sz="2000"/>
              <a:t>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000"/>
              <a:t>Linux</a:t>
            </a:r>
            <a:r>
              <a:rPr lang="ja-JP" altLang="en-US" sz="2000"/>
              <a:t>カーネル開発に使われた</a:t>
            </a:r>
            <a:r>
              <a:rPr lang="ja-JP" altLang="en-US" sz="2000">
                <a:solidFill>
                  <a:srgbClr val="FF0000"/>
                </a:solidFill>
              </a:rPr>
              <a:t>商用ソフトウェア</a:t>
            </a:r>
            <a:endParaRPr lang="en-US" altLang="ja-JP" sz="2000">
              <a:solidFill>
                <a:srgbClr val="FF0000"/>
              </a:solidFill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A91A993D-DDCA-4FE6-AEA6-FC0DFB21AC2F}"/>
              </a:ext>
            </a:extLst>
          </p:cNvPr>
          <p:cNvSpPr txBox="1"/>
          <p:nvPr/>
        </p:nvSpPr>
        <p:spPr>
          <a:xfrm>
            <a:off x="539552" y="3573016"/>
            <a:ext cx="16562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/>
              <a:t>2005</a:t>
            </a:r>
            <a:r>
              <a:rPr lang="ja-JP" altLang="en-US" sz="2400"/>
              <a:t>年 </a:t>
            </a:r>
            <a:r>
              <a:rPr lang="en-US" altLang="ja-JP" sz="2400"/>
              <a:t>Git</a:t>
            </a:r>
            <a:endParaRPr lang="en-US" sz="2400"/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34A26388-1F82-4AE8-8119-DE8C0B5D01C1}"/>
              </a:ext>
            </a:extLst>
          </p:cNvPr>
          <p:cNvSpPr txBox="1"/>
          <p:nvPr/>
        </p:nvSpPr>
        <p:spPr>
          <a:xfrm>
            <a:off x="971600" y="4149080"/>
            <a:ext cx="763284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一部の</a:t>
            </a:r>
            <a:r>
              <a:rPr lang="en-US" altLang="ja-JP" sz="2000" dirty="0"/>
              <a:t>Linux</a:t>
            </a:r>
            <a:r>
              <a:rPr lang="ja-JP" altLang="en-US" sz="2000" dirty="0"/>
              <a:t>開発者が</a:t>
            </a:r>
            <a:r>
              <a:rPr lang="en-US" altLang="ja-JP" sz="2000" dirty="0" err="1"/>
              <a:t>BitKeeper</a:t>
            </a:r>
            <a:r>
              <a:rPr lang="ja-JP" altLang="en-US" sz="2000" dirty="0"/>
              <a:t>をリバースエンジニアリング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000" dirty="0" err="1"/>
              <a:t>BitKeeper</a:t>
            </a:r>
            <a:r>
              <a:rPr lang="ja-JP" altLang="en-US" sz="2000" dirty="0"/>
              <a:t>を使えなくなった</a:t>
            </a:r>
            <a:r>
              <a:rPr lang="en-US" altLang="ja-JP" sz="2000"/>
              <a:t>Linus</a:t>
            </a:r>
            <a:r>
              <a:rPr lang="ja-JP" altLang="en-US" sz="2000"/>
              <a:t>が</a:t>
            </a:r>
            <a:r>
              <a:rPr lang="en-US" altLang="ja-JP" sz="2000" dirty="0"/>
              <a:t>Git</a:t>
            </a:r>
            <a:r>
              <a:rPr lang="ja-JP" altLang="en-US" sz="2000" dirty="0"/>
              <a:t>を開発</a:t>
            </a:r>
            <a:endParaRPr lang="en-US" altLang="ja-JP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000" dirty="0"/>
              <a:t>高速なブランチ切り替えやマージ</a:t>
            </a:r>
            <a:endParaRPr lang="en-US" altLang="ja-JP" sz="2000" dirty="0"/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136718B-D278-4481-A8C0-DE67BCD1620B}"/>
              </a:ext>
            </a:extLst>
          </p:cNvPr>
          <p:cNvSpPr txBox="1"/>
          <p:nvPr/>
        </p:nvSpPr>
        <p:spPr>
          <a:xfrm>
            <a:off x="539552" y="5445224"/>
            <a:ext cx="6120680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ja-JP" altLang="en-US" sz="2400"/>
              <a:t>全てのリポジトリが完全な履歴を持つ</a:t>
            </a:r>
            <a:endParaRPr lang="en-US" altLang="ja-JP" sz="2400"/>
          </a:p>
          <a:p>
            <a:r>
              <a:rPr lang="ja-JP" altLang="en-US" sz="2400"/>
              <a:t>リモートとローカルの歴史の整合性を取る</a:t>
            </a:r>
            <a:endParaRPr lang="en-US" altLang="ja-JP" sz="2400"/>
          </a:p>
        </p:txBody>
      </p:sp>
    </p:spTree>
    <p:extLst>
      <p:ext uri="{BB962C8B-B14F-4D97-AF65-F5344CB8AC3E}">
        <p14:creationId xmlns:p14="http://schemas.microsoft.com/office/powerpoint/2010/main" val="6786612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BBC416D5-DB63-4A46-9197-D93BD9A2F91D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バージョン管理システム</a:t>
            </a:r>
            <a:r>
              <a:rPr lang="ja-JP" altLang="en-US"/>
              <a:t>の歴史</a:t>
            </a:r>
            <a:endParaRPr kumimoji="1" lang="ja-JP" altLang="en-US"/>
          </a:p>
        </p:txBody>
      </p:sp>
      <p:pic>
        <p:nvPicPr>
          <p:cNvPr id="4" name="図 3" descr="グラフ, 折れ線グラフ&#10;&#10;自動的に生成された説明">
            <a:extLst>
              <a:ext uri="{FF2B5EF4-FFF2-40B4-BE49-F238E27FC236}">
                <a16:creationId xmlns:a16="http://schemas.microsoft.com/office/drawing/2014/main" id="{466AC1BF-3571-4BC4-A37F-B8EFE4E1EB8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3689" y="1628800"/>
            <a:ext cx="4968552" cy="3603631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6ECCFC1-C4C9-4B37-A33D-A4C88FD35EA4}"/>
              </a:ext>
            </a:extLst>
          </p:cNvPr>
          <p:cNvSpPr txBox="1"/>
          <p:nvPr/>
        </p:nvSpPr>
        <p:spPr>
          <a:xfrm>
            <a:off x="5580112" y="5301208"/>
            <a:ext cx="2941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Eclipse Community Survey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5673283-72CA-45D6-8889-CA6CB98DC1FC}"/>
              </a:ext>
            </a:extLst>
          </p:cNvPr>
          <p:cNvSpPr txBox="1"/>
          <p:nvPr/>
        </p:nvSpPr>
        <p:spPr>
          <a:xfrm>
            <a:off x="539552" y="980728"/>
            <a:ext cx="423866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/>
              <a:t>Subversion</a:t>
            </a:r>
            <a:r>
              <a:rPr lang="ja-JP" altLang="en-US" sz="2800"/>
              <a:t>と</a:t>
            </a:r>
            <a:r>
              <a:rPr lang="en-US" altLang="ja-JP" sz="2800"/>
              <a:t>Git</a:t>
            </a:r>
            <a:r>
              <a:rPr lang="ja-JP" altLang="en-US" sz="2800"/>
              <a:t>のシェア</a:t>
            </a:r>
            <a:endParaRPr lang="en-US" sz="28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E315141B-943B-4880-BA87-C4953D35B6B7}"/>
              </a:ext>
            </a:extLst>
          </p:cNvPr>
          <p:cNvSpPr txBox="1"/>
          <p:nvPr/>
        </p:nvSpPr>
        <p:spPr>
          <a:xfrm>
            <a:off x="395536" y="3212976"/>
            <a:ext cx="12362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利用率</a:t>
            </a:r>
            <a:r>
              <a:rPr lang="en-US" altLang="ja-JP"/>
              <a:t>(%)</a:t>
            </a:r>
            <a:endParaRPr 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821ED85-5E9A-4E9A-8B61-FEB607980209}"/>
              </a:ext>
            </a:extLst>
          </p:cNvPr>
          <p:cNvSpPr txBox="1"/>
          <p:nvPr/>
        </p:nvSpPr>
        <p:spPr>
          <a:xfrm>
            <a:off x="323528" y="5733256"/>
            <a:ext cx="71865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2018</a:t>
            </a:r>
            <a:r>
              <a:rPr lang="ja-JP" altLang="en-US"/>
              <a:t>年の</a:t>
            </a:r>
            <a:r>
              <a:rPr lang="en-US" altLang="ja-JP"/>
              <a:t>Stackoverflow Survey</a:t>
            </a:r>
            <a:r>
              <a:rPr lang="ja-JP" altLang="en-US"/>
              <a:t>では、</a:t>
            </a:r>
            <a:r>
              <a:rPr lang="en-US" altLang="ja-JP"/>
              <a:t>Git 87.2%</a:t>
            </a:r>
            <a:r>
              <a:rPr lang="ja-JP" altLang="en-US"/>
              <a:t>、</a:t>
            </a:r>
            <a:r>
              <a:rPr lang="en-US" altLang="ja-JP"/>
              <a:t>Subversion 16.1%</a:t>
            </a:r>
            <a:endParaRPr lang="en-US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70005BE-90E9-48FB-A3F0-D09A196F2785}"/>
              </a:ext>
            </a:extLst>
          </p:cNvPr>
          <p:cNvSpPr txBox="1"/>
          <p:nvPr/>
        </p:nvSpPr>
        <p:spPr>
          <a:xfrm>
            <a:off x="1115616" y="6237312"/>
            <a:ext cx="617027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現在、</a:t>
            </a:r>
            <a:r>
              <a:rPr lang="en-US" sz="2000"/>
              <a:t>VCS</a:t>
            </a:r>
            <a:r>
              <a:rPr lang="ja-JP" altLang="en-US" sz="2000"/>
              <a:t>としては</a:t>
            </a:r>
            <a:r>
              <a:rPr lang="en-US" altLang="ja-JP" sz="2000"/>
              <a:t>Git</a:t>
            </a:r>
            <a:r>
              <a:rPr lang="ja-JP" altLang="en-US" sz="2000"/>
              <a:t>が大きなシェアを持っている</a:t>
            </a:r>
            <a:endParaRPr lang="en-US" sz="2000"/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165AF3C2-7B09-4E55-B919-4B6283CD8CA8}"/>
              </a:ext>
            </a:extLst>
          </p:cNvPr>
          <p:cNvSpPr/>
          <p:nvPr/>
        </p:nvSpPr>
        <p:spPr>
          <a:xfrm>
            <a:off x="467544" y="6165304"/>
            <a:ext cx="610630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04435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448473B5-DEF5-4849-B0A6-BFA9F127BE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バージョン管理システム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D78AA88-30DC-466E-9FD8-58596E4C34F4}"/>
              </a:ext>
            </a:extLst>
          </p:cNvPr>
          <p:cNvSpPr txBox="1"/>
          <p:nvPr/>
        </p:nvSpPr>
        <p:spPr>
          <a:xfrm>
            <a:off x="395536" y="2060848"/>
            <a:ext cx="736611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バージョン管理システム導入の二大メリット</a:t>
            </a:r>
            <a:endParaRPr lang="en-US" sz="280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0533BD44-31C9-4916-B8F0-DBA5030371E4}"/>
              </a:ext>
            </a:extLst>
          </p:cNvPr>
          <p:cNvSpPr/>
          <p:nvPr/>
        </p:nvSpPr>
        <p:spPr>
          <a:xfrm>
            <a:off x="4572000" y="1268760"/>
            <a:ext cx="914400" cy="612648"/>
          </a:xfrm>
          <a:prstGeom prst="wedgeRectCallout">
            <a:avLst>
              <a:gd name="adj1" fmla="val 44792"/>
              <a:gd name="adj2" fmla="val 79602"/>
            </a:avLst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>
                <a:solidFill>
                  <a:schemeClr val="tx1"/>
                </a:solidFill>
              </a:rPr>
              <a:t>渡辺が考える</a:t>
            </a:r>
            <a:endParaRPr kumimoji="1" lang="en-US">
              <a:solidFill>
                <a:schemeClr val="tx1"/>
              </a:solidFill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EA884F7-8809-4908-8CCC-00D05F29B1E4}"/>
              </a:ext>
            </a:extLst>
          </p:cNvPr>
          <p:cNvSpPr txBox="1"/>
          <p:nvPr/>
        </p:nvSpPr>
        <p:spPr>
          <a:xfrm>
            <a:off x="971600" y="3429000"/>
            <a:ext cx="26468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バックアップ</a:t>
            </a:r>
            <a:endParaRPr lang="en-US" sz="32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36ADA8-E163-4FBB-B9E4-38A1471B01A8}"/>
              </a:ext>
            </a:extLst>
          </p:cNvPr>
          <p:cNvSpPr txBox="1"/>
          <p:nvPr/>
        </p:nvSpPr>
        <p:spPr>
          <a:xfrm>
            <a:off x="5724128" y="3429000"/>
            <a:ext cx="18261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履歴保存</a:t>
            </a:r>
            <a:endParaRPr lang="en-US" sz="3200"/>
          </a:p>
        </p:txBody>
      </p:sp>
      <p:pic>
        <p:nvPicPr>
          <p:cNvPr id="1026" name="Picture 2" descr="金庫のイラスト">
            <a:extLst>
              <a:ext uri="{FF2B5EF4-FFF2-40B4-BE49-F238E27FC236}">
                <a16:creationId xmlns:a16="http://schemas.microsoft.com/office/drawing/2014/main" id="{FEA6BB1E-576C-4C4D-9BE0-9081A79D2E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1600" y="4077072"/>
            <a:ext cx="2625080" cy="21525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歪む時間のイラスト">
            <a:extLst>
              <a:ext uri="{FF2B5EF4-FFF2-40B4-BE49-F238E27FC236}">
                <a16:creationId xmlns:a16="http://schemas.microsoft.com/office/drawing/2014/main" id="{17979437-0265-459B-A2D0-39F4D3437E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4077072"/>
            <a:ext cx="2081808" cy="20818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946836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D9022E18-1ED6-887E-1E48-9D46E688232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kumimoji="1" lang="ja-JP" altLang="en-US"/>
              <a:t>バックアップ</a:t>
            </a:r>
          </a:p>
        </p:txBody>
      </p:sp>
      <p:pic>
        <p:nvPicPr>
          <p:cNvPr id="1026" name="Picture 2" descr="壊れたノートパソコンのイラスト">
            <a:extLst>
              <a:ext uri="{FF2B5EF4-FFF2-40B4-BE49-F238E27FC236}">
                <a16:creationId xmlns:a16="http://schemas.microsoft.com/office/drawing/2014/main" id="{6A673049-AA79-BE24-1E3F-E7B7C0A915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809195"/>
            <a:ext cx="2060062" cy="21799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CF5905F-94B7-1777-9A01-D8BFD1704938}"/>
              </a:ext>
            </a:extLst>
          </p:cNvPr>
          <p:cNvSpPr txBox="1"/>
          <p:nvPr/>
        </p:nvSpPr>
        <p:spPr>
          <a:xfrm>
            <a:off x="2627784" y="1772816"/>
            <a:ext cx="444865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作業中の</a:t>
            </a:r>
            <a:r>
              <a:rPr lang="en-US" altLang="ja-JP" sz="3200" dirty="0"/>
              <a:t>PC</a:t>
            </a:r>
            <a:r>
              <a:rPr lang="ja-JP" altLang="en-US" sz="3200"/>
              <a:t>が壊れた！</a:t>
            </a:r>
            <a:endParaRPr kumimoji="1" lang="ja-JP" altLang="en-US" sz="3200"/>
          </a:p>
        </p:txBody>
      </p:sp>
      <p:pic>
        <p:nvPicPr>
          <p:cNvPr id="1028" name="Picture 4" descr="てへぺろのイラスト（男性）">
            <a:extLst>
              <a:ext uri="{FF2B5EF4-FFF2-40B4-BE49-F238E27FC236}">
                <a16:creationId xmlns:a16="http://schemas.microsoft.com/office/drawing/2014/main" id="{431B0E86-328A-43BC-22A4-D4EF2FF06A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8184" y="3276533"/>
            <a:ext cx="1370750" cy="19582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35289AA-F7FA-7F6F-3A0A-FC61E75C18CC}"/>
              </a:ext>
            </a:extLst>
          </p:cNvPr>
          <p:cNvSpPr txBox="1"/>
          <p:nvPr/>
        </p:nvSpPr>
        <p:spPr>
          <a:xfrm>
            <a:off x="2393434" y="3717032"/>
            <a:ext cx="675056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間違って古いバージョンで上書き！</a:t>
            </a:r>
            <a:endParaRPr lang="en-US" altLang="ja-JP" sz="3200" dirty="0"/>
          </a:p>
          <a:p>
            <a:r>
              <a:rPr lang="ja-JP" altLang="en-US" sz="3200"/>
              <a:t>作業ミスで消しちゃった！</a:t>
            </a:r>
            <a:endParaRPr kumimoji="1" lang="ja-JP" altLang="en-US" sz="320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E45A1C9F-0F4C-8EFA-98A2-D9042EFB6654}"/>
              </a:ext>
            </a:extLst>
          </p:cNvPr>
          <p:cNvSpPr txBox="1"/>
          <p:nvPr/>
        </p:nvSpPr>
        <p:spPr>
          <a:xfrm>
            <a:off x="107504" y="6029333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重要なファイルの消失により、大きな「手戻り」が発生する</a:t>
            </a:r>
            <a:endParaRPr kumimoji="1" lang="ja-JP" altLang="en-US" sz="2400"/>
          </a:p>
        </p:txBody>
      </p:sp>
    </p:spTree>
    <p:extLst>
      <p:ext uri="{BB962C8B-B14F-4D97-AF65-F5344CB8AC3E}">
        <p14:creationId xmlns:p14="http://schemas.microsoft.com/office/powerpoint/2010/main" val="37340232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A70C189-0855-4AC7-8A02-643269D4AD4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バックアップ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F408377-7388-4CD8-B5BC-2887B47BD6F5}"/>
              </a:ext>
            </a:extLst>
          </p:cNvPr>
          <p:cNvSpPr txBox="1"/>
          <p:nvPr/>
        </p:nvSpPr>
        <p:spPr>
          <a:xfrm>
            <a:off x="2195736" y="5013176"/>
            <a:ext cx="592982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バージョン管理システムとして</a:t>
            </a:r>
            <a:endParaRPr lang="en-US" altLang="ja-JP" sz="3200"/>
          </a:p>
          <a:p>
            <a:r>
              <a:rPr kumimoji="1" lang="en-US" altLang="ja-JP" sz="3200"/>
              <a:t>Git/GitHub</a:t>
            </a:r>
            <a:r>
              <a:rPr kumimoji="1" lang="ja-JP" altLang="en-US" sz="3200"/>
              <a:t>を使うと上記要件を</a:t>
            </a:r>
            <a:endParaRPr kumimoji="1" lang="en-US" altLang="ja-JP" sz="3200"/>
          </a:p>
          <a:p>
            <a:r>
              <a:rPr lang="ja-JP" altLang="en-US" sz="3200"/>
              <a:t>自動的に満たす</a:t>
            </a:r>
            <a:endParaRPr kumimoji="1" lang="ja-JP" altLang="en-US" sz="32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53BCA68-C7C1-4A9E-A626-A1F165C4B688}"/>
              </a:ext>
            </a:extLst>
          </p:cNvPr>
          <p:cNvSpPr txBox="1"/>
          <p:nvPr/>
        </p:nvSpPr>
        <p:spPr>
          <a:xfrm>
            <a:off x="179512" y="1124744"/>
            <a:ext cx="551946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バックアップは</a:t>
            </a:r>
            <a:r>
              <a:rPr kumimoji="1" lang="ja-JP" altLang="en-US" sz="3200">
                <a:solidFill>
                  <a:srgbClr val="011893"/>
                </a:solidFill>
              </a:rPr>
              <a:t>定期的</a:t>
            </a:r>
            <a:r>
              <a:rPr kumimoji="1" lang="ja-JP" altLang="en-US" sz="3200"/>
              <a:t>にとる</a:t>
            </a:r>
            <a:endParaRPr kumimoji="1" lang="en-US" altLang="ja-JP" sz="3200"/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5F6861-1575-4BA7-8C94-14890CA4CE7E}"/>
              </a:ext>
            </a:extLst>
          </p:cNvPr>
          <p:cNvSpPr txBox="1"/>
          <p:nvPr/>
        </p:nvSpPr>
        <p:spPr>
          <a:xfrm>
            <a:off x="971600" y="1844824"/>
            <a:ext cx="757130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バックアップ頻度＝データが飛んだ時の手戻りの時間</a:t>
            </a:r>
            <a:endParaRPr kumimoji="1" lang="en-US" altLang="ja-JP" sz="2400"/>
          </a:p>
          <a:p>
            <a:r>
              <a:rPr lang="ja-JP" altLang="en-US" sz="2400"/>
              <a:t>最低でも毎日バックアップすること</a:t>
            </a:r>
            <a:endParaRPr kumimoji="1" lang="ja-JP" altLang="en-US" sz="240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27C0401-4CC5-48DB-A0F9-652A15EAF35C}"/>
              </a:ext>
            </a:extLst>
          </p:cNvPr>
          <p:cNvSpPr txBox="1"/>
          <p:nvPr/>
        </p:nvSpPr>
        <p:spPr>
          <a:xfrm>
            <a:off x="179512" y="2924944"/>
            <a:ext cx="59298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/>
              <a:t>バックアップは</a:t>
            </a:r>
            <a:r>
              <a:rPr kumimoji="1" lang="ja-JP" altLang="en-US" sz="3200">
                <a:solidFill>
                  <a:srgbClr val="011893"/>
                </a:solidFill>
              </a:rPr>
              <a:t>リモート</a:t>
            </a:r>
            <a:r>
              <a:rPr kumimoji="1" lang="ja-JP" altLang="en-US" sz="3200"/>
              <a:t>にとる</a:t>
            </a:r>
            <a:endParaRPr kumimoji="1" lang="en-US" altLang="ja-JP" sz="32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026D3F4-B4C4-4B82-8990-2B365D20EFB6}"/>
              </a:ext>
            </a:extLst>
          </p:cNvPr>
          <p:cNvSpPr txBox="1"/>
          <p:nvPr/>
        </p:nvSpPr>
        <p:spPr>
          <a:xfrm>
            <a:off x="1043608" y="3645024"/>
            <a:ext cx="646042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自分の</a:t>
            </a:r>
            <a:r>
              <a:rPr kumimoji="1" lang="en-US" altLang="ja-JP" sz="2400" dirty="0"/>
              <a:t>PC</a:t>
            </a:r>
            <a:r>
              <a:rPr kumimoji="1" lang="ja-JP" altLang="en-US" sz="2400"/>
              <a:t>の別フォルダにコピーするのはダメ</a:t>
            </a:r>
            <a:endParaRPr kumimoji="1" lang="en-US" altLang="ja-JP" sz="2400" dirty="0"/>
          </a:p>
          <a:p>
            <a:r>
              <a:rPr lang="en-US" altLang="ja-JP" sz="2400" dirty="0"/>
              <a:t>USB</a:t>
            </a:r>
            <a:r>
              <a:rPr lang="ja-JP" altLang="en-US" sz="2400" err="1"/>
              <a:t>への</a:t>
            </a:r>
            <a:r>
              <a:rPr lang="ja-JP" altLang="en-US" sz="2400"/>
              <a:t>コピーも信用できない</a:t>
            </a:r>
            <a:endParaRPr kumimoji="1" lang="ja-JP" altLang="en-US" sz="2400"/>
          </a:p>
        </p:txBody>
      </p:sp>
      <p:sp>
        <p:nvSpPr>
          <p:cNvPr id="8" name="右矢印 9">
            <a:extLst>
              <a:ext uri="{FF2B5EF4-FFF2-40B4-BE49-F238E27FC236}">
                <a16:creationId xmlns:a16="http://schemas.microsoft.com/office/drawing/2014/main" id="{A1A360C6-5EB0-48CA-BF6F-AC8717D959D9}"/>
              </a:ext>
            </a:extLst>
          </p:cNvPr>
          <p:cNvSpPr/>
          <p:nvPr/>
        </p:nvSpPr>
        <p:spPr>
          <a:xfrm>
            <a:off x="1331640" y="5517232"/>
            <a:ext cx="576064" cy="55664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5135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D820A1F-69B5-4F33-B1E9-8FEBA47018E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履歴保存</a:t>
            </a:r>
            <a:endParaRPr lang="en-US"/>
          </a:p>
        </p:txBody>
      </p:sp>
      <p:pic>
        <p:nvPicPr>
          <p:cNvPr id="3" name="Picture 4" descr="歪む時間のイラスト">
            <a:extLst>
              <a:ext uri="{FF2B5EF4-FFF2-40B4-BE49-F238E27FC236}">
                <a16:creationId xmlns:a16="http://schemas.microsoft.com/office/drawing/2014/main" id="{57D38152-5EB9-448F-8F3F-0AC7CFE139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3528" y="2708920"/>
            <a:ext cx="1505744" cy="15057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3203A2-35CF-4AA4-9E4C-03C95BADDD35}"/>
              </a:ext>
            </a:extLst>
          </p:cNvPr>
          <p:cNvSpPr txBox="1"/>
          <p:nvPr/>
        </p:nvSpPr>
        <p:spPr>
          <a:xfrm>
            <a:off x="539552" y="1484784"/>
            <a:ext cx="69461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バージョン管理システムを使っていると</a:t>
            </a:r>
            <a:r>
              <a:rPr lang="en-US" altLang="ja-JP" sz="2800"/>
              <a:t>...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A458DA1-1C0C-4000-840D-B880C1812F45}"/>
              </a:ext>
            </a:extLst>
          </p:cNvPr>
          <p:cNvSpPr txBox="1"/>
          <p:nvPr/>
        </p:nvSpPr>
        <p:spPr>
          <a:xfrm>
            <a:off x="2051720" y="2852936"/>
            <a:ext cx="657744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kumimoji="1" lang="ja-JP" altLang="en-US" sz="2800"/>
              <a:t>任意の時点に状態を戻すことができる</a:t>
            </a:r>
            <a:endParaRPr kumimoji="1" lang="en-US" altLang="ja-JP" sz="280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ja-JP" altLang="en-US" sz="2800"/>
              <a:t>任意の時点間の差分を確認できる</a:t>
            </a:r>
            <a:endParaRPr lang="en-US" altLang="ja-JP" sz="2800"/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910C5B77-4A31-49E5-80FA-7D37143A3DEB}"/>
              </a:ext>
            </a:extLst>
          </p:cNvPr>
          <p:cNvSpPr/>
          <p:nvPr/>
        </p:nvSpPr>
        <p:spPr>
          <a:xfrm>
            <a:off x="1763688" y="5229200"/>
            <a:ext cx="792088" cy="484632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026D5E82-84F0-43E5-A1D4-4601B0D3F3F1}"/>
              </a:ext>
            </a:extLst>
          </p:cNvPr>
          <p:cNvSpPr txBox="1"/>
          <p:nvPr/>
        </p:nvSpPr>
        <p:spPr>
          <a:xfrm>
            <a:off x="2843808" y="5157192"/>
            <a:ext cx="387798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3200"/>
              <a:t>デバッグ時間の短縮</a:t>
            </a: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33366977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200C318-C00C-4F5C-9FFD-EB5E8E7D43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履歴保存とデバッグ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CB22ABA9-FE85-4C92-A4B5-D7C1FEE470FD}"/>
              </a:ext>
            </a:extLst>
          </p:cNvPr>
          <p:cNvSpPr txBox="1"/>
          <p:nvPr/>
        </p:nvSpPr>
        <p:spPr>
          <a:xfrm>
            <a:off x="539552" y="1124744"/>
            <a:ext cx="7056784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3200"/>
              <a:t>数値計算コードを開発中、</a:t>
            </a:r>
            <a:endParaRPr lang="en-US" altLang="ja-JP" sz="32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ja-JP" altLang="en-US" sz="3200"/>
              <a:t>メインカーネルを修正し</a:t>
            </a:r>
            <a:endParaRPr lang="en-US" altLang="ja-JP" sz="3200"/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ja-JP" altLang="en-US" sz="3200"/>
              <a:t>別のインプットを与えたら</a:t>
            </a:r>
            <a:endParaRPr lang="en-US" altLang="ja-JP" sz="3200"/>
          </a:p>
          <a:p>
            <a:r>
              <a:rPr lang="ja-JP" altLang="en-US" sz="3200"/>
              <a:t>計算に失敗した</a:t>
            </a:r>
            <a:endParaRPr lang="en-US" sz="3200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E5822AE-23C6-40C6-B232-096BB6AD0FFC}"/>
              </a:ext>
            </a:extLst>
          </p:cNvPr>
          <p:cNvSpPr/>
          <p:nvPr/>
        </p:nvSpPr>
        <p:spPr>
          <a:xfrm>
            <a:off x="3707904" y="3603104"/>
            <a:ext cx="1447800" cy="53340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solidFill>
                  <a:srgbClr val="000000"/>
                </a:solidFill>
              </a:rPr>
              <a:t>計算ルーチン</a:t>
            </a:r>
            <a:endParaRPr lang="en-US" altLang="ja-JP" sz="1600" dirty="0">
              <a:solidFill>
                <a:srgbClr val="000000"/>
              </a:solidFill>
            </a:endParaRPr>
          </a:p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(</a:t>
            </a:r>
            <a:r>
              <a:rPr kumimoji="1" lang="ja-JP" altLang="en-US" sz="1600" dirty="0">
                <a:solidFill>
                  <a:srgbClr val="000000"/>
                </a:solidFill>
              </a:rPr>
              <a:t>修正前</a:t>
            </a:r>
            <a:r>
              <a:rPr kumimoji="1" lang="en-US" altLang="ja-JP" sz="1600" dirty="0">
                <a:solidFill>
                  <a:srgbClr val="000000"/>
                </a:solidFill>
              </a:rPr>
              <a:t>)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5" name="角丸四角形 14">
            <a:extLst>
              <a:ext uri="{FF2B5EF4-FFF2-40B4-BE49-F238E27FC236}">
                <a16:creationId xmlns:a16="http://schemas.microsoft.com/office/drawing/2014/main" id="{29328625-2110-445C-9259-62E84ED68C03}"/>
              </a:ext>
            </a:extLst>
          </p:cNvPr>
          <p:cNvSpPr/>
          <p:nvPr/>
        </p:nvSpPr>
        <p:spPr>
          <a:xfrm>
            <a:off x="1331640" y="3601516"/>
            <a:ext cx="1429576" cy="5334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rgbClr val="000000"/>
                </a:solidFill>
              </a:rPr>
              <a:t>インプット</a:t>
            </a:r>
            <a:r>
              <a:rPr kumimoji="1" lang="en-US" altLang="ja-JP" sz="1400" dirty="0">
                <a:solidFill>
                  <a:srgbClr val="000000"/>
                </a:solidFill>
              </a:rPr>
              <a:t> A</a:t>
            </a:r>
            <a:endParaRPr kumimoji="1" lang="ja-JP" altLang="en-US" sz="1400" dirty="0">
              <a:solidFill>
                <a:srgbClr val="000000"/>
              </a:solidFill>
            </a:endParaRP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9F26FE66-0F1A-4586-8C0A-955345E5FBD9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>
            <a:off x="2761216" y="3868216"/>
            <a:ext cx="94668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角丸四角形 19">
            <a:extLst>
              <a:ext uri="{FF2B5EF4-FFF2-40B4-BE49-F238E27FC236}">
                <a16:creationId xmlns:a16="http://schemas.microsoft.com/office/drawing/2014/main" id="{EEF4F6EE-A0C9-48CD-B0DF-2ABD474CF5F5}"/>
              </a:ext>
            </a:extLst>
          </p:cNvPr>
          <p:cNvSpPr/>
          <p:nvPr/>
        </p:nvSpPr>
        <p:spPr>
          <a:xfrm>
            <a:off x="6088186" y="3586018"/>
            <a:ext cx="1143000" cy="533400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33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OK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E7A03EB3-6533-4D62-B9D9-B324A98CB0B8}"/>
              </a:ext>
            </a:extLst>
          </p:cNvPr>
          <p:cNvSpPr/>
          <p:nvPr/>
        </p:nvSpPr>
        <p:spPr>
          <a:xfrm>
            <a:off x="3707904" y="4365104"/>
            <a:ext cx="1447800" cy="533400"/>
          </a:xfrm>
          <a:prstGeom prst="rect">
            <a:avLst/>
          </a:prstGeom>
          <a:solidFill>
            <a:srgbClr val="92D050"/>
          </a:solidFill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solidFill>
                  <a:srgbClr val="000000"/>
                </a:solidFill>
              </a:rPr>
              <a:t>計算ルーチン</a:t>
            </a:r>
            <a:endParaRPr lang="en-US" altLang="ja-JP" sz="1600" dirty="0">
              <a:solidFill>
                <a:srgbClr val="000000"/>
              </a:solidFill>
            </a:endParaRPr>
          </a:p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(</a:t>
            </a:r>
            <a:r>
              <a:rPr kumimoji="1" lang="ja-JP" altLang="en-US" sz="1600" dirty="0">
                <a:solidFill>
                  <a:srgbClr val="000000"/>
                </a:solidFill>
              </a:rPr>
              <a:t>修正版</a:t>
            </a:r>
            <a:r>
              <a:rPr kumimoji="1" lang="en-US" altLang="ja-JP" sz="1600" dirty="0">
                <a:solidFill>
                  <a:srgbClr val="000000"/>
                </a:solidFill>
              </a:rPr>
              <a:t>)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9" name="角丸四角形 25">
            <a:extLst>
              <a:ext uri="{FF2B5EF4-FFF2-40B4-BE49-F238E27FC236}">
                <a16:creationId xmlns:a16="http://schemas.microsoft.com/office/drawing/2014/main" id="{0253854F-42EB-4C1F-AD2F-391B4F174421}"/>
              </a:ext>
            </a:extLst>
          </p:cNvPr>
          <p:cNvSpPr/>
          <p:nvPr/>
        </p:nvSpPr>
        <p:spPr>
          <a:xfrm>
            <a:off x="1331640" y="4363516"/>
            <a:ext cx="1429576" cy="533400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rgbClr val="000000"/>
                </a:solidFill>
              </a:rPr>
              <a:t>インプット</a:t>
            </a:r>
            <a:r>
              <a:rPr kumimoji="1" lang="en-US" altLang="ja-JP" sz="1400" dirty="0">
                <a:solidFill>
                  <a:srgbClr val="000000"/>
                </a:solidFill>
              </a:rPr>
              <a:t>B</a:t>
            </a:r>
            <a:endParaRPr kumimoji="1" lang="ja-JP" altLang="en-US" sz="1400" dirty="0">
              <a:solidFill>
                <a:srgbClr val="000000"/>
              </a:solidFill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C4DFE0F9-E1E8-4345-85A7-0BD33C0B07C9}"/>
              </a:ext>
            </a:extLst>
          </p:cNvPr>
          <p:cNvCxnSpPr>
            <a:cxnSpLocks/>
            <a:stCxn id="9" idx="3"/>
            <a:endCxn id="8" idx="1"/>
          </p:cNvCxnSpPr>
          <p:nvPr/>
        </p:nvCxnSpPr>
        <p:spPr>
          <a:xfrm>
            <a:off x="2761216" y="4630216"/>
            <a:ext cx="946688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角丸四角形 28">
            <a:extLst>
              <a:ext uri="{FF2B5EF4-FFF2-40B4-BE49-F238E27FC236}">
                <a16:creationId xmlns:a16="http://schemas.microsoft.com/office/drawing/2014/main" id="{2CAF2C6D-FF04-4611-A356-1D1D47D1969D}"/>
              </a:ext>
            </a:extLst>
          </p:cNvPr>
          <p:cNvSpPr/>
          <p:nvPr/>
        </p:nvSpPr>
        <p:spPr>
          <a:xfrm>
            <a:off x="6095935" y="4363515"/>
            <a:ext cx="1143000" cy="533400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NG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12" name="右矢印 42">
            <a:extLst>
              <a:ext uri="{FF2B5EF4-FFF2-40B4-BE49-F238E27FC236}">
                <a16:creationId xmlns:a16="http://schemas.microsoft.com/office/drawing/2014/main" id="{07F0079C-EFD1-4A19-B08A-2C004571D88E}"/>
              </a:ext>
            </a:extLst>
          </p:cNvPr>
          <p:cNvSpPr/>
          <p:nvPr/>
        </p:nvSpPr>
        <p:spPr>
          <a:xfrm>
            <a:off x="5389470" y="3707422"/>
            <a:ext cx="441702" cy="30221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00000"/>
              </a:solidFill>
            </a:endParaRPr>
          </a:p>
        </p:txBody>
      </p:sp>
      <p:sp>
        <p:nvSpPr>
          <p:cNvPr id="13" name="右矢印 43">
            <a:extLst>
              <a:ext uri="{FF2B5EF4-FFF2-40B4-BE49-F238E27FC236}">
                <a16:creationId xmlns:a16="http://schemas.microsoft.com/office/drawing/2014/main" id="{A9438E92-0027-4982-A51F-658B3402D884}"/>
              </a:ext>
            </a:extLst>
          </p:cNvPr>
          <p:cNvSpPr/>
          <p:nvPr/>
        </p:nvSpPr>
        <p:spPr>
          <a:xfrm>
            <a:off x="5402385" y="4503001"/>
            <a:ext cx="441702" cy="30221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00000"/>
              </a:solidFill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A490711-7019-480D-A3CD-FE7DA019880D}"/>
              </a:ext>
            </a:extLst>
          </p:cNvPr>
          <p:cNvSpPr txBox="1"/>
          <p:nvPr/>
        </p:nvSpPr>
        <p:spPr>
          <a:xfrm>
            <a:off x="611560" y="5661248"/>
            <a:ext cx="6955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その機能を追加したことによるバグ？</a:t>
            </a:r>
            <a:endParaRPr lang="en-US" altLang="ja-JP" sz="2400"/>
          </a:p>
          <a:p>
            <a:r>
              <a:rPr lang="ja-JP" altLang="en-US" sz="2400"/>
              <a:t>もともとあったバグがインプットにより顕在化？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24985671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977EFE1A-CC71-4E72-99F9-0AC1C00E042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履歴保存とデバッグ</a:t>
            </a:r>
            <a:endParaRPr lang="en-US"/>
          </a:p>
        </p:txBody>
      </p:sp>
      <p:pic>
        <p:nvPicPr>
          <p:cNvPr id="2050" name="Picture 2" descr="徹夜明けのイラスト（男性）">
            <a:extLst>
              <a:ext uri="{FF2B5EF4-FFF2-40B4-BE49-F238E27FC236}">
                <a16:creationId xmlns:a16="http://schemas.microsoft.com/office/drawing/2014/main" id="{D49D1287-00E2-48F6-8EB9-1974847FA2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80112" y="2348880"/>
            <a:ext cx="2376264" cy="23762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19886D4-D3DB-461D-9739-95876B49193E}"/>
              </a:ext>
            </a:extLst>
          </p:cNvPr>
          <p:cNvSpPr txBox="1"/>
          <p:nvPr/>
        </p:nvSpPr>
        <p:spPr>
          <a:xfrm>
            <a:off x="611560" y="1268760"/>
            <a:ext cx="730520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バージョン管理システムを使っていないと</a:t>
            </a:r>
            <a:r>
              <a:rPr lang="en-US" altLang="ja-JP" sz="2800"/>
              <a:t>...</a:t>
            </a:r>
            <a:endParaRPr lang="en-US" sz="280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610D89D-3161-4965-AB95-38AEAE61913E}"/>
              </a:ext>
            </a:extLst>
          </p:cNvPr>
          <p:cNvSpPr txBox="1"/>
          <p:nvPr/>
        </p:nvSpPr>
        <p:spPr>
          <a:xfrm>
            <a:off x="539552" y="4869160"/>
            <a:ext cx="357020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ソースとにらめっこして</a:t>
            </a:r>
            <a:endParaRPr lang="en-US" altLang="ja-JP" sz="2400"/>
          </a:p>
          <a:p>
            <a:r>
              <a:rPr lang="ja-JP" altLang="en-US" sz="2400"/>
              <a:t>気合でデバッグ</a:t>
            </a:r>
            <a:endParaRPr 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456362F-EC49-4B68-8E9D-1D147FEAD8BB}"/>
              </a:ext>
            </a:extLst>
          </p:cNvPr>
          <p:cNvSpPr txBox="1"/>
          <p:nvPr/>
        </p:nvSpPr>
        <p:spPr>
          <a:xfrm>
            <a:off x="5436096" y="4869160"/>
            <a:ext cx="233910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徹夜でなんとか</a:t>
            </a:r>
            <a:endParaRPr lang="en-US" altLang="ja-JP" sz="2400"/>
          </a:p>
          <a:p>
            <a:r>
              <a:rPr lang="ja-JP" altLang="en-US" sz="2400"/>
              <a:t>バグ発見</a:t>
            </a:r>
            <a:endParaRPr lang="en-US" sz="2400"/>
          </a:p>
        </p:txBody>
      </p:sp>
      <p:sp>
        <p:nvSpPr>
          <p:cNvPr id="8" name="右矢印 9">
            <a:extLst>
              <a:ext uri="{FF2B5EF4-FFF2-40B4-BE49-F238E27FC236}">
                <a16:creationId xmlns:a16="http://schemas.microsoft.com/office/drawing/2014/main" id="{5374071A-8631-4C2B-B459-E33B8C61AD29}"/>
              </a:ext>
            </a:extLst>
          </p:cNvPr>
          <p:cNvSpPr/>
          <p:nvPr/>
        </p:nvSpPr>
        <p:spPr>
          <a:xfrm>
            <a:off x="4283968" y="3645024"/>
            <a:ext cx="576064" cy="55664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8D72C34-8A48-4934-BFD8-9BD27345A494}"/>
              </a:ext>
            </a:extLst>
          </p:cNvPr>
          <p:cNvSpPr txBox="1"/>
          <p:nvPr/>
        </p:nvSpPr>
        <p:spPr>
          <a:xfrm>
            <a:off x="395536" y="6165304"/>
            <a:ext cx="813556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000"/>
              <a:t>自分で入れたバグを自分でとっただけで、仕事はなんら進んでいない</a:t>
            </a:r>
            <a:endParaRPr lang="en-US" sz="2000"/>
          </a:p>
        </p:txBody>
      </p:sp>
      <p:pic>
        <p:nvPicPr>
          <p:cNvPr id="10" name="Picture 2" descr="忙しく仕事をしている男性会社員のイラスト">
            <a:extLst>
              <a:ext uri="{FF2B5EF4-FFF2-40B4-BE49-F238E27FC236}">
                <a16:creationId xmlns:a16="http://schemas.microsoft.com/office/drawing/2014/main" id="{B9E27DD0-4DD7-4BFA-8601-9E17DC6597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584" y="2204864"/>
            <a:ext cx="2448272" cy="2191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383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1D3FEE48-FD9F-497A-9E4A-083C8B46B23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履歴保存とデバッグ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82180C4-74CD-484A-A6CD-3C511901FD18}"/>
              </a:ext>
            </a:extLst>
          </p:cNvPr>
          <p:cNvSpPr txBox="1"/>
          <p:nvPr/>
        </p:nvSpPr>
        <p:spPr>
          <a:xfrm>
            <a:off x="179512" y="1340768"/>
            <a:ext cx="694613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800"/>
              <a:t>バージョン管理システムを使っていれば</a:t>
            </a:r>
            <a:r>
              <a:rPr lang="en-US" altLang="ja-JP" sz="2800"/>
              <a:t>...</a:t>
            </a:r>
            <a:endParaRPr lang="en-US" sz="28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5325F62-13F7-47E5-B195-EF64B26A6129}"/>
              </a:ext>
            </a:extLst>
          </p:cNvPr>
          <p:cNvSpPr txBox="1"/>
          <p:nvPr/>
        </p:nvSpPr>
        <p:spPr>
          <a:xfrm>
            <a:off x="611560" y="2204864"/>
            <a:ext cx="76226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修正前のメインカーネルを取得し、</a:t>
            </a:r>
            <a:r>
              <a:rPr lang="en-US" altLang="ja-JP" sz="2400"/>
              <a:t>Input B</a:t>
            </a:r>
            <a:r>
              <a:rPr lang="ja-JP" altLang="en-US" sz="2400"/>
              <a:t>を食わせる</a:t>
            </a:r>
            <a:endParaRPr lang="en-US" altLang="ja-JP" sz="2400"/>
          </a:p>
        </p:txBody>
      </p:sp>
      <p:sp>
        <p:nvSpPr>
          <p:cNvPr id="5" name="角丸四角形 44">
            <a:extLst>
              <a:ext uri="{FF2B5EF4-FFF2-40B4-BE49-F238E27FC236}">
                <a16:creationId xmlns:a16="http://schemas.microsoft.com/office/drawing/2014/main" id="{34FA70B2-ECC8-4444-8030-92425F21DB4F}"/>
              </a:ext>
            </a:extLst>
          </p:cNvPr>
          <p:cNvSpPr/>
          <p:nvPr/>
        </p:nvSpPr>
        <p:spPr>
          <a:xfrm>
            <a:off x="4133750" y="3140968"/>
            <a:ext cx="1143000" cy="533400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33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OK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6" name="角丸四角形 45">
            <a:extLst>
              <a:ext uri="{FF2B5EF4-FFF2-40B4-BE49-F238E27FC236}">
                <a16:creationId xmlns:a16="http://schemas.microsoft.com/office/drawing/2014/main" id="{D99D3F3C-899B-4F4A-A2F3-9BB86F1404AA}"/>
              </a:ext>
            </a:extLst>
          </p:cNvPr>
          <p:cNvSpPr/>
          <p:nvPr/>
        </p:nvSpPr>
        <p:spPr>
          <a:xfrm>
            <a:off x="4156997" y="4174187"/>
            <a:ext cx="1143000" cy="533400"/>
          </a:xfrm>
          <a:prstGeom prst="roundRect">
            <a:avLst>
              <a:gd name="adj" fmla="val 50000"/>
            </a:avLst>
          </a:prstGeom>
          <a:noFill/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NG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7" name="右矢印 46">
            <a:extLst>
              <a:ext uri="{FF2B5EF4-FFF2-40B4-BE49-F238E27FC236}">
                <a16:creationId xmlns:a16="http://schemas.microsoft.com/office/drawing/2014/main" id="{A6A4AFFF-FBE8-4F23-AF86-A8694A666A6B}"/>
              </a:ext>
            </a:extLst>
          </p:cNvPr>
          <p:cNvSpPr/>
          <p:nvPr/>
        </p:nvSpPr>
        <p:spPr>
          <a:xfrm rot="19800000">
            <a:off x="3543521" y="3487097"/>
            <a:ext cx="441702" cy="30221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00000"/>
              </a:solidFill>
            </a:endParaRPr>
          </a:p>
        </p:txBody>
      </p:sp>
      <p:sp>
        <p:nvSpPr>
          <p:cNvPr id="8" name="右矢印 47">
            <a:extLst>
              <a:ext uri="{FF2B5EF4-FFF2-40B4-BE49-F238E27FC236}">
                <a16:creationId xmlns:a16="http://schemas.microsoft.com/office/drawing/2014/main" id="{57691A17-1245-4F73-BBFF-A33C097312E7}"/>
              </a:ext>
            </a:extLst>
          </p:cNvPr>
          <p:cNvSpPr/>
          <p:nvPr/>
        </p:nvSpPr>
        <p:spPr>
          <a:xfrm rot="1800000">
            <a:off x="3556438" y="4104447"/>
            <a:ext cx="441702" cy="302217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>
              <a:solidFill>
                <a:srgbClr val="000000"/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71B61AA1-5D65-4EDB-A16B-2BD733DEC39A}"/>
              </a:ext>
            </a:extLst>
          </p:cNvPr>
          <p:cNvSpPr txBox="1"/>
          <p:nvPr/>
        </p:nvSpPr>
        <p:spPr>
          <a:xfrm>
            <a:off x="5357886" y="3140968"/>
            <a:ext cx="345638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/>
              <a:t>今回の修正でバグが入った</a:t>
            </a: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F593C16-2713-4171-B84E-9FB07804F838}"/>
              </a:ext>
            </a:extLst>
          </p:cNvPr>
          <p:cNvSpPr/>
          <p:nvPr/>
        </p:nvSpPr>
        <p:spPr>
          <a:xfrm>
            <a:off x="1939448" y="3646250"/>
            <a:ext cx="1447800" cy="533400"/>
          </a:xfrm>
          <a:prstGeom prst="rect">
            <a:avLst/>
          </a:prstGeom>
          <a:solidFill>
            <a:schemeClr val="accent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600" dirty="0">
                <a:solidFill>
                  <a:srgbClr val="000000"/>
                </a:solidFill>
              </a:rPr>
              <a:t>計算ルーチン</a:t>
            </a:r>
            <a:endParaRPr lang="en-US" altLang="ja-JP" sz="1600" dirty="0">
              <a:solidFill>
                <a:srgbClr val="000000"/>
              </a:solidFill>
            </a:endParaRPr>
          </a:p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(</a:t>
            </a:r>
            <a:r>
              <a:rPr kumimoji="1" lang="ja-JP" altLang="en-US" sz="1600" dirty="0">
                <a:solidFill>
                  <a:srgbClr val="000000"/>
                </a:solidFill>
              </a:rPr>
              <a:t>修正前</a:t>
            </a:r>
            <a:r>
              <a:rPr kumimoji="1" lang="en-US" altLang="ja-JP" sz="1600" dirty="0">
                <a:solidFill>
                  <a:srgbClr val="000000"/>
                </a:solidFill>
              </a:rPr>
              <a:t>)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11" name="角丸四角形 49">
            <a:extLst>
              <a:ext uri="{FF2B5EF4-FFF2-40B4-BE49-F238E27FC236}">
                <a16:creationId xmlns:a16="http://schemas.microsoft.com/office/drawing/2014/main" id="{2165B7AC-1058-4A7A-AD30-0233DB338733}"/>
              </a:ext>
            </a:extLst>
          </p:cNvPr>
          <p:cNvSpPr/>
          <p:nvPr/>
        </p:nvSpPr>
        <p:spPr>
          <a:xfrm>
            <a:off x="179512" y="3646250"/>
            <a:ext cx="1446179" cy="533400"/>
          </a:xfrm>
          <a:prstGeom prst="roundRect">
            <a:avLst>
              <a:gd name="adj" fmla="val 50000"/>
            </a:avLst>
          </a:prstGeom>
          <a:solidFill>
            <a:srgbClr val="92D050"/>
          </a:solidFill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rgbClr val="000000"/>
                </a:solidFill>
              </a:rPr>
              <a:t>インプット</a:t>
            </a:r>
            <a:r>
              <a:rPr kumimoji="1" lang="en-US" altLang="ja-JP" sz="1400" dirty="0">
                <a:solidFill>
                  <a:srgbClr val="000000"/>
                </a:solidFill>
              </a:rPr>
              <a:t> B</a:t>
            </a:r>
            <a:endParaRPr kumimoji="1" lang="ja-JP" altLang="en-US" sz="1400" dirty="0">
              <a:solidFill>
                <a:srgbClr val="000000"/>
              </a:solidFill>
            </a:endParaRP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AA9E76FD-F344-4EC5-A039-6204A7CE6BF8}"/>
              </a:ext>
            </a:extLst>
          </p:cNvPr>
          <p:cNvCxnSpPr>
            <a:cxnSpLocks/>
            <a:stCxn id="11" idx="3"/>
            <a:endCxn id="10" idx="1"/>
          </p:cNvCxnSpPr>
          <p:nvPr/>
        </p:nvCxnSpPr>
        <p:spPr>
          <a:xfrm>
            <a:off x="1625691" y="3912950"/>
            <a:ext cx="313757" cy="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503A405-9DFC-4FF6-9A75-578E9C1B6A82}"/>
              </a:ext>
            </a:extLst>
          </p:cNvPr>
          <p:cNvSpPr txBox="1"/>
          <p:nvPr/>
        </p:nvSpPr>
        <p:spPr>
          <a:xfrm>
            <a:off x="5328411" y="4241348"/>
            <a:ext cx="377389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/>
              <a:t>もともとあったバグが顕在化</a:t>
            </a:r>
          </a:p>
        </p:txBody>
      </p:sp>
      <p:sp>
        <p:nvSpPr>
          <p:cNvPr id="17" name="右矢印 9">
            <a:extLst>
              <a:ext uri="{FF2B5EF4-FFF2-40B4-BE49-F238E27FC236}">
                <a16:creationId xmlns:a16="http://schemas.microsoft.com/office/drawing/2014/main" id="{D1D6AD44-D757-4A2B-AFB1-4954CF8B3401}"/>
              </a:ext>
            </a:extLst>
          </p:cNvPr>
          <p:cNvSpPr/>
          <p:nvPr/>
        </p:nvSpPr>
        <p:spPr>
          <a:xfrm>
            <a:off x="4139952" y="5733256"/>
            <a:ext cx="576064" cy="556640"/>
          </a:xfrm>
          <a:prstGeom prst="rightArrow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4E2CA68-392D-4A40-9FE7-045483927D05}"/>
              </a:ext>
            </a:extLst>
          </p:cNvPr>
          <p:cNvSpPr txBox="1"/>
          <p:nvPr/>
        </p:nvSpPr>
        <p:spPr>
          <a:xfrm>
            <a:off x="4860032" y="5733256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問題の切り分けが容易</a:t>
            </a:r>
            <a:endParaRPr lang="en-US" sz="2400"/>
          </a:p>
        </p:txBody>
      </p:sp>
      <p:pic>
        <p:nvPicPr>
          <p:cNvPr id="4098" name="Picture 2" descr="音楽を聴きながら仕事をする人のイラスト（男性）">
            <a:extLst>
              <a:ext uri="{FF2B5EF4-FFF2-40B4-BE49-F238E27FC236}">
                <a16:creationId xmlns:a16="http://schemas.microsoft.com/office/drawing/2014/main" id="{103C4736-5FDD-4A72-B62A-D78A4E9998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544" y="4383690"/>
            <a:ext cx="2697088" cy="2467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32465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2BEE732B-6AA1-451B-90FC-3F0794B40FE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履歴保存とデバッグ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9430FD4-39B3-41E0-A364-C1E32F32D39D}"/>
              </a:ext>
            </a:extLst>
          </p:cNvPr>
          <p:cNvSpPr txBox="1"/>
          <p:nvPr/>
        </p:nvSpPr>
        <p:spPr>
          <a:xfrm>
            <a:off x="1547664" y="1052736"/>
            <a:ext cx="54168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昔入れたバグほど、デバッグが</a:t>
            </a:r>
            <a:r>
              <a:rPr kumimoji="1" lang="ja-JP" altLang="en-US" sz="2400"/>
              <a:t>困難に</a:t>
            </a:r>
            <a:endParaRPr lang="en-US" altLang="ja-JP" sz="2400" dirty="0"/>
          </a:p>
          <a:p>
            <a:r>
              <a:rPr kumimoji="1" lang="en-US" altLang="ja-JP" sz="2400"/>
              <a:t>(</a:t>
            </a:r>
            <a:r>
              <a:rPr lang="ja-JP" altLang="en-US" sz="2400" dirty="0"/>
              <a:t>修正内容を忘れているから</a:t>
            </a:r>
            <a:r>
              <a:rPr kumimoji="1" lang="en-US" altLang="ja-JP" sz="2400" dirty="0"/>
              <a:t>)</a:t>
            </a:r>
            <a:endParaRPr lang="en-US" altLang="ja-JP" sz="2400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FE0A2C66-DA01-4EC6-AC1D-DE24B6EE08A9}"/>
              </a:ext>
            </a:extLst>
          </p:cNvPr>
          <p:cNvCxnSpPr/>
          <p:nvPr/>
        </p:nvCxnSpPr>
        <p:spPr>
          <a:xfrm>
            <a:off x="359206" y="4005972"/>
            <a:ext cx="7391400" cy="13256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21657790-9B3A-42F4-9B20-41168ABB2DCF}"/>
              </a:ext>
            </a:extLst>
          </p:cNvPr>
          <p:cNvSpPr txBox="1"/>
          <p:nvPr/>
        </p:nvSpPr>
        <p:spPr>
          <a:xfrm>
            <a:off x="7791802" y="3772907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800" dirty="0"/>
              <a:t>開発時間軸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EA16260-07EB-4CA8-8203-0FB1CB8B7CB0}"/>
              </a:ext>
            </a:extLst>
          </p:cNvPr>
          <p:cNvSpPr/>
          <p:nvPr/>
        </p:nvSpPr>
        <p:spPr>
          <a:xfrm>
            <a:off x="1045006" y="3789040"/>
            <a:ext cx="11430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Ver. </a:t>
            </a:r>
            <a:r>
              <a:rPr lang="en-US" altLang="ja-JP" sz="1600" dirty="0">
                <a:solidFill>
                  <a:srgbClr val="000000"/>
                </a:solidFill>
              </a:rPr>
              <a:t>1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691F17ED-7176-4483-A668-4FCB172FCE4B}"/>
              </a:ext>
            </a:extLst>
          </p:cNvPr>
          <p:cNvSpPr/>
          <p:nvPr/>
        </p:nvSpPr>
        <p:spPr>
          <a:xfrm>
            <a:off x="2416606" y="3789040"/>
            <a:ext cx="1143000" cy="381000"/>
          </a:xfrm>
          <a:prstGeom prst="rect">
            <a:avLst/>
          </a:prstGeom>
          <a:solidFill>
            <a:schemeClr val="bg1"/>
          </a:solidFill>
          <a:ln w="38100">
            <a:solidFill>
              <a:srgbClr val="3366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Ver.</a:t>
            </a:r>
            <a:r>
              <a:rPr lang="en-US" altLang="ja-JP" sz="1600" dirty="0">
                <a:solidFill>
                  <a:srgbClr val="000000"/>
                </a:solidFill>
              </a:rPr>
              <a:t> 2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03DE25A5-86DC-4388-A971-EC0D0F3A5E4F}"/>
              </a:ext>
            </a:extLst>
          </p:cNvPr>
          <p:cNvSpPr/>
          <p:nvPr/>
        </p:nvSpPr>
        <p:spPr>
          <a:xfrm>
            <a:off x="3712006" y="3789040"/>
            <a:ext cx="1143000" cy="381000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Ver. </a:t>
            </a:r>
            <a:r>
              <a:rPr lang="en-US" altLang="ja-JP" sz="1600" dirty="0">
                <a:solidFill>
                  <a:srgbClr val="000000"/>
                </a:solidFill>
              </a:rPr>
              <a:t>3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E92C02A3-B902-426B-94E8-34316E382EA4}"/>
              </a:ext>
            </a:extLst>
          </p:cNvPr>
          <p:cNvSpPr/>
          <p:nvPr/>
        </p:nvSpPr>
        <p:spPr>
          <a:xfrm>
            <a:off x="5007406" y="3789040"/>
            <a:ext cx="1143000" cy="3810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Ver.</a:t>
            </a:r>
            <a:r>
              <a:rPr lang="en-US" altLang="ja-JP" sz="1600" dirty="0">
                <a:solidFill>
                  <a:srgbClr val="000000"/>
                </a:solidFill>
              </a:rPr>
              <a:t> 4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2BC479C7-F82D-4D61-81EF-E477D6381C83}"/>
              </a:ext>
            </a:extLst>
          </p:cNvPr>
          <p:cNvSpPr/>
          <p:nvPr/>
        </p:nvSpPr>
        <p:spPr>
          <a:xfrm>
            <a:off x="6302806" y="3789040"/>
            <a:ext cx="1143000" cy="381000"/>
          </a:xfrm>
          <a:prstGeom prst="rect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600" dirty="0">
                <a:solidFill>
                  <a:srgbClr val="000000"/>
                </a:solidFill>
              </a:rPr>
              <a:t>Ver.</a:t>
            </a:r>
            <a:r>
              <a:rPr lang="en-US" altLang="ja-JP" sz="1600" dirty="0">
                <a:solidFill>
                  <a:srgbClr val="000000"/>
                </a:solidFill>
              </a:rPr>
              <a:t> 5</a:t>
            </a:r>
            <a:endParaRPr kumimoji="1" lang="ja-JP" altLang="en-US" sz="1600" dirty="0">
              <a:solidFill>
                <a:srgbClr val="000000"/>
              </a:solidFill>
            </a:endParaRPr>
          </a:p>
        </p:txBody>
      </p: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B5526976-4267-47FB-9E8F-EDA46DFE08C0}"/>
              </a:ext>
            </a:extLst>
          </p:cNvPr>
          <p:cNvGrpSpPr/>
          <p:nvPr/>
        </p:nvGrpSpPr>
        <p:grpSpPr>
          <a:xfrm>
            <a:off x="5758036" y="1988840"/>
            <a:ext cx="2217026" cy="1728192"/>
            <a:chOff x="5758036" y="2420888"/>
            <a:chExt cx="2217026" cy="1728192"/>
          </a:xfrm>
        </p:grpSpPr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1FB4CAEC-782A-401F-8848-380866A6B0EB}"/>
                </a:ext>
              </a:extLst>
            </p:cNvPr>
            <p:cNvSpPr txBox="1"/>
            <p:nvPr/>
          </p:nvSpPr>
          <p:spPr>
            <a:xfrm>
              <a:off x="5758036" y="2420888"/>
              <a:ext cx="2217026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1800" dirty="0"/>
                <a:t>(1)</a:t>
              </a:r>
              <a:r>
                <a:rPr kumimoji="1" lang="ja-JP" altLang="en-US" sz="1800" dirty="0"/>
                <a:t>ここでバグ発覚</a:t>
              </a: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6ED05853-97F0-4638-997F-648AF1241A19}"/>
                </a:ext>
              </a:extLst>
            </p:cNvPr>
            <p:cNvCxnSpPr>
              <a:cxnSpLocks/>
              <a:stCxn id="15" idx="2"/>
              <a:endCxn id="13" idx="0"/>
            </p:cNvCxnSpPr>
            <p:nvPr/>
          </p:nvCxnSpPr>
          <p:spPr>
            <a:xfrm>
              <a:off x="6866549" y="2790220"/>
              <a:ext cx="7757" cy="1358860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C400F1D2-F247-4B8D-84A6-FF7B8B85F3D6}"/>
              </a:ext>
            </a:extLst>
          </p:cNvPr>
          <p:cNvGrpSpPr/>
          <p:nvPr/>
        </p:nvGrpSpPr>
        <p:grpSpPr>
          <a:xfrm>
            <a:off x="2805708" y="4221088"/>
            <a:ext cx="2952328" cy="873388"/>
            <a:chOff x="2777133" y="4170040"/>
            <a:chExt cx="2952328" cy="873388"/>
          </a:xfrm>
        </p:grpSpPr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821DA61B-38C9-4241-82D4-AECDFB0BEFF3}"/>
                </a:ext>
              </a:extLst>
            </p:cNvPr>
            <p:cNvSpPr txBox="1"/>
            <p:nvPr/>
          </p:nvSpPr>
          <p:spPr>
            <a:xfrm>
              <a:off x="2777133" y="4674096"/>
              <a:ext cx="2952328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altLang="en-US" sz="1800" dirty="0"/>
                <a:t>(</a:t>
              </a:r>
              <a:r>
                <a:rPr lang="en-US" altLang="en-US" sz="1800"/>
                <a:t>3)ここでバグ混入</a:t>
              </a:r>
              <a:endParaRPr kumimoji="1" lang="ja-JP" altLang="en-US" sz="1800" dirty="0"/>
            </a:p>
          </p:txBody>
        </p: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A8F2C847-120F-44E0-9D7A-4E80AE2461A2}"/>
                </a:ext>
              </a:extLst>
            </p:cNvPr>
            <p:cNvCxnSpPr>
              <a:cxnSpLocks/>
              <a:stCxn id="18" idx="0"/>
              <a:endCxn id="11" idx="2"/>
            </p:cNvCxnSpPr>
            <p:nvPr/>
          </p:nvCxnSpPr>
          <p:spPr>
            <a:xfrm flipV="1">
              <a:off x="4253297" y="4170040"/>
              <a:ext cx="1634" cy="555104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5297A705-E83F-47C8-833B-A537A5F40FAB}"/>
              </a:ext>
            </a:extLst>
          </p:cNvPr>
          <p:cNvGrpSpPr/>
          <p:nvPr/>
        </p:nvGrpSpPr>
        <p:grpSpPr>
          <a:xfrm>
            <a:off x="1091233" y="2758455"/>
            <a:ext cx="3785418" cy="958577"/>
            <a:chOff x="1091233" y="3190503"/>
            <a:chExt cx="3785418" cy="958577"/>
          </a:xfrm>
        </p:grpSpPr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FE0731A9-BF81-48C4-A355-DC54D1ED6A07}"/>
                </a:ext>
              </a:extLst>
            </p:cNvPr>
            <p:cNvSpPr txBox="1"/>
            <p:nvPr/>
          </p:nvSpPr>
          <p:spPr>
            <a:xfrm>
              <a:off x="1091233" y="3190503"/>
              <a:ext cx="3785418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kumimoji="1" lang="en-US" altLang="ja-JP" sz="1800" dirty="0"/>
                <a:t>(2)</a:t>
              </a:r>
              <a:r>
                <a:rPr kumimoji="1" lang="ja-JP" altLang="en-US" sz="1800" dirty="0"/>
                <a:t>ここまでは動作すること</a:t>
              </a:r>
              <a:r>
                <a:rPr kumimoji="1" lang="ja-JP" altLang="en-US" sz="1800"/>
                <a:t>を確認</a:t>
              </a:r>
              <a:endParaRPr kumimoji="1" lang="ja-JP" altLang="en-US" sz="1800" dirty="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C0368923-C8B5-4242-B252-C7368E75686A}"/>
                </a:ext>
              </a:extLst>
            </p:cNvPr>
            <p:cNvCxnSpPr>
              <a:stCxn id="21" idx="2"/>
              <a:endCxn id="10" idx="0"/>
            </p:cNvCxnSpPr>
            <p:nvPr/>
          </p:nvCxnSpPr>
          <p:spPr>
            <a:xfrm>
              <a:off x="2983942" y="3559835"/>
              <a:ext cx="4164" cy="589245"/>
            </a:xfrm>
            <a:prstGeom prst="straightConnector1">
              <a:avLst/>
            </a:prstGeom>
            <a:ln>
              <a:solidFill>
                <a:schemeClr val="tx1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E45549E-FA09-45D3-957C-EEA197AD21D8}"/>
              </a:ext>
            </a:extLst>
          </p:cNvPr>
          <p:cNvCxnSpPr>
            <a:cxnSpLocks/>
          </p:cNvCxnSpPr>
          <p:nvPr/>
        </p:nvCxnSpPr>
        <p:spPr>
          <a:xfrm>
            <a:off x="814818" y="1916832"/>
            <a:ext cx="0" cy="2851140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E0505E8-825A-4D18-9A39-BE6AFEC23F6D}"/>
              </a:ext>
            </a:extLst>
          </p:cNvPr>
          <p:cNvSpPr txBox="1"/>
          <p:nvPr/>
        </p:nvSpPr>
        <p:spPr>
          <a:xfrm>
            <a:off x="251520" y="5013176"/>
            <a:ext cx="17166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800" dirty="0"/>
              <a:t>デバッグ時間軸</a:t>
            </a: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5B668BB4-30EB-4316-9C7A-C39F8C9321DF}"/>
              </a:ext>
            </a:extLst>
          </p:cNvPr>
          <p:cNvSpPr txBox="1"/>
          <p:nvPr/>
        </p:nvSpPr>
        <p:spPr>
          <a:xfrm>
            <a:off x="467544" y="5805264"/>
            <a:ext cx="830644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400"/>
              <a:t>Ver. 2</a:t>
            </a:r>
            <a:r>
              <a:rPr lang="ja-JP" altLang="en-US" sz="2400"/>
              <a:t>と</a:t>
            </a:r>
            <a:r>
              <a:rPr lang="en-US" altLang="ja-JP" sz="2400"/>
              <a:t>Ver. 3</a:t>
            </a:r>
            <a:r>
              <a:rPr lang="ja-JP" altLang="en-US" sz="2400"/>
              <a:t>の差分を取れば、バグの原因がすぐにわかる</a:t>
            </a:r>
            <a:r>
              <a:rPr lang="en-US" altLang="ja-JP" sz="2400"/>
              <a:t> 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9525033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0B3309D2-B0DF-446B-9CF6-1A5D00BAF9E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 sz="3600"/>
              <a:t>プログラミングのできる人、できない人</a:t>
            </a:r>
            <a:endParaRPr lang="en-US" sz="3600"/>
          </a:p>
        </p:txBody>
      </p:sp>
      <p:pic>
        <p:nvPicPr>
          <p:cNvPr id="3" name="Picture 2" descr="忙しく仕事をしている男性会社員のイラスト">
            <a:extLst>
              <a:ext uri="{FF2B5EF4-FFF2-40B4-BE49-F238E27FC236}">
                <a16:creationId xmlns:a16="http://schemas.microsoft.com/office/drawing/2014/main" id="{80D8766A-28C4-4D30-8FC3-A1D6E406EA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19672" y="1484784"/>
            <a:ext cx="2172309" cy="19442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4" descr="音楽を聴きながら仕事をする人のイラスト（男性）">
            <a:extLst>
              <a:ext uri="{FF2B5EF4-FFF2-40B4-BE49-F238E27FC236}">
                <a16:creationId xmlns:a16="http://schemas.microsoft.com/office/drawing/2014/main" id="{876AD25E-1B1F-4DD1-A46B-4913FADE8A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68144" y="1628800"/>
            <a:ext cx="1967432" cy="1800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4EE8D43-F66E-4453-B90B-BEC5D7E14B5C}"/>
              </a:ext>
            </a:extLst>
          </p:cNvPr>
          <p:cNvSpPr/>
          <p:nvPr/>
        </p:nvSpPr>
        <p:spPr>
          <a:xfrm>
            <a:off x="539552" y="4149080"/>
            <a:ext cx="1080120" cy="7200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8EB73E9-6AE0-42AA-8543-8082A5DC6108}"/>
              </a:ext>
            </a:extLst>
          </p:cNvPr>
          <p:cNvSpPr/>
          <p:nvPr/>
        </p:nvSpPr>
        <p:spPr>
          <a:xfrm>
            <a:off x="1619672" y="4149080"/>
            <a:ext cx="3240360" cy="72008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879E8CB5-A51A-40F5-B992-3355FA19F5C0}"/>
              </a:ext>
            </a:extLst>
          </p:cNvPr>
          <p:cNvSpPr/>
          <p:nvPr/>
        </p:nvSpPr>
        <p:spPr>
          <a:xfrm>
            <a:off x="5580113" y="4149080"/>
            <a:ext cx="2880320" cy="7200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7148D5D-EE6F-4ECC-8188-68204F27819B}"/>
              </a:ext>
            </a:extLst>
          </p:cNvPr>
          <p:cNvSpPr txBox="1"/>
          <p:nvPr/>
        </p:nvSpPr>
        <p:spPr>
          <a:xfrm>
            <a:off x="683568" y="429309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開発</a:t>
            </a:r>
            <a:endParaRPr kumimoji="1" lang="ja-JP" altLang="en-US" sz="2400"/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54FF5B0-240D-4D3A-9C4C-9A43A278A404}"/>
              </a:ext>
            </a:extLst>
          </p:cNvPr>
          <p:cNvSpPr txBox="1"/>
          <p:nvPr/>
        </p:nvSpPr>
        <p:spPr>
          <a:xfrm>
            <a:off x="2411760" y="4293096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>
                <a:solidFill>
                  <a:schemeClr val="bg1"/>
                </a:solidFill>
              </a:rPr>
              <a:t>デバッグ</a:t>
            </a:r>
            <a:endParaRPr kumimoji="1" lang="ja-JP" altLang="en-US" sz="2400">
              <a:solidFill>
                <a:schemeClr val="bg1"/>
              </a:solidFill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8B82F57-5030-4C30-9B9B-CEFBDCB24540}"/>
              </a:ext>
            </a:extLst>
          </p:cNvPr>
          <p:cNvSpPr txBox="1"/>
          <p:nvPr/>
        </p:nvSpPr>
        <p:spPr>
          <a:xfrm>
            <a:off x="6660232" y="4293096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開発</a:t>
            </a:r>
            <a:endParaRPr kumimoji="1" lang="ja-JP" altLang="en-US" sz="240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B9A3C06-5221-4800-A393-B0EB17F13BD0}"/>
              </a:ext>
            </a:extLst>
          </p:cNvPr>
          <p:cNvSpPr/>
          <p:nvPr/>
        </p:nvSpPr>
        <p:spPr>
          <a:xfrm>
            <a:off x="6012160" y="4149080"/>
            <a:ext cx="207640" cy="72008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7085EE6-22C5-4BEC-BC75-0F5FD65A5117}"/>
              </a:ext>
            </a:extLst>
          </p:cNvPr>
          <p:cNvSpPr/>
          <p:nvPr/>
        </p:nvSpPr>
        <p:spPr>
          <a:xfrm>
            <a:off x="7740352" y="4149080"/>
            <a:ext cx="207640" cy="72008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65058B14-F2E7-4C3C-BBE6-32DAD28798F4}"/>
              </a:ext>
            </a:extLst>
          </p:cNvPr>
          <p:cNvSpPr txBox="1"/>
          <p:nvPr/>
        </p:nvSpPr>
        <p:spPr>
          <a:xfrm>
            <a:off x="6300192" y="5301208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デバッグ</a:t>
            </a:r>
          </a:p>
        </p:txBody>
      </p:sp>
      <p:cxnSp>
        <p:nvCxnSpPr>
          <p:cNvPr id="14" name="コネクタ: カギ線 13">
            <a:extLst>
              <a:ext uri="{FF2B5EF4-FFF2-40B4-BE49-F238E27FC236}">
                <a16:creationId xmlns:a16="http://schemas.microsoft.com/office/drawing/2014/main" id="{0D934BB0-37A7-4825-A476-B312523C3DB3}"/>
              </a:ext>
            </a:extLst>
          </p:cNvPr>
          <p:cNvCxnSpPr>
            <a:stCxn id="13" idx="0"/>
            <a:endCxn id="11" idx="2"/>
          </p:cNvCxnSpPr>
          <p:nvPr/>
        </p:nvCxnSpPr>
        <p:spPr>
          <a:xfrm rot="16200000" flipV="1">
            <a:off x="6346005" y="4639135"/>
            <a:ext cx="432048" cy="892098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コネクタ: カギ線 14">
            <a:extLst>
              <a:ext uri="{FF2B5EF4-FFF2-40B4-BE49-F238E27FC236}">
                <a16:creationId xmlns:a16="http://schemas.microsoft.com/office/drawing/2014/main" id="{1F8B889D-18DE-43F9-85D1-CB3F54B143E2}"/>
              </a:ext>
            </a:extLst>
          </p:cNvPr>
          <p:cNvCxnSpPr>
            <a:stCxn id="13" idx="0"/>
            <a:endCxn id="12" idx="2"/>
          </p:cNvCxnSpPr>
          <p:nvPr/>
        </p:nvCxnSpPr>
        <p:spPr>
          <a:xfrm rot="5400000" flipH="1" flipV="1">
            <a:off x="7210101" y="4667137"/>
            <a:ext cx="432048" cy="836094"/>
          </a:xfrm>
          <a:prstGeom prst="bentConnector3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矢印コネクタ 15">
            <a:extLst>
              <a:ext uri="{FF2B5EF4-FFF2-40B4-BE49-F238E27FC236}">
                <a16:creationId xmlns:a16="http://schemas.microsoft.com/office/drawing/2014/main" id="{A067068D-A826-4EE0-B151-9B2D4057B36D}"/>
              </a:ext>
            </a:extLst>
          </p:cNvPr>
          <p:cNvCxnSpPr/>
          <p:nvPr/>
        </p:nvCxnSpPr>
        <p:spPr>
          <a:xfrm flipH="1">
            <a:off x="539552" y="3933056"/>
            <a:ext cx="432048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1D5636A9-571E-4441-B509-47B20A3EE7A6}"/>
              </a:ext>
            </a:extLst>
          </p:cNvPr>
          <p:cNvSpPr txBox="1"/>
          <p:nvPr/>
        </p:nvSpPr>
        <p:spPr>
          <a:xfrm>
            <a:off x="2051720" y="350100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作業時間</a:t>
            </a:r>
            <a:endParaRPr kumimoji="1" lang="ja-JP" altLang="en-US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88F2A05-FC38-4746-8B14-FECD077128E5}"/>
              </a:ext>
            </a:extLst>
          </p:cNvPr>
          <p:cNvCxnSpPr>
            <a:cxnSpLocks/>
          </p:cNvCxnSpPr>
          <p:nvPr/>
        </p:nvCxnSpPr>
        <p:spPr>
          <a:xfrm flipH="1">
            <a:off x="539552" y="5013176"/>
            <a:ext cx="108012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6329D4E-0AE0-48DC-A393-EBD907B88113}"/>
              </a:ext>
            </a:extLst>
          </p:cNvPr>
          <p:cNvSpPr txBox="1"/>
          <p:nvPr/>
        </p:nvSpPr>
        <p:spPr>
          <a:xfrm>
            <a:off x="755576" y="5085184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進捗</a:t>
            </a:r>
            <a:endParaRPr kumimoji="1" lang="ja-JP" altLang="en-US"/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9E1190EA-020D-4D97-8616-4806A7A89257}"/>
              </a:ext>
            </a:extLst>
          </p:cNvPr>
          <p:cNvCxnSpPr>
            <a:cxnSpLocks/>
          </p:cNvCxnSpPr>
          <p:nvPr/>
        </p:nvCxnSpPr>
        <p:spPr>
          <a:xfrm flipH="1">
            <a:off x="5580112" y="3933056"/>
            <a:ext cx="2880320" cy="0"/>
          </a:xfrm>
          <a:prstGeom prst="straightConnector1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875A1B7B-EEA4-4DB9-8F42-AE29FE524D3A}"/>
              </a:ext>
            </a:extLst>
          </p:cNvPr>
          <p:cNvSpPr txBox="1"/>
          <p:nvPr/>
        </p:nvSpPr>
        <p:spPr>
          <a:xfrm>
            <a:off x="6444208" y="350100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作業時間</a:t>
            </a:r>
            <a:endParaRPr kumimoji="1" lang="ja-JP" altLang="en-US"/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7A4C7134-DEF9-40FA-8E8E-8DBF1DBC031C}"/>
              </a:ext>
            </a:extLst>
          </p:cNvPr>
          <p:cNvSpPr txBox="1"/>
          <p:nvPr/>
        </p:nvSpPr>
        <p:spPr>
          <a:xfrm>
            <a:off x="899592" y="1052736"/>
            <a:ext cx="72635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プログラミングが早い人は「デバッグ時間」が短い</a:t>
            </a:r>
            <a:endParaRPr lang="en-US" altLang="ja-JP" sz="240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9BF8633-9654-4439-8669-5BAC6496EF13}"/>
              </a:ext>
            </a:extLst>
          </p:cNvPr>
          <p:cNvSpPr txBox="1"/>
          <p:nvPr/>
        </p:nvSpPr>
        <p:spPr>
          <a:xfrm>
            <a:off x="611560" y="5877272"/>
            <a:ext cx="7200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/>
              <a:t>左の人の方が「がんばっている」ように見えるが、右の人の方が作業は進んでいる</a:t>
            </a:r>
            <a:endParaRPr lang="en-US" sz="2400"/>
          </a:p>
        </p:txBody>
      </p:sp>
    </p:spTree>
    <p:extLst>
      <p:ext uri="{BB962C8B-B14F-4D97-AF65-F5344CB8AC3E}">
        <p14:creationId xmlns:p14="http://schemas.microsoft.com/office/powerpoint/2010/main" val="16609811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E4B3D7B1-4430-595F-DCE3-4D65936E61B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-26961" y="104931"/>
            <a:ext cx="9144000" cy="754062"/>
          </a:xfrm>
        </p:spPr>
        <p:txBody>
          <a:bodyPr/>
          <a:lstStyle/>
          <a:p>
            <a:r>
              <a:rPr kumimoji="1" lang="ja-JP" altLang="en-US"/>
              <a:t>見えないコスト</a:t>
            </a:r>
          </a:p>
        </p:txBody>
      </p:sp>
      <p:pic>
        <p:nvPicPr>
          <p:cNvPr id="3" name="Picture 2" descr="忙しく仕事をしている男性会社員のイラスト">
            <a:extLst>
              <a:ext uri="{FF2B5EF4-FFF2-40B4-BE49-F238E27FC236}">
                <a16:creationId xmlns:a16="http://schemas.microsoft.com/office/drawing/2014/main" id="{8F346752-DA16-59B9-594F-BDD0592E53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029" y="4502546"/>
            <a:ext cx="1367750" cy="1224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F6FEDD4-7401-3CDB-0B81-772AC9343FB7}"/>
              </a:ext>
            </a:extLst>
          </p:cNvPr>
          <p:cNvSpPr/>
          <p:nvPr/>
        </p:nvSpPr>
        <p:spPr>
          <a:xfrm>
            <a:off x="1860807" y="4796548"/>
            <a:ext cx="1080120" cy="7200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3C7E6622-FFF0-F4FC-6E6A-976BD294D1BD}"/>
              </a:ext>
            </a:extLst>
          </p:cNvPr>
          <p:cNvSpPr/>
          <p:nvPr/>
        </p:nvSpPr>
        <p:spPr>
          <a:xfrm>
            <a:off x="2940927" y="4796548"/>
            <a:ext cx="3240360" cy="72008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33D4042-E44B-29DC-6335-BE8E8885AB90}"/>
              </a:ext>
            </a:extLst>
          </p:cNvPr>
          <p:cNvSpPr txBox="1"/>
          <p:nvPr/>
        </p:nvSpPr>
        <p:spPr>
          <a:xfrm>
            <a:off x="2004823" y="4940564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開発</a:t>
            </a:r>
            <a:endParaRPr kumimoji="1" lang="ja-JP" altLang="en-US" sz="240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3886F76-E9BC-9AE6-962B-62DE0A840FDB}"/>
              </a:ext>
            </a:extLst>
          </p:cNvPr>
          <p:cNvSpPr txBox="1"/>
          <p:nvPr/>
        </p:nvSpPr>
        <p:spPr>
          <a:xfrm>
            <a:off x="3733015" y="4940564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>
                <a:solidFill>
                  <a:schemeClr val="bg1"/>
                </a:solidFill>
              </a:rPr>
              <a:t>デバッグ</a:t>
            </a:r>
            <a:endParaRPr kumimoji="1" lang="ja-JP" altLang="en-US" sz="2400">
              <a:solidFill>
                <a:schemeClr val="bg1"/>
              </a:solidFill>
            </a:endParaRPr>
          </a:p>
        </p:txBody>
      </p:sp>
      <p:pic>
        <p:nvPicPr>
          <p:cNvPr id="8" name="Picture 2" descr="壊れたノートパソコンのイラスト">
            <a:extLst>
              <a:ext uri="{FF2B5EF4-FFF2-40B4-BE49-F238E27FC236}">
                <a16:creationId xmlns:a16="http://schemas.microsoft.com/office/drawing/2014/main" id="{BD335E51-7D7B-8AC9-FA0C-8F73EA8CD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573" y="2519922"/>
            <a:ext cx="909038" cy="961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4" descr="てへぺろのイラスト（男性）">
            <a:extLst>
              <a:ext uri="{FF2B5EF4-FFF2-40B4-BE49-F238E27FC236}">
                <a16:creationId xmlns:a16="http://schemas.microsoft.com/office/drawing/2014/main" id="{0600CE8C-F18D-D80C-3DA2-9DAD718B0E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5092" y="2835475"/>
            <a:ext cx="604867" cy="8640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1517149B-8697-195A-1E27-4B7C99CCE51D}"/>
              </a:ext>
            </a:extLst>
          </p:cNvPr>
          <p:cNvSpPr/>
          <p:nvPr/>
        </p:nvSpPr>
        <p:spPr>
          <a:xfrm>
            <a:off x="1844739" y="2761787"/>
            <a:ext cx="1080120" cy="720080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89F04C52-CB4C-E138-73E4-3687F589196F}"/>
              </a:ext>
            </a:extLst>
          </p:cNvPr>
          <p:cNvSpPr/>
          <p:nvPr/>
        </p:nvSpPr>
        <p:spPr>
          <a:xfrm>
            <a:off x="2924859" y="2761787"/>
            <a:ext cx="3240360" cy="720080"/>
          </a:xfrm>
          <a:prstGeom prst="rect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F8C5C20A-C5F5-078C-B049-B38ABA863D72}"/>
              </a:ext>
            </a:extLst>
          </p:cNvPr>
          <p:cNvSpPr txBox="1"/>
          <p:nvPr/>
        </p:nvSpPr>
        <p:spPr>
          <a:xfrm>
            <a:off x="1988755" y="2905803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開発</a:t>
            </a:r>
            <a:endParaRPr kumimoji="1" lang="ja-JP" altLang="en-US" sz="240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B0CD363A-6A67-9861-87D9-97FA2610A78D}"/>
              </a:ext>
            </a:extLst>
          </p:cNvPr>
          <p:cNvSpPr txBox="1"/>
          <p:nvPr/>
        </p:nvSpPr>
        <p:spPr>
          <a:xfrm>
            <a:off x="3716947" y="2905803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>
                <a:solidFill>
                  <a:schemeClr val="bg1"/>
                </a:solidFill>
              </a:rPr>
              <a:t>手戻り</a:t>
            </a:r>
            <a:endParaRPr kumimoji="1" lang="ja-JP" altLang="en-US" sz="2400">
              <a:solidFill>
                <a:schemeClr val="bg1"/>
              </a:solidFill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974952D3-4FDD-801D-B185-629B12845D7B}"/>
              </a:ext>
            </a:extLst>
          </p:cNvPr>
          <p:cNvSpPr txBox="1"/>
          <p:nvPr/>
        </p:nvSpPr>
        <p:spPr>
          <a:xfrm>
            <a:off x="324683" y="1076697"/>
            <a:ext cx="849463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/>
              <a:t>バージョン管理システムを使っていない人は</a:t>
            </a:r>
            <a:endParaRPr kumimoji="1" lang="en-US" altLang="ja-JP" sz="2400" dirty="0"/>
          </a:p>
          <a:p>
            <a:r>
              <a:rPr lang="ja-JP" altLang="en-US" sz="2400"/>
              <a:t>「バージョン管理システムを使っていれば節約できた時間」</a:t>
            </a:r>
            <a:endParaRPr lang="en-US" altLang="ja-JP" sz="2400" dirty="0"/>
          </a:p>
          <a:p>
            <a:r>
              <a:rPr kumimoji="1" lang="ja-JP" altLang="en-US" sz="2400"/>
              <a:t>を認識できない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F4ADD6-A249-C29F-CBD9-37BB23F752F1}"/>
              </a:ext>
            </a:extLst>
          </p:cNvPr>
          <p:cNvSpPr txBox="1"/>
          <p:nvPr/>
        </p:nvSpPr>
        <p:spPr>
          <a:xfrm>
            <a:off x="195374" y="5747740"/>
            <a:ext cx="64171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/>
              <a:t>デバッグに時間をかけているひと「自分はがんばっている」</a:t>
            </a:r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100F558-67BD-DACF-BC83-E169E85010CC}"/>
              </a:ext>
            </a:extLst>
          </p:cNvPr>
          <p:cNvSpPr txBox="1"/>
          <p:nvPr/>
        </p:nvSpPr>
        <p:spPr>
          <a:xfrm>
            <a:off x="195374" y="3710108"/>
            <a:ext cx="62511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en-US" altLang="ja-JP" dirty="0"/>
              <a:t>PC</a:t>
            </a:r>
            <a:r>
              <a:rPr kumimoji="1" lang="ja-JP" altLang="en-US"/>
              <a:t>が壊れてデータを失った人「自分は運が悪かった」</a:t>
            </a:r>
            <a:endParaRPr kumimoji="1" lang="en-US" altLang="ja-JP" dirty="0"/>
          </a:p>
        </p:txBody>
      </p:sp>
      <p:pic>
        <p:nvPicPr>
          <p:cNvPr id="3074" name="Picture 2" descr="ハサミのイラスト（文房具）">
            <a:extLst>
              <a:ext uri="{FF2B5EF4-FFF2-40B4-BE49-F238E27FC236}">
                <a16:creationId xmlns:a16="http://schemas.microsoft.com/office/drawing/2014/main" id="{8B7042D7-60D4-83E0-F526-5A23AB6543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6215207">
            <a:off x="7175549" y="3735634"/>
            <a:ext cx="1077937" cy="12644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23" name="カギ線コネクタ 22">
            <a:extLst>
              <a:ext uri="{FF2B5EF4-FFF2-40B4-BE49-F238E27FC236}">
                <a16:creationId xmlns:a16="http://schemas.microsoft.com/office/drawing/2014/main" id="{9D3B157C-802B-BAC5-752C-D1058055C458}"/>
              </a:ext>
            </a:extLst>
          </p:cNvPr>
          <p:cNvCxnSpPr>
            <a:stCxn id="3074" idx="2"/>
            <a:endCxn id="14" idx="3"/>
          </p:cNvCxnSpPr>
          <p:nvPr/>
        </p:nvCxnSpPr>
        <p:spPr>
          <a:xfrm rot="10800000">
            <a:off x="6165220" y="3121828"/>
            <a:ext cx="934769" cy="1097509"/>
          </a:xfrm>
          <a:prstGeom prst="bentConnector3">
            <a:avLst/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カギ線コネクタ 24">
            <a:extLst>
              <a:ext uri="{FF2B5EF4-FFF2-40B4-BE49-F238E27FC236}">
                <a16:creationId xmlns:a16="http://schemas.microsoft.com/office/drawing/2014/main" id="{16F7CD02-9EC3-77E8-EB2D-3529D31DD6A2}"/>
              </a:ext>
            </a:extLst>
          </p:cNvPr>
          <p:cNvCxnSpPr>
            <a:stCxn id="3074" idx="2"/>
            <a:endCxn id="5" idx="3"/>
          </p:cNvCxnSpPr>
          <p:nvPr/>
        </p:nvCxnSpPr>
        <p:spPr>
          <a:xfrm rot="10800000" flipV="1">
            <a:off x="6181288" y="4219336"/>
            <a:ext cx="918701" cy="937252"/>
          </a:xfrm>
          <a:prstGeom prst="bentConnector3">
            <a:avLst>
              <a:gd name="adj1" fmla="val 50948"/>
            </a:avLst>
          </a:prstGeom>
          <a:ln>
            <a:solidFill>
              <a:schemeClr val="tx1"/>
            </a:solidFill>
            <a:headEnd type="none" w="med" len="me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2CBF1DC-1852-BB2E-ED72-D077E03978FD}"/>
              </a:ext>
            </a:extLst>
          </p:cNvPr>
          <p:cNvSpPr txBox="1"/>
          <p:nvPr/>
        </p:nvSpPr>
        <p:spPr>
          <a:xfrm>
            <a:off x="6804002" y="5040262"/>
            <a:ext cx="215956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1400" dirty="0"/>
              <a:t>VCS</a:t>
            </a:r>
            <a:r>
              <a:rPr kumimoji="1" lang="ja-JP" altLang="en-US" sz="1400"/>
              <a:t>を使っていれば</a:t>
            </a:r>
            <a:endParaRPr kumimoji="1" lang="en-US" altLang="ja-JP" sz="1400" dirty="0"/>
          </a:p>
          <a:p>
            <a:r>
              <a:rPr lang="ja-JP" altLang="en-US" sz="1400"/>
              <a:t>この時間節約できたかも</a:t>
            </a:r>
            <a:endParaRPr kumimoji="1" lang="ja-JP" altLang="en-US" sz="1400"/>
          </a:p>
        </p:txBody>
      </p:sp>
    </p:spTree>
    <p:extLst>
      <p:ext uri="{BB962C8B-B14F-4D97-AF65-F5344CB8AC3E}">
        <p14:creationId xmlns:p14="http://schemas.microsoft.com/office/powerpoint/2010/main" val="95912243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0931276-C050-4894-8CC5-25650B7189F8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バージョン管理システム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ECB0155-96B7-4C96-9D6B-F4D2074BBE44}"/>
              </a:ext>
            </a:extLst>
          </p:cNvPr>
          <p:cNvSpPr txBox="1"/>
          <p:nvPr/>
        </p:nvSpPr>
        <p:spPr>
          <a:xfrm>
            <a:off x="107504" y="1124744"/>
            <a:ext cx="8964488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/>
              <a:t>バージョン管理システムを使えばデバッグ時間が短くなる</a:t>
            </a:r>
            <a:r>
              <a:rPr lang="ja-JP" altLang="en-US" sz="2800">
                <a:solidFill>
                  <a:srgbClr val="FF0000"/>
                </a:solidFill>
              </a:rPr>
              <a:t>わけではない</a:t>
            </a:r>
            <a:endParaRPr lang="en-US" altLang="ja-JP" sz="2800">
              <a:solidFill>
                <a:srgbClr val="FF0000"/>
              </a:solidFill>
            </a:endParaRPr>
          </a:p>
          <a:p>
            <a:r>
              <a:rPr lang="ja-JP" altLang="en-US" sz="2800"/>
              <a:t>「できる人」は</a:t>
            </a:r>
            <a:r>
              <a:rPr lang="en-US" altLang="ja-JP" sz="2800"/>
              <a:t>Git</a:t>
            </a:r>
            <a:r>
              <a:rPr lang="ja-JP" altLang="en-US" sz="2800"/>
              <a:t>が使えるから「できる」の</a:t>
            </a:r>
            <a:r>
              <a:rPr lang="ja-JP" altLang="en-US" sz="2800">
                <a:solidFill>
                  <a:srgbClr val="FF0000"/>
                </a:solidFill>
              </a:rPr>
              <a:t>ではない</a:t>
            </a:r>
            <a:endParaRPr lang="en-US" sz="2800">
              <a:solidFill>
                <a:srgbClr val="FF0000"/>
              </a:solidFill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3937059-BB8D-4BD2-9C85-F9C1B603FDA0}"/>
              </a:ext>
            </a:extLst>
          </p:cNvPr>
          <p:cNvSpPr txBox="1"/>
          <p:nvPr/>
        </p:nvSpPr>
        <p:spPr>
          <a:xfrm>
            <a:off x="251520" y="2852936"/>
            <a:ext cx="8614859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/>
              <a:t>Git</a:t>
            </a:r>
            <a:r>
              <a:rPr lang="ja-JP" altLang="en-US" sz="2400"/>
              <a:t>や</a:t>
            </a:r>
            <a:r>
              <a:rPr lang="en-US" altLang="ja-JP" sz="2400"/>
              <a:t>GitHub</a:t>
            </a:r>
            <a:r>
              <a:rPr lang="ja-JP" altLang="en-US" sz="2400"/>
              <a:t>はあくまでも「開発スタイル」を支援するツール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ja-JP" sz="2400"/>
              <a:t>Git</a:t>
            </a:r>
            <a:r>
              <a:rPr lang="ja-JP" altLang="en-US" sz="2400"/>
              <a:t>が「何を」実現するツールなのか</a:t>
            </a:r>
            <a:endParaRPr lang="en-US" altLang="ja-JP" sz="24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400"/>
              <a:t>自分が</a:t>
            </a:r>
            <a:r>
              <a:rPr lang="en-US" altLang="ja-JP" sz="2400"/>
              <a:t>Git</a:t>
            </a:r>
            <a:r>
              <a:rPr lang="ja-JP" altLang="en-US" sz="2400"/>
              <a:t>で「何を」しようとしているのか</a:t>
            </a:r>
            <a:endParaRPr lang="en-US" altLang="ja-JP" sz="2400"/>
          </a:p>
          <a:p>
            <a:r>
              <a:rPr lang="ja-JP" altLang="en-US" sz="2400"/>
              <a:t>を理解することなしに開発効率は向上しない</a:t>
            </a:r>
            <a:endParaRPr lang="en-US" altLang="ja-JP" sz="2400"/>
          </a:p>
        </p:txBody>
      </p:sp>
      <p:pic>
        <p:nvPicPr>
          <p:cNvPr id="5" name="Picture 2" descr="忙しく仕事をしている男性会社員のイラスト">
            <a:extLst>
              <a:ext uri="{FF2B5EF4-FFF2-40B4-BE49-F238E27FC236}">
                <a16:creationId xmlns:a16="http://schemas.microsoft.com/office/drawing/2014/main" id="{00C6C1E7-9898-4EC1-A269-81A12EFDA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648" y="4941168"/>
            <a:ext cx="1728192" cy="15467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4" descr="音楽を聴きながら仕事をする人のイラスト（男性）">
            <a:extLst>
              <a:ext uri="{FF2B5EF4-FFF2-40B4-BE49-F238E27FC236}">
                <a16:creationId xmlns:a16="http://schemas.microsoft.com/office/drawing/2014/main" id="{9E5ED3DC-E2AC-41D3-BBF7-B0E66F3F5B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52120" y="5085184"/>
            <a:ext cx="1495248" cy="13681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66756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プレースホルダー 1">
            <a:extLst>
              <a:ext uri="{FF2B5EF4-FFF2-40B4-BE49-F238E27FC236}">
                <a16:creationId xmlns:a16="http://schemas.microsoft.com/office/drawing/2014/main" id="{5210F7DB-11A3-429C-B866-7F0C5CC0B7B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ja-JP" altLang="en-US"/>
              <a:t>まとめ</a:t>
            </a:r>
            <a:endParaRPr 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1BC6D4-76BF-4671-8D7A-34B66018A0F9}"/>
              </a:ext>
            </a:extLst>
          </p:cNvPr>
          <p:cNvSpPr txBox="1"/>
          <p:nvPr/>
        </p:nvSpPr>
        <p:spPr>
          <a:xfrm>
            <a:off x="107504" y="980728"/>
            <a:ext cx="8856984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バージョン管理システムとは、ドキュメントやソフトウェアのバージョンを管理するためのシステム</a:t>
            </a:r>
            <a:endParaRPr lang="en-US" altLang="ja-JP" sz="28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複数人開発で有用なツールだが、個人開発でも有用</a:t>
            </a:r>
            <a:endParaRPr lang="en-US" altLang="ja-JP" sz="2800"/>
          </a:p>
          <a:p>
            <a:r>
              <a:rPr lang="ja-JP" altLang="en-US" sz="2800"/>
              <a:t>　→三日前の自分は他人</a:t>
            </a:r>
            <a:endParaRPr lang="en-US" altLang="ja-JP" sz="280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ja-JP" altLang="en-US" sz="2800"/>
              <a:t>バージョン管理システムを使えば開発効率が上がる</a:t>
            </a:r>
            <a:r>
              <a:rPr lang="ja-JP" altLang="en-US" sz="2800">
                <a:solidFill>
                  <a:srgbClr val="FF0000"/>
                </a:solidFill>
              </a:rPr>
              <a:t>わけではない</a:t>
            </a:r>
            <a:endParaRPr lang="en-US" altLang="ja-JP" sz="2800">
              <a:solidFill>
                <a:srgbClr val="FF0000"/>
              </a:solidFill>
            </a:endParaRPr>
          </a:p>
          <a:p>
            <a:r>
              <a:rPr lang="ja-JP" altLang="en-US" sz="2800"/>
              <a:t>　→開発スタイルを変えなくてはならない</a:t>
            </a:r>
            <a:endParaRPr lang="en-US" altLang="ja-JP" sz="280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B23E0E4-1409-4002-8E46-B647183DC7CE}"/>
              </a:ext>
            </a:extLst>
          </p:cNvPr>
          <p:cNvSpPr txBox="1"/>
          <p:nvPr/>
        </p:nvSpPr>
        <p:spPr>
          <a:xfrm>
            <a:off x="179512" y="4725144"/>
            <a:ext cx="8664551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/>
              <a:t>Git/GitHub</a:t>
            </a:r>
            <a:r>
              <a:rPr lang="ja-JP" altLang="en-US" sz="3200"/>
              <a:t>の使い方を学ぶことが目的ではない</a:t>
            </a:r>
            <a:endParaRPr lang="en-US" altLang="ja-JP" sz="3200"/>
          </a:p>
          <a:p>
            <a:r>
              <a:rPr lang="ja-JP" altLang="en-US" sz="3200"/>
              <a:t>ツールに流れる哲学を学ぶ</a:t>
            </a:r>
            <a:endParaRPr lang="en-US" sz="3200"/>
          </a:p>
        </p:txBody>
      </p:sp>
    </p:spTree>
    <p:extLst>
      <p:ext uri="{BB962C8B-B14F-4D97-AF65-F5344CB8AC3E}">
        <p14:creationId xmlns:p14="http://schemas.microsoft.com/office/powerpoint/2010/main" val="708715004"/>
      </p:ext>
    </p:extLst>
  </p:cSld>
  <p:clrMapOvr>
    <a:masterClrMapping/>
  </p:clrMapOvr>
</p:sld>
</file>

<file path=ppt/theme/theme1.xml><?xml version="1.0" encoding="utf-8"?>
<a:theme xmlns:a="http://schemas.openxmlformats.org/drawingml/2006/main" name="パーセル">
  <a:themeElements>
    <a:clrScheme name="パーセル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日常使う用">
      <a:majorFont>
        <a:latin typeface="Arial"/>
        <a:ea typeface="HGｺﾞｼｯｸE"/>
        <a:cs typeface=""/>
      </a:majorFont>
      <a:minorFont>
        <a:latin typeface="Arial"/>
        <a:ea typeface="HGｺﾞｼｯｸE"/>
        <a:cs typeface=""/>
      </a:minorFont>
    </a:fontScheme>
    <a:fmtScheme name="パーセル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>
    <a:spDef>
      <a:spPr>
        <a:solidFill>
          <a:srgbClr val="FF0000"/>
        </a:solidFill>
        <a:ln>
          <a:solidFill>
            <a:schemeClr val="tx1"/>
          </a:solidFill>
        </a:ln>
      </a:spPr>
      <a:bodyPr rtlCol="0" anchor="ctr"/>
      <a:lstStyle>
        <a:defPPr algn="ctr">
          <a:defRPr kumimoji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{11DA09EC-ABC8-2D40-8DBB-00E840906C4E}tf10001120</Template>
  <TotalTime>6607</TotalTime>
  <Words>1243</Words>
  <Application>Microsoft Macintosh PowerPoint</Application>
  <PresentationFormat>画面に合わせる (4:3)</PresentationFormat>
  <Paragraphs>201</Paragraphs>
  <Slides>23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23</vt:i4>
      </vt:variant>
    </vt:vector>
  </HeadingPairs>
  <TitlesOfParts>
    <vt:vector size="26" baseType="lpstr">
      <vt:lpstr>游ゴシック</vt:lpstr>
      <vt:lpstr>Arial</vt:lpstr>
      <vt:lpstr>パーセル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watanabe</dc:creator>
  <cp:lastModifiedBy>渡辺 宙志</cp:lastModifiedBy>
  <cp:revision>1324</cp:revision>
  <dcterms:created xsi:type="dcterms:W3CDTF">2019-01-02T05:23:01Z</dcterms:created>
  <dcterms:modified xsi:type="dcterms:W3CDTF">2026-02-27T08:52:10Z</dcterms:modified>
</cp:coreProperties>
</file>