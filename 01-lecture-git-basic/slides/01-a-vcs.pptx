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8"/>
  </p:notesMasterIdLst>
  <p:sldIdLst>
    <p:sldId id="256" r:id="rId2"/>
    <p:sldId id="274" r:id="rId3"/>
    <p:sldId id="276" r:id="rId4"/>
    <p:sldId id="277" r:id="rId5"/>
    <p:sldId id="289" r:id="rId6"/>
    <p:sldId id="290" r:id="rId7"/>
    <p:sldId id="291" r:id="rId8"/>
    <p:sldId id="292" r:id="rId9"/>
    <p:sldId id="293" r:id="rId10"/>
    <p:sldId id="301" r:id="rId11"/>
    <p:sldId id="298" r:id="rId12"/>
    <p:sldId id="296" r:id="rId13"/>
    <p:sldId id="299" r:id="rId14"/>
    <p:sldId id="300" r:id="rId15"/>
    <p:sldId id="278" r:id="rId16"/>
    <p:sldId id="295" r:id="rId17"/>
    <p:sldId id="281" r:id="rId18"/>
    <p:sldId id="283" r:id="rId19"/>
    <p:sldId id="284" r:id="rId20"/>
    <p:sldId id="286" r:id="rId21"/>
    <p:sldId id="285" r:id="rId22"/>
    <p:sldId id="287" r:id="rId23"/>
    <p:sldId id="282" r:id="rId24"/>
    <p:sldId id="297" r:id="rId25"/>
    <p:sldId id="288" r:id="rId26"/>
    <p:sldId id="294" r:id="rId2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1893"/>
    <a:srgbClr val="CCECFF"/>
    <a:srgbClr val="FFFF99"/>
    <a:srgbClr val="CCFFCC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82" autoAdjust="0"/>
    <p:restoredTop sz="94660"/>
  </p:normalViewPr>
  <p:slideViewPr>
    <p:cSldViewPr>
      <p:cViewPr>
        <p:scale>
          <a:sx n="63" d="100"/>
          <a:sy n="63" d="100"/>
        </p:scale>
        <p:origin x="148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2026/2/28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CDE809D1-218E-63FD-91C4-D6D842E83190}"/>
              </a:ext>
            </a:extLst>
          </p:cNvPr>
          <p:cNvSpPr/>
          <p:nvPr userDrawn="1"/>
        </p:nvSpPr>
        <p:spPr>
          <a:xfrm>
            <a:off x="8497721" y="6230795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EF23ED-679B-AFA5-F04F-AB60A05DB698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9B103AC7-3AF9-2CD8-494E-153643B2A8AA}"/>
              </a:ext>
            </a:extLst>
          </p:cNvPr>
          <p:cNvSpPr/>
          <p:nvPr userDrawn="1"/>
        </p:nvSpPr>
        <p:spPr>
          <a:xfrm rot="16200000">
            <a:off x="8491626" y="6224701"/>
            <a:ext cx="588253" cy="576063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3401ADB-CCC7-F2A7-92C7-0B2285D8DE9C}"/>
              </a:ext>
            </a:extLst>
          </p:cNvPr>
          <p:cNvSpPr txBox="1"/>
          <p:nvPr userDrawn="1"/>
        </p:nvSpPr>
        <p:spPr>
          <a:xfrm>
            <a:off x="8596070" y="6442913"/>
            <a:ext cx="49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/>
              <a:t>26</a:t>
            </a:r>
            <a:endParaRPr kumimoji="1"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11893"/>
                </a:solidFill>
              </a:rPr>
              <a:t>バージョン管理とは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6363B4-E307-15CC-2651-71CE69E71BC4}"/>
              </a:ext>
            </a:extLst>
          </p:cNvPr>
          <p:cNvSpPr txBox="1"/>
          <p:nvPr/>
        </p:nvSpPr>
        <p:spPr>
          <a:xfrm>
            <a:off x="0" y="651944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8C4BE27-0953-4591-A77E-4A66CC690E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バージョンを管理するということ</a:t>
            </a:r>
            <a:endParaRPr kumimoji="1" lang="ja-JP" altLang="en-US" dirty="0"/>
          </a:p>
        </p:txBody>
      </p:sp>
      <p:pic>
        <p:nvPicPr>
          <p:cNvPr id="1034" name="Picture 10" descr="パソコンを使う会社員のイラスト（男性・笑顔）">
            <a:extLst>
              <a:ext uri="{FF2B5EF4-FFF2-40B4-BE49-F238E27FC236}">
                <a16:creationId xmlns:a16="http://schemas.microsoft.com/office/drawing/2014/main" id="{C19E5CC8-555F-44FD-A2F6-4C7B76C05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34439"/>
            <a:ext cx="850171" cy="123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パソコンを使う会社員のイラスト（男性・怒った顔）">
            <a:extLst>
              <a:ext uri="{FF2B5EF4-FFF2-40B4-BE49-F238E27FC236}">
                <a16:creationId xmlns:a16="http://schemas.microsoft.com/office/drawing/2014/main" id="{29D361C8-32D7-4565-BF59-903FA5346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293096"/>
            <a:ext cx="800684" cy="116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ノートパソコンのキャラクター（笑顔）">
            <a:extLst>
              <a:ext uri="{FF2B5EF4-FFF2-40B4-BE49-F238E27FC236}">
                <a16:creationId xmlns:a16="http://schemas.microsoft.com/office/drawing/2014/main" id="{90148B63-9254-46AE-9085-E0ECB7BAB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88840"/>
            <a:ext cx="1296144" cy="121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110726-C59B-40EC-8D36-DB48706FF173}"/>
              </a:ext>
            </a:extLst>
          </p:cNvPr>
          <p:cNvSpPr txBox="1"/>
          <p:nvPr/>
        </p:nvSpPr>
        <p:spPr>
          <a:xfrm>
            <a:off x="2195736" y="321297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実行</a:t>
            </a:r>
            <a:endParaRPr kumimoji="1" lang="ja-JP" altLang="en-US" sz="28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9119F40-FF6B-44E2-8255-959E11EEBA48}"/>
              </a:ext>
            </a:extLst>
          </p:cNvPr>
          <p:cNvSpPr txBox="1"/>
          <p:nvPr/>
        </p:nvSpPr>
        <p:spPr>
          <a:xfrm>
            <a:off x="539552" y="543963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開発</a:t>
            </a:r>
            <a:endParaRPr kumimoji="1" lang="ja-JP" altLang="en-US" sz="2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555866E-DCB5-4F69-B3B8-BD8293C731AA}"/>
              </a:ext>
            </a:extLst>
          </p:cNvPr>
          <p:cNvSpPr txBox="1"/>
          <p:nvPr/>
        </p:nvSpPr>
        <p:spPr>
          <a:xfrm>
            <a:off x="3635896" y="54452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デバッグ</a:t>
            </a:r>
            <a:endParaRPr kumimoji="1" lang="ja-JP" altLang="en-US" sz="2800" dirty="0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53EA26A2-9114-49D6-8CB8-E74B0AF76B5C}"/>
              </a:ext>
            </a:extLst>
          </p:cNvPr>
          <p:cNvSpPr/>
          <p:nvPr/>
        </p:nvSpPr>
        <p:spPr>
          <a:xfrm rot="2700000">
            <a:off x="1332432" y="3372637"/>
            <a:ext cx="504056" cy="61836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F21E51E4-A8B1-4A8F-9D7E-14B0CFED8318}"/>
              </a:ext>
            </a:extLst>
          </p:cNvPr>
          <p:cNvSpPr/>
          <p:nvPr/>
        </p:nvSpPr>
        <p:spPr>
          <a:xfrm rot="16200000">
            <a:off x="2396908" y="5172044"/>
            <a:ext cx="504056" cy="61836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A84D48F6-840A-4DE6-A03A-5C8122DEF969}"/>
              </a:ext>
            </a:extLst>
          </p:cNvPr>
          <p:cNvSpPr/>
          <p:nvPr/>
        </p:nvSpPr>
        <p:spPr>
          <a:xfrm rot="8100000">
            <a:off x="3564680" y="3300629"/>
            <a:ext cx="504056" cy="61836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6" descr="作文の添削をしている先生のイラスト（男性）">
            <a:extLst>
              <a:ext uri="{FF2B5EF4-FFF2-40B4-BE49-F238E27FC236}">
                <a16:creationId xmlns:a16="http://schemas.microsoft.com/office/drawing/2014/main" id="{3CF1DA45-B532-49C0-B4ED-9A1B0843F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916832"/>
            <a:ext cx="1080120" cy="128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読書感想文を書く男の子のイラスト">
            <a:extLst>
              <a:ext uri="{FF2B5EF4-FFF2-40B4-BE49-F238E27FC236}">
                <a16:creationId xmlns:a16="http://schemas.microsoft.com/office/drawing/2014/main" id="{90A7C53A-C621-438B-A31E-680D37172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293096"/>
            <a:ext cx="1222010" cy="128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2D7F916-7104-407D-A595-51543E1B2866}"/>
              </a:ext>
            </a:extLst>
          </p:cNvPr>
          <p:cNvSpPr txBox="1"/>
          <p:nvPr/>
        </p:nvSpPr>
        <p:spPr>
          <a:xfrm>
            <a:off x="1331640" y="6237312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多くの知的生産活動は、修正を繰り返す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534F153-3A30-4062-80AB-C30E6D3D9F1F}"/>
              </a:ext>
            </a:extLst>
          </p:cNvPr>
          <p:cNvSpPr txBox="1"/>
          <p:nvPr/>
        </p:nvSpPr>
        <p:spPr>
          <a:xfrm>
            <a:off x="6804248" y="558924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執筆</a:t>
            </a:r>
            <a:endParaRPr kumimoji="1" lang="ja-JP" altLang="en-US" sz="2800" dirty="0"/>
          </a:p>
        </p:txBody>
      </p:sp>
      <p:sp>
        <p:nvSpPr>
          <p:cNvPr id="6" name="矢印: 右カーブ 5">
            <a:extLst>
              <a:ext uri="{FF2B5EF4-FFF2-40B4-BE49-F238E27FC236}">
                <a16:creationId xmlns:a16="http://schemas.microsoft.com/office/drawing/2014/main" id="{0435D55A-71AE-425D-8FF7-3D66C9D01B9E}"/>
              </a:ext>
            </a:extLst>
          </p:cNvPr>
          <p:cNvSpPr/>
          <p:nvPr/>
        </p:nvSpPr>
        <p:spPr>
          <a:xfrm>
            <a:off x="6084168" y="3140968"/>
            <a:ext cx="504056" cy="1360168"/>
          </a:xfrm>
          <a:prstGeom prst="curved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矢印: 右カーブ 21">
            <a:extLst>
              <a:ext uri="{FF2B5EF4-FFF2-40B4-BE49-F238E27FC236}">
                <a16:creationId xmlns:a16="http://schemas.microsoft.com/office/drawing/2014/main" id="{CD013CB6-5BAB-466B-AD1F-0D59530D21E2}"/>
              </a:ext>
            </a:extLst>
          </p:cNvPr>
          <p:cNvSpPr/>
          <p:nvPr/>
        </p:nvSpPr>
        <p:spPr>
          <a:xfrm rot="10800000">
            <a:off x="7884368" y="3068960"/>
            <a:ext cx="504056" cy="1360168"/>
          </a:xfrm>
          <a:prstGeom prst="curved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C5C9915-9979-4836-A8A6-35620A9723F1}"/>
              </a:ext>
            </a:extLst>
          </p:cNvPr>
          <p:cNvSpPr txBox="1"/>
          <p:nvPr/>
        </p:nvSpPr>
        <p:spPr>
          <a:xfrm>
            <a:off x="6804248" y="3140968"/>
            <a:ext cx="1080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添削</a:t>
            </a:r>
            <a:endParaRPr kumimoji="1" lang="ja-JP" altLang="en-US" sz="2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1C9387-1A78-4F46-953C-6B931F990022}"/>
              </a:ext>
            </a:extLst>
          </p:cNvPr>
          <p:cNvSpPr txBox="1"/>
          <p:nvPr/>
        </p:nvSpPr>
        <p:spPr>
          <a:xfrm>
            <a:off x="1331640" y="141277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プログラム開発</a:t>
            </a:r>
            <a:endParaRPr kumimoji="1" lang="ja-JP" altLang="en-US" sz="240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24FEEA-C97A-44D4-8857-6D747B584A02}"/>
              </a:ext>
            </a:extLst>
          </p:cNvPr>
          <p:cNvSpPr txBox="1"/>
          <p:nvPr/>
        </p:nvSpPr>
        <p:spPr>
          <a:xfrm>
            <a:off x="6444208" y="141277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論文執筆</a:t>
            </a:r>
          </a:p>
        </p:txBody>
      </p:sp>
    </p:spTree>
    <p:extLst>
      <p:ext uri="{BB962C8B-B14F-4D97-AF65-F5344CB8AC3E}">
        <p14:creationId xmlns:p14="http://schemas.microsoft.com/office/powerpoint/2010/main" val="118488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B3D7CBA-DA71-44A3-9771-3276185B8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バージョンを管理するということ</a:t>
            </a:r>
            <a:endParaRPr kumimoji="1" lang="ja-JP" altLang="en-US" dirty="0"/>
          </a:p>
        </p:txBody>
      </p:sp>
      <p:pic>
        <p:nvPicPr>
          <p:cNvPr id="3074" name="Picture 2" descr="中年男性の表情のイラスト「疑問」">
            <a:extLst>
              <a:ext uri="{FF2B5EF4-FFF2-40B4-BE49-F238E27FC236}">
                <a16:creationId xmlns:a16="http://schemas.microsoft.com/office/drawing/2014/main" id="{1B2D9DAC-838F-4DD7-B986-9B223827D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060848"/>
            <a:ext cx="1584176" cy="182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ファイルアイコン（ブランク）">
            <a:extLst>
              <a:ext uri="{FF2B5EF4-FFF2-40B4-BE49-F238E27FC236}">
                <a16:creationId xmlns:a16="http://schemas.microsoft.com/office/drawing/2014/main" id="{E0B1B8DB-9149-4E38-A9A0-82EE9C5EF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92896"/>
            <a:ext cx="14763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ファイルアイコン（ブランク）">
            <a:extLst>
              <a:ext uri="{FF2B5EF4-FFF2-40B4-BE49-F238E27FC236}">
                <a16:creationId xmlns:a16="http://schemas.microsoft.com/office/drawing/2014/main" id="{7D19C7D1-85B4-4960-A9B6-459565FD2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564904"/>
            <a:ext cx="14763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D425A3-8181-4CEC-862C-15C5D45554E5}"/>
              </a:ext>
            </a:extLst>
          </p:cNvPr>
          <p:cNvSpPr txBox="1"/>
          <p:nvPr/>
        </p:nvSpPr>
        <p:spPr>
          <a:xfrm>
            <a:off x="611560" y="4365104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仕様書</a:t>
            </a:r>
            <a:r>
              <a:rPr lang="en-US" altLang="ja-JP" dirty="0"/>
              <a:t>_</a:t>
            </a:r>
            <a:r>
              <a:rPr lang="ja-JP" altLang="en-US" dirty="0"/>
              <a:t>佐藤修正</a:t>
            </a:r>
            <a:r>
              <a:rPr lang="en-US" altLang="ja-JP" dirty="0"/>
              <a:t>_</a:t>
            </a:r>
            <a:r>
              <a:rPr lang="ja-JP" altLang="en-US" dirty="0"/>
              <a:t>吉本追記</a:t>
            </a:r>
            <a:r>
              <a:rPr lang="en-US" altLang="ja-JP" dirty="0"/>
              <a:t>.docx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1C8E62-6363-4878-A537-CF0E6C990449}"/>
              </a:ext>
            </a:extLst>
          </p:cNvPr>
          <p:cNvSpPr txBox="1"/>
          <p:nvPr/>
        </p:nvSpPr>
        <p:spPr>
          <a:xfrm>
            <a:off x="5364088" y="4365104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仕様書</a:t>
            </a:r>
            <a:r>
              <a:rPr lang="en-US" altLang="ja-JP" dirty="0"/>
              <a:t>_</a:t>
            </a:r>
            <a:r>
              <a:rPr lang="ja-JP" altLang="en-US" dirty="0"/>
              <a:t>最終版</a:t>
            </a:r>
            <a:r>
              <a:rPr lang="en-US" altLang="ja-JP" dirty="0"/>
              <a:t>_</a:t>
            </a:r>
            <a:r>
              <a:rPr lang="ja-JP" altLang="en-US" dirty="0"/>
              <a:t>田中修正</a:t>
            </a:r>
            <a:r>
              <a:rPr lang="en-US" altLang="ja-JP" dirty="0"/>
              <a:t>v2.docx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DF782A-3932-4303-BB4D-7C206AEA2AA4}"/>
              </a:ext>
            </a:extLst>
          </p:cNvPr>
          <p:cNvSpPr txBox="1"/>
          <p:nvPr/>
        </p:nvSpPr>
        <p:spPr>
          <a:xfrm>
            <a:off x="2771800" y="126876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どっちが最新？</a:t>
            </a:r>
            <a:endParaRPr kumimoji="1" lang="ja-JP" altLang="en-US" sz="3600" dirty="0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D12A8489-9BD5-43A7-AF94-AC57B02A838F}"/>
              </a:ext>
            </a:extLst>
          </p:cNvPr>
          <p:cNvSpPr/>
          <p:nvPr/>
        </p:nvSpPr>
        <p:spPr>
          <a:xfrm>
            <a:off x="1619672" y="5589240"/>
            <a:ext cx="792088" cy="6286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DA4083-1E38-4AB5-BC66-783FAD94C926}"/>
              </a:ext>
            </a:extLst>
          </p:cNvPr>
          <p:cNvSpPr txBox="1"/>
          <p:nvPr/>
        </p:nvSpPr>
        <p:spPr>
          <a:xfrm>
            <a:off x="2555777" y="5301208"/>
            <a:ext cx="5760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バージョン</a:t>
            </a:r>
            <a:r>
              <a:rPr lang="ja-JP" altLang="en-US" sz="3200"/>
              <a:t>管理システム</a:t>
            </a:r>
            <a:endParaRPr lang="en-US" altLang="ja-JP" sz="3200"/>
          </a:p>
          <a:p>
            <a:r>
              <a:rPr kumimoji="1" lang="en-US" altLang="ja-JP" sz="3200"/>
              <a:t>(Version Control System, VCS)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7046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86585F2-52AE-4F31-8521-6F56CC420F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バージョン管理システム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B41241-5A38-4279-BDB1-EE0F73AB0423}"/>
              </a:ext>
            </a:extLst>
          </p:cNvPr>
          <p:cNvSpPr txBox="1"/>
          <p:nvPr/>
        </p:nvSpPr>
        <p:spPr>
          <a:xfrm>
            <a:off x="467544" y="1628800"/>
            <a:ext cx="84241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ファイルの編集履歴を管理するためのシステム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編集履歴をすべて保存する「リポジトリ」というデータベースを持つ</a:t>
            </a:r>
            <a:endParaRPr kumimoji="1"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ユーザはリポジトリにアクセスしながら開発を行う</a:t>
            </a:r>
            <a:endParaRPr kumimoji="1" lang="ja-JP" altLang="en-US" sz="2000" dirty="0"/>
          </a:p>
        </p:txBody>
      </p:sp>
      <p:pic>
        <p:nvPicPr>
          <p:cNvPr id="4100" name="Picture 4" descr="ホテルのフロントのイラスト">
            <a:extLst>
              <a:ext uri="{FF2B5EF4-FFF2-40B4-BE49-F238E27FC236}">
                <a16:creationId xmlns:a16="http://schemas.microsoft.com/office/drawing/2014/main" id="{9E2C8B98-02BB-46F8-AFDF-FC6C8B4D9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861048"/>
            <a:ext cx="2337048" cy="233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7291CA-4330-4523-8671-88F7FE5B732E}"/>
              </a:ext>
            </a:extLst>
          </p:cNvPr>
          <p:cNvSpPr txBox="1"/>
          <p:nvPr/>
        </p:nvSpPr>
        <p:spPr>
          <a:xfrm>
            <a:off x="107504" y="1124744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バージョン管理システムとは？</a:t>
            </a:r>
            <a:endParaRPr lang="en-US" sz="24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643521-21B1-4D8D-A36B-DE817E8C1C63}"/>
              </a:ext>
            </a:extLst>
          </p:cNvPr>
          <p:cNvSpPr txBox="1"/>
          <p:nvPr/>
        </p:nvSpPr>
        <p:spPr>
          <a:xfrm>
            <a:off x="179512" y="2996952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何ができるようになるの？</a:t>
            </a:r>
            <a:endParaRPr lang="en-US" sz="2400">
              <a:solidFill>
                <a:srgbClr val="011893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672979-5484-4367-B91F-8D781811B3B9}"/>
              </a:ext>
            </a:extLst>
          </p:cNvPr>
          <p:cNvSpPr txBox="1"/>
          <p:nvPr/>
        </p:nvSpPr>
        <p:spPr>
          <a:xfrm>
            <a:off x="395536" y="3789040"/>
            <a:ext cx="53463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/>
              <a:t>任意の時点に状態を戻すことができる</a:t>
            </a:r>
            <a:endParaRPr kumimoji="1" lang="en-US" altLang="ja-JP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/>
              <a:t>任意の時点間の差分を確認できる</a:t>
            </a:r>
            <a:endParaRPr lang="en-US" altLang="ja-JP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/>
              <a:t>誰が、いつ、どこを修正したか確認できる</a:t>
            </a:r>
            <a:endParaRPr lang="en-US" altLang="ja-JP" sz="20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938FFD-AA54-4704-A832-24A979300647}"/>
              </a:ext>
            </a:extLst>
          </p:cNvPr>
          <p:cNvSpPr txBox="1"/>
          <p:nvPr/>
        </p:nvSpPr>
        <p:spPr>
          <a:xfrm>
            <a:off x="251520" y="5301208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FF0000"/>
                </a:solidFill>
              </a:rPr>
              <a:t>超優秀な秘書のようなもの</a:t>
            </a:r>
            <a:endParaRPr lang="en-US" sz="3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057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46E6D90-D2FD-4C21-B95F-89DCEE5345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バージョン管理システム</a:t>
            </a:r>
            <a:r>
              <a:rPr lang="ja-JP" altLang="en-US"/>
              <a:t>の歴史</a:t>
            </a:r>
            <a:endParaRPr kumimoji="1" lang="ja-JP" altLang="en-US"/>
          </a:p>
        </p:txBody>
      </p:sp>
      <p:pic>
        <p:nvPicPr>
          <p:cNvPr id="4" name="Picture 2" descr="パソコンを使う会社員のイラスト（男性・笑顔）">
            <a:extLst>
              <a:ext uri="{FF2B5EF4-FFF2-40B4-BE49-F238E27FC236}">
                <a16:creationId xmlns:a16="http://schemas.microsoft.com/office/drawing/2014/main" id="{2CD01D26-0AF8-4242-87AD-7045C506C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85" y="4034681"/>
            <a:ext cx="850267" cy="123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5CB73886-B528-4A1F-8D08-44A55877CB33}"/>
              </a:ext>
            </a:extLst>
          </p:cNvPr>
          <p:cNvGrpSpPr/>
          <p:nvPr/>
        </p:nvGrpSpPr>
        <p:grpSpPr>
          <a:xfrm>
            <a:off x="1464533" y="5618857"/>
            <a:ext cx="518457" cy="648072"/>
            <a:chOff x="1691680" y="3429000"/>
            <a:chExt cx="1440160" cy="1800200"/>
          </a:xfrm>
        </p:grpSpPr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15849040-4253-4F71-B084-387D4441108E}"/>
                </a:ext>
              </a:extLst>
            </p:cNvPr>
            <p:cNvSpPr/>
            <p:nvPr/>
          </p:nvSpPr>
          <p:spPr>
            <a:xfrm>
              <a:off x="1691680" y="3429000"/>
              <a:ext cx="1440160" cy="720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弧 6">
              <a:extLst>
                <a:ext uri="{FF2B5EF4-FFF2-40B4-BE49-F238E27FC236}">
                  <a16:creationId xmlns:a16="http://schemas.microsoft.com/office/drawing/2014/main" id="{FEC6B259-0348-4B25-B86B-A411F5D81FA7}"/>
                </a:ext>
              </a:extLst>
            </p:cNvPr>
            <p:cNvSpPr/>
            <p:nvPr/>
          </p:nvSpPr>
          <p:spPr>
            <a:xfrm rot="5400000">
              <a:off x="2051720" y="3429000"/>
              <a:ext cx="720080" cy="1440160"/>
            </a:xfrm>
            <a:prstGeom prst="arc">
              <a:avLst>
                <a:gd name="adj1" fmla="val 16200000"/>
                <a:gd name="adj2" fmla="val 52985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円弧 7">
              <a:extLst>
                <a:ext uri="{FF2B5EF4-FFF2-40B4-BE49-F238E27FC236}">
                  <a16:creationId xmlns:a16="http://schemas.microsoft.com/office/drawing/2014/main" id="{E9C812F1-29C8-485F-919E-5FCA186E166D}"/>
                </a:ext>
              </a:extLst>
            </p:cNvPr>
            <p:cNvSpPr/>
            <p:nvPr/>
          </p:nvSpPr>
          <p:spPr>
            <a:xfrm rot="5400000">
              <a:off x="2051720" y="4149080"/>
              <a:ext cx="720080" cy="1440160"/>
            </a:xfrm>
            <a:prstGeom prst="arc">
              <a:avLst>
                <a:gd name="adj1" fmla="val 16200000"/>
                <a:gd name="adj2" fmla="val 52985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円弧 8">
              <a:extLst>
                <a:ext uri="{FF2B5EF4-FFF2-40B4-BE49-F238E27FC236}">
                  <a16:creationId xmlns:a16="http://schemas.microsoft.com/office/drawing/2014/main" id="{F7D5BD76-4F73-4CE3-A01B-2F9A89BED501}"/>
                </a:ext>
              </a:extLst>
            </p:cNvPr>
            <p:cNvSpPr/>
            <p:nvPr/>
          </p:nvSpPr>
          <p:spPr>
            <a:xfrm rot="5400000">
              <a:off x="2051720" y="3789040"/>
              <a:ext cx="720080" cy="1440160"/>
            </a:xfrm>
            <a:prstGeom prst="arc">
              <a:avLst>
                <a:gd name="adj1" fmla="val 16200000"/>
                <a:gd name="adj2" fmla="val 52985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7051CB66-2EB8-4369-905D-13F854B17790}"/>
                </a:ext>
              </a:extLst>
            </p:cNvPr>
            <p:cNvCxnSpPr>
              <a:stCxn id="6" idx="6"/>
              <a:endCxn id="8" idx="0"/>
            </p:cNvCxnSpPr>
            <p:nvPr/>
          </p:nvCxnSpPr>
          <p:spPr>
            <a:xfrm>
              <a:off x="3131840" y="3789040"/>
              <a:ext cx="0" cy="10801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F9971EA4-A8F7-4A21-9DF2-B2A28D64062E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>
              <a:off x="1691680" y="3789040"/>
              <a:ext cx="1253" cy="11013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DFA0628B-ECE7-44FD-80C1-CA36BBDC7C46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1416016" y="5311110"/>
            <a:ext cx="349349" cy="26614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パソコンを使う会社員のイラスト（男性・笑顔）">
            <a:extLst>
              <a:ext uri="{FF2B5EF4-FFF2-40B4-BE49-F238E27FC236}">
                <a16:creationId xmlns:a16="http://schemas.microsoft.com/office/drawing/2014/main" id="{65327392-FE64-4366-A078-AE180E32A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717" y="4610745"/>
            <a:ext cx="850267" cy="123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AC7A9C2-0782-45B2-BFE9-5E67EC377023}"/>
              </a:ext>
            </a:extLst>
          </p:cNvPr>
          <p:cNvGrpSpPr/>
          <p:nvPr/>
        </p:nvGrpSpPr>
        <p:grpSpPr>
          <a:xfrm>
            <a:off x="4632885" y="4106689"/>
            <a:ext cx="864096" cy="1944216"/>
            <a:chOff x="4427984" y="692696"/>
            <a:chExt cx="864096" cy="1944216"/>
          </a:xfrm>
        </p:grpSpPr>
        <p:pic>
          <p:nvPicPr>
            <p:cNvPr id="15" name="Picture 4" descr="サーバのイラスト（グレー）">
              <a:extLst>
                <a:ext uri="{FF2B5EF4-FFF2-40B4-BE49-F238E27FC236}">
                  <a16:creationId xmlns:a16="http://schemas.microsoft.com/office/drawing/2014/main" id="{8DAA4A2D-FFE3-44DD-A9E3-91EBFD3272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692696"/>
              <a:ext cx="654501" cy="996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CC902276-C31D-4C48-B8B9-F512A5EB5E56}"/>
                </a:ext>
              </a:extLst>
            </p:cNvPr>
            <p:cNvGrpSpPr/>
            <p:nvPr/>
          </p:nvGrpSpPr>
          <p:grpSpPr>
            <a:xfrm>
              <a:off x="4773623" y="1988840"/>
              <a:ext cx="518457" cy="648072"/>
              <a:chOff x="1691680" y="3429000"/>
              <a:chExt cx="1440160" cy="1800200"/>
            </a:xfrm>
          </p:grpSpPr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6B2F7FE8-CD63-4414-AC4E-246D2C118654}"/>
                  </a:ext>
                </a:extLst>
              </p:cNvPr>
              <p:cNvSpPr/>
              <p:nvPr/>
            </p:nvSpPr>
            <p:spPr>
              <a:xfrm>
                <a:off x="1691680" y="3429000"/>
                <a:ext cx="1440160" cy="720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円弧 18">
                <a:extLst>
                  <a:ext uri="{FF2B5EF4-FFF2-40B4-BE49-F238E27FC236}">
                    <a16:creationId xmlns:a16="http://schemas.microsoft.com/office/drawing/2014/main" id="{BDE1D379-F89E-404C-AEA6-6B2EFA2D36F8}"/>
                  </a:ext>
                </a:extLst>
              </p:cNvPr>
              <p:cNvSpPr/>
              <p:nvPr/>
            </p:nvSpPr>
            <p:spPr>
              <a:xfrm rot="5400000">
                <a:off x="2051720" y="342900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円弧 19">
                <a:extLst>
                  <a:ext uri="{FF2B5EF4-FFF2-40B4-BE49-F238E27FC236}">
                    <a16:creationId xmlns:a16="http://schemas.microsoft.com/office/drawing/2014/main" id="{CCB774DD-2EC6-4F45-9EB7-93C22C9AEE69}"/>
                  </a:ext>
                </a:extLst>
              </p:cNvPr>
              <p:cNvSpPr/>
              <p:nvPr/>
            </p:nvSpPr>
            <p:spPr>
              <a:xfrm rot="5400000">
                <a:off x="2051720" y="414908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弧 20">
                <a:extLst>
                  <a:ext uri="{FF2B5EF4-FFF2-40B4-BE49-F238E27FC236}">
                    <a16:creationId xmlns:a16="http://schemas.microsoft.com/office/drawing/2014/main" id="{6D92490A-C423-49FF-B29F-A41804C40D47}"/>
                  </a:ext>
                </a:extLst>
              </p:cNvPr>
              <p:cNvSpPr/>
              <p:nvPr/>
            </p:nvSpPr>
            <p:spPr>
              <a:xfrm rot="5400000">
                <a:off x="2051720" y="378904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218856E4-2EB8-46C5-886F-25A6884761F6}"/>
                  </a:ext>
                </a:extLst>
              </p:cNvPr>
              <p:cNvCxnSpPr>
                <a:stCxn id="18" idx="6"/>
                <a:endCxn id="20" idx="0"/>
              </p:cNvCxnSpPr>
              <p:nvPr/>
            </p:nvCxnSpPr>
            <p:spPr>
              <a:xfrm>
                <a:off x="3131840" y="3789040"/>
                <a:ext cx="0" cy="10801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9F1B2338-1CE5-49A1-8F9F-511CD8909EBB}"/>
                  </a:ext>
                </a:extLst>
              </p:cNvPr>
              <p:cNvCxnSpPr>
                <a:stCxn id="18" idx="2"/>
                <a:endCxn id="20" idx="2"/>
              </p:cNvCxnSpPr>
              <p:nvPr/>
            </p:nvCxnSpPr>
            <p:spPr>
              <a:xfrm>
                <a:off x="1691680" y="3789040"/>
                <a:ext cx="1253" cy="1101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コネクタ: カギ線 16">
              <a:extLst>
                <a:ext uri="{FF2B5EF4-FFF2-40B4-BE49-F238E27FC236}">
                  <a16:creationId xmlns:a16="http://schemas.microsoft.com/office/drawing/2014/main" id="{67110E00-3B1A-4641-998C-5C53D5931EB6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 rot="16200000" flipH="1">
              <a:off x="4744322" y="1700310"/>
              <a:ext cx="299442" cy="277617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図 23" descr="アイコン&#10;&#10;自動的に生成された説明">
            <a:extLst>
              <a:ext uri="{FF2B5EF4-FFF2-40B4-BE49-F238E27FC236}">
                <a16:creationId xmlns:a16="http://schemas.microsoft.com/office/drawing/2014/main" id="{F7109F7B-E3C8-455A-AE0D-9D82EA1CD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800000">
            <a:off x="4020541" y="4869332"/>
            <a:ext cx="618136" cy="596573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57BC4FB-9F42-4CC6-B1A7-0E7B5F7B612A}"/>
              </a:ext>
            </a:extLst>
          </p:cNvPr>
          <p:cNvGrpSpPr/>
          <p:nvPr/>
        </p:nvGrpSpPr>
        <p:grpSpPr>
          <a:xfrm>
            <a:off x="6318785" y="4947915"/>
            <a:ext cx="490583" cy="1152128"/>
            <a:chOff x="6444208" y="1196752"/>
            <a:chExt cx="950505" cy="2232248"/>
          </a:xfrm>
        </p:grpSpPr>
        <p:pic>
          <p:nvPicPr>
            <p:cNvPr id="26" name="Picture 2" descr="パソコンを使う会社員のイラスト（男性・笑顔）">
              <a:extLst>
                <a:ext uri="{FF2B5EF4-FFF2-40B4-BE49-F238E27FC236}">
                  <a16:creationId xmlns:a16="http://schemas.microsoft.com/office/drawing/2014/main" id="{FCB5325E-ABCB-4BC2-B59B-FA5E8298C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4208" y="1196752"/>
              <a:ext cx="850267" cy="1234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D938B85F-320D-4FDC-A897-85959B96B6EA}"/>
                </a:ext>
              </a:extLst>
            </p:cNvPr>
            <p:cNvGrpSpPr/>
            <p:nvPr/>
          </p:nvGrpSpPr>
          <p:grpSpPr>
            <a:xfrm>
              <a:off x="6876256" y="2780928"/>
              <a:ext cx="518457" cy="648072"/>
              <a:chOff x="1691680" y="3429000"/>
              <a:chExt cx="1440160" cy="1800200"/>
            </a:xfrm>
          </p:grpSpPr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F39AC39A-132C-4A73-9364-3E4AF7CDBF29}"/>
                  </a:ext>
                </a:extLst>
              </p:cNvPr>
              <p:cNvSpPr/>
              <p:nvPr/>
            </p:nvSpPr>
            <p:spPr>
              <a:xfrm>
                <a:off x="1691680" y="3429000"/>
                <a:ext cx="1440160" cy="720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円弧 29">
                <a:extLst>
                  <a:ext uri="{FF2B5EF4-FFF2-40B4-BE49-F238E27FC236}">
                    <a16:creationId xmlns:a16="http://schemas.microsoft.com/office/drawing/2014/main" id="{440A9362-4C84-484D-A91F-1520CF762BC1}"/>
                  </a:ext>
                </a:extLst>
              </p:cNvPr>
              <p:cNvSpPr/>
              <p:nvPr/>
            </p:nvSpPr>
            <p:spPr>
              <a:xfrm rot="5400000">
                <a:off x="2051720" y="342900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弧 30">
                <a:extLst>
                  <a:ext uri="{FF2B5EF4-FFF2-40B4-BE49-F238E27FC236}">
                    <a16:creationId xmlns:a16="http://schemas.microsoft.com/office/drawing/2014/main" id="{0EF68790-904C-4CDB-92E9-618FA52FFB7F}"/>
                  </a:ext>
                </a:extLst>
              </p:cNvPr>
              <p:cNvSpPr/>
              <p:nvPr/>
            </p:nvSpPr>
            <p:spPr>
              <a:xfrm rot="5400000">
                <a:off x="2051720" y="414908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弧 31">
                <a:extLst>
                  <a:ext uri="{FF2B5EF4-FFF2-40B4-BE49-F238E27FC236}">
                    <a16:creationId xmlns:a16="http://schemas.microsoft.com/office/drawing/2014/main" id="{0B6FD42D-DE01-43AC-AFEB-5B091652A5BA}"/>
                  </a:ext>
                </a:extLst>
              </p:cNvPr>
              <p:cNvSpPr/>
              <p:nvPr/>
            </p:nvSpPr>
            <p:spPr>
              <a:xfrm rot="5400000">
                <a:off x="2051720" y="378904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D702F7E4-E275-4984-BC17-0240621EAC4F}"/>
                  </a:ext>
                </a:extLst>
              </p:cNvPr>
              <p:cNvCxnSpPr>
                <a:stCxn id="29" idx="6"/>
                <a:endCxn id="31" idx="0"/>
              </p:cNvCxnSpPr>
              <p:nvPr/>
            </p:nvCxnSpPr>
            <p:spPr>
              <a:xfrm>
                <a:off x="3131840" y="3789040"/>
                <a:ext cx="0" cy="10801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CC8B486C-029C-4598-B201-4F4A27068967}"/>
                  </a:ext>
                </a:extLst>
              </p:cNvPr>
              <p:cNvCxnSpPr>
                <a:stCxn id="29" idx="2"/>
                <a:endCxn id="31" idx="2"/>
              </p:cNvCxnSpPr>
              <p:nvPr/>
            </p:nvCxnSpPr>
            <p:spPr>
              <a:xfrm>
                <a:off x="1691680" y="3789040"/>
                <a:ext cx="1253" cy="1101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コネクタ: カギ線 27">
              <a:extLst>
                <a:ext uri="{FF2B5EF4-FFF2-40B4-BE49-F238E27FC236}">
                  <a16:creationId xmlns:a16="http://schemas.microsoft.com/office/drawing/2014/main" id="{CCA10BAA-9C8A-41AF-9807-C0A87BACA1B3}"/>
                </a:ext>
              </a:extLst>
            </p:cNvPr>
            <p:cNvCxnSpPr>
              <a:stCxn id="26" idx="2"/>
              <a:endCxn id="29" idx="0"/>
            </p:cNvCxnSpPr>
            <p:nvPr/>
          </p:nvCxnSpPr>
          <p:spPr>
            <a:xfrm rot="16200000" flipH="1">
              <a:off x="6827739" y="2473181"/>
              <a:ext cx="349349" cy="26614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FD309767-AF0A-45B0-B7BC-ACACF8C947EA}"/>
              </a:ext>
            </a:extLst>
          </p:cNvPr>
          <p:cNvGrpSpPr/>
          <p:nvPr/>
        </p:nvGrpSpPr>
        <p:grpSpPr>
          <a:xfrm>
            <a:off x="8109460" y="4852665"/>
            <a:ext cx="490583" cy="1152128"/>
            <a:chOff x="6444208" y="1196752"/>
            <a:chExt cx="950505" cy="2232248"/>
          </a:xfrm>
        </p:grpSpPr>
        <p:pic>
          <p:nvPicPr>
            <p:cNvPr id="36" name="Picture 2" descr="パソコンを使う会社員のイラスト（男性・笑顔）">
              <a:extLst>
                <a:ext uri="{FF2B5EF4-FFF2-40B4-BE49-F238E27FC236}">
                  <a16:creationId xmlns:a16="http://schemas.microsoft.com/office/drawing/2014/main" id="{D5D5D167-DD18-49C2-A2C5-3888F7DD5D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4208" y="1196752"/>
              <a:ext cx="850267" cy="1234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822E9E9-6138-437A-8175-ABD16FAC12C4}"/>
                </a:ext>
              </a:extLst>
            </p:cNvPr>
            <p:cNvGrpSpPr/>
            <p:nvPr/>
          </p:nvGrpSpPr>
          <p:grpSpPr>
            <a:xfrm>
              <a:off x="6876256" y="2780928"/>
              <a:ext cx="518457" cy="648072"/>
              <a:chOff x="1691680" y="3429000"/>
              <a:chExt cx="1440160" cy="1800200"/>
            </a:xfrm>
          </p:grpSpPr>
          <p:sp>
            <p:nvSpPr>
              <p:cNvPr id="39" name="楕円 38">
                <a:extLst>
                  <a:ext uri="{FF2B5EF4-FFF2-40B4-BE49-F238E27FC236}">
                    <a16:creationId xmlns:a16="http://schemas.microsoft.com/office/drawing/2014/main" id="{5F13744A-6116-4846-B0D9-F3FF975164BF}"/>
                  </a:ext>
                </a:extLst>
              </p:cNvPr>
              <p:cNvSpPr/>
              <p:nvPr/>
            </p:nvSpPr>
            <p:spPr>
              <a:xfrm>
                <a:off x="1691680" y="3429000"/>
                <a:ext cx="1440160" cy="720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0" name="円弧 39">
                <a:extLst>
                  <a:ext uri="{FF2B5EF4-FFF2-40B4-BE49-F238E27FC236}">
                    <a16:creationId xmlns:a16="http://schemas.microsoft.com/office/drawing/2014/main" id="{CA4CF78A-6CD3-45CE-8139-6E3C8E613B93}"/>
                  </a:ext>
                </a:extLst>
              </p:cNvPr>
              <p:cNvSpPr/>
              <p:nvPr/>
            </p:nvSpPr>
            <p:spPr>
              <a:xfrm rot="5400000">
                <a:off x="2051720" y="342900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円弧 40">
                <a:extLst>
                  <a:ext uri="{FF2B5EF4-FFF2-40B4-BE49-F238E27FC236}">
                    <a16:creationId xmlns:a16="http://schemas.microsoft.com/office/drawing/2014/main" id="{DC8E5618-0F24-43DC-8F1F-AA27D736663F}"/>
                  </a:ext>
                </a:extLst>
              </p:cNvPr>
              <p:cNvSpPr/>
              <p:nvPr/>
            </p:nvSpPr>
            <p:spPr>
              <a:xfrm rot="5400000">
                <a:off x="2051720" y="414908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2" name="円弧 41">
                <a:extLst>
                  <a:ext uri="{FF2B5EF4-FFF2-40B4-BE49-F238E27FC236}">
                    <a16:creationId xmlns:a16="http://schemas.microsoft.com/office/drawing/2014/main" id="{9ABDBB62-056F-4B00-BAB1-A33FAE912820}"/>
                  </a:ext>
                </a:extLst>
              </p:cNvPr>
              <p:cNvSpPr/>
              <p:nvPr/>
            </p:nvSpPr>
            <p:spPr>
              <a:xfrm rot="5400000">
                <a:off x="2051720" y="378904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43" name="直線コネクタ 42">
                <a:extLst>
                  <a:ext uri="{FF2B5EF4-FFF2-40B4-BE49-F238E27FC236}">
                    <a16:creationId xmlns:a16="http://schemas.microsoft.com/office/drawing/2014/main" id="{BD6504D7-E2FA-4A3B-A6A0-6F9D3FE8732C}"/>
                  </a:ext>
                </a:extLst>
              </p:cNvPr>
              <p:cNvCxnSpPr>
                <a:stCxn id="39" idx="6"/>
                <a:endCxn id="41" idx="0"/>
              </p:cNvCxnSpPr>
              <p:nvPr/>
            </p:nvCxnSpPr>
            <p:spPr>
              <a:xfrm>
                <a:off x="3131840" y="3789040"/>
                <a:ext cx="0" cy="10801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コネクタ 43">
                <a:extLst>
                  <a:ext uri="{FF2B5EF4-FFF2-40B4-BE49-F238E27FC236}">
                    <a16:creationId xmlns:a16="http://schemas.microsoft.com/office/drawing/2014/main" id="{5F795983-332F-4552-A0E6-231B7FE43091}"/>
                  </a:ext>
                </a:extLst>
              </p:cNvPr>
              <p:cNvCxnSpPr>
                <a:stCxn id="39" idx="2"/>
                <a:endCxn id="41" idx="2"/>
              </p:cNvCxnSpPr>
              <p:nvPr/>
            </p:nvCxnSpPr>
            <p:spPr>
              <a:xfrm>
                <a:off x="1691680" y="3789040"/>
                <a:ext cx="1253" cy="1101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コネクタ: カギ線 37">
              <a:extLst>
                <a:ext uri="{FF2B5EF4-FFF2-40B4-BE49-F238E27FC236}">
                  <a16:creationId xmlns:a16="http://schemas.microsoft.com/office/drawing/2014/main" id="{84740668-3DA2-44EE-B2F0-6A0412FA4442}"/>
                </a:ext>
              </a:extLst>
            </p:cNvPr>
            <p:cNvCxnSpPr>
              <a:stCxn id="36" idx="2"/>
              <a:endCxn id="39" idx="0"/>
            </p:cNvCxnSpPr>
            <p:nvPr/>
          </p:nvCxnSpPr>
          <p:spPr>
            <a:xfrm rot="16200000" flipH="1">
              <a:off x="6827739" y="2473181"/>
              <a:ext cx="349349" cy="26614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2F1D8103-4BF3-4EF7-AE84-053210E877C5}"/>
              </a:ext>
            </a:extLst>
          </p:cNvPr>
          <p:cNvGrpSpPr/>
          <p:nvPr/>
        </p:nvGrpSpPr>
        <p:grpSpPr>
          <a:xfrm>
            <a:off x="7225173" y="4119637"/>
            <a:ext cx="512057" cy="1152128"/>
            <a:chOff x="4427984" y="692696"/>
            <a:chExt cx="864096" cy="1944216"/>
          </a:xfrm>
        </p:grpSpPr>
        <p:pic>
          <p:nvPicPr>
            <p:cNvPr id="46" name="Picture 4" descr="サーバのイラスト（グレー）">
              <a:extLst>
                <a:ext uri="{FF2B5EF4-FFF2-40B4-BE49-F238E27FC236}">
                  <a16:creationId xmlns:a16="http://schemas.microsoft.com/office/drawing/2014/main" id="{23036A4B-166E-491A-BA2F-C259FE4734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692696"/>
              <a:ext cx="654501" cy="996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D3BC2235-E711-42C8-8582-82B5DE2B3E17}"/>
                </a:ext>
              </a:extLst>
            </p:cNvPr>
            <p:cNvGrpSpPr/>
            <p:nvPr/>
          </p:nvGrpSpPr>
          <p:grpSpPr>
            <a:xfrm>
              <a:off x="4773623" y="1988840"/>
              <a:ext cx="518457" cy="648072"/>
              <a:chOff x="1691680" y="3429000"/>
              <a:chExt cx="1440160" cy="1800200"/>
            </a:xfrm>
          </p:grpSpPr>
          <p:sp>
            <p:nvSpPr>
              <p:cNvPr id="49" name="楕円 48">
                <a:extLst>
                  <a:ext uri="{FF2B5EF4-FFF2-40B4-BE49-F238E27FC236}">
                    <a16:creationId xmlns:a16="http://schemas.microsoft.com/office/drawing/2014/main" id="{E7877DAC-80A0-45F2-8FBB-42E14A2BF859}"/>
                  </a:ext>
                </a:extLst>
              </p:cNvPr>
              <p:cNvSpPr/>
              <p:nvPr/>
            </p:nvSpPr>
            <p:spPr>
              <a:xfrm>
                <a:off x="1691680" y="3429000"/>
                <a:ext cx="1440160" cy="720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0" name="円弧 49">
                <a:extLst>
                  <a:ext uri="{FF2B5EF4-FFF2-40B4-BE49-F238E27FC236}">
                    <a16:creationId xmlns:a16="http://schemas.microsoft.com/office/drawing/2014/main" id="{8F4B2439-5CBB-4C31-A237-AA7204E8D831}"/>
                  </a:ext>
                </a:extLst>
              </p:cNvPr>
              <p:cNvSpPr/>
              <p:nvPr/>
            </p:nvSpPr>
            <p:spPr>
              <a:xfrm rot="5400000">
                <a:off x="2051720" y="342900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円弧 50">
                <a:extLst>
                  <a:ext uri="{FF2B5EF4-FFF2-40B4-BE49-F238E27FC236}">
                    <a16:creationId xmlns:a16="http://schemas.microsoft.com/office/drawing/2014/main" id="{08FB8644-C421-4297-8612-623CD9D376CA}"/>
                  </a:ext>
                </a:extLst>
              </p:cNvPr>
              <p:cNvSpPr/>
              <p:nvPr/>
            </p:nvSpPr>
            <p:spPr>
              <a:xfrm rot="5400000">
                <a:off x="2051720" y="414908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2" name="円弧 51">
                <a:extLst>
                  <a:ext uri="{FF2B5EF4-FFF2-40B4-BE49-F238E27FC236}">
                    <a16:creationId xmlns:a16="http://schemas.microsoft.com/office/drawing/2014/main" id="{761A5B42-AFE7-4D4C-A938-C587B366FC91}"/>
                  </a:ext>
                </a:extLst>
              </p:cNvPr>
              <p:cNvSpPr/>
              <p:nvPr/>
            </p:nvSpPr>
            <p:spPr>
              <a:xfrm rot="5400000">
                <a:off x="2051720" y="378904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16334CA6-B85A-49AC-B88F-73F98B52C773}"/>
                  </a:ext>
                </a:extLst>
              </p:cNvPr>
              <p:cNvCxnSpPr>
                <a:stCxn id="49" idx="6"/>
                <a:endCxn id="51" idx="0"/>
              </p:cNvCxnSpPr>
              <p:nvPr/>
            </p:nvCxnSpPr>
            <p:spPr>
              <a:xfrm>
                <a:off x="3131840" y="3789040"/>
                <a:ext cx="0" cy="10801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コネクタ 53">
                <a:extLst>
                  <a:ext uri="{FF2B5EF4-FFF2-40B4-BE49-F238E27FC236}">
                    <a16:creationId xmlns:a16="http://schemas.microsoft.com/office/drawing/2014/main" id="{9B7C3D0A-FD3C-4408-BEF6-CCD34471C3A6}"/>
                  </a:ext>
                </a:extLst>
              </p:cNvPr>
              <p:cNvCxnSpPr>
                <a:stCxn id="49" idx="2"/>
                <a:endCxn id="51" idx="2"/>
              </p:cNvCxnSpPr>
              <p:nvPr/>
            </p:nvCxnSpPr>
            <p:spPr>
              <a:xfrm>
                <a:off x="1691680" y="3789040"/>
                <a:ext cx="1253" cy="1101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コネクタ: カギ線 47">
              <a:extLst>
                <a:ext uri="{FF2B5EF4-FFF2-40B4-BE49-F238E27FC236}">
                  <a16:creationId xmlns:a16="http://schemas.microsoft.com/office/drawing/2014/main" id="{4BC2203C-1AB7-46D2-9F19-A9540BB43019}"/>
                </a:ext>
              </a:extLst>
            </p:cNvPr>
            <p:cNvCxnSpPr>
              <a:cxnSpLocks/>
              <a:stCxn id="46" idx="2"/>
              <a:endCxn id="49" idx="0"/>
            </p:cNvCxnSpPr>
            <p:nvPr/>
          </p:nvCxnSpPr>
          <p:spPr>
            <a:xfrm rot="16200000" flipH="1">
              <a:off x="4744322" y="1700310"/>
              <a:ext cx="299442" cy="277617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矢印: 左右 54">
            <a:extLst>
              <a:ext uri="{FF2B5EF4-FFF2-40B4-BE49-F238E27FC236}">
                <a16:creationId xmlns:a16="http://schemas.microsoft.com/office/drawing/2014/main" id="{B920F839-06CD-4789-8CDC-AF6A4CCC0BE7}"/>
              </a:ext>
            </a:extLst>
          </p:cNvPr>
          <p:cNvSpPr/>
          <p:nvPr/>
        </p:nvSpPr>
        <p:spPr>
          <a:xfrm rot="18525137">
            <a:off x="6912757" y="5434805"/>
            <a:ext cx="512093" cy="212202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矢印: 左右 55">
            <a:extLst>
              <a:ext uri="{FF2B5EF4-FFF2-40B4-BE49-F238E27FC236}">
                <a16:creationId xmlns:a16="http://schemas.microsoft.com/office/drawing/2014/main" id="{78CD29E1-F58E-420E-A796-900788882879}"/>
              </a:ext>
            </a:extLst>
          </p:cNvPr>
          <p:cNvSpPr/>
          <p:nvPr/>
        </p:nvSpPr>
        <p:spPr>
          <a:xfrm rot="2700000">
            <a:off x="7741433" y="5425282"/>
            <a:ext cx="512093" cy="212202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矢印: 左右 56">
            <a:extLst>
              <a:ext uri="{FF2B5EF4-FFF2-40B4-BE49-F238E27FC236}">
                <a16:creationId xmlns:a16="http://schemas.microsoft.com/office/drawing/2014/main" id="{A1E3FAB6-07A5-4A6F-8E3E-E00998C438D0}"/>
              </a:ext>
            </a:extLst>
          </p:cNvPr>
          <p:cNvSpPr/>
          <p:nvPr/>
        </p:nvSpPr>
        <p:spPr>
          <a:xfrm>
            <a:off x="7322333" y="5796757"/>
            <a:ext cx="512093" cy="212202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F024A99B-C9F3-4514-9A7A-7C681A9B0E63}"/>
              </a:ext>
            </a:extLst>
          </p:cNvPr>
          <p:cNvSpPr txBox="1"/>
          <p:nvPr/>
        </p:nvSpPr>
        <p:spPr>
          <a:xfrm>
            <a:off x="744453" y="266652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rgbClr val="011893"/>
                </a:solidFill>
              </a:rPr>
              <a:t>ローカル型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AFFA0C98-10D7-4674-98F4-B579E470BD0F}"/>
              </a:ext>
            </a:extLst>
          </p:cNvPr>
          <p:cNvSpPr txBox="1"/>
          <p:nvPr/>
        </p:nvSpPr>
        <p:spPr>
          <a:xfrm>
            <a:off x="2904693" y="266652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クライアント・サーバ</a:t>
            </a:r>
            <a:r>
              <a:rPr kumimoji="1" lang="ja-JP" altLang="en-US" sz="2400">
                <a:solidFill>
                  <a:srgbClr val="011893"/>
                </a:solidFill>
              </a:rPr>
              <a:t>型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17157E4-932A-4FDE-8150-5EEAB59962A3}"/>
              </a:ext>
            </a:extLst>
          </p:cNvPr>
          <p:cNvSpPr txBox="1"/>
          <p:nvPr/>
        </p:nvSpPr>
        <p:spPr>
          <a:xfrm>
            <a:off x="6924074" y="266652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分散</a:t>
            </a:r>
            <a:r>
              <a:rPr kumimoji="1" lang="ja-JP" altLang="en-US" sz="2400">
                <a:solidFill>
                  <a:srgbClr val="011893"/>
                </a:solidFill>
              </a:rPr>
              <a:t>型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52DA943-F9B7-4A8E-A74F-0C0E041C331D}"/>
              </a:ext>
            </a:extLst>
          </p:cNvPr>
          <p:cNvSpPr txBox="1"/>
          <p:nvPr/>
        </p:nvSpPr>
        <p:spPr>
          <a:xfrm>
            <a:off x="600437" y="3356992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SCCS, RCS</a:t>
            </a:r>
            <a:r>
              <a:rPr kumimoji="1" lang="ja-JP" altLang="en-US" sz="2400"/>
              <a:t>等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E37E1F93-9043-4BC6-8F8D-6BA9B8943268}"/>
              </a:ext>
            </a:extLst>
          </p:cNvPr>
          <p:cNvSpPr txBox="1"/>
          <p:nvPr/>
        </p:nvSpPr>
        <p:spPr>
          <a:xfrm>
            <a:off x="3131840" y="3356992"/>
            <a:ext cx="2869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CVS, Subversion</a:t>
            </a:r>
            <a:r>
              <a:rPr kumimoji="1" lang="ja-JP" altLang="en-US" sz="2400"/>
              <a:t>等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D363899-A7FC-4E9D-AD43-261DDBD4D19A}"/>
              </a:ext>
            </a:extLst>
          </p:cNvPr>
          <p:cNvSpPr txBox="1"/>
          <p:nvPr/>
        </p:nvSpPr>
        <p:spPr>
          <a:xfrm>
            <a:off x="6433085" y="3356992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Mercurial, Git</a:t>
            </a:r>
            <a:r>
              <a:rPr kumimoji="1" lang="ja-JP" altLang="en-US" sz="2400"/>
              <a:t>等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FA25A780-2CA3-4027-BE4A-611196902836}"/>
              </a:ext>
            </a:extLst>
          </p:cNvPr>
          <p:cNvSpPr txBox="1"/>
          <p:nvPr/>
        </p:nvSpPr>
        <p:spPr>
          <a:xfrm>
            <a:off x="1691680" y="1484784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歴史的に大きく分けると、以下の三種類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77516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1A2EF49-74C7-49F0-828F-8FF4889D9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バージョン管理システム</a:t>
            </a:r>
            <a:r>
              <a:rPr lang="ja-JP" altLang="en-US"/>
              <a:t>の歴史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81EA0F-7786-4E41-A61D-C603875E2FA7}"/>
              </a:ext>
            </a:extLst>
          </p:cNvPr>
          <p:cNvSpPr txBox="1"/>
          <p:nvPr/>
        </p:nvSpPr>
        <p:spPr>
          <a:xfrm>
            <a:off x="107504" y="1340768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第一期：ローカル型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7B937C7-B814-4DB7-8D79-4B0FC856121A}"/>
              </a:ext>
            </a:extLst>
          </p:cNvPr>
          <p:cNvSpPr txBox="1"/>
          <p:nvPr/>
        </p:nvSpPr>
        <p:spPr>
          <a:xfrm>
            <a:off x="1331640" y="2636912"/>
            <a:ext cx="63367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(</a:t>
            </a:r>
            <a:r>
              <a:rPr lang="ja-JP" altLang="en-US" sz="2000"/>
              <a:t>おそらく</a:t>
            </a:r>
            <a:r>
              <a:rPr lang="en-US" sz="2000"/>
              <a:t>)</a:t>
            </a:r>
            <a:r>
              <a:rPr lang="ja-JP" altLang="en-US" sz="2000"/>
              <a:t>世界初の</a:t>
            </a:r>
            <a:r>
              <a:rPr lang="en-US" altLang="ja-JP" sz="2000"/>
              <a:t>VCS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IBM System/370</a:t>
            </a:r>
            <a:r>
              <a:rPr lang="ja-JP" altLang="en-US" sz="2000"/>
              <a:t>向けに開発、後に</a:t>
            </a:r>
            <a:r>
              <a:rPr lang="en-US" sz="2000"/>
              <a:t>PDP-11</a:t>
            </a:r>
            <a:r>
              <a:rPr lang="ja-JP" altLang="en-US" sz="2000"/>
              <a:t>へ移植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複数のバージョンを一つのファイルに保存</a:t>
            </a:r>
            <a:endParaRPr lang="en-US" sz="20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471547-30A6-45CE-8495-5A3A7A5A9900}"/>
              </a:ext>
            </a:extLst>
          </p:cNvPr>
          <p:cNvSpPr txBox="1"/>
          <p:nvPr/>
        </p:nvSpPr>
        <p:spPr>
          <a:xfrm>
            <a:off x="539552" y="2132856"/>
            <a:ext cx="6397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1992</a:t>
            </a:r>
            <a:r>
              <a:rPr lang="ja-JP" altLang="en-US" sz="2400"/>
              <a:t>年 </a:t>
            </a:r>
            <a:r>
              <a:rPr lang="en-US" altLang="ja-JP" sz="2400"/>
              <a:t>Source Code Control System (SCCS)</a:t>
            </a:r>
            <a:endParaRPr lang="en-US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62BF6A-3CF3-466B-98AE-F8164EF34BCD}"/>
              </a:ext>
            </a:extLst>
          </p:cNvPr>
          <p:cNvSpPr txBox="1"/>
          <p:nvPr/>
        </p:nvSpPr>
        <p:spPr>
          <a:xfrm>
            <a:off x="539552" y="3759423"/>
            <a:ext cx="5577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1982</a:t>
            </a:r>
            <a:r>
              <a:rPr lang="ja-JP" altLang="en-US" sz="2400"/>
              <a:t>年 </a:t>
            </a:r>
            <a:r>
              <a:rPr lang="en-US" altLang="ja-JP" sz="2400"/>
              <a:t>Revision Control System (RCS)</a:t>
            </a:r>
            <a:endParaRPr 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5E7F45-0AC7-47A7-BD1C-EEC6C3771437}"/>
              </a:ext>
            </a:extLst>
          </p:cNvPr>
          <p:cNvSpPr txBox="1"/>
          <p:nvPr/>
        </p:nvSpPr>
        <p:spPr>
          <a:xfrm>
            <a:off x="1331640" y="42930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バージョン管理はファイル単位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ファイルを修正する時に「チェックアウト」する</a:t>
            </a:r>
            <a:endParaRPr lang="en-US" altLang="ja-JP" sz="2000"/>
          </a:p>
        </p:txBody>
      </p:sp>
      <p:pic>
        <p:nvPicPr>
          <p:cNvPr id="8" name="Picture 2" descr="パソコンを使う会社員のイラスト（男性・笑顔）">
            <a:extLst>
              <a:ext uri="{FF2B5EF4-FFF2-40B4-BE49-F238E27FC236}">
                <a16:creationId xmlns:a16="http://schemas.microsoft.com/office/drawing/2014/main" id="{D59F2A65-49F8-44E6-B4F9-B3C34AEE6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340768"/>
            <a:ext cx="850267" cy="123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5701F918-F8F3-40FA-B659-F2D7ADC7B115}"/>
              </a:ext>
            </a:extLst>
          </p:cNvPr>
          <p:cNvGrpSpPr/>
          <p:nvPr/>
        </p:nvGrpSpPr>
        <p:grpSpPr>
          <a:xfrm>
            <a:off x="8100392" y="2924944"/>
            <a:ext cx="518457" cy="648072"/>
            <a:chOff x="1691680" y="3429000"/>
            <a:chExt cx="1440160" cy="1800200"/>
          </a:xfrm>
        </p:grpSpPr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7911265A-1019-4889-89AF-F651716D2BEB}"/>
                </a:ext>
              </a:extLst>
            </p:cNvPr>
            <p:cNvSpPr/>
            <p:nvPr/>
          </p:nvSpPr>
          <p:spPr>
            <a:xfrm>
              <a:off x="1691680" y="3429000"/>
              <a:ext cx="1440160" cy="7200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円弧 10">
              <a:extLst>
                <a:ext uri="{FF2B5EF4-FFF2-40B4-BE49-F238E27FC236}">
                  <a16:creationId xmlns:a16="http://schemas.microsoft.com/office/drawing/2014/main" id="{C339D0F6-6C8E-4640-90D5-2A8255E8726C}"/>
                </a:ext>
              </a:extLst>
            </p:cNvPr>
            <p:cNvSpPr/>
            <p:nvPr/>
          </p:nvSpPr>
          <p:spPr>
            <a:xfrm rot="5400000">
              <a:off x="2051720" y="3429000"/>
              <a:ext cx="720080" cy="1440160"/>
            </a:xfrm>
            <a:prstGeom prst="arc">
              <a:avLst>
                <a:gd name="adj1" fmla="val 16200000"/>
                <a:gd name="adj2" fmla="val 52985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9246626F-5088-477C-B76C-9454A41D4063}"/>
                </a:ext>
              </a:extLst>
            </p:cNvPr>
            <p:cNvSpPr/>
            <p:nvPr/>
          </p:nvSpPr>
          <p:spPr>
            <a:xfrm rot="5400000">
              <a:off x="2051720" y="4149080"/>
              <a:ext cx="720080" cy="1440160"/>
            </a:xfrm>
            <a:prstGeom prst="arc">
              <a:avLst>
                <a:gd name="adj1" fmla="val 16200000"/>
                <a:gd name="adj2" fmla="val 52985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弧 12">
              <a:extLst>
                <a:ext uri="{FF2B5EF4-FFF2-40B4-BE49-F238E27FC236}">
                  <a16:creationId xmlns:a16="http://schemas.microsoft.com/office/drawing/2014/main" id="{B8FD1E77-6B9B-472F-B83C-E748BC59D2F7}"/>
                </a:ext>
              </a:extLst>
            </p:cNvPr>
            <p:cNvSpPr/>
            <p:nvPr/>
          </p:nvSpPr>
          <p:spPr>
            <a:xfrm rot="5400000">
              <a:off x="2051720" y="3789040"/>
              <a:ext cx="720080" cy="1440160"/>
            </a:xfrm>
            <a:prstGeom prst="arc">
              <a:avLst>
                <a:gd name="adj1" fmla="val 16200000"/>
                <a:gd name="adj2" fmla="val 52985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AC4416CD-76B2-4DEB-A142-C67E9A448FF6}"/>
                </a:ext>
              </a:extLst>
            </p:cNvPr>
            <p:cNvCxnSpPr>
              <a:stCxn id="10" idx="6"/>
              <a:endCxn id="12" idx="0"/>
            </p:cNvCxnSpPr>
            <p:nvPr/>
          </p:nvCxnSpPr>
          <p:spPr>
            <a:xfrm>
              <a:off x="3131840" y="3789040"/>
              <a:ext cx="0" cy="10801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21B6FD3-0689-4A08-8FD2-64203A5FA0A0}"/>
                </a:ext>
              </a:extLst>
            </p:cNvPr>
            <p:cNvCxnSpPr>
              <a:stCxn id="10" idx="2"/>
              <a:endCxn id="12" idx="2"/>
            </p:cNvCxnSpPr>
            <p:nvPr/>
          </p:nvCxnSpPr>
          <p:spPr>
            <a:xfrm>
              <a:off x="1691680" y="3789040"/>
              <a:ext cx="1253" cy="11013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2846759D-A566-4DBA-B3B9-6AC3A90336B3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8051875" y="2617197"/>
            <a:ext cx="349349" cy="26614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E0CC027-25C8-4509-9901-4BFB68A51B35}"/>
              </a:ext>
            </a:extLst>
          </p:cNvPr>
          <p:cNvSpPr txBox="1"/>
          <p:nvPr/>
        </p:nvSpPr>
        <p:spPr>
          <a:xfrm>
            <a:off x="539552" y="5301208"/>
            <a:ext cx="612068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000"/>
              <a:t>ファイル修正時にロックをかける</a:t>
            </a:r>
            <a:r>
              <a:rPr lang="en-US" altLang="ja-JP" sz="2000"/>
              <a:t>(</a:t>
            </a:r>
            <a:r>
              <a:rPr lang="ja-JP" altLang="en-US" sz="2000"/>
              <a:t>排他制御</a:t>
            </a:r>
            <a:r>
              <a:rPr lang="en-US" altLang="ja-JP" sz="2000"/>
              <a:t>)</a:t>
            </a:r>
          </a:p>
          <a:p>
            <a:r>
              <a:rPr lang="ja-JP" altLang="en-US" sz="2000"/>
              <a:t>→ 複数の人が同時に編集できない</a:t>
            </a:r>
            <a:endParaRPr lang="en-US" altLang="ja-JP" sz="2000"/>
          </a:p>
          <a:p>
            <a:r>
              <a:rPr lang="ja-JP" altLang="en-US" sz="2000"/>
              <a:t>管理がファイル単位</a:t>
            </a:r>
            <a:endParaRPr lang="en-US" altLang="ja-JP" sz="2000"/>
          </a:p>
          <a:p>
            <a:r>
              <a:rPr lang="ja-JP" altLang="en-US" sz="2000"/>
              <a:t>→プロジェクトとして管理できない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5456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5601C97-7578-4E0D-9D00-3469DCCB3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バージョン管理システム</a:t>
            </a:r>
            <a:r>
              <a:rPr lang="ja-JP" altLang="en-US"/>
              <a:t>の歴史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4AD8A1-C592-40C8-B711-C98C8E08B705}"/>
              </a:ext>
            </a:extLst>
          </p:cNvPr>
          <p:cNvSpPr txBox="1"/>
          <p:nvPr/>
        </p:nvSpPr>
        <p:spPr>
          <a:xfrm>
            <a:off x="176019" y="1196752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第二期：クライアント・サーバ型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2C2527-F9A3-4067-8A9C-8C17A116FD19}"/>
              </a:ext>
            </a:extLst>
          </p:cNvPr>
          <p:cNvSpPr txBox="1"/>
          <p:nvPr/>
        </p:nvSpPr>
        <p:spPr>
          <a:xfrm>
            <a:off x="1331640" y="2636912"/>
            <a:ext cx="6336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/>
              <a:t>RCS</a:t>
            </a:r>
            <a:r>
              <a:rPr lang="ja-JP" altLang="en-US" sz="2000"/>
              <a:t>のフロントエンド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リモートリポジトリを導入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複数の人が同時に修正可能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rgbClr val="FF0000"/>
                </a:solidFill>
              </a:rPr>
              <a:t>「マージ」の導入</a:t>
            </a:r>
            <a:endParaRPr lang="en-US" altLang="ja-JP" sz="2000">
              <a:solidFill>
                <a:srgbClr val="FF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40B0C9-2D87-403E-8C24-8BA4C63247C4}"/>
              </a:ext>
            </a:extLst>
          </p:cNvPr>
          <p:cNvSpPr txBox="1"/>
          <p:nvPr/>
        </p:nvSpPr>
        <p:spPr>
          <a:xfrm>
            <a:off x="580937" y="2060848"/>
            <a:ext cx="5935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1986</a:t>
            </a:r>
            <a:r>
              <a:rPr lang="ja-JP" altLang="en-US" sz="2400"/>
              <a:t>年 </a:t>
            </a:r>
            <a:r>
              <a:rPr lang="en-US" altLang="ja-JP" sz="2400"/>
              <a:t>Concurrent Version System (CVS)</a:t>
            </a:r>
            <a:endParaRPr lang="en-US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6104897-D0F8-4D7F-97B0-A626AA8C4939}"/>
              </a:ext>
            </a:extLst>
          </p:cNvPr>
          <p:cNvSpPr txBox="1"/>
          <p:nvPr/>
        </p:nvSpPr>
        <p:spPr>
          <a:xfrm>
            <a:off x="539552" y="4005064"/>
            <a:ext cx="2805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2000</a:t>
            </a:r>
            <a:r>
              <a:rPr lang="ja-JP" altLang="en-US" sz="2400"/>
              <a:t>年 </a:t>
            </a:r>
            <a:r>
              <a:rPr lang="en-US" altLang="ja-JP" sz="2400"/>
              <a:t>Subversion</a:t>
            </a:r>
            <a:endParaRPr 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7E2772D-3E45-40E3-BAFE-352B39409482}"/>
              </a:ext>
            </a:extLst>
          </p:cNvPr>
          <p:cNvSpPr txBox="1"/>
          <p:nvPr/>
        </p:nvSpPr>
        <p:spPr>
          <a:xfrm>
            <a:off x="1331640" y="4509120"/>
            <a:ext cx="7272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ファイル名変更やディレクトリの管理をサポート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プロジェクト全体にバージョン番号</a:t>
            </a:r>
            <a:r>
              <a:rPr lang="en-US" altLang="ja-JP" sz="2000"/>
              <a:t>(</a:t>
            </a:r>
            <a:r>
              <a:rPr lang="ja-JP" altLang="en-US" sz="2000"/>
              <a:t>リビジョン</a:t>
            </a:r>
            <a:r>
              <a:rPr lang="en-US" altLang="ja-JP" sz="2000"/>
              <a:t>)</a:t>
            </a:r>
            <a:r>
              <a:rPr lang="ja-JP" altLang="en-US" sz="2000"/>
              <a:t>を付与</a:t>
            </a:r>
            <a:endParaRPr lang="en-US" altLang="ja-JP" sz="2000"/>
          </a:p>
        </p:txBody>
      </p:sp>
      <p:pic>
        <p:nvPicPr>
          <p:cNvPr id="8" name="Picture 2" descr="パソコンを使う会社員のイラスト（男性・笑顔）">
            <a:extLst>
              <a:ext uri="{FF2B5EF4-FFF2-40B4-BE49-F238E27FC236}">
                <a16:creationId xmlns:a16="http://schemas.microsoft.com/office/drawing/2014/main" id="{8386C44E-D20C-43AC-9C67-9A685F36D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636912"/>
            <a:ext cx="850267" cy="123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B3CD51A-40AA-424D-9D99-20156982049A}"/>
              </a:ext>
            </a:extLst>
          </p:cNvPr>
          <p:cNvGrpSpPr/>
          <p:nvPr/>
        </p:nvGrpSpPr>
        <p:grpSpPr>
          <a:xfrm>
            <a:off x="7740352" y="2132856"/>
            <a:ext cx="864096" cy="1944216"/>
            <a:chOff x="4427984" y="692696"/>
            <a:chExt cx="864096" cy="1944216"/>
          </a:xfrm>
        </p:grpSpPr>
        <p:pic>
          <p:nvPicPr>
            <p:cNvPr id="10" name="Picture 4" descr="サーバのイラスト（グレー）">
              <a:extLst>
                <a:ext uri="{FF2B5EF4-FFF2-40B4-BE49-F238E27FC236}">
                  <a16:creationId xmlns:a16="http://schemas.microsoft.com/office/drawing/2014/main" id="{46214CEE-96AB-481C-B48E-79931C498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692696"/>
              <a:ext cx="654501" cy="996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3C427FDE-7010-40BF-8C46-86FFCDB62F3B}"/>
                </a:ext>
              </a:extLst>
            </p:cNvPr>
            <p:cNvGrpSpPr/>
            <p:nvPr/>
          </p:nvGrpSpPr>
          <p:grpSpPr>
            <a:xfrm>
              <a:off x="4773623" y="1988840"/>
              <a:ext cx="518457" cy="648072"/>
              <a:chOff x="1691680" y="3429000"/>
              <a:chExt cx="1440160" cy="1800200"/>
            </a:xfrm>
          </p:grpSpPr>
          <p:sp>
            <p:nvSpPr>
              <p:cNvPr id="13" name="楕円 12">
                <a:extLst>
                  <a:ext uri="{FF2B5EF4-FFF2-40B4-BE49-F238E27FC236}">
                    <a16:creationId xmlns:a16="http://schemas.microsoft.com/office/drawing/2014/main" id="{6904B7AE-B5DF-46C9-928D-0947E2ED8FDB}"/>
                  </a:ext>
                </a:extLst>
              </p:cNvPr>
              <p:cNvSpPr/>
              <p:nvPr/>
            </p:nvSpPr>
            <p:spPr>
              <a:xfrm>
                <a:off x="1691680" y="3429000"/>
                <a:ext cx="1440160" cy="720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円弧 13">
                <a:extLst>
                  <a:ext uri="{FF2B5EF4-FFF2-40B4-BE49-F238E27FC236}">
                    <a16:creationId xmlns:a16="http://schemas.microsoft.com/office/drawing/2014/main" id="{CB6EDEB6-EDCA-42AA-A628-5610823F91EE}"/>
                  </a:ext>
                </a:extLst>
              </p:cNvPr>
              <p:cNvSpPr/>
              <p:nvPr/>
            </p:nvSpPr>
            <p:spPr>
              <a:xfrm rot="5400000">
                <a:off x="2051720" y="342900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円弧 14">
                <a:extLst>
                  <a:ext uri="{FF2B5EF4-FFF2-40B4-BE49-F238E27FC236}">
                    <a16:creationId xmlns:a16="http://schemas.microsoft.com/office/drawing/2014/main" id="{C0FA15C6-F284-41C2-B023-E3FA62EE4638}"/>
                  </a:ext>
                </a:extLst>
              </p:cNvPr>
              <p:cNvSpPr/>
              <p:nvPr/>
            </p:nvSpPr>
            <p:spPr>
              <a:xfrm rot="5400000">
                <a:off x="2051720" y="414908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円弧 15">
                <a:extLst>
                  <a:ext uri="{FF2B5EF4-FFF2-40B4-BE49-F238E27FC236}">
                    <a16:creationId xmlns:a16="http://schemas.microsoft.com/office/drawing/2014/main" id="{F6196FFB-36A8-473A-BC21-18BE8B1CC122}"/>
                  </a:ext>
                </a:extLst>
              </p:cNvPr>
              <p:cNvSpPr/>
              <p:nvPr/>
            </p:nvSpPr>
            <p:spPr>
              <a:xfrm rot="5400000">
                <a:off x="2051720" y="378904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" name="直線コネクタ 16">
                <a:extLst>
                  <a:ext uri="{FF2B5EF4-FFF2-40B4-BE49-F238E27FC236}">
                    <a16:creationId xmlns:a16="http://schemas.microsoft.com/office/drawing/2014/main" id="{F2B704CB-257B-4EA3-B8FE-EB918F29B3E8}"/>
                  </a:ext>
                </a:extLst>
              </p:cNvPr>
              <p:cNvCxnSpPr>
                <a:stCxn id="13" idx="6"/>
                <a:endCxn id="15" idx="0"/>
              </p:cNvCxnSpPr>
              <p:nvPr/>
            </p:nvCxnSpPr>
            <p:spPr>
              <a:xfrm>
                <a:off x="3131840" y="3789040"/>
                <a:ext cx="0" cy="10801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F3657BAC-EF13-418C-8D49-EF091FD5A9E1}"/>
                  </a:ext>
                </a:extLst>
              </p:cNvPr>
              <p:cNvCxnSpPr>
                <a:stCxn id="13" idx="2"/>
                <a:endCxn id="15" idx="2"/>
              </p:cNvCxnSpPr>
              <p:nvPr/>
            </p:nvCxnSpPr>
            <p:spPr>
              <a:xfrm>
                <a:off x="1691680" y="3789040"/>
                <a:ext cx="1253" cy="1101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コネクタ: カギ線 11">
              <a:extLst>
                <a:ext uri="{FF2B5EF4-FFF2-40B4-BE49-F238E27FC236}">
                  <a16:creationId xmlns:a16="http://schemas.microsoft.com/office/drawing/2014/main" id="{83CFB4EC-0AF5-43E9-A5EB-42F59AE0740F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rot="16200000" flipH="1">
              <a:off x="4744322" y="1700310"/>
              <a:ext cx="299442" cy="277617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図 18" descr="アイコン&#10;&#10;自動的に生成された説明">
            <a:extLst>
              <a:ext uri="{FF2B5EF4-FFF2-40B4-BE49-F238E27FC236}">
                <a16:creationId xmlns:a16="http://schemas.microsoft.com/office/drawing/2014/main" id="{C0476F43-391E-4C16-866F-58A6E6BCE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800000">
            <a:off x="7128008" y="2895499"/>
            <a:ext cx="618136" cy="596573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070B85E-74E8-49C1-8F2F-9189DD9F1A20}"/>
              </a:ext>
            </a:extLst>
          </p:cNvPr>
          <p:cNvSpPr txBox="1"/>
          <p:nvPr/>
        </p:nvSpPr>
        <p:spPr>
          <a:xfrm>
            <a:off x="611560" y="5445224"/>
            <a:ext cx="612068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400"/>
              <a:t>中央集権的なリモートリポジトリ</a:t>
            </a:r>
            <a:endParaRPr lang="en-US" altLang="ja-JP" sz="2400"/>
          </a:p>
          <a:p>
            <a:r>
              <a:rPr lang="ja-JP" altLang="en-US" sz="2400"/>
              <a:t>→ 全ての歴史がリモート側にある</a:t>
            </a:r>
            <a:endParaRPr lang="en-US" altLang="ja-JP" sz="2400"/>
          </a:p>
          <a:p>
            <a:r>
              <a:rPr lang="ja-JP" altLang="en-US" sz="2400"/>
              <a:t>→ 単一障害点になってしまう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2730212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69550F3-CD2E-4FA3-B0E3-51677D7DB8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バージョン管理システム</a:t>
            </a:r>
            <a:r>
              <a:rPr lang="ja-JP" altLang="en-US"/>
              <a:t>の歴史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9D711D-26E4-47D1-B411-014FBB9BBA60}"/>
              </a:ext>
            </a:extLst>
          </p:cNvPr>
          <p:cNvSpPr txBox="1"/>
          <p:nvPr/>
        </p:nvSpPr>
        <p:spPr>
          <a:xfrm>
            <a:off x="176019" y="1196752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第三期：分散型</a:t>
            </a:r>
            <a:endParaRPr lang="en-US" sz="3200">
              <a:solidFill>
                <a:srgbClr val="011893"/>
              </a:solidFill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632CA3D-2044-4CF6-8C1A-AB67109A1DF7}"/>
              </a:ext>
            </a:extLst>
          </p:cNvPr>
          <p:cNvGrpSpPr/>
          <p:nvPr/>
        </p:nvGrpSpPr>
        <p:grpSpPr>
          <a:xfrm>
            <a:off x="6588224" y="1916832"/>
            <a:ext cx="490583" cy="1152128"/>
            <a:chOff x="6444208" y="1196752"/>
            <a:chExt cx="950505" cy="2232248"/>
          </a:xfrm>
        </p:grpSpPr>
        <p:pic>
          <p:nvPicPr>
            <p:cNvPr id="5" name="Picture 2" descr="パソコンを使う会社員のイラスト（男性・笑顔）">
              <a:extLst>
                <a:ext uri="{FF2B5EF4-FFF2-40B4-BE49-F238E27FC236}">
                  <a16:creationId xmlns:a16="http://schemas.microsoft.com/office/drawing/2014/main" id="{3880D59C-E146-4C7E-9BF2-FE768287E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4208" y="1196752"/>
              <a:ext cx="850267" cy="1234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1333653E-07FF-478C-9500-E4850D7E9E84}"/>
                </a:ext>
              </a:extLst>
            </p:cNvPr>
            <p:cNvGrpSpPr/>
            <p:nvPr/>
          </p:nvGrpSpPr>
          <p:grpSpPr>
            <a:xfrm>
              <a:off x="6876256" y="2780928"/>
              <a:ext cx="518457" cy="648072"/>
              <a:chOff x="1691680" y="3429000"/>
              <a:chExt cx="1440160" cy="1800200"/>
            </a:xfrm>
          </p:grpSpPr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71556117-AEF3-4C88-9021-572D08A4F981}"/>
                  </a:ext>
                </a:extLst>
              </p:cNvPr>
              <p:cNvSpPr/>
              <p:nvPr/>
            </p:nvSpPr>
            <p:spPr>
              <a:xfrm>
                <a:off x="1691680" y="3429000"/>
                <a:ext cx="1440160" cy="720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円弧 8">
                <a:extLst>
                  <a:ext uri="{FF2B5EF4-FFF2-40B4-BE49-F238E27FC236}">
                    <a16:creationId xmlns:a16="http://schemas.microsoft.com/office/drawing/2014/main" id="{28F3D1AC-66D5-49C5-83C6-392297BA9BCE}"/>
                  </a:ext>
                </a:extLst>
              </p:cNvPr>
              <p:cNvSpPr/>
              <p:nvPr/>
            </p:nvSpPr>
            <p:spPr>
              <a:xfrm rot="5400000">
                <a:off x="2051720" y="342900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円弧 9">
                <a:extLst>
                  <a:ext uri="{FF2B5EF4-FFF2-40B4-BE49-F238E27FC236}">
                    <a16:creationId xmlns:a16="http://schemas.microsoft.com/office/drawing/2014/main" id="{7DFA1AFE-C567-4FDF-9731-7F7588F893D5}"/>
                  </a:ext>
                </a:extLst>
              </p:cNvPr>
              <p:cNvSpPr/>
              <p:nvPr/>
            </p:nvSpPr>
            <p:spPr>
              <a:xfrm rot="5400000">
                <a:off x="2051720" y="414908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円弧 10">
                <a:extLst>
                  <a:ext uri="{FF2B5EF4-FFF2-40B4-BE49-F238E27FC236}">
                    <a16:creationId xmlns:a16="http://schemas.microsoft.com/office/drawing/2014/main" id="{7BCC32D5-C3B9-434C-AAE4-E4383D0EC641}"/>
                  </a:ext>
                </a:extLst>
              </p:cNvPr>
              <p:cNvSpPr/>
              <p:nvPr/>
            </p:nvSpPr>
            <p:spPr>
              <a:xfrm rot="5400000">
                <a:off x="2051720" y="378904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2" name="直線コネクタ 11">
                <a:extLst>
                  <a:ext uri="{FF2B5EF4-FFF2-40B4-BE49-F238E27FC236}">
                    <a16:creationId xmlns:a16="http://schemas.microsoft.com/office/drawing/2014/main" id="{65402350-5322-4EDF-8871-079755E8EFE4}"/>
                  </a:ext>
                </a:extLst>
              </p:cNvPr>
              <p:cNvCxnSpPr>
                <a:stCxn id="8" idx="6"/>
                <a:endCxn id="10" idx="0"/>
              </p:cNvCxnSpPr>
              <p:nvPr/>
            </p:nvCxnSpPr>
            <p:spPr>
              <a:xfrm>
                <a:off x="3131840" y="3789040"/>
                <a:ext cx="0" cy="10801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6A58DB6C-7157-483A-BAB1-A7702F1CC670}"/>
                  </a:ext>
                </a:extLst>
              </p:cNvPr>
              <p:cNvCxnSpPr>
                <a:stCxn id="8" idx="2"/>
                <a:endCxn id="10" idx="2"/>
              </p:cNvCxnSpPr>
              <p:nvPr/>
            </p:nvCxnSpPr>
            <p:spPr>
              <a:xfrm>
                <a:off x="1691680" y="3789040"/>
                <a:ext cx="1253" cy="1101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コネクタ: カギ線 6">
              <a:extLst>
                <a:ext uri="{FF2B5EF4-FFF2-40B4-BE49-F238E27FC236}">
                  <a16:creationId xmlns:a16="http://schemas.microsoft.com/office/drawing/2014/main" id="{90C27C7C-8D13-42C4-9D94-408159A970DB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 rot="16200000" flipH="1">
              <a:off x="6827739" y="2473181"/>
              <a:ext cx="349349" cy="26614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811DD04-A71A-4D77-A6CD-CE0BC62E5741}"/>
              </a:ext>
            </a:extLst>
          </p:cNvPr>
          <p:cNvGrpSpPr/>
          <p:nvPr/>
        </p:nvGrpSpPr>
        <p:grpSpPr>
          <a:xfrm>
            <a:off x="8378899" y="1821582"/>
            <a:ext cx="490583" cy="1152128"/>
            <a:chOff x="6444208" y="1196752"/>
            <a:chExt cx="950505" cy="2232248"/>
          </a:xfrm>
        </p:grpSpPr>
        <p:pic>
          <p:nvPicPr>
            <p:cNvPr id="15" name="Picture 2" descr="パソコンを使う会社員のイラスト（男性・笑顔）">
              <a:extLst>
                <a:ext uri="{FF2B5EF4-FFF2-40B4-BE49-F238E27FC236}">
                  <a16:creationId xmlns:a16="http://schemas.microsoft.com/office/drawing/2014/main" id="{155F057C-7703-40E0-94E0-1D4E8A0352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4208" y="1196752"/>
              <a:ext cx="850267" cy="1234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0E3E39C4-AAFA-4BE2-AAB6-A0CCE3C9E0B9}"/>
                </a:ext>
              </a:extLst>
            </p:cNvPr>
            <p:cNvGrpSpPr/>
            <p:nvPr/>
          </p:nvGrpSpPr>
          <p:grpSpPr>
            <a:xfrm>
              <a:off x="6876256" y="2780928"/>
              <a:ext cx="518457" cy="648072"/>
              <a:chOff x="1691680" y="3429000"/>
              <a:chExt cx="1440160" cy="1800200"/>
            </a:xfrm>
          </p:grpSpPr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18DCCFCD-C5DA-42A6-8998-942EBC660891}"/>
                  </a:ext>
                </a:extLst>
              </p:cNvPr>
              <p:cNvSpPr/>
              <p:nvPr/>
            </p:nvSpPr>
            <p:spPr>
              <a:xfrm>
                <a:off x="1691680" y="3429000"/>
                <a:ext cx="1440160" cy="720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円弧 18">
                <a:extLst>
                  <a:ext uri="{FF2B5EF4-FFF2-40B4-BE49-F238E27FC236}">
                    <a16:creationId xmlns:a16="http://schemas.microsoft.com/office/drawing/2014/main" id="{C9904022-194D-47C3-B4D0-3FC3FA3B9024}"/>
                  </a:ext>
                </a:extLst>
              </p:cNvPr>
              <p:cNvSpPr/>
              <p:nvPr/>
            </p:nvSpPr>
            <p:spPr>
              <a:xfrm rot="5400000">
                <a:off x="2051720" y="342900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円弧 19">
                <a:extLst>
                  <a:ext uri="{FF2B5EF4-FFF2-40B4-BE49-F238E27FC236}">
                    <a16:creationId xmlns:a16="http://schemas.microsoft.com/office/drawing/2014/main" id="{88C68C04-9505-45D8-BD2E-185C4550F944}"/>
                  </a:ext>
                </a:extLst>
              </p:cNvPr>
              <p:cNvSpPr/>
              <p:nvPr/>
            </p:nvSpPr>
            <p:spPr>
              <a:xfrm rot="5400000">
                <a:off x="2051720" y="414908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弧 20">
                <a:extLst>
                  <a:ext uri="{FF2B5EF4-FFF2-40B4-BE49-F238E27FC236}">
                    <a16:creationId xmlns:a16="http://schemas.microsoft.com/office/drawing/2014/main" id="{B05778AD-0708-4064-AD37-E67B1CC86ED8}"/>
                  </a:ext>
                </a:extLst>
              </p:cNvPr>
              <p:cNvSpPr/>
              <p:nvPr/>
            </p:nvSpPr>
            <p:spPr>
              <a:xfrm rot="5400000">
                <a:off x="2051720" y="378904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5050620E-A9DF-49D1-8079-4669043FC23A}"/>
                  </a:ext>
                </a:extLst>
              </p:cNvPr>
              <p:cNvCxnSpPr>
                <a:stCxn id="18" idx="6"/>
                <a:endCxn id="20" idx="0"/>
              </p:cNvCxnSpPr>
              <p:nvPr/>
            </p:nvCxnSpPr>
            <p:spPr>
              <a:xfrm>
                <a:off x="3131840" y="3789040"/>
                <a:ext cx="0" cy="10801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DCD21BA8-0EAC-4DF0-9087-1663FF5AF463}"/>
                  </a:ext>
                </a:extLst>
              </p:cNvPr>
              <p:cNvCxnSpPr>
                <a:stCxn id="18" idx="2"/>
                <a:endCxn id="20" idx="2"/>
              </p:cNvCxnSpPr>
              <p:nvPr/>
            </p:nvCxnSpPr>
            <p:spPr>
              <a:xfrm>
                <a:off x="1691680" y="3789040"/>
                <a:ext cx="1253" cy="1101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コネクタ: カギ線 16">
              <a:extLst>
                <a:ext uri="{FF2B5EF4-FFF2-40B4-BE49-F238E27FC236}">
                  <a16:creationId xmlns:a16="http://schemas.microsoft.com/office/drawing/2014/main" id="{B266E46A-5AC6-4E32-B51A-BE981061ADDA}"/>
                </a:ext>
              </a:extLst>
            </p:cNvPr>
            <p:cNvCxnSpPr>
              <a:stCxn id="15" idx="2"/>
              <a:endCxn id="18" idx="0"/>
            </p:cNvCxnSpPr>
            <p:nvPr/>
          </p:nvCxnSpPr>
          <p:spPr>
            <a:xfrm rot="16200000" flipH="1">
              <a:off x="6827739" y="2473181"/>
              <a:ext cx="349349" cy="26614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918423FE-039A-4B54-9006-C726FE4A3828}"/>
              </a:ext>
            </a:extLst>
          </p:cNvPr>
          <p:cNvGrpSpPr/>
          <p:nvPr/>
        </p:nvGrpSpPr>
        <p:grpSpPr>
          <a:xfrm>
            <a:off x="7494612" y="1088554"/>
            <a:ext cx="512057" cy="1152128"/>
            <a:chOff x="4427984" y="692696"/>
            <a:chExt cx="864096" cy="1944216"/>
          </a:xfrm>
        </p:grpSpPr>
        <p:pic>
          <p:nvPicPr>
            <p:cNvPr id="25" name="Picture 4" descr="サーバのイラスト（グレー）">
              <a:extLst>
                <a:ext uri="{FF2B5EF4-FFF2-40B4-BE49-F238E27FC236}">
                  <a16:creationId xmlns:a16="http://schemas.microsoft.com/office/drawing/2014/main" id="{F928A259-7730-4D29-A9B7-7BF5A7679D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692696"/>
              <a:ext cx="654501" cy="996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0D264867-5F40-4DE5-8FC7-082F9528C57E}"/>
                </a:ext>
              </a:extLst>
            </p:cNvPr>
            <p:cNvGrpSpPr/>
            <p:nvPr/>
          </p:nvGrpSpPr>
          <p:grpSpPr>
            <a:xfrm>
              <a:off x="4773623" y="1988840"/>
              <a:ext cx="518457" cy="648072"/>
              <a:chOff x="1691680" y="3429000"/>
              <a:chExt cx="1440160" cy="1800200"/>
            </a:xfrm>
          </p:grpSpPr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6C326119-CF2F-4729-B4E9-772EDDC47127}"/>
                  </a:ext>
                </a:extLst>
              </p:cNvPr>
              <p:cNvSpPr/>
              <p:nvPr/>
            </p:nvSpPr>
            <p:spPr>
              <a:xfrm>
                <a:off x="1691680" y="3429000"/>
                <a:ext cx="1440160" cy="7200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円弧 28">
                <a:extLst>
                  <a:ext uri="{FF2B5EF4-FFF2-40B4-BE49-F238E27FC236}">
                    <a16:creationId xmlns:a16="http://schemas.microsoft.com/office/drawing/2014/main" id="{51D29ABD-547E-4DBD-BF20-817C34085948}"/>
                  </a:ext>
                </a:extLst>
              </p:cNvPr>
              <p:cNvSpPr/>
              <p:nvPr/>
            </p:nvSpPr>
            <p:spPr>
              <a:xfrm rot="5400000">
                <a:off x="2051720" y="342900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円弧 29">
                <a:extLst>
                  <a:ext uri="{FF2B5EF4-FFF2-40B4-BE49-F238E27FC236}">
                    <a16:creationId xmlns:a16="http://schemas.microsoft.com/office/drawing/2014/main" id="{6A9B8381-1C1E-4C2B-869A-D26AB1169E53}"/>
                  </a:ext>
                </a:extLst>
              </p:cNvPr>
              <p:cNvSpPr/>
              <p:nvPr/>
            </p:nvSpPr>
            <p:spPr>
              <a:xfrm rot="5400000">
                <a:off x="2051720" y="414908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弧 30">
                <a:extLst>
                  <a:ext uri="{FF2B5EF4-FFF2-40B4-BE49-F238E27FC236}">
                    <a16:creationId xmlns:a16="http://schemas.microsoft.com/office/drawing/2014/main" id="{57898A1F-5317-45BA-8C03-3751F371389A}"/>
                  </a:ext>
                </a:extLst>
              </p:cNvPr>
              <p:cNvSpPr/>
              <p:nvPr/>
            </p:nvSpPr>
            <p:spPr>
              <a:xfrm rot="5400000">
                <a:off x="2051720" y="3789040"/>
                <a:ext cx="720080" cy="1440160"/>
              </a:xfrm>
              <a:prstGeom prst="arc">
                <a:avLst>
                  <a:gd name="adj1" fmla="val 16200000"/>
                  <a:gd name="adj2" fmla="val 529850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2" name="直線コネクタ 31">
                <a:extLst>
                  <a:ext uri="{FF2B5EF4-FFF2-40B4-BE49-F238E27FC236}">
                    <a16:creationId xmlns:a16="http://schemas.microsoft.com/office/drawing/2014/main" id="{B7BE7512-3DEC-47E3-8F3A-C1EEFD4C3176}"/>
                  </a:ext>
                </a:extLst>
              </p:cNvPr>
              <p:cNvCxnSpPr>
                <a:stCxn id="28" idx="6"/>
                <a:endCxn id="30" idx="0"/>
              </p:cNvCxnSpPr>
              <p:nvPr/>
            </p:nvCxnSpPr>
            <p:spPr>
              <a:xfrm>
                <a:off x="3131840" y="3789040"/>
                <a:ext cx="0" cy="10801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D10B5274-381A-420B-BFF3-9132CB475EE7}"/>
                  </a:ext>
                </a:extLst>
              </p:cNvPr>
              <p:cNvCxnSpPr>
                <a:stCxn id="28" idx="2"/>
                <a:endCxn id="30" idx="2"/>
              </p:cNvCxnSpPr>
              <p:nvPr/>
            </p:nvCxnSpPr>
            <p:spPr>
              <a:xfrm>
                <a:off x="1691680" y="3789040"/>
                <a:ext cx="1253" cy="1101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5D696E4B-64B5-46DA-A1D7-C82C8DAA176C}"/>
                </a:ext>
              </a:extLst>
            </p:cNvPr>
            <p:cNvCxnSpPr>
              <a:cxnSpLocks/>
              <a:stCxn id="25" idx="2"/>
              <a:endCxn id="28" idx="0"/>
            </p:cNvCxnSpPr>
            <p:nvPr/>
          </p:nvCxnSpPr>
          <p:spPr>
            <a:xfrm rot="16200000" flipH="1">
              <a:off x="4744322" y="1700310"/>
              <a:ext cx="299442" cy="277617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矢印: 左右 33">
            <a:extLst>
              <a:ext uri="{FF2B5EF4-FFF2-40B4-BE49-F238E27FC236}">
                <a16:creationId xmlns:a16="http://schemas.microsoft.com/office/drawing/2014/main" id="{ACA2BC82-0DA9-4ADE-897E-2C483AAD6245}"/>
              </a:ext>
            </a:extLst>
          </p:cNvPr>
          <p:cNvSpPr/>
          <p:nvPr/>
        </p:nvSpPr>
        <p:spPr>
          <a:xfrm rot="18525137">
            <a:off x="7182196" y="2403722"/>
            <a:ext cx="512093" cy="212202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矢印: 左右 34">
            <a:extLst>
              <a:ext uri="{FF2B5EF4-FFF2-40B4-BE49-F238E27FC236}">
                <a16:creationId xmlns:a16="http://schemas.microsoft.com/office/drawing/2014/main" id="{12375590-A29B-4A56-972E-661C37F2654A}"/>
              </a:ext>
            </a:extLst>
          </p:cNvPr>
          <p:cNvSpPr/>
          <p:nvPr/>
        </p:nvSpPr>
        <p:spPr>
          <a:xfrm rot="2700000">
            <a:off x="8010872" y="2394199"/>
            <a:ext cx="512093" cy="212202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左右 35">
            <a:extLst>
              <a:ext uri="{FF2B5EF4-FFF2-40B4-BE49-F238E27FC236}">
                <a16:creationId xmlns:a16="http://schemas.microsoft.com/office/drawing/2014/main" id="{F048BB1F-1A2D-4E0C-BA7E-BDB0181C706B}"/>
              </a:ext>
            </a:extLst>
          </p:cNvPr>
          <p:cNvSpPr/>
          <p:nvPr/>
        </p:nvSpPr>
        <p:spPr>
          <a:xfrm>
            <a:off x="7591772" y="2765674"/>
            <a:ext cx="512093" cy="212202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714E88A-39A8-471D-B957-3EC0F3A6CA27}"/>
              </a:ext>
            </a:extLst>
          </p:cNvPr>
          <p:cNvSpPr txBox="1"/>
          <p:nvPr/>
        </p:nvSpPr>
        <p:spPr>
          <a:xfrm>
            <a:off x="580937" y="2276872"/>
            <a:ext cx="2616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/>
              <a:t>2000</a:t>
            </a:r>
            <a:r>
              <a:rPr lang="ja-JP" altLang="en-US" sz="2400"/>
              <a:t>年 </a:t>
            </a:r>
            <a:r>
              <a:rPr lang="en-US" altLang="ja-JP" sz="2400"/>
              <a:t>BitKeeper</a:t>
            </a:r>
            <a:endParaRPr lang="en-US" sz="240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F27A330-F456-406D-BB0F-FF8B8C94FAA7}"/>
              </a:ext>
            </a:extLst>
          </p:cNvPr>
          <p:cNvSpPr txBox="1"/>
          <p:nvPr/>
        </p:nvSpPr>
        <p:spPr>
          <a:xfrm>
            <a:off x="971600" y="2780928"/>
            <a:ext cx="6264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ローカルに全ての情報がある</a:t>
            </a:r>
            <a:r>
              <a:rPr lang="en-US" altLang="ja-JP" sz="2000"/>
              <a:t>(</a:t>
            </a:r>
            <a:r>
              <a:rPr lang="ja-JP" altLang="en-US" sz="2000"/>
              <a:t>分散型</a:t>
            </a:r>
            <a:r>
              <a:rPr lang="en-US" altLang="ja-JP" sz="20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/>
              <a:t>Linux</a:t>
            </a:r>
            <a:r>
              <a:rPr lang="ja-JP" altLang="en-US" sz="2000"/>
              <a:t>カーネル開発に使われた</a:t>
            </a:r>
            <a:r>
              <a:rPr lang="ja-JP" altLang="en-US" sz="2000">
                <a:solidFill>
                  <a:srgbClr val="FF0000"/>
                </a:solidFill>
              </a:rPr>
              <a:t>商用ソフトウェア</a:t>
            </a:r>
            <a:endParaRPr lang="en-US" altLang="ja-JP" sz="2000">
              <a:solidFill>
                <a:srgbClr val="FF0000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91A993D-DDCA-4FE6-AEA6-FC0DFB21AC2F}"/>
              </a:ext>
            </a:extLst>
          </p:cNvPr>
          <p:cNvSpPr txBox="1"/>
          <p:nvPr/>
        </p:nvSpPr>
        <p:spPr>
          <a:xfrm>
            <a:off x="539552" y="3573016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/>
              <a:t>2005</a:t>
            </a:r>
            <a:r>
              <a:rPr lang="ja-JP" altLang="en-US" sz="2400"/>
              <a:t>年 </a:t>
            </a:r>
            <a:r>
              <a:rPr lang="en-US" altLang="ja-JP" sz="2400"/>
              <a:t>Git</a:t>
            </a:r>
            <a:endParaRPr lang="en-US" sz="240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4A26388-1F82-4AE8-8119-DE8C0B5D01C1}"/>
              </a:ext>
            </a:extLst>
          </p:cNvPr>
          <p:cNvSpPr txBox="1"/>
          <p:nvPr/>
        </p:nvSpPr>
        <p:spPr>
          <a:xfrm>
            <a:off x="971600" y="4149080"/>
            <a:ext cx="76328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一部の</a:t>
            </a:r>
            <a:r>
              <a:rPr lang="en-US" altLang="ja-JP" sz="2000" dirty="0"/>
              <a:t>Linux</a:t>
            </a:r>
            <a:r>
              <a:rPr lang="ja-JP" altLang="en-US" sz="2000" dirty="0"/>
              <a:t>開発者が</a:t>
            </a:r>
            <a:r>
              <a:rPr lang="en-US" altLang="ja-JP" sz="2000" dirty="0" err="1"/>
              <a:t>BitKeeper</a:t>
            </a:r>
            <a:r>
              <a:rPr lang="ja-JP" altLang="en-US" sz="2000" dirty="0"/>
              <a:t>をリバースエンジニアリング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 err="1"/>
              <a:t>BitKeeper</a:t>
            </a:r>
            <a:r>
              <a:rPr lang="ja-JP" altLang="en-US" sz="2000" dirty="0"/>
              <a:t>を使えなくなった</a:t>
            </a:r>
            <a:r>
              <a:rPr lang="en-US" altLang="ja-JP" sz="2000"/>
              <a:t>Linus</a:t>
            </a:r>
            <a:r>
              <a:rPr lang="ja-JP" altLang="en-US" sz="2000"/>
              <a:t>が</a:t>
            </a:r>
            <a:r>
              <a:rPr lang="en-US" altLang="ja-JP" sz="2000" dirty="0"/>
              <a:t>Git</a:t>
            </a:r>
            <a:r>
              <a:rPr lang="ja-JP" altLang="en-US" sz="2000" dirty="0"/>
              <a:t>を開発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高速なブランチ切り替えやマージ</a:t>
            </a:r>
            <a:endParaRPr lang="en-US" altLang="ja-JP" sz="20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136718B-D278-4481-A8C0-DE67BCD1620B}"/>
              </a:ext>
            </a:extLst>
          </p:cNvPr>
          <p:cNvSpPr txBox="1"/>
          <p:nvPr/>
        </p:nvSpPr>
        <p:spPr>
          <a:xfrm>
            <a:off x="539552" y="5445224"/>
            <a:ext cx="612068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400"/>
              <a:t>全てのリポジトリが完全な履歴を持つ</a:t>
            </a:r>
            <a:endParaRPr lang="en-US" altLang="ja-JP" sz="2400"/>
          </a:p>
          <a:p>
            <a:r>
              <a:rPr lang="ja-JP" altLang="en-US" sz="2400"/>
              <a:t>リモートとローカルの歴史の整合性を取る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678661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BC416D5-DB63-4A46-9197-D93BD9A2F9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バージョン管理システム</a:t>
            </a:r>
            <a:r>
              <a:rPr lang="ja-JP" altLang="en-US"/>
              <a:t>の歴史</a:t>
            </a:r>
            <a:endParaRPr kumimoji="1" lang="ja-JP" altLang="en-US"/>
          </a:p>
        </p:txBody>
      </p:sp>
      <p:pic>
        <p:nvPicPr>
          <p:cNvPr id="4" name="図 3" descr="グラフ, 折れ線グラフ&#10;&#10;自動的に生成された説明">
            <a:extLst>
              <a:ext uri="{FF2B5EF4-FFF2-40B4-BE49-F238E27FC236}">
                <a16:creationId xmlns:a16="http://schemas.microsoft.com/office/drawing/2014/main" id="{466AC1BF-3571-4BC4-A37F-B8EFE4E1EB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9" y="1628800"/>
            <a:ext cx="4968552" cy="360363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ECCFC1-C4C9-4B37-A33D-A4C88FD35EA4}"/>
              </a:ext>
            </a:extLst>
          </p:cNvPr>
          <p:cNvSpPr txBox="1"/>
          <p:nvPr/>
        </p:nvSpPr>
        <p:spPr>
          <a:xfrm>
            <a:off x="5580112" y="530120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Eclipse Community Survey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5673283-72CA-45D6-8889-CA6CB98DC1FC}"/>
              </a:ext>
            </a:extLst>
          </p:cNvPr>
          <p:cNvSpPr txBox="1"/>
          <p:nvPr/>
        </p:nvSpPr>
        <p:spPr>
          <a:xfrm>
            <a:off x="539552" y="980728"/>
            <a:ext cx="4238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Subversion</a:t>
            </a:r>
            <a:r>
              <a:rPr lang="ja-JP" altLang="en-US" sz="2800"/>
              <a:t>と</a:t>
            </a:r>
            <a:r>
              <a:rPr lang="en-US" altLang="ja-JP" sz="2800"/>
              <a:t>Git</a:t>
            </a:r>
            <a:r>
              <a:rPr lang="ja-JP" altLang="en-US" sz="2800"/>
              <a:t>のシェア</a:t>
            </a:r>
            <a:endParaRPr 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15141B-943B-4880-BA87-C4953D35B6B7}"/>
              </a:ext>
            </a:extLst>
          </p:cNvPr>
          <p:cNvSpPr txBox="1"/>
          <p:nvPr/>
        </p:nvSpPr>
        <p:spPr>
          <a:xfrm>
            <a:off x="395536" y="321297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利用率</a:t>
            </a:r>
            <a:r>
              <a:rPr lang="en-US" altLang="ja-JP"/>
              <a:t>(%)</a:t>
            </a:r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821ED85-5E9A-4E9A-8B61-FEB607980209}"/>
              </a:ext>
            </a:extLst>
          </p:cNvPr>
          <p:cNvSpPr txBox="1"/>
          <p:nvPr/>
        </p:nvSpPr>
        <p:spPr>
          <a:xfrm>
            <a:off x="323528" y="5733256"/>
            <a:ext cx="7186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2018</a:t>
            </a:r>
            <a:r>
              <a:rPr lang="ja-JP" altLang="en-US"/>
              <a:t>年の</a:t>
            </a:r>
            <a:r>
              <a:rPr lang="en-US" altLang="ja-JP"/>
              <a:t>Stackoverflow Survey</a:t>
            </a:r>
            <a:r>
              <a:rPr lang="ja-JP" altLang="en-US"/>
              <a:t>では、</a:t>
            </a:r>
            <a:r>
              <a:rPr lang="en-US" altLang="ja-JP"/>
              <a:t>Git 87.2%</a:t>
            </a:r>
            <a:r>
              <a:rPr lang="ja-JP" altLang="en-US"/>
              <a:t>、</a:t>
            </a:r>
            <a:r>
              <a:rPr lang="en-US" altLang="ja-JP"/>
              <a:t>Subversion 16.1%</a:t>
            </a:r>
            <a:endParaRPr 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70005BE-90E9-48FB-A3F0-D09A196F2785}"/>
              </a:ext>
            </a:extLst>
          </p:cNvPr>
          <p:cNvSpPr txBox="1"/>
          <p:nvPr/>
        </p:nvSpPr>
        <p:spPr>
          <a:xfrm>
            <a:off x="1115616" y="6237312"/>
            <a:ext cx="6170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現在、</a:t>
            </a:r>
            <a:r>
              <a:rPr lang="en-US" sz="2000"/>
              <a:t>VCS</a:t>
            </a:r>
            <a:r>
              <a:rPr lang="ja-JP" altLang="en-US" sz="2000"/>
              <a:t>としては</a:t>
            </a:r>
            <a:r>
              <a:rPr lang="en-US" altLang="ja-JP" sz="2000"/>
              <a:t>Git</a:t>
            </a:r>
            <a:r>
              <a:rPr lang="ja-JP" altLang="en-US" sz="2000"/>
              <a:t>が大きなシェアを持っている</a:t>
            </a:r>
            <a:endParaRPr lang="en-US" sz="2000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165AF3C2-7B09-4E55-B919-4B6283CD8CA8}"/>
              </a:ext>
            </a:extLst>
          </p:cNvPr>
          <p:cNvSpPr/>
          <p:nvPr/>
        </p:nvSpPr>
        <p:spPr>
          <a:xfrm>
            <a:off x="467544" y="6165304"/>
            <a:ext cx="610630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44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D8B0E8F-F1D6-58DA-6339-992815CAA7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Git</a:t>
            </a:r>
            <a:r>
              <a:rPr kumimoji="1" lang="ja-JP" altLang="en-US"/>
              <a:t>と</a:t>
            </a:r>
            <a:r>
              <a:rPr kumimoji="1" lang="en-US" altLang="ja-JP"/>
              <a:t>GitHub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C648DB-7FF1-1D45-C0BF-6E85CAD5E8D6}"/>
              </a:ext>
            </a:extLst>
          </p:cNvPr>
          <p:cNvSpPr txBox="1"/>
          <p:nvPr/>
        </p:nvSpPr>
        <p:spPr>
          <a:xfrm>
            <a:off x="323528" y="1052736"/>
            <a:ext cx="708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>
                <a:solidFill>
                  <a:srgbClr val="011893"/>
                </a:solidFill>
              </a:rPr>
              <a:t>Git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C411A9-7033-0D18-ABCF-D0B15DD4A32A}"/>
              </a:ext>
            </a:extLst>
          </p:cNvPr>
          <p:cNvSpPr txBox="1"/>
          <p:nvPr/>
        </p:nvSpPr>
        <p:spPr>
          <a:xfrm>
            <a:off x="899592" y="1628800"/>
            <a:ext cx="44935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バージョン管理システム</a:t>
            </a:r>
            <a:endParaRPr lang="en-US" altLang="ja-JP" sz="2800"/>
          </a:p>
          <a:p>
            <a:r>
              <a:rPr lang="ja-JP" altLang="en-US" sz="2800"/>
              <a:t>履歴などを管理する</a:t>
            </a:r>
            <a:endParaRPr lang="en-US" altLang="ja-JP" sz="2800"/>
          </a:p>
          <a:p>
            <a:r>
              <a:rPr lang="ja-JP" altLang="en-US" sz="2800"/>
              <a:t>自分にとって「</a:t>
            </a:r>
            <a:r>
              <a:rPr lang="ja-JP" altLang="en-US" sz="2800">
                <a:solidFill>
                  <a:srgbClr val="FF0000"/>
                </a:solidFill>
              </a:rPr>
              <a:t>ローカル</a:t>
            </a:r>
            <a:r>
              <a:rPr lang="ja-JP" altLang="en-US" sz="2800"/>
              <a:t>」</a:t>
            </a:r>
            <a:endParaRPr lang="en-US" altLang="ja-JP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A9123B-82BD-CEE1-7130-45CC2FAA721D}"/>
              </a:ext>
            </a:extLst>
          </p:cNvPr>
          <p:cNvSpPr txBox="1"/>
          <p:nvPr/>
        </p:nvSpPr>
        <p:spPr>
          <a:xfrm>
            <a:off x="251520" y="3573016"/>
            <a:ext cx="1460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>
                <a:solidFill>
                  <a:srgbClr val="011893"/>
                </a:solidFill>
              </a:rPr>
              <a:t>GitHub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E57663E-8213-AEB0-3934-63281C9785FC}"/>
              </a:ext>
            </a:extLst>
          </p:cNvPr>
          <p:cNvSpPr txBox="1"/>
          <p:nvPr/>
        </p:nvSpPr>
        <p:spPr>
          <a:xfrm>
            <a:off x="827584" y="4149080"/>
            <a:ext cx="628890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/>
              <a:t>Git</a:t>
            </a:r>
            <a:r>
              <a:rPr lang="ja-JP" altLang="en-US" sz="2800"/>
              <a:t>のホスティングサービス</a:t>
            </a:r>
            <a:endParaRPr lang="en-US" altLang="ja-JP" sz="2800"/>
          </a:p>
          <a:p>
            <a:r>
              <a:rPr lang="ja-JP" altLang="en-US" sz="2800"/>
              <a:t>データや履歴をリモートにも保存</a:t>
            </a:r>
            <a:endParaRPr lang="en-US" altLang="ja-JP" sz="2800"/>
          </a:p>
          <a:p>
            <a:r>
              <a:rPr lang="ja-JP" altLang="en-US" sz="2800"/>
              <a:t>ソフトウェア開発のプラットフォーム</a:t>
            </a:r>
            <a:endParaRPr lang="en-US" altLang="ja-JP" sz="2800"/>
          </a:p>
          <a:p>
            <a:r>
              <a:rPr lang="ja-JP" altLang="en-US" sz="2800"/>
              <a:t>自分にとって「</a:t>
            </a:r>
            <a:r>
              <a:rPr lang="ja-JP" altLang="en-US" sz="2800">
                <a:solidFill>
                  <a:srgbClr val="FF0000"/>
                </a:solidFill>
              </a:rPr>
              <a:t>リモート</a:t>
            </a:r>
            <a:r>
              <a:rPr lang="ja-JP" altLang="en-US" sz="2800"/>
              <a:t>」</a:t>
            </a:r>
            <a:endParaRPr lang="en-US" altLang="ja-JP" sz="280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5AC7632-79BE-1274-89F8-F49A6DC3D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4941168"/>
            <a:ext cx="738048" cy="73804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7CA00B3-5DF4-D1C3-56D3-83799CC923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437112"/>
            <a:ext cx="1368152" cy="560942"/>
          </a:xfrm>
          <a:prstGeom prst="rect">
            <a:avLst/>
          </a:prstGeom>
        </p:spPr>
      </p:pic>
      <p:pic>
        <p:nvPicPr>
          <p:cNvPr id="1026" name="Picture 2" descr="git logo">
            <a:extLst>
              <a:ext uri="{FF2B5EF4-FFF2-40B4-BE49-F238E27FC236}">
                <a16:creationId xmlns:a16="http://schemas.microsoft.com/office/drawing/2014/main" id="{EF79D159-D5B1-4087-F12F-25769EBBC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060848"/>
            <a:ext cx="1524012" cy="64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E5B90D3-085D-77E0-D258-31268680E07F}"/>
              </a:ext>
            </a:extLst>
          </p:cNvPr>
          <p:cNvSpPr txBox="1"/>
          <p:nvPr/>
        </p:nvSpPr>
        <p:spPr>
          <a:xfrm>
            <a:off x="6456040" y="2852936"/>
            <a:ext cx="2664296" cy="28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/>
              <a:t>Git logo by Jason Long CC BY 3.0</a:t>
            </a:r>
            <a:endParaRPr lang="ja-JP" altLang="en-US" sz="12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357A120-F8F2-3A8D-069B-B7908E02F64B}"/>
              </a:ext>
            </a:extLst>
          </p:cNvPr>
          <p:cNvSpPr txBox="1"/>
          <p:nvPr/>
        </p:nvSpPr>
        <p:spPr>
          <a:xfrm>
            <a:off x="546948" y="6309320"/>
            <a:ext cx="5609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※ Git</a:t>
            </a:r>
            <a:r>
              <a:rPr lang="ja-JP" altLang="en-US"/>
              <a:t>のホスティングサービスとしては</a:t>
            </a:r>
            <a:r>
              <a:rPr lang="en-US" altLang="ja-JP"/>
              <a:t>GitLab</a:t>
            </a:r>
            <a:r>
              <a:rPr lang="ja-JP" altLang="en-US"/>
              <a:t>も有名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059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E6CA8D-8A11-A198-483B-A5EC4502E3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ありがちなパターン</a:t>
            </a:r>
            <a:r>
              <a:rPr lang="en-US" altLang="ja-JP" dirty="0"/>
              <a:t>1</a:t>
            </a:r>
            <a:endParaRPr lang="ja-JP" altLang="en-US"/>
          </a:p>
        </p:txBody>
      </p:sp>
      <p:pic>
        <p:nvPicPr>
          <p:cNvPr id="3" name="Picture 4" descr="書類を見て焦る会社員のイラスト（男性）">
            <a:extLst>
              <a:ext uri="{FF2B5EF4-FFF2-40B4-BE49-F238E27FC236}">
                <a16:creationId xmlns:a16="http://schemas.microsoft.com/office/drawing/2014/main" id="{A2B44304-C6E9-BDC3-67BA-9C5E7B790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070" y="5350647"/>
            <a:ext cx="1080120" cy="131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家のイラスト1">
            <a:extLst>
              <a:ext uri="{FF2B5EF4-FFF2-40B4-BE49-F238E27FC236}">
                <a16:creationId xmlns:a16="http://schemas.microsoft.com/office/drawing/2014/main" id="{D436A6A0-1584-4F9D-0D42-4D032F34A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53426"/>
            <a:ext cx="1270000" cy="117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大学のイラスト">
            <a:extLst>
              <a:ext uri="{FF2B5EF4-FFF2-40B4-BE49-F238E27FC236}">
                <a16:creationId xmlns:a16="http://schemas.microsoft.com/office/drawing/2014/main" id="{ED4F75DA-E60E-A568-7EBE-4EA11E0EE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386031"/>
            <a:ext cx="1387872" cy="124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自転車通学のイラスト（ブレザー・男子学生）">
            <a:extLst>
              <a:ext uri="{FF2B5EF4-FFF2-40B4-BE49-F238E27FC236}">
                <a16:creationId xmlns:a16="http://schemas.microsoft.com/office/drawing/2014/main" id="{2117F0F3-26DA-BA8D-DE9D-23AA8C186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723" y="1536203"/>
            <a:ext cx="961717" cy="103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1F8837-C8BD-7E96-EC73-423DB32F9E13}"/>
              </a:ext>
            </a:extLst>
          </p:cNvPr>
          <p:cNvSpPr txBox="1"/>
          <p:nvPr/>
        </p:nvSpPr>
        <p:spPr>
          <a:xfrm>
            <a:off x="375497" y="1016699"/>
            <a:ext cx="321113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1. </a:t>
            </a:r>
            <a:r>
              <a:rPr kumimoji="1" lang="ja-JP" altLang="en-US"/>
              <a:t>自宅と大学で論文執筆作業</a:t>
            </a:r>
          </a:p>
        </p:txBody>
      </p:sp>
      <p:pic>
        <p:nvPicPr>
          <p:cNvPr id="4106" name="Picture 10" descr="書類を渡している・受け取っている人のイラスト（男性）">
            <a:extLst>
              <a:ext uri="{FF2B5EF4-FFF2-40B4-BE49-F238E27FC236}">
                <a16:creationId xmlns:a16="http://schemas.microsoft.com/office/drawing/2014/main" id="{B988CF0F-5BCF-5792-DA16-ED3D04D7F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070" y="3122949"/>
            <a:ext cx="1122930" cy="131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BAA5F8E-73B5-A4A7-6D57-459AEBF751B3}"/>
              </a:ext>
            </a:extLst>
          </p:cNvPr>
          <p:cNvSpPr txBox="1"/>
          <p:nvPr/>
        </p:nvSpPr>
        <p:spPr>
          <a:xfrm>
            <a:off x="375497" y="2938283"/>
            <a:ext cx="274947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2. </a:t>
            </a:r>
            <a:r>
              <a:rPr kumimoji="1" lang="ja-JP" altLang="en-US"/>
              <a:t>先生に論文添削を依頼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A7FE3E-A159-DA45-62D1-F2CE21CF4896}"/>
              </a:ext>
            </a:extLst>
          </p:cNvPr>
          <p:cNvSpPr txBox="1"/>
          <p:nvPr/>
        </p:nvSpPr>
        <p:spPr>
          <a:xfrm>
            <a:off x="375496" y="4675201"/>
            <a:ext cx="759695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. </a:t>
            </a:r>
            <a:r>
              <a:rPr kumimoji="1" lang="ja-JP" altLang="en-US"/>
              <a:t>添削が返ってきた時、古いバージョンを渡してしまったことに気づく</a:t>
            </a:r>
          </a:p>
        </p:txBody>
      </p:sp>
    </p:spTree>
    <p:extLst>
      <p:ext uri="{BB962C8B-B14F-4D97-AF65-F5344CB8AC3E}">
        <p14:creationId xmlns:p14="http://schemas.microsoft.com/office/powerpoint/2010/main" val="357533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63F12AA-AAC0-9B40-CB88-BE33D01499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ありがちなパターン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pic>
        <p:nvPicPr>
          <p:cNvPr id="2050" name="Picture 2" descr="会社で働く人のイラスト（男性）">
            <a:extLst>
              <a:ext uri="{FF2B5EF4-FFF2-40B4-BE49-F238E27FC236}">
                <a16:creationId xmlns:a16="http://schemas.microsoft.com/office/drawing/2014/main" id="{C6795E56-43A5-FDB3-6E58-1EE35757D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63" y="1576338"/>
            <a:ext cx="975544" cy="97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スーパーコンピューターのイラスト（赤）">
            <a:extLst>
              <a:ext uri="{FF2B5EF4-FFF2-40B4-BE49-F238E27FC236}">
                <a16:creationId xmlns:a16="http://schemas.microsoft.com/office/drawing/2014/main" id="{50C870FA-2E6A-93CA-1E19-1BC6A26E3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484784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3C311D-70BE-1F1B-EF62-0A73A19D7A44}"/>
              </a:ext>
            </a:extLst>
          </p:cNvPr>
          <p:cNvSpPr txBox="1"/>
          <p:nvPr/>
        </p:nvSpPr>
        <p:spPr>
          <a:xfrm>
            <a:off x="156517" y="11553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ローカル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C2C256-C239-B709-D12D-8254EBE7C339}"/>
              </a:ext>
            </a:extLst>
          </p:cNvPr>
          <p:cNvSpPr txBox="1"/>
          <p:nvPr/>
        </p:nvSpPr>
        <p:spPr>
          <a:xfrm>
            <a:off x="6667068" y="108211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スパコン</a:t>
            </a:r>
          </a:p>
        </p:txBody>
      </p:sp>
      <p:pic>
        <p:nvPicPr>
          <p:cNvPr id="2054" name="Picture 6" descr="ファイルアイコン（水色）">
            <a:extLst>
              <a:ext uri="{FF2B5EF4-FFF2-40B4-BE49-F238E27FC236}">
                <a16:creationId xmlns:a16="http://schemas.microsoft.com/office/drawing/2014/main" id="{E5932A36-DA2A-C506-7DB3-6A367CF80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650" y="1633364"/>
            <a:ext cx="736222" cy="85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ファイルアイコン（水色）">
            <a:extLst>
              <a:ext uri="{FF2B5EF4-FFF2-40B4-BE49-F238E27FC236}">
                <a16:creationId xmlns:a16="http://schemas.microsoft.com/office/drawing/2014/main" id="{00966916-4CBB-3B20-E8F5-CDBB5DE43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268" y="1633364"/>
            <a:ext cx="736222" cy="85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ファイルアイコン（黄色）">
            <a:extLst>
              <a:ext uri="{FF2B5EF4-FFF2-40B4-BE49-F238E27FC236}">
                <a16:creationId xmlns:a16="http://schemas.microsoft.com/office/drawing/2014/main" id="{E1EFCECB-7610-091C-9116-1471EF7D3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211" y="3355823"/>
            <a:ext cx="788335" cy="91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ファイルアイコン（赤）">
            <a:extLst>
              <a:ext uri="{FF2B5EF4-FFF2-40B4-BE49-F238E27FC236}">
                <a16:creationId xmlns:a16="http://schemas.microsoft.com/office/drawing/2014/main" id="{E965A538-1DB7-F87C-36A2-DB81E55EC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974" y="4966587"/>
            <a:ext cx="788335" cy="91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BCAA5E41-EF5F-4571-9F0A-F5A0116CB0C7}"/>
              </a:ext>
            </a:extLst>
          </p:cNvPr>
          <p:cNvCxnSpPr>
            <a:stCxn id="2054" idx="3"/>
            <a:endCxn id="5" idx="1"/>
          </p:cNvCxnSpPr>
          <p:nvPr/>
        </p:nvCxnSpPr>
        <p:spPr>
          <a:xfrm>
            <a:off x="2527872" y="2060848"/>
            <a:ext cx="296239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5DCCD4D-AB47-9C69-CC65-B270CB39805F}"/>
              </a:ext>
            </a:extLst>
          </p:cNvPr>
          <p:cNvCxnSpPr>
            <a:stCxn id="5" idx="2"/>
            <a:endCxn id="2056" idx="0"/>
          </p:cNvCxnSpPr>
          <p:nvPr/>
        </p:nvCxnSpPr>
        <p:spPr>
          <a:xfrm>
            <a:off x="5858379" y="2488332"/>
            <a:ext cx="0" cy="8674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ED347F0-D1E3-ADCF-5552-A0B7E064EE51}"/>
              </a:ext>
            </a:extLst>
          </p:cNvPr>
          <p:cNvSpPr txBox="1"/>
          <p:nvPr/>
        </p:nvSpPr>
        <p:spPr>
          <a:xfrm>
            <a:off x="4769462" y="2780291"/>
            <a:ext cx="2178802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kumimoji="1" lang="ja-JP" altLang="en-US" sz="1400"/>
              <a:t>動かなかったの</a:t>
            </a:r>
            <a:r>
              <a:rPr lang="ja-JP" altLang="en-US" sz="1400"/>
              <a:t>で</a:t>
            </a:r>
            <a:r>
              <a:rPr kumimoji="1" lang="ja-JP" altLang="en-US" sz="1400"/>
              <a:t>修正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9673EFE-F063-5DB8-93C5-1ED73780840B}"/>
              </a:ext>
            </a:extLst>
          </p:cNvPr>
          <p:cNvCxnSpPr>
            <a:cxnSpLocks/>
            <a:stCxn id="2054" idx="2"/>
            <a:endCxn id="2058" idx="0"/>
          </p:cNvCxnSpPr>
          <p:nvPr/>
        </p:nvCxnSpPr>
        <p:spPr>
          <a:xfrm>
            <a:off x="2159761" y="2488332"/>
            <a:ext cx="10381" cy="24782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213FCFD-F62D-AF84-AA42-F964EED0B7B5}"/>
              </a:ext>
            </a:extLst>
          </p:cNvPr>
          <p:cNvSpPr txBox="1"/>
          <p:nvPr/>
        </p:nvSpPr>
        <p:spPr>
          <a:xfrm>
            <a:off x="990972" y="3588701"/>
            <a:ext cx="235833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3</a:t>
            </a:r>
            <a:r>
              <a:rPr kumimoji="1" lang="en-US" altLang="ja-JP" sz="1400" dirty="0"/>
              <a:t>. </a:t>
            </a:r>
            <a:r>
              <a:rPr kumimoji="1" lang="ja-JP" altLang="en-US" sz="1400"/>
              <a:t>ジョブ実行中、機能追加</a:t>
            </a:r>
          </a:p>
        </p:txBody>
      </p:sp>
      <p:pic>
        <p:nvPicPr>
          <p:cNvPr id="21" name="Picture 10" descr="ファイルアイコン（赤）">
            <a:extLst>
              <a:ext uri="{FF2B5EF4-FFF2-40B4-BE49-F238E27FC236}">
                <a16:creationId xmlns:a16="http://schemas.microsoft.com/office/drawing/2014/main" id="{FC0A678B-1CF3-2D16-26A2-D408461E7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211" y="4984681"/>
            <a:ext cx="788335" cy="91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28F7528B-A7D6-EDAE-3FFA-1988AD4B7281}"/>
              </a:ext>
            </a:extLst>
          </p:cNvPr>
          <p:cNvCxnSpPr>
            <a:cxnSpLocks/>
            <a:stCxn id="2056" idx="2"/>
            <a:endCxn id="21" idx="0"/>
          </p:cNvCxnSpPr>
          <p:nvPr/>
        </p:nvCxnSpPr>
        <p:spPr>
          <a:xfrm>
            <a:off x="5858379" y="4271309"/>
            <a:ext cx="0" cy="7133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E32E789-0123-0E75-FE64-6C42C7C523FC}"/>
              </a:ext>
            </a:extLst>
          </p:cNvPr>
          <p:cNvCxnSpPr>
            <a:cxnSpLocks/>
            <a:stCxn id="2058" idx="3"/>
            <a:endCxn id="21" idx="1"/>
          </p:cNvCxnSpPr>
          <p:nvPr/>
        </p:nvCxnSpPr>
        <p:spPr>
          <a:xfrm>
            <a:off x="2564309" y="5424330"/>
            <a:ext cx="2899902" cy="180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8BF6154-BD79-6C0C-E073-DE3C99A1CA91}"/>
              </a:ext>
            </a:extLst>
          </p:cNvPr>
          <p:cNvSpPr txBox="1"/>
          <p:nvPr/>
        </p:nvSpPr>
        <p:spPr>
          <a:xfrm>
            <a:off x="2628387" y="5014013"/>
            <a:ext cx="2717411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4</a:t>
            </a:r>
            <a:r>
              <a:rPr kumimoji="1" lang="en-US" altLang="ja-JP" sz="1400" dirty="0"/>
              <a:t>. </a:t>
            </a:r>
            <a:r>
              <a:rPr kumimoji="1" lang="ja-JP" altLang="en-US" sz="1400"/>
              <a:t>修正したコードをスパコンへ</a:t>
            </a:r>
          </a:p>
        </p:txBody>
      </p:sp>
      <p:sp>
        <p:nvSpPr>
          <p:cNvPr id="31" name="爆発 1 30">
            <a:extLst>
              <a:ext uri="{FF2B5EF4-FFF2-40B4-BE49-F238E27FC236}">
                <a16:creationId xmlns:a16="http://schemas.microsoft.com/office/drawing/2014/main" id="{8706BF29-61A6-10E7-EE6F-279A2C2CE087}"/>
              </a:ext>
            </a:extLst>
          </p:cNvPr>
          <p:cNvSpPr/>
          <p:nvPr/>
        </p:nvSpPr>
        <p:spPr>
          <a:xfrm>
            <a:off x="5648393" y="4338327"/>
            <a:ext cx="419968" cy="497799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576A01D-95F7-9C7C-47C0-C2A88CA21C2D}"/>
              </a:ext>
            </a:extLst>
          </p:cNvPr>
          <p:cNvSpPr txBox="1"/>
          <p:nvPr/>
        </p:nvSpPr>
        <p:spPr>
          <a:xfrm>
            <a:off x="2498153" y="6197254"/>
            <a:ext cx="357020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あ！上書きしちゃった！</a:t>
            </a:r>
          </a:p>
        </p:txBody>
      </p:sp>
      <p:cxnSp>
        <p:nvCxnSpPr>
          <p:cNvPr id="34" name="カギ線コネクタ 33">
            <a:extLst>
              <a:ext uri="{FF2B5EF4-FFF2-40B4-BE49-F238E27FC236}">
                <a16:creationId xmlns:a16="http://schemas.microsoft.com/office/drawing/2014/main" id="{426679C0-0ACB-13D4-D8D5-F5949733D549}"/>
              </a:ext>
            </a:extLst>
          </p:cNvPr>
          <p:cNvCxnSpPr>
            <a:stCxn id="32" idx="3"/>
            <a:endCxn id="31" idx="3"/>
          </p:cNvCxnSpPr>
          <p:nvPr/>
        </p:nvCxnSpPr>
        <p:spPr>
          <a:xfrm flipV="1">
            <a:off x="6068361" y="4644612"/>
            <a:ext cx="12700" cy="1783475"/>
          </a:xfrm>
          <a:prstGeom prst="bentConnector3">
            <a:avLst>
              <a:gd name="adj1" fmla="val 3788575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0" name="Picture 12" descr="中年男性の表情のイラスト「驚いた顔」">
            <a:extLst>
              <a:ext uri="{FF2B5EF4-FFF2-40B4-BE49-F238E27FC236}">
                <a16:creationId xmlns:a16="http://schemas.microsoft.com/office/drawing/2014/main" id="{CA6DB0AD-383E-2EC3-EDA0-1F69A08E0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229" y="5040032"/>
            <a:ext cx="1002926" cy="115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50318E-D7B1-E72F-558F-2379FD77A53C}"/>
              </a:ext>
            </a:extLst>
          </p:cNvPr>
          <p:cNvSpPr txBox="1"/>
          <p:nvPr/>
        </p:nvSpPr>
        <p:spPr>
          <a:xfrm>
            <a:off x="2574669" y="1556792"/>
            <a:ext cx="2717411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1. </a:t>
            </a:r>
            <a:r>
              <a:rPr kumimoji="1" lang="ja-JP" altLang="en-US" sz="1400"/>
              <a:t>開発したコードをスパコンへ</a:t>
            </a:r>
          </a:p>
        </p:txBody>
      </p:sp>
    </p:spTree>
    <p:extLst>
      <p:ext uri="{BB962C8B-B14F-4D97-AF65-F5344CB8AC3E}">
        <p14:creationId xmlns:p14="http://schemas.microsoft.com/office/powerpoint/2010/main" val="4049453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9455421-C1C6-CEC4-0E73-074C4545C7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バージョン管理してたら？</a:t>
            </a:r>
            <a:endParaRPr kumimoji="1" lang="ja-JP" altLang="en-US"/>
          </a:p>
        </p:txBody>
      </p:sp>
      <p:pic>
        <p:nvPicPr>
          <p:cNvPr id="3" name="Picture 2" descr="家のイラスト1">
            <a:extLst>
              <a:ext uri="{FF2B5EF4-FFF2-40B4-BE49-F238E27FC236}">
                <a16:creationId xmlns:a16="http://schemas.microsoft.com/office/drawing/2014/main" id="{1B385B9F-E5F9-346F-E873-A9A0159FC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24" y="2696984"/>
            <a:ext cx="1270000" cy="117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大学のイラスト">
            <a:extLst>
              <a:ext uri="{FF2B5EF4-FFF2-40B4-BE49-F238E27FC236}">
                <a16:creationId xmlns:a16="http://schemas.microsoft.com/office/drawing/2014/main" id="{C4AD8B4C-1ABF-5523-EDCF-1CAFB0C05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564904"/>
            <a:ext cx="1387872" cy="124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5579789-822E-D97A-B869-389223208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484784"/>
            <a:ext cx="738048" cy="73804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E1E7A7E-3636-2E8E-6EF0-776C4A2CC3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980728"/>
            <a:ext cx="1368152" cy="560942"/>
          </a:xfrm>
          <a:prstGeom prst="rect">
            <a:avLst/>
          </a:prstGeom>
        </p:spPr>
      </p:pic>
      <p:pic>
        <p:nvPicPr>
          <p:cNvPr id="8" name="Picture 2" descr="会社で働く人のイラスト（男性）">
            <a:extLst>
              <a:ext uri="{FF2B5EF4-FFF2-40B4-BE49-F238E27FC236}">
                <a16:creationId xmlns:a16="http://schemas.microsoft.com/office/drawing/2014/main" id="{705F79F8-FC85-252C-4E71-0B8D31361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448" y="3921120"/>
            <a:ext cx="975544" cy="97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会社で働く人のイラスト（男性）">
            <a:extLst>
              <a:ext uri="{FF2B5EF4-FFF2-40B4-BE49-F238E27FC236}">
                <a16:creationId xmlns:a16="http://schemas.microsoft.com/office/drawing/2014/main" id="{E3424BCB-05D6-7141-0CC1-42031980D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861048"/>
            <a:ext cx="975544" cy="97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9519CD2-9135-BB21-5933-7402373E3122}"/>
              </a:ext>
            </a:extLst>
          </p:cNvPr>
          <p:cNvSpPr txBox="1"/>
          <p:nvPr/>
        </p:nvSpPr>
        <p:spPr>
          <a:xfrm>
            <a:off x="395536" y="1628800"/>
            <a:ext cx="251863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r>
              <a:rPr kumimoji="1" lang="en-US" altLang="ja-JP"/>
              <a:t>. </a:t>
            </a:r>
            <a:r>
              <a:rPr kumimoji="1" lang="ja-JP" altLang="en-US"/>
              <a:t>論文を修正して送信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945FD4-FF97-B48E-4DD2-5EE7A40B34AB}"/>
              </a:ext>
            </a:extLst>
          </p:cNvPr>
          <p:cNvSpPr txBox="1"/>
          <p:nvPr/>
        </p:nvSpPr>
        <p:spPr>
          <a:xfrm>
            <a:off x="6012160" y="1628800"/>
            <a:ext cx="274947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/>
              <a:t>3</a:t>
            </a:r>
            <a:r>
              <a:rPr kumimoji="1" lang="en-US" altLang="ja-JP"/>
              <a:t>. </a:t>
            </a:r>
            <a:r>
              <a:rPr kumimoji="1" lang="ja-JP" altLang="en-US"/>
              <a:t>論文を受け取って修正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24247A5-E39E-FDC3-1849-CDECA976C4F1}"/>
              </a:ext>
            </a:extLst>
          </p:cNvPr>
          <p:cNvSpPr txBox="1"/>
          <p:nvPr/>
        </p:nvSpPr>
        <p:spPr>
          <a:xfrm>
            <a:off x="1259632" y="479715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学生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A0D8535-3639-53FC-E147-37E2E0C2B210}"/>
              </a:ext>
            </a:extLst>
          </p:cNvPr>
          <p:cNvSpPr txBox="1"/>
          <p:nvPr/>
        </p:nvSpPr>
        <p:spPr>
          <a:xfrm>
            <a:off x="6948264" y="479715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先生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2895358A-E897-B7D2-D399-BCE5672BCFE6}"/>
              </a:ext>
            </a:extLst>
          </p:cNvPr>
          <p:cNvSpPr/>
          <p:nvPr/>
        </p:nvSpPr>
        <p:spPr>
          <a:xfrm rot="19455061">
            <a:off x="2468203" y="2230165"/>
            <a:ext cx="1728192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BBDE36D2-F2AA-3330-085C-C82CAA79DC71}"/>
              </a:ext>
            </a:extLst>
          </p:cNvPr>
          <p:cNvSpPr/>
          <p:nvPr/>
        </p:nvSpPr>
        <p:spPr>
          <a:xfrm rot="2027135">
            <a:off x="5014295" y="2315114"/>
            <a:ext cx="1728192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BD74C9A0-1938-E95B-1356-761742F3C844}"/>
              </a:ext>
            </a:extLst>
          </p:cNvPr>
          <p:cNvSpPr/>
          <p:nvPr/>
        </p:nvSpPr>
        <p:spPr>
          <a:xfrm>
            <a:off x="2627784" y="4293096"/>
            <a:ext cx="3831991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A3D13D0-2AEF-57E0-1927-98E0D8084123}"/>
              </a:ext>
            </a:extLst>
          </p:cNvPr>
          <p:cNvSpPr txBox="1"/>
          <p:nvPr/>
        </p:nvSpPr>
        <p:spPr>
          <a:xfrm>
            <a:off x="3635896" y="3923764"/>
            <a:ext cx="1595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/>
              <a:t>2. </a:t>
            </a:r>
            <a:r>
              <a:rPr kumimoji="1" lang="ja-JP" altLang="en-US"/>
              <a:t>添削を依頼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D077C47-20F6-E79D-F6A1-4E0BDFAB2D87}"/>
              </a:ext>
            </a:extLst>
          </p:cNvPr>
          <p:cNvSpPr txBox="1"/>
          <p:nvPr/>
        </p:nvSpPr>
        <p:spPr>
          <a:xfrm>
            <a:off x="2339752" y="6093296"/>
            <a:ext cx="4511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※ Overleaf</a:t>
            </a:r>
            <a:r>
              <a:rPr kumimoji="1" lang="ja-JP" altLang="en-US" sz="2400"/>
              <a:t>などを使う</a:t>
            </a:r>
            <a:r>
              <a:rPr lang="ja-JP" altLang="en-US" sz="2400"/>
              <a:t>人も多い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684717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0BF6FD7-708A-258A-FEE3-23B7685E40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バージョン管理してたら？</a:t>
            </a:r>
          </a:p>
        </p:txBody>
      </p:sp>
      <p:pic>
        <p:nvPicPr>
          <p:cNvPr id="3" name="Picture 2" descr="会社で働く人のイラスト（男性）">
            <a:extLst>
              <a:ext uri="{FF2B5EF4-FFF2-40B4-BE49-F238E27FC236}">
                <a16:creationId xmlns:a16="http://schemas.microsoft.com/office/drawing/2014/main" id="{A0CEE34E-C13F-9096-9276-851376325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068960"/>
            <a:ext cx="975544" cy="97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スーパーコンピューターのイラスト（赤）">
            <a:extLst>
              <a:ext uri="{FF2B5EF4-FFF2-40B4-BE49-F238E27FC236}">
                <a16:creationId xmlns:a16="http://schemas.microsoft.com/office/drawing/2014/main" id="{C8C7E23F-AA45-9C32-1F45-C3502D8A8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2852936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9A257A-C471-9556-5A56-93B9D80AFDD4}"/>
              </a:ext>
            </a:extLst>
          </p:cNvPr>
          <p:cNvSpPr txBox="1"/>
          <p:nvPr/>
        </p:nvSpPr>
        <p:spPr>
          <a:xfrm>
            <a:off x="107504" y="27089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ローカル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B49B7A-A4D3-17BE-F86A-2D9700666F79}"/>
              </a:ext>
            </a:extLst>
          </p:cNvPr>
          <p:cNvSpPr txBox="1"/>
          <p:nvPr/>
        </p:nvSpPr>
        <p:spPr>
          <a:xfrm>
            <a:off x="7596336" y="23488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スパコン</a:t>
            </a:r>
          </a:p>
        </p:txBody>
      </p:sp>
      <p:pic>
        <p:nvPicPr>
          <p:cNvPr id="7" name="Picture 6" descr="ファイルアイコン（水色）">
            <a:extLst>
              <a:ext uri="{FF2B5EF4-FFF2-40B4-BE49-F238E27FC236}">
                <a16:creationId xmlns:a16="http://schemas.microsoft.com/office/drawing/2014/main" id="{7D6849B1-ACAA-9A45-D86F-097DE0241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204864"/>
            <a:ext cx="736222" cy="85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ファイルアイコン（赤）">
            <a:extLst>
              <a:ext uri="{FF2B5EF4-FFF2-40B4-BE49-F238E27FC236}">
                <a16:creationId xmlns:a16="http://schemas.microsoft.com/office/drawing/2014/main" id="{1430ACCD-2917-BC3E-CE94-F8615883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365104"/>
            <a:ext cx="788335" cy="91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AAA0C31A-DF84-B87A-08B4-5C01C215CB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456" y="3130808"/>
            <a:ext cx="738048" cy="738048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28B5C181-0FDC-165A-0A77-384FA7647DF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416" y="2554744"/>
            <a:ext cx="1368152" cy="560942"/>
          </a:xfrm>
          <a:prstGeom prst="rect">
            <a:avLst/>
          </a:prstGeom>
        </p:spPr>
      </p:pic>
      <p:pic>
        <p:nvPicPr>
          <p:cNvPr id="30" name="Picture 6" descr="ファイルアイコン（水色）">
            <a:extLst>
              <a:ext uri="{FF2B5EF4-FFF2-40B4-BE49-F238E27FC236}">
                <a16:creationId xmlns:a16="http://schemas.microsoft.com/office/drawing/2014/main" id="{DE81BAF6-8D2D-D9C1-D3B3-0EBE033A9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132856"/>
            <a:ext cx="736222" cy="85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8" descr="ファイルアイコン（黄色）">
            <a:extLst>
              <a:ext uri="{FF2B5EF4-FFF2-40B4-BE49-F238E27FC236}">
                <a16:creationId xmlns:a16="http://schemas.microsoft.com/office/drawing/2014/main" id="{66271D5E-3BC5-A9ED-6372-7A54D4DCE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365104"/>
            <a:ext cx="788335" cy="91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997C740B-41E1-AB51-2BC9-0CF14864155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2275815" y="3059832"/>
            <a:ext cx="26057" cy="13052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EC4CBB38-314D-501A-0946-7CD8F689EAA6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6524287" y="2987824"/>
            <a:ext cx="26057" cy="13772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CB75F0A-A02F-4E79-315D-4E1DB1E3C6E8}"/>
              </a:ext>
            </a:extLst>
          </p:cNvPr>
          <p:cNvSpPr txBox="1"/>
          <p:nvPr/>
        </p:nvSpPr>
        <p:spPr>
          <a:xfrm>
            <a:off x="1187624" y="3501008"/>
            <a:ext cx="235833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3</a:t>
            </a:r>
            <a:r>
              <a:rPr kumimoji="1" lang="en-US" altLang="ja-JP" sz="1400" dirty="0"/>
              <a:t>. </a:t>
            </a:r>
            <a:r>
              <a:rPr kumimoji="1" lang="ja-JP" altLang="en-US" sz="1400"/>
              <a:t>ジョブ実行中、機能追加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81A9D8E-7629-8B7B-B41C-FDE294D2C93B}"/>
              </a:ext>
            </a:extLst>
          </p:cNvPr>
          <p:cNvSpPr txBox="1"/>
          <p:nvPr/>
        </p:nvSpPr>
        <p:spPr>
          <a:xfrm>
            <a:off x="2843808" y="1844824"/>
            <a:ext cx="2717411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1. </a:t>
            </a:r>
            <a:r>
              <a:rPr kumimoji="1" lang="ja-JP" altLang="en-US" sz="1400"/>
              <a:t>開発したコードをスパコンへ</a:t>
            </a:r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DF6A2466-DC36-6086-CE17-603C2D0ABEFD}"/>
              </a:ext>
            </a:extLst>
          </p:cNvPr>
          <p:cNvSpPr/>
          <p:nvPr/>
        </p:nvSpPr>
        <p:spPr>
          <a:xfrm rot="1197244">
            <a:off x="2796154" y="2751292"/>
            <a:ext cx="1153119" cy="34557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30CDD619-7E70-62C8-0C80-EBE30DDD7A09}"/>
              </a:ext>
            </a:extLst>
          </p:cNvPr>
          <p:cNvSpPr/>
          <p:nvPr/>
        </p:nvSpPr>
        <p:spPr>
          <a:xfrm rot="19800000">
            <a:off x="5085205" y="2758027"/>
            <a:ext cx="1153119" cy="34557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DE522F4-36F1-011E-17A0-6AAEC2BA2ABA}"/>
              </a:ext>
            </a:extLst>
          </p:cNvPr>
          <p:cNvSpPr txBox="1"/>
          <p:nvPr/>
        </p:nvSpPr>
        <p:spPr>
          <a:xfrm>
            <a:off x="5436096" y="3429000"/>
            <a:ext cx="2178802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kumimoji="1" lang="ja-JP" altLang="en-US" sz="1400"/>
              <a:t>動かなかったの</a:t>
            </a:r>
            <a:r>
              <a:rPr lang="ja-JP" altLang="en-US" sz="1400"/>
              <a:t>で</a:t>
            </a:r>
            <a:r>
              <a:rPr kumimoji="1" lang="ja-JP" altLang="en-US" sz="1400"/>
              <a:t>修正</a:t>
            </a:r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6FBC4859-9E2E-4C1A-E122-4D69B0EC185B}"/>
              </a:ext>
            </a:extLst>
          </p:cNvPr>
          <p:cNvSpPr/>
          <p:nvPr/>
        </p:nvSpPr>
        <p:spPr>
          <a:xfrm rot="19800000">
            <a:off x="2852957" y="4126179"/>
            <a:ext cx="1153119" cy="34557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右 41">
            <a:extLst>
              <a:ext uri="{FF2B5EF4-FFF2-40B4-BE49-F238E27FC236}">
                <a16:creationId xmlns:a16="http://schemas.microsoft.com/office/drawing/2014/main" id="{FA43C75D-CB12-1C2A-88D8-60E5BC6F2254}"/>
              </a:ext>
            </a:extLst>
          </p:cNvPr>
          <p:cNvSpPr/>
          <p:nvPr/>
        </p:nvSpPr>
        <p:spPr>
          <a:xfrm rot="1800000">
            <a:off x="4941189" y="4198186"/>
            <a:ext cx="1153119" cy="345575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爆発 1 30">
            <a:extLst>
              <a:ext uri="{FF2B5EF4-FFF2-40B4-BE49-F238E27FC236}">
                <a16:creationId xmlns:a16="http://schemas.microsoft.com/office/drawing/2014/main" id="{DAD9A577-339A-5977-37E2-D1E1BBDB9FB4}"/>
              </a:ext>
            </a:extLst>
          </p:cNvPr>
          <p:cNvSpPr/>
          <p:nvPr/>
        </p:nvSpPr>
        <p:spPr>
          <a:xfrm>
            <a:off x="5148064" y="4005064"/>
            <a:ext cx="576064" cy="648072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E810168-B0B0-8B9C-1A7A-57A785B29992}"/>
              </a:ext>
            </a:extLst>
          </p:cNvPr>
          <p:cNvSpPr txBox="1"/>
          <p:nvPr/>
        </p:nvSpPr>
        <p:spPr>
          <a:xfrm>
            <a:off x="1331640" y="5445224"/>
            <a:ext cx="69044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/>
              <a:t>4. </a:t>
            </a:r>
            <a:r>
              <a:rPr kumimoji="1" lang="ja-JP" altLang="en-US"/>
              <a:t>修正したコードをスパコンに持っていこうとしたら拒否される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4057994-A9EC-2E7F-D07A-8012C7E04A6A}"/>
              </a:ext>
            </a:extLst>
          </p:cNvPr>
          <p:cNvSpPr txBox="1"/>
          <p:nvPr/>
        </p:nvSpPr>
        <p:spPr>
          <a:xfrm>
            <a:off x="899592" y="6093296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バージョン管理していると作業が失われない</a:t>
            </a:r>
          </a:p>
        </p:txBody>
      </p:sp>
    </p:spTree>
    <p:extLst>
      <p:ext uri="{BB962C8B-B14F-4D97-AF65-F5344CB8AC3E}">
        <p14:creationId xmlns:p14="http://schemas.microsoft.com/office/powerpoint/2010/main" val="1451668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48473B5-DEF5-4849-B0A6-BFA9F127B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バージョン管理システム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78AA88-30DC-466E-9FD8-58596E4C34F4}"/>
              </a:ext>
            </a:extLst>
          </p:cNvPr>
          <p:cNvSpPr txBox="1"/>
          <p:nvPr/>
        </p:nvSpPr>
        <p:spPr>
          <a:xfrm>
            <a:off x="395536" y="2060848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バージョン管理システム導入の二大メリット</a:t>
            </a:r>
            <a:endParaRPr lang="en-US" sz="2800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0533BD44-31C9-4916-B8F0-DBA5030371E4}"/>
              </a:ext>
            </a:extLst>
          </p:cNvPr>
          <p:cNvSpPr/>
          <p:nvPr/>
        </p:nvSpPr>
        <p:spPr>
          <a:xfrm>
            <a:off x="4572000" y="1268760"/>
            <a:ext cx="914400" cy="612648"/>
          </a:xfrm>
          <a:prstGeom prst="wedgeRectCallout">
            <a:avLst>
              <a:gd name="adj1" fmla="val 44792"/>
              <a:gd name="adj2" fmla="val 7960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渡辺が考える</a:t>
            </a:r>
            <a:endParaRPr kumimoji="1" lang="en-US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A884F7-8809-4908-8CCC-00D05F29B1E4}"/>
              </a:ext>
            </a:extLst>
          </p:cNvPr>
          <p:cNvSpPr txBox="1"/>
          <p:nvPr/>
        </p:nvSpPr>
        <p:spPr>
          <a:xfrm>
            <a:off x="971600" y="34290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バックアップ</a:t>
            </a:r>
            <a:endParaRPr lang="en-US" sz="32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F36ADA8-E163-4FBB-B9E4-38A1471B01A8}"/>
              </a:ext>
            </a:extLst>
          </p:cNvPr>
          <p:cNvSpPr txBox="1"/>
          <p:nvPr/>
        </p:nvSpPr>
        <p:spPr>
          <a:xfrm>
            <a:off x="5724128" y="342900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履歴保存</a:t>
            </a:r>
            <a:endParaRPr lang="en-US" sz="3200"/>
          </a:p>
        </p:txBody>
      </p:sp>
      <p:pic>
        <p:nvPicPr>
          <p:cNvPr id="1026" name="Picture 2" descr="金庫のイラスト">
            <a:extLst>
              <a:ext uri="{FF2B5EF4-FFF2-40B4-BE49-F238E27FC236}">
                <a16:creationId xmlns:a16="http://schemas.microsoft.com/office/drawing/2014/main" id="{FEA6BB1E-576C-4C4D-9BE0-9081A79D2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77072"/>
            <a:ext cx="2625080" cy="215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歪む時間のイラスト">
            <a:extLst>
              <a:ext uri="{FF2B5EF4-FFF2-40B4-BE49-F238E27FC236}">
                <a16:creationId xmlns:a16="http://schemas.microsoft.com/office/drawing/2014/main" id="{17979437-0265-459B-A2D0-39F4D3437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77072"/>
            <a:ext cx="2081808" cy="208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683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9022E18-1ED6-887E-1E48-9D46E6882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バックアップ</a:t>
            </a:r>
          </a:p>
        </p:txBody>
      </p:sp>
      <p:pic>
        <p:nvPicPr>
          <p:cNvPr id="1026" name="Picture 2" descr="壊れたノートパソコンのイラスト">
            <a:extLst>
              <a:ext uri="{FF2B5EF4-FFF2-40B4-BE49-F238E27FC236}">
                <a16:creationId xmlns:a16="http://schemas.microsoft.com/office/drawing/2014/main" id="{6A673049-AA79-BE24-1E3F-E7B7C0A91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09195"/>
            <a:ext cx="2060062" cy="21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F5905F-94B7-1777-9A01-D8BFD1704938}"/>
              </a:ext>
            </a:extLst>
          </p:cNvPr>
          <p:cNvSpPr txBox="1"/>
          <p:nvPr/>
        </p:nvSpPr>
        <p:spPr>
          <a:xfrm>
            <a:off x="2627784" y="1772816"/>
            <a:ext cx="4448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作業中の</a:t>
            </a:r>
            <a:r>
              <a:rPr lang="en-US" altLang="ja-JP" sz="3200" dirty="0"/>
              <a:t>PC</a:t>
            </a:r>
            <a:r>
              <a:rPr lang="ja-JP" altLang="en-US" sz="3200"/>
              <a:t>が壊れた！</a:t>
            </a:r>
            <a:endParaRPr kumimoji="1" lang="ja-JP" altLang="en-US" sz="3200"/>
          </a:p>
        </p:txBody>
      </p:sp>
      <p:pic>
        <p:nvPicPr>
          <p:cNvPr id="1028" name="Picture 4" descr="てへぺろのイラスト（男性）">
            <a:extLst>
              <a:ext uri="{FF2B5EF4-FFF2-40B4-BE49-F238E27FC236}">
                <a16:creationId xmlns:a16="http://schemas.microsoft.com/office/drawing/2014/main" id="{431B0E86-328A-43BC-22A4-D4EF2FF06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84" y="3276533"/>
            <a:ext cx="1370750" cy="195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5289AA-F7FA-7F6F-3A0A-FC61E75C18CC}"/>
              </a:ext>
            </a:extLst>
          </p:cNvPr>
          <p:cNvSpPr txBox="1"/>
          <p:nvPr/>
        </p:nvSpPr>
        <p:spPr>
          <a:xfrm>
            <a:off x="2393434" y="3717032"/>
            <a:ext cx="67505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間違って古いバージョンで上書き！</a:t>
            </a:r>
            <a:endParaRPr lang="en-US" altLang="ja-JP" sz="3200" dirty="0"/>
          </a:p>
          <a:p>
            <a:r>
              <a:rPr lang="ja-JP" altLang="en-US" sz="3200"/>
              <a:t>作業ミスで消しちゃった！</a:t>
            </a:r>
            <a:endParaRPr kumimoji="1" lang="ja-JP" altLang="en-US" sz="32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45A1C9F-0F4C-8EFA-98A2-D9042EFB6654}"/>
              </a:ext>
            </a:extLst>
          </p:cNvPr>
          <p:cNvSpPr txBox="1"/>
          <p:nvPr/>
        </p:nvSpPr>
        <p:spPr>
          <a:xfrm>
            <a:off x="107504" y="6029333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重要なファイルの消失により、大きな「手戻り」が発生する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734023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A70C189-0855-4AC7-8A02-643269D4AD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バックアップ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408377-7388-4CD8-B5BC-2887B47BD6F5}"/>
              </a:ext>
            </a:extLst>
          </p:cNvPr>
          <p:cNvSpPr txBox="1"/>
          <p:nvPr/>
        </p:nvSpPr>
        <p:spPr>
          <a:xfrm>
            <a:off x="2195736" y="5013176"/>
            <a:ext cx="59298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バージョン管理システムとして</a:t>
            </a:r>
            <a:endParaRPr lang="en-US" altLang="ja-JP" sz="3200"/>
          </a:p>
          <a:p>
            <a:r>
              <a:rPr kumimoji="1" lang="en-US" altLang="ja-JP" sz="3200"/>
              <a:t>Git/GitHub</a:t>
            </a:r>
            <a:r>
              <a:rPr kumimoji="1" lang="ja-JP" altLang="en-US" sz="3200"/>
              <a:t>を使うと上記要件を</a:t>
            </a:r>
            <a:endParaRPr kumimoji="1" lang="en-US" altLang="ja-JP" sz="3200"/>
          </a:p>
          <a:p>
            <a:r>
              <a:rPr lang="ja-JP" altLang="en-US" sz="3200"/>
              <a:t>自動的に満たす</a:t>
            </a:r>
            <a:endParaRPr kumimoji="1" lang="ja-JP" altLang="en-US" sz="32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3BCA68-C7C1-4A9E-A626-A1F165C4B688}"/>
              </a:ext>
            </a:extLst>
          </p:cNvPr>
          <p:cNvSpPr txBox="1"/>
          <p:nvPr/>
        </p:nvSpPr>
        <p:spPr>
          <a:xfrm>
            <a:off x="179512" y="112474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バックアップは</a:t>
            </a:r>
            <a:r>
              <a:rPr kumimoji="1" lang="ja-JP" altLang="en-US" sz="3200">
                <a:solidFill>
                  <a:srgbClr val="011893"/>
                </a:solidFill>
              </a:rPr>
              <a:t>定期的</a:t>
            </a:r>
            <a:r>
              <a:rPr kumimoji="1" lang="ja-JP" altLang="en-US" sz="3200"/>
              <a:t>にとる</a:t>
            </a:r>
            <a:endParaRPr kumimoji="1" lang="en-US" altLang="ja-JP" sz="32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5F6861-1575-4BA7-8C94-14890CA4CE7E}"/>
              </a:ext>
            </a:extLst>
          </p:cNvPr>
          <p:cNvSpPr txBox="1"/>
          <p:nvPr/>
        </p:nvSpPr>
        <p:spPr>
          <a:xfrm>
            <a:off x="971600" y="1844824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バックアップ頻度＝データが飛んだ時の手戻りの時間</a:t>
            </a:r>
            <a:endParaRPr kumimoji="1" lang="en-US" altLang="ja-JP" sz="2400"/>
          </a:p>
          <a:p>
            <a:r>
              <a:rPr lang="ja-JP" altLang="en-US" sz="2400"/>
              <a:t>最低でも毎日バックアップすること</a:t>
            </a:r>
            <a:endParaRPr kumimoji="1" lang="ja-JP" altLang="en-US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27C0401-4CC5-48DB-A0F9-652A15EAF35C}"/>
              </a:ext>
            </a:extLst>
          </p:cNvPr>
          <p:cNvSpPr txBox="1"/>
          <p:nvPr/>
        </p:nvSpPr>
        <p:spPr>
          <a:xfrm>
            <a:off x="179512" y="292494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バックアップは</a:t>
            </a:r>
            <a:r>
              <a:rPr kumimoji="1" lang="ja-JP" altLang="en-US" sz="3200">
                <a:solidFill>
                  <a:srgbClr val="011893"/>
                </a:solidFill>
              </a:rPr>
              <a:t>リモート</a:t>
            </a:r>
            <a:r>
              <a:rPr kumimoji="1" lang="ja-JP" altLang="en-US" sz="3200"/>
              <a:t>にとる</a:t>
            </a:r>
            <a:endParaRPr kumimoji="1" lang="en-US" altLang="ja-JP" sz="32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26D3F4-B4C4-4B82-8990-2B365D20EFB6}"/>
              </a:ext>
            </a:extLst>
          </p:cNvPr>
          <p:cNvSpPr txBox="1"/>
          <p:nvPr/>
        </p:nvSpPr>
        <p:spPr>
          <a:xfrm>
            <a:off x="1043608" y="3645024"/>
            <a:ext cx="6460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自分の</a:t>
            </a:r>
            <a:r>
              <a:rPr kumimoji="1" lang="en-US" altLang="ja-JP" sz="2400" dirty="0"/>
              <a:t>PC</a:t>
            </a:r>
            <a:r>
              <a:rPr kumimoji="1" lang="ja-JP" altLang="en-US" sz="2400"/>
              <a:t>の別フォルダにコピーするのはダメ</a:t>
            </a:r>
            <a:endParaRPr kumimoji="1" lang="en-US" altLang="ja-JP" sz="2400" dirty="0"/>
          </a:p>
          <a:p>
            <a:r>
              <a:rPr lang="en-US" altLang="ja-JP" sz="2400" dirty="0"/>
              <a:t>USB</a:t>
            </a:r>
            <a:r>
              <a:rPr lang="ja-JP" altLang="en-US" sz="2400" err="1"/>
              <a:t>への</a:t>
            </a:r>
            <a:r>
              <a:rPr lang="ja-JP" altLang="en-US" sz="2400"/>
              <a:t>コピーも信用できない</a:t>
            </a:r>
            <a:endParaRPr kumimoji="1" lang="ja-JP" altLang="en-US" sz="2400"/>
          </a:p>
        </p:txBody>
      </p:sp>
      <p:sp>
        <p:nvSpPr>
          <p:cNvPr id="8" name="右矢印 9">
            <a:extLst>
              <a:ext uri="{FF2B5EF4-FFF2-40B4-BE49-F238E27FC236}">
                <a16:creationId xmlns:a16="http://schemas.microsoft.com/office/drawing/2014/main" id="{A1A360C6-5EB0-48CA-BF6F-AC8717D959D9}"/>
              </a:ext>
            </a:extLst>
          </p:cNvPr>
          <p:cNvSpPr/>
          <p:nvPr/>
        </p:nvSpPr>
        <p:spPr>
          <a:xfrm>
            <a:off x="1331640" y="5517232"/>
            <a:ext cx="576064" cy="5566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513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D820A1F-69B5-4F33-B1E9-8FEBA4701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履歴保存</a:t>
            </a:r>
            <a:endParaRPr lang="en-US"/>
          </a:p>
        </p:txBody>
      </p:sp>
      <p:pic>
        <p:nvPicPr>
          <p:cNvPr id="3" name="Picture 4" descr="歪む時間のイラスト">
            <a:extLst>
              <a:ext uri="{FF2B5EF4-FFF2-40B4-BE49-F238E27FC236}">
                <a16:creationId xmlns:a16="http://schemas.microsoft.com/office/drawing/2014/main" id="{57D38152-5EB9-448F-8F3F-0AC7CFE13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08920"/>
            <a:ext cx="1505744" cy="150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203A2-35CF-4AA4-9E4C-03C95BADDD35}"/>
              </a:ext>
            </a:extLst>
          </p:cNvPr>
          <p:cNvSpPr txBox="1"/>
          <p:nvPr/>
        </p:nvSpPr>
        <p:spPr>
          <a:xfrm>
            <a:off x="539552" y="1484784"/>
            <a:ext cx="6946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バージョン管理システムを使っていると</a:t>
            </a:r>
            <a:r>
              <a:rPr lang="en-US" altLang="ja-JP" sz="2800"/>
              <a:t>...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458DA1-1C0C-4000-840D-B880C1812F45}"/>
              </a:ext>
            </a:extLst>
          </p:cNvPr>
          <p:cNvSpPr txBox="1"/>
          <p:nvPr/>
        </p:nvSpPr>
        <p:spPr>
          <a:xfrm>
            <a:off x="2051720" y="2852936"/>
            <a:ext cx="65774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800"/>
              <a:t>任意の時点に状態を戻すことができる</a:t>
            </a:r>
            <a:endParaRPr kumimoji="1" lang="en-US" altLang="ja-JP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/>
              <a:t>任意の時点間の差分を確認できる</a:t>
            </a:r>
            <a:endParaRPr lang="en-US" altLang="ja-JP" sz="2800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910C5B77-4A31-49E5-80FA-7D37143A3DEB}"/>
              </a:ext>
            </a:extLst>
          </p:cNvPr>
          <p:cNvSpPr/>
          <p:nvPr/>
        </p:nvSpPr>
        <p:spPr>
          <a:xfrm>
            <a:off x="1763688" y="5229200"/>
            <a:ext cx="792088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6D5E82-84F0-43E5-A1D4-4601B0D3F3F1}"/>
              </a:ext>
            </a:extLst>
          </p:cNvPr>
          <p:cNvSpPr txBox="1"/>
          <p:nvPr/>
        </p:nvSpPr>
        <p:spPr>
          <a:xfrm>
            <a:off x="2843808" y="5157192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デバッグ時間の短縮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336697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200C318-C00C-4F5C-9FFD-EB5E8E7D43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履歴保存とデバッグ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22ABA9-FE85-4C92-A4B5-D7C1FEE470FD}"/>
              </a:ext>
            </a:extLst>
          </p:cNvPr>
          <p:cNvSpPr txBox="1"/>
          <p:nvPr/>
        </p:nvSpPr>
        <p:spPr>
          <a:xfrm>
            <a:off x="539552" y="1124744"/>
            <a:ext cx="70567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/>
              <a:t>数値計算コードを開発中、</a:t>
            </a:r>
            <a:endParaRPr lang="en-US" altLang="ja-JP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ja-JP" altLang="en-US" sz="3200"/>
              <a:t>メインカーネルを修正し</a:t>
            </a:r>
            <a:endParaRPr lang="en-US" altLang="ja-JP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ja-JP" altLang="en-US" sz="3200"/>
              <a:t>別のインプットを与えたら</a:t>
            </a:r>
            <a:endParaRPr lang="en-US" altLang="ja-JP" sz="3200"/>
          </a:p>
          <a:p>
            <a:r>
              <a:rPr lang="ja-JP" altLang="en-US" sz="3200"/>
              <a:t>計算に失敗した</a:t>
            </a:r>
            <a:endParaRPr lang="en-US" sz="320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E5822AE-23C6-40C6-B232-096BB6AD0FFC}"/>
              </a:ext>
            </a:extLst>
          </p:cNvPr>
          <p:cNvSpPr/>
          <p:nvPr/>
        </p:nvSpPr>
        <p:spPr>
          <a:xfrm>
            <a:off x="3707904" y="3603104"/>
            <a:ext cx="1447800" cy="5334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rgbClr val="000000"/>
                </a:solidFill>
              </a:rPr>
              <a:t>計算ルーチン</a:t>
            </a:r>
            <a:endParaRPr lang="en-US" altLang="ja-JP" sz="1600" dirty="0">
              <a:solidFill>
                <a:srgbClr val="000000"/>
              </a:solidFill>
            </a:endParaRPr>
          </a:p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(</a:t>
            </a:r>
            <a:r>
              <a:rPr kumimoji="1" lang="ja-JP" altLang="en-US" sz="1600" dirty="0">
                <a:solidFill>
                  <a:srgbClr val="000000"/>
                </a:solidFill>
              </a:rPr>
              <a:t>修正前</a:t>
            </a:r>
            <a:r>
              <a:rPr kumimoji="1" lang="en-US" altLang="ja-JP" sz="1600" dirty="0">
                <a:solidFill>
                  <a:srgbClr val="000000"/>
                </a:solidFill>
              </a:rPr>
              <a:t>)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5" name="角丸四角形 14">
            <a:extLst>
              <a:ext uri="{FF2B5EF4-FFF2-40B4-BE49-F238E27FC236}">
                <a16:creationId xmlns:a16="http://schemas.microsoft.com/office/drawing/2014/main" id="{29328625-2110-445C-9259-62E84ED68C03}"/>
              </a:ext>
            </a:extLst>
          </p:cNvPr>
          <p:cNvSpPr/>
          <p:nvPr/>
        </p:nvSpPr>
        <p:spPr>
          <a:xfrm>
            <a:off x="1331640" y="3601516"/>
            <a:ext cx="1429576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rgbClr val="000000"/>
                </a:solidFill>
              </a:rPr>
              <a:t>インプット</a:t>
            </a:r>
            <a:r>
              <a:rPr kumimoji="1" lang="en-US" altLang="ja-JP" sz="1400" dirty="0">
                <a:solidFill>
                  <a:srgbClr val="000000"/>
                </a:solidFill>
              </a:rPr>
              <a:t> A</a:t>
            </a:r>
            <a:endParaRPr kumimoji="1" lang="ja-JP" altLang="en-US" sz="1400" dirty="0">
              <a:solidFill>
                <a:srgbClr val="000000"/>
              </a:solidFill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9F26FE66-0F1A-4586-8C0A-955345E5FBD9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2761216" y="3868216"/>
            <a:ext cx="94668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角丸四角形 19">
            <a:extLst>
              <a:ext uri="{FF2B5EF4-FFF2-40B4-BE49-F238E27FC236}">
                <a16:creationId xmlns:a16="http://schemas.microsoft.com/office/drawing/2014/main" id="{EEF4F6EE-A0C9-48CD-B0DF-2ABD474CF5F5}"/>
              </a:ext>
            </a:extLst>
          </p:cNvPr>
          <p:cNvSpPr/>
          <p:nvPr/>
        </p:nvSpPr>
        <p:spPr>
          <a:xfrm>
            <a:off x="6088186" y="3586018"/>
            <a:ext cx="1143000" cy="5334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OK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A03EB3-6533-4D62-B9D9-B324A98CB0B8}"/>
              </a:ext>
            </a:extLst>
          </p:cNvPr>
          <p:cNvSpPr/>
          <p:nvPr/>
        </p:nvSpPr>
        <p:spPr>
          <a:xfrm>
            <a:off x="3707904" y="4365104"/>
            <a:ext cx="1447800" cy="533400"/>
          </a:xfrm>
          <a:prstGeom prst="rect">
            <a:avLst/>
          </a:prstGeom>
          <a:solidFill>
            <a:srgbClr val="92D050"/>
          </a:solidFill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rgbClr val="000000"/>
                </a:solidFill>
              </a:rPr>
              <a:t>計算ルーチン</a:t>
            </a:r>
            <a:endParaRPr lang="en-US" altLang="ja-JP" sz="1600" dirty="0">
              <a:solidFill>
                <a:srgbClr val="000000"/>
              </a:solidFill>
            </a:endParaRPr>
          </a:p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(</a:t>
            </a:r>
            <a:r>
              <a:rPr kumimoji="1" lang="ja-JP" altLang="en-US" sz="1600" dirty="0">
                <a:solidFill>
                  <a:srgbClr val="000000"/>
                </a:solidFill>
              </a:rPr>
              <a:t>修正版</a:t>
            </a:r>
            <a:r>
              <a:rPr kumimoji="1" lang="en-US" altLang="ja-JP" sz="1600" dirty="0">
                <a:solidFill>
                  <a:srgbClr val="000000"/>
                </a:solidFill>
              </a:rPr>
              <a:t>)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9" name="角丸四角形 25">
            <a:extLst>
              <a:ext uri="{FF2B5EF4-FFF2-40B4-BE49-F238E27FC236}">
                <a16:creationId xmlns:a16="http://schemas.microsoft.com/office/drawing/2014/main" id="{0253854F-42EB-4C1F-AD2F-391B4F174421}"/>
              </a:ext>
            </a:extLst>
          </p:cNvPr>
          <p:cNvSpPr/>
          <p:nvPr/>
        </p:nvSpPr>
        <p:spPr>
          <a:xfrm>
            <a:off x="1331640" y="4363516"/>
            <a:ext cx="1429576" cy="53340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rgbClr val="000000"/>
                </a:solidFill>
              </a:rPr>
              <a:t>インプット</a:t>
            </a:r>
            <a:r>
              <a:rPr kumimoji="1" lang="en-US" altLang="ja-JP" sz="1400" dirty="0">
                <a:solidFill>
                  <a:srgbClr val="000000"/>
                </a:solidFill>
              </a:rPr>
              <a:t>B</a:t>
            </a:r>
            <a:endParaRPr kumimoji="1" lang="ja-JP" altLang="en-US" sz="1400" dirty="0">
              <a:solidFill>
                <a:srgbClr val="00000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4DFE0F9-E1E8-4345-85A7-0BD33C0B07C9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2761216" y="4630216"/>
            <a:ext cx="94668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28">
            <a:extLst>
              <a:ext uri="{FF2B5EF4-FFF2-40B4-BE49-F238E27FC236}">
                <a16:creationId xmlns:a16="http://schemas.microsoft.com/office/drawing/2014/main" id="{2CAF2C6D-FF04-4611-A356-1D1D47D1969D}"/>
              </a:ext>
            </a:extLst>
          </p:cNvPr>
          <p:cNvSpPr/>
          <p:nvPr/>
        </p:nvSpPr>
        <p:spPr>
          <a:xfrm>
            <a:off x="6095935" y="4363515"/>
            <a:ext cx="1143000" cy="5334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NG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12" name="右矢印 42">
            <a:extLst>
              <a:ext uri="{FF2B5EF4-FFF2-40B4-BE49-F238E27FC236}">
                <a16:creationId xmlns:a16="http://schemas.microsoft.com/office/drawing/2014/main" id="{07F0079C-EFD1-4A19-B08A-2C004571D88E}"/>
              </a:ext>
            </a:extLst>
          </p:cNvPr>
          <p:cNvSpPr/>
          <p:nvPr/>
        </p:nvSpPr>
        <p:spPr>
          <a:xfrm>
            <a:off x="5389470" y="3707422"/>
            <a:ext cx="441702" cy="3022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13" name="右矢印 43">
            <a:extLst>
              <a:ext uri="{FF2B5EF4-FFF2-40B4-BE49-F238E27FC236}">
                <a16:creationId xmlns:a16="http://schemas.microsoft.com/office/drawing/2014/main" id="{A9438E92-0027-4982-A51F-658B3402D884}"/>
              </a:ext>
            </a:extLst>
          </p:cNvPr>
          <p:cNvSpPr/>
          <p:nvPr/>
        </p:nvSpPr>
        <p:spPr>
          <a:xfrm>
            <a:off x="5402385" y="4503001"/>
            <a:ext cx="441702" cy="3022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A490711-7019-480D-A3CD-FE7DA019880D}"/>
              </a:ext>
            </a:extLst>
          </p:cNvPr>
          <p:cNvSpPr txBox="1"/>
          <p:nvPr/>
        </p:nvSpPr>
        <p:spPr>
          <a:xfrm>
            <a:off x="611560" y="5661248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その機能を追加したことによるバグ？</a:t>
            </a:r>
            <a:endParaRPr lang="en-US" altLang="ja-JP" sz="2400"/>
          </a:p>
          <a:p>
            <a:r>
              <a:rPr lang="ja-JP" altLang="en-US" sz="2400"/>
              <a:t>もともとあったバグがインプットにより顕在化？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98567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77EFE1A-CC71-4E72-99F9-0AC1C00E04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履歴保存とデバッグ</a:t>
            </a:r>
            <a:endParaRPr lang="en-US"/>
          </a:p>
        </p:txBody>
      </p:sp>
      <p:pic>
        <p:nvPicPr>
          <p:cNvPr id="2050" name="Picture 2" descr="徹夜明けのイラスト（男性）">
            <a:extLst>
              <a:ext uri="{FF2B5EF4-FFF2-40B4-BE49-F238E27FC236}">
                <a16:creationId xmlns:a16="http://schemas.microsoft.com/office/drawing/2014/main" id="{D49D1287-00E2-48F6-8EB9-1974847FA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348880"/>
            <a:ext cx="2376264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9886D4-D3DB-461D-9739-95876B49193E}"/>
              </a:ext>
            </a:extLst>
          </p:cNvPr>
          <p:cNvSpPr txBox="1"/>
          <p:nvPr/>
        </p:nvSpPr>
        <p:spPr>
          <a:xfrm>
            <a:off x="611560" y="1268760"/>
            <a:ext cx="7305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バージョン管理システムを使っていないと</a:t>
            </a:r>
            <a:r>
              <a:rPr lang="en-US" altLang="ja-JP" sz="2800"/>
              <a:t>...</a:t>
            </a:r>
            <a:endParaRPr lang="en-US" sz="28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10D89D-3161-4965-AB95-38AEAE61913E}"/>
              </a:ext>
            </a:extLst>
          </p:cNvPr>
          <p:cNvSpPr txBox="1"/>
          <p:nvPr/>
        </p:nvSpPr>
        <p:spPr>
          <a:xfrm>
            <a:off x="539552" y="4869160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ソースとにらめっこして</a:t>
            </a:r>
            <a:endParaRPr lang="en-US" altLang="ja-JP" sz="2400"/>
          </a:p>
          <a:p>
            <a:r>
              <a:rPr lang="ja-JP" altLang="en-US" sz="2400"/>
              <a:t>気合でデバッグ</a:t>
            </a:r>
            <a:endParaRPr 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56362F-EC49-4B68-8E9D-1D147FEAD8BB}"/>
              </a:ext>
            </a:extLst>
          </p:cNvPr>
          <p:cNvSpPr txBox="1"/>
          <p:nvPr/>
        </p:nvSpPr>
        <p:spPr>
          <a:xfrm>
            <a:off x="5436096" y="4869160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徹夜でなんとか</a:t>
            </a:r>
            <a:endParaRPr lang="en-US" altLang="ja-JP" sz="2400"/>
          </a:p>
          <a:p>
            <a:r>
              <a:rPr lang="ja-JP" altLang="en-US" sz="2400"/>
              <a:t>バグ発見</a:t>
            </a:r>
            <a:endParaRPr lang="en-US" sz="2400"/>
          </a:p>
        </p:txBody>
      </p:sp>
      <p:sp>
        <p:nvSpPr>
          <p:cNvPr id="8" name="右矢印 9">
            <a:extLst>
              <a:ext uri="{FF2B5EF4-FFF2-40B4-BE49-F238E27FC236}">
                <a16:creationId xmlns:a16="http://schemas.microsoft.com/office/drawing/2014/main" id="{5374071A-8631-4C2B-B459-E33B8C61AD29}"/>
              </a:ext>
            </a:extLst>
          </p:cNvPr>
          <p:cNvSpPr/>
          <p:nvPr/>
        </p:nvSpPr>
        <p:spPr>
          <a:xfrm>
            <a:off x="4283968" y="3645024"/>
            <a:ext cx="576064" cy="5566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D72C34-8A48-4934-BFD8-9BD27345A494}"/>
              </a:ext>
            </a:extLst>
          </p:cNvPr>
          <p:cNvSpPr txBox="1"/>
          <p:nvPr/>
        </p:nvSpPr>
        <p:spPr>
          <a:xfrm>
            <a:off x="395536" y="6165304"/>
            <a:ext cx="813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自分で入れたバグを自分でとっただけで、仕事はなんら進んでいない</a:t>
            </a:r>
            <a:endParaRPr lang="en-US" sz="2000"/>
          </a:p>
        </p:txBody>
      </p:sp>
      <p:pic>
        <p:nvPicPr>
          <p:cNvPr id="10" name="Picture 2" descr="忙しく仕事をしている男性会社員のイラスト">
            <a:extLst>
              <a:ext uri="{FF2B5EF4-FFF2-40B4-BE49-F238E27FC236}">
                <a16:creationId xmlns:a16="http://schemas.microsoft.com/office/drawing/2014/main" id="{B9E27DD0-4DD7-4BFA-8601-9E17DC659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2448272" cy="219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38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D3FEE48-FD9F-497A-9E4A-083C8B46B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履歴保存とデバッグ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2180C4-74CD-484A-A6CD-3C511901FD18}"/>
              </a:ext>
            </a:extLst>
          </p:cNvPr>
          <p:cNvSpPr txBox="1"/>
          <p:nvPr/>
        </p:nvSpPr>
        <p:spPr>
          <a:xfrm>
            <a:off x="179512" y="1340768"/>
            <a:ext cx="6946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バージョン管理システムを使っていれば</a:t>
            </a:r>
            <a:r>
              <a:rPr lang="en-US" altLang="ja-JP" sz="2800"/>
              <a:t>...</a:t>
            </a:r>
            <a:endParaRPr 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5325F62-13F7-47E5-B195-EF64B26A6129}"/>
              </a:ext>
            </a:extLst>
          </p:cNvPr>
          <p:cNvSpPr txBox="1"/>
          <p:nvPr/>
        </p:nvSpPr>
        <p:spPr>
          <a:xfrm>
            <a:off x="611560" y="2204864"/>
            <a:ext cx="762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修正前のメインカーネルを取得し、</a:t>
            </a:r>
            <a:r>
              <a:rPr lang="en-US" altLang="ja-JP" sz="2400"/>
              <a:t>Input B</a:t>
            </a:r>
            <a:r>
              <a:rPr lang="ja-JP" altLang="en-US" sz="2400"/>
              <a:t>を食わせる</a:t>
            </a:r>
            <a:endParaRPr lang="en-US" altLang="ja-JP" sz="2400"/>
          </a:p>
        </p:txBody>
      </p:sp>
      <p:sp>
        <p:nvSpPr>
          <p:cNvPr id="5" name="角丸四角形 44">
            <a:extLst>
              <a:ext uri="{FF2B5EF4-FFF2-40B4-BE49-F238E27FC236}">
                <a16:creationId xmlns:a16="http://schemas.microsoft.com/office/drawing/2014/main" id="{34FA70B2-ECC8-4444-8030-92425F21DB4F}"/>
              </a:ext>
            </a:extLst>
          </p:cNvPr>
          <p:cNvSpPr/>
          <p:nvPr/>
        </p:nvSpPr>
        <p:spPr>
          <a:xfrm>
            <a:off x="4133750" y="3140968"/>
            <a:ext cx="1143000" cy="5334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OK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角丸四角形 45">
            <a:extLst>
              <a:ext uri="{FF2B5EF4-FFF2-40B4-BE49-F238E27FC236}">
                <a16:creationId xmlns:a16="http://schemas.microsoft.com/office/drawing/2014/main" id="{D99D3F3C-899B-4F4A-A2F3-9BB86F1404AA}"/>
              </a:ext>
            </a:extLst>
          </p:cNvPr>
          <p:cNvSpPr/>
          <p:nvPr/>
        </p:nvSpPr>
        <p:spPr>
          <a:xfrm>
            <a:off x="4156997" y="4174187"/>
            <a:ext cx="1143000" cy="5334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NG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7" name="右矢印 46">
            <a:extLst>
              <a:ext uri="{FF2B5EF4-FFF2-40B4-BE49-F238E27FC236}">
                <a16:creationId xmlns:a16="http://schemas.microsoft.com/office/drawing/2014/main" id="{A6A4AFFF-FBE8-4F23-AF86-A8694A666A6B}"/>
              </a:ext>
            </a:extLst>
          </p:cNvPr>
          <p:cNvSpPr/>
          <p:nvPr/>
        </p:nvSpPr>
        <p:spPr>
          <a:xfrm rot="19800000">
            <a:off x="3543521" y="3487097"/>
            <a:ext cx="441702" cy="3022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8" name="右矢印 47">
            <a:extLst>
              <a:ext uri="{FF2B5EF4-FFF2-40B4-BE49-F238E27FC236}">
                <a16:creationId xmlns:a16="http://schemas.microsoft.com/office/drawing/2014/main" id="{57691A17-1245-4F73-BBFF-A33C097312E7}"/>
              </a:ext>
            </a:extLst>
          </p:cNvPr>
          <p:cNvSpPr/>
          <p:nvPr/>
        </p:nvSpPr>
        <p:spPr>
          <a:xfrm rot="1800000">
            <a:off x="3556438" y="4104447"/>
            <a:ext cx="441702" cy="30221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B61AA1-5D65-4EDB-A16B-2BD733DEC39A}"/>
              </a:ext>
            </a:extLst>
          </p:cNvPr>
          <p:cNvSpPr txBox="1"/>
          <p:nvPr/>
        </p:nvSpPr>
        <p:spPr>
          <a:xfrm>
            <a:off x="5357886" y="3140968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今回の修正でバグが入った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593C16-2713-4171-B84E-9FB07804F838}"/>
              </a:ext>
            </a:extLst>
          </p:cNvPr>
          <p:cNvSpPr/>
          <p:nvPr/>
        </p:nvSpPr>
        <p:spPr>
          <a:xfrm>
            <a:off x="1939448" y="3646250"/>
            <a:ext cx="1447800" cy="5334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rgbClr val="000000"/>
                </a:solidFill>
              </a:rPr>
              <a:t>計算ルーチン</a:t>
            </a:r>
            <a:endParaRPr lang="en-US" altLang="ja-JP" sz="1600" dirty="0">
              <a:solidFill>
                <a:srgbClr val="000000"/>
              </a:solidFill>
            </a:endParaRPr>
          </a:p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(</a:t>
            </a:r>
            <a:r>
              <a:rPr kumimoji="1" lang="ja-JP" altLang="en-US" sz="1600" dirty="0">
                <a:solidFill>
                  <a:srgbClr val="000000"/>
                </a:solidFill>
              </a:rPr>
              <a:t>修正前</a:t>
            </a:r>
            <a:r>
              <a:rPr kumimoji="1" lang="en-US" altLang="ja-JP" sz="1600" dirty="0">
                <a:solidFill>
                  <a:srgbClr val="000000"/>
                </a:solidFill>
              </a:rPr>
              <a:t>)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11" name="角丸四角形 49">
            <a:extLst>
              <a:ext uri="{FF2B5EF4-FFF2-40B4-BE49-F238E27FC236}">
                <a16:creationId xmlns:a16="http://schemas.microsoft.com/office/drawing/2014/main" id="{2165B7AC-1058-4A7A-AD30-0233DB338733}"/>
              </a:ext>
            </a:extLst>
          </p:cNvPr>
          <p:cNvSpPr/>
          <p:nvPr/>
        </p:nvSpPr>
        <p:spPr>
          <a:xfrm>
            <a:off x="179512" y="3646250"/>
            <a:ext cx="1446179" cy="53340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rgbClr val="000000"/>
                </a:solidFill>
              </a:rPr>
              <a:t>インプット</a:t>
            </a:r>
            <a:r>
              <a:rPr kumimoji="1" lang="en-US" altLang="ja-JP" sz="1400" dirty="0">
                <a:solidFill>
                  <a:srgbClr val="000000"/>
                </a:solidFill>
              </a:rPr>
              <a:t> B</a:t>
            </a:r>
            <a:endParaRPr kumimoji="1" lang="ja-JP" altLang="en-US" sz="1400" dirty="0">
              <a:solidFill>
                <a:srgbClr val="000000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A9E76FD-F344-4EC5-A039-6204A7CE6BF8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1625691" y="3912950"/>
            <a:ext cx="31375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503A405-9DFC-4FF6-9A75-578E9C1B6A82}"/>
              </a:ext>
            </a:extLst>
          </p:cNvPr>
          <p:cNvSpPr txBox="1"/>
          <p:nvPr/>
        </p:nvSpPr>
        <p:spPr>
          <a:xfrm>
            <a:off x="5328411" y="4241348"/>
            <a:ext cx="3773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もともとあったバグが顕在化</a:t>
            </a:r>
          </a:p>
        </p:txBody>
      </p:sp>
      <p:sp>
        <p:nvSpPr>
          <p:cNvPr id="17" name="右矢印 9">
            <a:extLst>
              <a:ext uri="{FF2B5EF4-FFF2-40B4-BE49-F238E27FC236}">
                <a16:creationId xmlns:a16="http://schemas.microsoft.com/office/drawing/2014/main" id="{D1D6AD44-D757-4A2B-AFB1-4954CF8B3401}"/>
              </a:ext>
            </a:extLst>
          </p:cNvPr>
          <p:cNvSpPr/>
          <p:nvPr/>
        </p:nvSpPr>
        <p:spPr>
          <a:xfrm>
            <a:off x="4139952" y="5733256"/>
            <a:ext cx="576064" cy="5566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4E2CA68-392D-4A40-9FE7-045483927D05}"/>
              </a:ext>
            </a:extLst>
          </p:cNvPr>
          <p:cNvSpPr txBox="1"/>
          <p:nvPr/>
        </p:nvSpPr>
        <p:spPr>
          <a:xfrm>
            <a:off x="4860032" y="573325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問題の切り分けが容易</a:t>
            </a:r>
            <a:endParaRPr lang="en-US" sz="2400"/>
          </a:p>
        </p:txBody>
      </p:sp>
      <p:pic>
        <p:nvPicPr>
          <p:cNvPr id="4098" name="Picture 2" descr="音楽を聴きながら仕事をする人のイラスト（男性）">
            <a:extLst>
              <a:ext uri="{FF2B5EF4-FFF2-40B4-BE49-F238E27FC236}">
                <a16:creationId xmlns:a16="http://schemas.microsoft.com/office/drawing/2014/main" id="{103C4736-5FDD-4A72-B62A-D78A4E999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383690"/>
            <a:ext cx="2697088" cy="246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246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BEE732B-6AA1-451B-90FC-3F0794B40F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履歴保存とデバッグ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430FD4-39B3-41E0-A364-C1E32F32D39D}"/>
              </a:ext>
            </a:extLst>
          </p:cNvPr>
          <p:cNvSpPr txBox="1"/>
          <p:nvPr/>
        </p:nvSpPr>
        <p:spPr>
          <a:xfrm>
            <a:off x="1547664" y="1052736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昔入れたバグほど、デバッグが</a:t>
            </a:r>
            <a:r>
              <a:rPr kumimoji="1" lang="ja-JP" altLang="en-US" sz="2400"/>
              <a:t>困難に</a:t>
            </a:r>
            <a:endParaRPr lang="en-US" altLang="ja-JP" sz="2400" dirty="0"/>
          </a:p>
          <a:p>
            <a:r>
              <a:rPr kumimoji="1" lang="en-US" altLang="ja-JP" sz="2400"/>
              <a:t>(</a:t>
            </a:r>
            <a:r>
              <a:rPr lang="ja-JP" altLang="en-US" sz="2400" dirty="0"/>
              <a:t>修正内容を忘れているから</a:t>
            </a:r>
            <a:r>
              <a:rPr kumimoji="1" lang="en-US" altLang="ja-JP" sz="2400" dirty="0"/>
              <a:t>)</a:t>
            </a:r>
            <a:endParaRPr lang="en-US" altLang="ja-JP" sz="2400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E0A2C66-DA01-4EC6-AC1D-DE24B6EE08A9}"/>
              </a:ext>
            </a:extLst>
          </p:cNvPr>
          <p:cNvCxnSpPr/>
          <p:nvPr/>
        </p:nvCxnSpPr>
        <p:spPr>
          <a:xfrm>
            <a:off x="359206" y="4005972"/>
            <a:ext cx="7391400" cy="132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1657790-9B3A-42F4-9B20-41168ABB2DCF}"/>
              </a:ext>
            </a:extLst>
          </p:cNvPr>
          <p:cNvSpPr txBox="1"/>
          <p:nvPr/>
        </p:nvSpPr>
        <p:spPr>
          <a:xfrm>
            <a:off x="7791802" y="377290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/>
              <a:t>開発時間軸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EA16260-07EB-4CA8-8203-0FB1CB8B7CB0}"/>
              </a:ext>
            </a:extLst>
          </p:cNvPr>
          <p:cNvSpPr/>
          <p:nvPr/>
        </p:nvSpPr>
        <p:spPr>
          <a:xfrm>
            <a:off x="1045006" y="3789040"/>
            <a:ext cx="1143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Ver. </a:t>
            </a:r>
            <a:r>
              <a:rPr lang="en-US" altLang="ja-JP" sz="1600" dirty="0">
                <a:solidFill>
                  <a:srgbClr val="000000"/>
                </a:solidFill>
              </a:rPr>
              <a:t>1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91F17ED-7176-4483-A668-4FCB172FCE4B}"/>
              </a:ext>
            </a:extLst>
          </p:cNvPr>
          <p:cNvSpPr/>
          <p:nvPr/>
        </p:nvSpPr>
        <p:spPr>
          <a:xfrm>
            <a:off x="2416606" y="3789040"/>
            <a:ext cx="1143000" cy="381000"/>
          </a:xfrm>
          <a:prstGeom prst="rect">
            <a:avLst/>
          </a:prstGeom>
          <a:solidFill>
            <a:schemeClr val="bg1"/>
          </a:solidFill>
          <a:ln w="3810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Ver.</a:t>
            </a:r>
            <a:r>
              <a:rPr lang="en-US" altLang="ja-JP" sz="1600" dirty="0">
                <a:solidFill>
                  <a:srgbClr val="000000"/>
                </a:solidFill>
              </a:rPr>
              <a:t> 2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3DE25A5-86DC-4388-A971-EC0D0F3A5E4F}"/>
              </a:ext>
            </a:extLst>
          </p:cNvPr>
          <p:cNvSpPr/>
          <p:nvPr/>
        </p:nvSpPr>
        <p:spPr>
          <a:xfrm>
            <a:off x="3712006" y="3789040"/>
            <a:ext cx="1143000" cy="38100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Ver. </a:t>
            </a:r>
            <a:r>
              <a:rPr lang="en-US" altLang="ja-JP" sz="1600" dirty="0">
                <a:solidFill>
                  <a:srgbClr val="000000"/>
                </a:solidFill>
              </a:rPr>
              <a:t>3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92C02A3-B902-426B-94E8-34316E382EA4}"/>
              </a:ext>
            </a:extLst>
          </p:cNvPr>
          <p:cNvSpPr/>
          <p:nvPr/>
        </p:nvSpPr>
        <p:spPr>
          <a:xfrm>
            <a:off x="5007406" y="3789040"/>
            <a:ext cx="1143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Ver.</a:t>
            </a:r>
            <a:r>
              <a:rPr lang="en-US" altLang="ja-JP" sz="1600" dirty="0">
                <a:solidFill>
                  <a:srgbClr val="000000"/>
                </a:solidFill>
              </a:rPr>
              <a:t> 4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BC479C7-F82D-4D61-81EF-E477D6381C83}"/>
              </a:ext>
            </a:extLst>
          </p:cNvPr>
          <p:cNvSpPr/>
          <p:nvPr/>
        </p:nvSpPr>
        <p:spPr>
          <a:xfrm>
            <a:off x="6302806" y="3789040"/>
            <a:ext cx="1143000" cy="38100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000000"/>
                </a:solidFill>
              </a:rPr>
              <a:t>Ver.</a:t>
            </a:r>
            <a:r>
              <a:rPr lang="en-US" altLang="ja-JP" sz="1600" dirty="0">
                <a:solidFill>
                  <a:srgbClr val="000000"/>
                </a:solidFill>
              </a:rPr>
              <a:t> 5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B5526976-4267-47FB-9E8F-EDA46DFE08C0}"/>
              </a:ext>
            </a:extLst>
          </p:cNvPr>
          <p:cNvGrpSpPr/>
          <p:nvPr/>
        </p:nvGrpSpPr>
        <p:grpSpPr>
          <a:xfrm>
            <a:off x="5758036" y="1988840"/>
            <a:ext cx="2217026" cy="1728192"/>
            <a:chOff x="5758036" y="2420888"/>
            <a:chExt cx="2217026" cy="1728192"/>
          </a:xfrm>
        </p:grpSpPr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1FB4CAEC-782A-401F-8848-380866A6B0EB}"/>
                </a:ext>
              </a:extLst>
            </p:cNvPr>
            <p:cNvSpPr txBox="1"/>
            <p:nvPr/>
          </p:nvSpPr>
          <p:spPr>
            <a:xfrm>
              <a:off x="5758036" y="2420888"/>
              <a:ext cx="221702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/>
                <a:t>(1)</a:t>
              </a:r>
              <a:r>
                <a:rPr kumimoji="1" lang="ja-JP" altLang="en-US" sz="1800" dirty="0"/>
                <a:t>ここでバグ発覚</a:t>
              </a: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6ED05853-97F0-4638-997F-648AF1241A19}"/>
                </a:ext>
              </a:extLst>
            </p:cNvPr>
            <p:cNvCxnSpPr>
              <a:cxnSpLocks/>
              <a:stCxn id="15" idx="2"/>
              <a:endCxn id="13" idx="0"/>
            </p:cNvCxnSpPr>
            <p:nvPr/>
          </p:nvCxnSpPr>
          <p:spPr>
            <a:xfrm>
              <a:off x="6866549" y="2790220"/>
              <a:ext cx="7757" cy="135886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C400F1D2-F247-4B8D-84A6-FF7B8B85F3D6}"/>
              </a:ext>
            </a:extLst>
          </p:cNvPr>
          <p:cNvGrpSpPr/>
          <p:nvPr/>
        </p:nvGrpSpPr>
        <p:grpSpPr>
          <a:xfrm>
            <a:off x="2805708" y="4221088"/>
            <a:ext cx="2952328" cy="873388"/>
            <a:chOff x="2777133" y="4170040"/>
            <a:chExt cx="2952328" cy="873388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21DA61B-38C9-4241-82D4-AECDFB0BEFF3}"/>
                </a:ext>
              </a:extLst>
            </p:cNvPr>
            <p:cNvSpPr txBox="1"/>
            <p:nvPr/>
          </p:nvSpPr>
          <p:spPr>
            <a:xfrm>
              <a:off x="2777133" y="4674096"/>
              <a:ext cx="295232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en-US" sz="1800" dirty="0"/>
                <a:t>(</a:t>
              </a:r>
              <a:r>
                <a:rPr lang="en-US" altLang="en-US" sz="1800"/>
                <a:t>3)ここでバグ混入</a:t>
              </a:r>
              <a:endParaRPr kumimoji="1" lang="ja-JP" altLang="en-US" sz="1800" dirty="0"/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A8F2C847-120F-44E0-9D7A-4E80AE2461A2}"/>
                </a:ext>
              </a:extLst>
            </p:cNvPr>
            <p:cNvCxnSpPr>
              <a:cxnSpLocks/>
              <a:stCxn id="18" idx="0"/>
              <a:endCxn id="11" idx="2"/>
            </p:cNvCxnSpPr>
            <p:nvPr/>
          </p:nvCxnSpPr>
          <p:spPr>
            <a:xfrm flipV="1">
              <a:off x="4253297" y="4170040"/>
              <a:ext cx="1634" cy="5551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5297A705-E83F-47C8-833B-A537A5F40FAB}"/>
              </a:ext>
            </a:extLst>
          </p:cNvPr>
          <p:cNvGrpSpPr/>
          <p:nvPr/>
        </p:nvGrpSpPr>
        <p:grpSpPr>
          <a:xfrm>
            <a:off x="1091233" y="2758455"/>
            <a:ext cx="3785418" cy="958577"/>
            <a:chOff x="1091233" y="3190503"/>
            <a:chExt cx="3785418" cy="958577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FE0731A9-BF81-48C4-A355-DC54D1ED6A07}"/>
                </a:ext>
              </a:extLst>
            </p:cNvPr>
            <p:cNvSpPr txBox="1"/>
            <p:nvPr/>
          </p:nvSpPr>
          <p:spPr>
            <a:xfrm>
              <a:off x="1091233" y="3190503"/>
              <a:ext cx="37854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/>
                <a:t>(2)</a:t>
              </a:r>
              <a:r>
                <a:rPr kumimoji="1" lang="ja-JP" altLang="en-US" sz="1800" dirty="0"/>
                <a:t>ここまでは動作すること</a:t>
              </a:r>
              <a:r>
                <a:rPr kumimoji="1" lang="ja-JP" altLang="en-US" sz="1800"/>
                <a:t>を確認</a:t>
              </a:r>
              <a:endParaRPr kumimoji="1" lang="ja-JP" altLang="en-US" sz="1800" dirty="0"/>
            </a:p>
          </p:txBody>
        </p: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C0368923-C8B5-4242-B252-C7368E75686A}"/>
                </a:ext>
              </a:extLst>
            </p:cNvPr>
            <p:cNvCxnSpPr>
              <a:stCxn id="21" idx="2"/>
              <a:endCxn id="10" idx="0"/>
            </p:cNvCxnSpPr>
            <p:nvPr/>
          </p:nvCxnSpPr>
          <p:spPr>
            <a:xfrm>
              <a:off x="2983942" y="3559835"/>
              <a:ext cx="4164" cy="5892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E45549E-FA09-45D3-957C-EEA197AD21D8}"/>
              </a:ext>
            </a:extLst>
          </p:cNvPr>
          <p:cNvCxnSpPr>
            <a:cxnSpLocks/>
          </p:cNvCxnSpPr>
          <p:nvPr/>
        </p:nvCxnSpPr>
        <p:spPr>
          <a:xfrm>
            <a:off x="814818" y="1916832"/>
            <a:ext cx="0" cy="28511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E0505E8-825A-4D18-9A39-BE6AFEC23F6D}"/>
              </a:ext>
            </a:extLst>
          </p:cNvPr>
          <p:cNvSpPr txBox="1"/>
          <p:nvPr/>
        </p:nvSpPr>
        <p:spPr>
          <a:xfrm>
            <a:off x="251520" y="5013176"/>
            <a:ext cx="171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/>
              <a:t>デバッグ時間軸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B668BB4-30EB-4316-9C7A-C39F8C9321DF}"/>
              </a:ext>
            </a:extLst>
          </p:cNvPr>
          <p:cNvSpPr txBox="1"/>
          <p:nvPr/>
        </p:nvSpPr>
        <p:spPr>
          <a:xfrm>
            <a:off x="467544" y="5805264"/>
            <a:ext cx="8306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/>
              <a:t>Ver. 2</a:t>
            </a:r>
            <a:r>
              <a:rPr lang="ja-JP" altLang="en-US" sz="2400"/>
              <a:t>と</a:t>
            </a:r>
            <a:r>
              <a:rPr lang="en-US" altLang="ja-JP" sz="2400"/>
              <a:t>Ver. 3</a:t>
            </a:r>
            <a:r>
              <a:rPr lang="ja-JP" altLang="en-US" sz="2400"/>
              <a:t>の差分を取れば、バグの原因がすぐにわかる</a:t>
            </a:r>
            <a:r>
              <a:rPr lang="en-US" altLang="ja-JP" sz="2400"/>
              <a:t> 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5250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B3309D2-B0DF-446B-9CF6-1A5D00BAF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sz="3600"/>
              <a:t>プログラミングのできる人、できない人</a:t>
            </a:r>
            <a:endParaRPr lang="en-US" sz="3600"/>
          </a:p>
        </p:txBody>
      </p:sp>
      <p:pic>
        <p:nvPicPr>
          <p:cNvPr id="3" name="Picture 2" descr="忙しく仕事をしている男性会社員のイラスト">
            <a:extLst>
              <a:ext uri="{FF2B5EF4-FFF2-40B4-BE49-F238E27FC236}">
                <a16:creationId xmlns:a16="http://schemas.microsoft.com/office/drawing/2014/main" id="{80D8766A-28C4-4D30-8FC3-A1D6E406E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484784"/>
            <a:ext cx="2172309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音楽を聴きながら仕事をする人のイラスト（男性）">
            <a:extLst>
              <a:ext uri="{FF2B5EF4-FFF2-40B4-BE49-F238E27FC236}">
                <a16:creationId xmlns:a16="http://schemas.microsoft.com/office/drawing/2014/main" id="{876AD25E-1B1F-4DD1-A46B-4913FADE8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628800"/>
            <a:ext cx="1967432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EE8D43-F66E-4453-B90B-BEC5D7E14B5C}"/>
              </a:ext>
            </a:extLst>
          </p:cNvPr>
          <p:cNvSpPr/>
          <p:nvPr/>
        </p:nvSpPr>
        <p:spPr>
          <a:xfrm>
            <a:off x="539552" y="4149080"/>
            <a:ext cx="1080120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8EB73E9-6AE0-42AA-8543-8082A5DC6108}"/>
              </a:ext>
            </a:extLst>
          </p:cNvPr>
          <p:cNvSpPr/>
          <p:nvPr/>
        </p:nvSpPr>
        <p:spPr>
          <a:xfrm>
            <a:off x="1619672" y="4149080"/>
            <a:ext cx="3240360" cy="72008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9E8CB5-A51A-40F5-B992-3355FA19F5C0}"/>
              </a:ext>
            </a:extLst>
          </p:cNvPr>
          <p:cNvSpPr/>
          <p:nvPr/>
        </p:nvSpPr>
        <p:spPr>
          <a:xfrm>
            <a:off x="5580113" y="4149080"/>
            <a:ext cx="2880320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148D5D-EE6F-4ECC-8188-68204F27819B}"/>
              </a:ext>
            </a:extLst>
          </p:cNvPr>
          <p:cNvSpPr txBox="1"/>
          <p:nvPr/>
        </p:nvSpPr>
        <p:spPr>
          <a:xfrm>
            <a:off x="683568" y="429309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開発</a:t>
            </a:r>
            <a:endParaRPr kumimoji="1" lang="ja-JP" altLang="en-US" sz="24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4FF5B0-240D-4D3A-9C4C-9A43A278A404}"/>
              </a:ext>
            </a:extLst>
          </p:cNvPr>
          <p:cNvSpPr txBox="1"/>
          <p:nvPr/>
        </p:nvSpPr>
        <p:spPr>
          <a:xfrm>
            <a:off x="2411760" y="429309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chemeClr val="bg1"/>
                </a:solidFill>
              </a:rPr>
              <a:t>デバッグ</a:t>
            </a:r>
            <a:endParaRPr kumimoji="1" lang="ja-JP" altLang="en-US" sz="240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8B82F57-5030-4C30-9B9B-CEFBDCB24540}"/>
              </a:ext>
            </a:extLst>
          </p:cNvPr>
          <p:cNvSpPr txBox="1"/>
          <p:nvPr/>
        </p:nvSpPr>
        <p:spPr>
          <a:xfrm>
            <a:off x="6660232" y="429309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開発</a:t>
            </a:r>
            <a:endParaRPr kumimoji="1" lang="ja-JP" altLang="en-US" sz="240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B9A3C06-5221-4800-A393-B0EB17F13BD0}"/>
              </a:ext>
            </a:extLst>
          </p:cNvPr>
          <p:cNvSpPr/>
          <p:nvPr/>
        </p:nvSpPr>
        <p:spPr>
          <a:xfrm>
            <a:off x="6012160" y="4149080"/>
            <a:ext cx="207640" cy="72008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7085EE6-22C5-4BEC-BC75-0F5FD65A5117}"/>
              </a:ext>
            </a:extLst>
          </p:cNvPr>
          <p:cNvSpPr/>
          <p:nvPr/>
        </p:nvSpPr>
        <p:spPr>
          <a:xfrm>
            <a:off x="7740352" y="4149080"/>
            <a:ext cx="207640" cy="72008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058B14-F2E7-4C3C-BBE6-32DAD28798F4}"/>
              </a:ext>
            </a:extLst>
          </p:cNvPr>
          <p:cNvSpPr txBox="1"/>
          <p:nvPr/>
        </p:nvSpPr>
        <p:spPr>
          <a:xfrm>
            <a:off x="6300192" y="530120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デバッグ</a:t>
            </a:r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0D934BB0-37A7-4825-A476-B312523C3DB3}"/>
              </a:ext>
            </a:extLst>
          </p:cNvPr>
          <p:cNvCxnSpPr>
            <a:stCxn id="13" idx="0"/>
            <a:endCxn id="11" idx="2"/>
          </p:cNvCxnSpPr>
          <p:nvPr/>
        </p:nvCxnSpPr>
        <p:spPr>
          <a:xfrm rot="16200000" flipV="1">
            <a:off x="6346005" y="4639135"/>
            <a:ext cx="432048" cy="89209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1F8B889D-18DE-43F9-85D1-CB3F54B143E2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rot="5400000" flipH="1" flipV="1">
            <a:off x="7210101" y="4667137"/>
            <a:ext cx="432048" cy="83609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067068D-A826-4EE0-B151-9B2D4057B36D}"/>
              </a:ext>
            </a:extLst>
          </p:cNvPr>
          <p:cNvCxnSpPr/>
          <p:nvPr/>
        </p:nvCxnSpPr>
        <p:spPr>
          <a:xfrm flipH="1">
            <a:off x="539552" y="3933056"/>
            <a:ext cx="432048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D5636A9-571E-4441-B509-47B20A3EE7A6}"/>
              </a:ext>
            </a:extLst>
          </p:cNvPr>
          <p:cNvSpPr txBox="1"/>
          <p:nvPr/>
        </p:nvSpPr>
        <p:spPr>
          <a:xfrm>
            <a:off x="2051720" y="35010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作業時間</a:t>
            </a:r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88F2A05-FC38-4746-8B14-FECD077128E5}"/>
              </a:ext>
            </a:extLst>
          </p:cNvPr>
          <p:cNvCxnSpPr>
            <a:cxnSpLocks/>
          </p:cNvCxnSpPr>
          <p:nvPr/>
        </p:nvCxnSpPr>
        <p:spPr>
          <a:xfrm flipH="1">
            <a:off x="539552" y="5013176"/>
            <a:ext cx="108012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6329D4E-0AE0-48DC-A393-EBD907B88113}"/>
              </a:ext>
            </a:extLst>
          </p:cNvPr>
          <p:cNvSpPr txBox="1"/>
          <p:nvPr/>
        </p:nvSpPr>
        <p:spPr>
          <a:xfrm>
            <a:off x="755576" y="50851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進捗</a:t>
            </a:r>
            <a:endParaRPr kumimoji="1" lang="ja-JP" altLang="en-US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E1190EA-020D-4D97-8616-4806A7A89257}"/>
              </a:ext>
            </a:extLst>
          </p:cNvPr>
          <p:cNvCxnSpPr>
            <a:cxnSpLocks/>
          </p:cNvCxnSpPr>
          <p:nvPr/>
        </p:nvCxnSpPr>
        <p:spPr>
          <a:xfrm flipH="1">
            <a:off x="5580112" y="3933056"/>
            <a:ext cx="288032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75A1B7B-EEA4-4DB9-8F42-AE29FE524D3A}"/>
              </a:ext>
            </a:extLst>
          </p:cNvPr>
          <p:cNvSpPr txBox="1"/>
          <p:nvPr/>
        </p:nvSpPr>
        <p:spPr>
          <a:xfrm>
            <a:off x="6444208" y="35010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作業時間</a:t>
            </a:r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A4C7134-DEF9-40FA-8E8E-8DBF1DBC031C}"/>
              </a:ext>
            </a:extLst>
          </p:cNvPr>
          <p:cNvSpPr txBox="1"/>
          <p:nvPr/>
        </p:nvSpPr>
        <p:spPr>
          <a:xfrm>
            <a:off x="899592" y="1052736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プログラミングが早い人は「デバッグ時間」が短い</a:t>
            </a:r>
            <a:endParaRPr lang="en-US" altLang="ja-JP" sz="24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9BF8633-9654-4439-8669-5BAC6496EF13}"/>
              </a:ext>
            </a:extLst>
          </p:cNvPr>
          <p:cNvSpPr txBox="1"/>
          <p:nvPr/>
        </p:nvSpPr>
        <p:spPr>
          <a:xfrm>
            <a:off x="611560" y="5877272"/>
            <a:ext cx="72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左の人の方が「がんばっている」ように見えるが、右の人の方が作業は進んでいる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60981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4B3D7B1-4430-595F-DCE3-4D65936E61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26961" y="104931"/>
            <a:ext cx="9144000" cy="754062"/>
          </a:xfrm>
        </p:spPr>
        <p:txBody>
          <a:bodyPr/>
          <a:lstStyle/>
          <a:p>
            <a:r>
              <a:rPr kumimoji="1" lang="ja-JP" altLang="en-US"/>
              <a:t>見えないコスト</a:t>
            </a:r>
          </a:p>
        </p:txBody>
      </p:sp>
      <p:pic>
        <p:nvPicPr>
          <p:cNvPr id="3" name="Picture 2" descr="忙しく仕事をしている男性会社員のイラスト">
            <a:extLst>
              <a:ext uri="{FF2B5EF4-FFF2-40B4-BE49-F238E27FC236}">
                <a16:creationId xmlns:a16="http://schemas.microsoft.com/office/drawing/2014/main" id="{8F346752-DA16-59B9-594F-BDD0592E5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29" y="4502546"/>
            <a:ext cx="1367750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6FEDD4-7401-3CDB-0B81-772AC9343FB7}"/>
              </a:ext>
            </a:extLst>
          </p:cNvPr>
          <p:cNvSpPr/>
          <p:nvPr/>
        </p:nvSpPr>
        <p:spPr>
          <a:xfrm>
            <a:off x="1860807" y="4796548"/>
            <a:ext cx="1080120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7E6622-FFF0-F4FC-6E6A-976BD294D1BD}"/>
              </a:ext>
            </a:extLst>
          </p:cNvPr>
          <p:cNvSpPr/>
          <p:nvPr/>
        </p:nvSpPr>
        <p:spPr>
          <a:xfrm>
            <a:off x="2940927" y="4796548"/>
            <a:ext cx="3240360" cy="72008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3D4042-E44B-29DC-6335-BE8E8885AB90}"/>
              </a:ext>
            </a:extLst>
          </p:cNvPr>
          <p:cNvSpPr txBox="1"/>
          <p:nvPr/>
        </p:nvSpPr>
        <p:spPr>
          <a:xfrm>
            <a:off x="2004823" y="494056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開発</a:t>
            </a:r>
            <a:endParaRPr kumimoji="1" lang="ja-JP" alt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886F76-E9BC-9AE6-962B-62DE0A840FDB}"/>
              </a:ext>
            </a:extLst>
          </p:cNvPr>
          <p:cNvSpPr txBox="1"/>
          <p:nvPr/>
        </p:nvSpPr>
        <p:spPr>
          <a:xfrm>
            <a:off x="3733015" y="494056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chemeClr val="bg1"/>
                </a:solidFill>
              </a:rPr>
              <a:t>デバッグ</a:t>
            </a:r>
            <a:endParaRPr kumimoji="1" lang="ja-JP" altLang="en-US" sz="2400">
              <a:solidFill>
                <a:schemeClr val="bg1"/>
              </a:solidFill>
            </a:endParaRPr>
          </a:p>
        </p:txBody>
      </p:sp>
      <p:pic>
        <p:nvPicPr>
          <p:cNvPr id="8" name="Picture 2" descr="壊れたノートパソコンのイラスト">
            <a:extLst>
              <a:ext uri="{FF2B5EF4-FFF2-40B4-BE49-F238E27FC236}">
                <a16:creationId xmlns:a16="http://schemas.microsoft.com/office/drawing/2014/main" id="{BD335E51-7D7B-8AC9-FA0C-8F73EA8CD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3" y="2519922"/>
            <a:ext cx="909038" cy="96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てへぺろのイラスト（男性）">
            <a:extLst>
              <a:ext uri="{FF2B5EF4-FFF2-40B4-BE49-F238E27FC236}">
                <a16:creationId xmlns:a16="http://schemas.microsoft.com/office/drawing/2014/main" id="{0600CE8C-F18D-D80C-3DA2-9DAD718B0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92" y="2835475"/>
            <a:ext cx="604867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517149B-8697-195A-1E27-4B7C99CCE51D}"/>
              </a:ext>
            </a:extLst>
          </p:cNvPr>
          <p:cNvSpPr/>
          <p:nvPr/>
        </p:nvSpPr>
        <p:spPr>
          <a:xfrm>
            <a:off x="1844739" y="2761787"/>
            <a:ext cx="1080120" cy="72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9F04C52-CB4C-E138-73E4-3687F589196F}"/>
              </a:ext>
            </a:extLst>
          </p:cNvPr>
          <p:cNvSpPr/>
          <p:nvPr/>
        </p:nvSpPr>
        <p:spPr>
          <a:xfrm>
            <a:off x="2924859" y="2761787"/>
            <a:ext cx="3240360" cy="72008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C5C20A-C5F5-078C-B049-B38ABA863D72}"/>
              </a:ext>
            </a:extLst>
          </p:cNvPr>
          <p:cNvSpPr txBox="1"/>
          <p:nvPr/>
        </p:nvSpPr>
        <p:spPr>
          <a:xfrm>
            <a:off x="1988755" y="290580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開発</a:t>
            </a:r>
            <a:endParaRPr kumimoji="1" lang="ja-JP" altLang="en-US" sz="24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0CD363A-6A67-9861-87D9-97FA2610A78D}"/>
              </a:ext>
            </a:extLst>
          </p:cNvPr>
          <p:cNvSpPr txBox="1"/>
          <p:nvPr/>
        </p:nvSpPr>
        <p:spPr>
          <a:xfrm>
            <a:off x="3716947" y="290580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chemeClr val="bg1"/>
                </a:solidFill>
              </a:rPr>
              <a:t>手戻り</a:t>
            </a:r>
            <a:endParaRPr kumimoji="1" lang="ja-JP" altLang="en-US" sz="240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74952D3-4FDD-801D-B185-629B12845D7B}"/>
              </a:ext>
            </a:extLst>
          </p:cNvPr>
          <p:cNvSpPr txBox="1"/>
          <p:nvPr/>
        </p:nvSpPr>
        <p:spPr>
          <a:xfrm>
            <a:off x="324683" y="1076697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バージョン管理システムを使っていない人は</a:t>
            </a:r>
            <a:endParaRPr kumimoji="1" lang="en-US" altLang="ja-JP" sz="2400" dirty="0"/>
          </a:p>
          <a:p>
            <a:r>
              <a:rPr lang="ja-JP" altLang="en-US" sz="2400"/>
              <a:t>「バージョン管理システムを使っていれば節約できた時間」</a:t>
            </a:r>
            <a:endParaRPr lang="en-US" altLang="ja-JP" sz="2400" dirty="0"/>
          </a:p>
          <a:p>
            <a:r>
              <a:rPr kumimoji="1" lang="ja-JP" altLang="en-US" sz="2400"/>
              <a:t>を認識できない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DF4ADD6-A249-C29F-CBD9-37BB23F752F1}"/>
              </a:ext>
            </a:extLst>
          </p:cNvPr>
          <p:cNvSpPr txBox="1"/>
          <p:nvPr/>
        </p:nvSpPr>
        <p:spPr>
          <a:xfrm>
            <a:off x="195374" y="5747740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デバッグに時間をかけているひと「自分はがんばっている」</a:t>
            </a:r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100F558-67BD-DACF-BC83-E169E85010CC}"/>
              </a:ext>
            </a:extLst>
          </p:cNvPr>
          <p:cNvSpPr txBox="1"/>
          <p:nvPr/>
        </p:nvSpPr>
        <p:spPr>
          <a:xfrm>
            <a:off x="195374" y="3710108"/>
            <a:ext cx="6251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PC</a:t>
            </a:r>
            <a:r>
              <a:rPr kumimoji="1" lang="ja-JP" altLang="en-US"/>
              <a:t>が壊れてデータを失った人「自分は運が悪かった」</a:t>
            </a:r>
            <a:endParaRPr kumimoji="1" lang="en-US" altLang="ja-JP" dirty="0"/>
          </a:p>
        </p:txBody>
      </p:sp>
      <p:pic>
        <p:nvPicPr>
          <p:cNvPr id="3074" name="Picture 2" descr="ハサミのイラスト（文房具）">
            <a:extLst>
              <a:ext uri="{FF2B5EF4-FFF2-40B4-BE49-F238E27FC236}">
                <a16:creationId xmlns:a16="http://schemas.microsoft.com/office/drawing/2014/main" id="{8B7042D7-60D4-83E0-F526-5A23AB65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15207">
            <a:off x="7175549" y="3735634"/>
            <a:ext cx="1077937" cy="126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カギ線コネクタ 22">
            <a:extLst>
              <a:ext uri="{FF2B5EF4-FFF2-40B4-BE49-F238E27FC236}">
                <a16:creationId xmlns:a16="http://schemas.microsoft.com/office/drawing/2014/main" id="{9D3B157C-802B-BAC5-752C-D1058055C458}"/>
              </a:ext>
            </a:extLst>
          </p:cNvPr>
          <p:cNvCxnSpPr>
            <a:stCxn id="3074" idx="2"/>
            <a:endCxn id="14" idx="3"/>
          </p:cNvCxnSpPr>
          <p:nvPr/>
        </p:nvCxnSpPr>
        <p:spPr>
          <a:xfrm rot="10800000">
            <a:off x="6165220" y="3121828"/>
            <a:ext cx="934769" cy="1097509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カギ線コネクタ 24">
            <a:extLst>
              <a:ext uri="{FF2B5EF4-FFF2-40B4-BE49-F238E27FC236}">
                <a16:creationId xmlns:a16="http://schemas.microsoft.com/office/drawing/2014/main" id="{16F7CD02-9EC3-77E8-EB2D-3529D31DD6A2}"/>
              </a:ext>
            </a:extLst>
          </p:cNvPr>
          <p:cNvCxnSpPr>
            <a:stCxn id="3074" idx="2"/>
            <a:endCxn id="5" idx="3"/>
          </p:cNvCxnSpPr>
          <p:nvPr/>
        </p:nvCxnSpPr>
        <p:spPr>
          <a:xfrm rot="10800000" flipV="1">
            <a:off x="6181288" y="4219336"/>
            <a:ext cx="918701" cy="937252"/>
          </a:xfrm>
          <a:prstGeom prst="bentConnector3">
            <a:avLst>
              <a:gd name="adj1" fmla="val 50948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2CBF1DC-1852-BB2E-ED72-D077E03978FD}"/>
              </a:ext>
            </a:extLst>
          </p:cNvPr>
          <p:cNvSpPr txBox="1"/>
          <p:nvPr/>
        </p:nvSpPr>
        <p:spPr>
          <a:xfrm>
            <a:off x="6804002" y="5040262"/>
            <a:ext cx="215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VCS</a:t>
            </a:r>
            <a:r>
              <a:rPr kumimoji="1" lang="ja-JP" altLang="en-US" sz="1400"/>
              <a:t>を使っていれば</a:t>
            </a:r>
            <a:endParaRPr kumimoji="1" lang="en-US" altLang="ja-JP" sz="1400" dirty="0"/>
          </a:p>
          <a:p>
            <a:r>
              <a:rPr lang="ja-JP" altLang="en-US" sz="1400"/>
              <a:t>この時間節約できたかも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959122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0931276-C050-4894-8CC5-25650B7189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バージョン管理システム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CB0155-96B7-4C96-9D6B-F4D2074BBE44}"/>
              </a:ext>
            </a:extLst>
          </p:cNvPr>
          <p:cNvSpPr txBox="1"/>
          <p:nvPr/>
        </p:nvSpPr>
        <p:spPr>
          <a:xfrm>
            <a:off x="107504" y="1124744"/>
            <a:ext cx="89644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/>
              <a:t>バージョン管理システムを使えばデバッグ時間が短くなる</a:t>
            </a:r>
            <a:r>
              <a:rPr lang="ja-JP" altLang="en-US" sz="2800">
                <a:solidFill>
                  <a:srgbClr val="FF0000"/>
                </a:solidFill>
              </a:rPr>
              <a:t>わけではない</a:t>
            </a:r>
            <a:endParaRPr lang="en-US" altLang="ja-JP" sz="2800">
              <a:solidFill>
                <a:srgbClr val="FF0000"/>
              </a:solidFill>
            </a:endParaRPr>
          </a:p>
          <a:p>
            <a:r>
              <a:rPr lang="ja-JP" altLang="en-US" sz="2800"/>
              <a:t>「できる人」は</a:t>
            </a:r>
            <a:r>
              <a:rPr lang="en-US" altLang="ja-JP" sz="2800"/>
              <a:t>Git</a:t>
            </a:r>
            <a:r>
              <a:rPr lang="ja-JP" altLang="en-US" sz="2800"/>
              <a:t>が使えるから「できる」の</a:t>
            </a:r>
            <a:r>
              <a:rPr lang="ja-JP" altLang="en-US" sz="2800">
                <a:solidFill>
                  <a:srgbClr val="FF0000"/>
                </a:solidFill>
              </a:rPr>
              <a:t>ではない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937059-BB8D-4BD2-9C85-F9C1B603FDA0}"/>
              </a:ext>
            </a:extLst>
          </p:cNvPr>
          <p:cNvSpPr txBox="1"/>
          <p:nvPr/>
        </p:nvSpPr>
        <p:spPr>
          <a:xfrm>
            <a:off x="251520" y="2852936"/>
            <a:ext cx="86148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Git</a:t>
            </a:r>
            <a:r>
              <a:rPr lang="ja-JP" altLang="en-US" sz="2400"/>
              <a:t>や</a:t>
            </a:r>
            <a:r>
              <a:rPr lang="en-US" altLang="ja-JP" sz="2400"/>
              <a:t>GitHub</a:t>
            </a:r>
            <a:r>
              <a:rPr lang="ja-JP" altLang="en-US" sz="2400"/>
              <a:t>はあくまでも「開発スタイル」を支援するツール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/>
              <a:t>Git</a:t>
            </a:r>
            <a:r>
              <a:rPr lang="ja-JP" altLang="en-US" sz="2400"/>
              <a:t>が「何を」実現するツールなのか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自分が</a:t>
            </a:r>
            <a:r>
              <a:rPr lang="en-US" altLang="ja-JP" sz="2400"/>
              <a:t>Git</a:t>
            </a:r>
            <a:r>
              <a:rPr lang="ja-JP" altLang="en-US" sz="2400"/>
              <a:t>で「何を」しようとしているのか</a:t>
            </a:r>
            <a:endParaRPr lang="en-US" altLang="ja-JP" sz="2400"/>
          </a:p>
          <a:p>
            <a:r>
              <a:rPr lang="ja-JP" altLang="en-US" sz="2400"/>
              <a:t>を理解することなしに開発効率は向上しない</a:t>
            </a:r>
            <a:endParaRPr lang="en-US" altLang="ja-JP" sz="2400"/>
          </a:p>
        </p:txBody>
      </p:sp>
      <p:pic>
        <p:nvPicPr>
          <p:cNvPr id="5" name="Picture 2" descr="忙しく仕事をしている男性会社員のイラスト">
            <a:extLst>
              <a:ext uri="{FF2B5EF4-FFF2-40B4-BE49-F238E27FC236}">
                <a16:creationId xmlns:a16="http://schemas.microsoft.com/office/drawing/2014/main" id="{00C6C1E7-9898-4EC1-A269-81A12EFDA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941168"/>
            <a:ext cx="1728192" cy="1546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音楽を聴きながら仕事をする人のイラスト（男性）">
            <a:extLst>
              <a:ext uri="{FF2B5EF4-FFF2-40B4-BE49-F238E27FC236}">
                <a16:creationId xmlns:a16="http://schemas.microsoft.com/office/drawing/2014/main" id="{9E5ED3DC-E2AC-41D3-BBF7-B0E66F3F5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5085184"/>
            <a:ext cx="1495248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675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210F7DB-11A3-429C-B866-7F0C5CC0B7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まとめ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1BC6D4-76BF-4671-8D7A-34B66018A0F9}"/>
              </a:ext>
            </a:extLst>
          </p:cNvPr>
          <p:cNvSpPr txBox="1"/>
          <p:nvPr/>
        </p:nvSpPr>
        <p:spPr>
          <a:xfrm>
            <a:off x="107504" y="980728"/>
            <a:ext cx="88569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/>
              <a:t>バージョン管理システムとは、ドキュメントやソフトウェアのバージョンを管理するためのシステム</a:t>
            </a:r>
            <a:endParaRPr lang="en-US" altLang="ja-JP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/>
              <a:t>複数人開発で有用なツールだが、個人開発でも有用</a:t>
            </a:r>
            <a:endParaRPr lang="en-US" altLang="ja-JP" sz="2800"/>
          </a:p>
          <a:p>
            <a:r>
              <a:rPr lang="ja-JP" altLang="en-US" sz="2800"/>
              <a:t>　→三日前の自分は他人</a:t>
            </a:r>
            <a:endParaRPr lang="en-US" altLang="ja-JP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/>
              <a:t>バージョン管理システムを使えば開発効率が上がる</a:t>
            </a:r>
            <a:r>
              <a:rPr lang="ja-JP" altLang="en-US" sz="2800">
                <a:solidFill>
                  <a:srgbClr val="FF0000"/>
                </a:solidFill>
              </a:rPr>
              <a:t>わけではない</a:t>
            </a:r>
            <a:endParaRPr lang="en-US" altLang="ja-JP" sz="2800">
              <a:solidFill>
                <a:srgbClr val="FF0000"/>
              </a:solidFill>
            </a:endParaRPr>
          </a:p>
          <a:p>
            <a:r>
              <a:rPr lang="ja-JP" altLang="en-US" sz="2800"/>
              <a:t>　→開発スタイルを変えなくてはならない</a:t>
            </a:r>
            <a:endParaRPr lang="en-US" altLang="ja-JP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23E0E4-1409-4002-8E46-B647183DC7CE}"/>
              </a:ext>
            </a:extLst>
          </p:cNvPr>
          <p:cNvSpPr txBox="1"/>
          <p:nvPr/>
        </p:nvSpPr>
        <p:spPr>
          <a:xfrm>
            <a:off x="179512" y="4725144"/>
            <a:ext cx="866455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/>
              <a:t>Git/GitHub</a:t>
            </a:r>
            <a:r>
              <a:rPr lang="ja-JP" altLang="en-US" sz="3200"/>
              <a:t>の使い方を学ぶことが目的ではない</a:t>
            </a:r>
            <a:endParaRPr lang="en-US" altLang="ja-JP" sz="3200"/>
          </a:p>
          <a:p>
            <a:r>
              <a:rPr lang="ja-JP" altLang="en-US" sz="3200"/>
              <a:t>ツールに流れる哲学を学ぶ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708715004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パーセル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6652</TotalTime>
  <Words>1379</Words>
  <Application>Microsoft Office PowerPoint</Application>
  <PresentationFormat>画面に合わせる (4:3)</PresentationFormat>
  <Paragraphs>228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29" baseType="lpstr">
      <vt:lpstr>游ゴシック</vt:lpstr>
      <vt:lpstr>Arial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1328</cp:revision>
  <dcterms:created xsi:type="dcterms:W3CDTF">2019-01-02T05:23:01Z</dcterms:created>
  <dcterms:modified xsi:type="dcterms:W3CDTF">2026-02-28T13:41:37Z</dcterms:modified>
</cp:coreProperties>
</file>