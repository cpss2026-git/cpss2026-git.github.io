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Lst>
  <p:notesMasterIdLst>
    <p:notesMasterId r:id="rId29"/>
  </p:notesMasterIdLst>
  <p:sldIdLst>
    <p:sldId id="256" r:id="rId2"/>
    <p:sldId id="332" r:id="rId3"/>
    <p:sldId id="333" r:id="rId4"/>
    <p:sldId id="323" r:id="rId5"/>
    <p:sldId id="347" r:id="rId6"/>
    <p:sldId id="348" r:id="rId7"/>
    <p:sldId id="349" r:id="rId8"/>
    <p:sldId id="352" r:id="rId9"/>
    <p:sldId id="353" r:id="rId10"/>
    <p:sldId id="335" r:id="rId11"/>
    <p:sldId id="336" r:id="rId12"/>
    <p:sldId id="350" r:id="rId13"/>
    <p:sldId id="337" r:id="rId14"/>
    <p:sldId id="351" r:id="rId15"/>
    <p:sldId id="338" r:id="rId16"/>
    <p:sldId id="339" r:id="rId17"/>
    <p:sldId id="343" r:id="rId18"/>
    <p:sldId id="344" r:id="rId19"/>
    <p:sldId id="345" r:id="rId20"/>
    <p:sldId id="346" r:id="rId21"/>
    <p:sldId id="354" r:id="rId22"/>
    <p:sldId id="355" r:id="rId23"/>
    <p:sldId id="356" r:id="rId24"/>
    <p:sldId id="357" r:id="rId25"/>
    <p:sldId id="341" r:id="rId26"/>
    <p:sldId id="342" r:id="rId27"/>
    <p:sldId id="358" r:id="rId28"/>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a:srgbClr val="FF8AD8"/>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淡色スタイル 1 - アクセント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009" autoAdjust="0"/>
    <p:restoredTop sz="94660"/>
  </p:normalViewPr>
  <p:slideViewPr>
    <p:cSldViewPr>
      <p:cViewPr varScale="1">
        <p:scale>
          <a:sx n="137" d="100"/>
          <a:sy n="137" d="100"/>
        </p:scale>
        <p:origin x="776" y="20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8D1B20-A248-FB47-8240-73C0C5F47C9D}" type="datetimeFigureOut">
              <a:t>2026/3/4</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kumimoji="1" lang="ja-JP" altLang="en-US"/>
              <a:t>マスター テキストの書式設定
第 </a:t>
            </a:r>
            <a:r>
              <a:rPr kumimoji="1" lang="en-US" altLang="ja-JP"/>
              <a:t>2 </a:t>
            </a:r>
            <a:r>
              <a:rPr kumimoji="1" lang="ja-JP" altLang="en-US"/>
              <a:t>レベル
第 </a:t>
            </a:r>
            <a:r>
              <a:rPr kumimoji="1" lang="en-US" altLang="ja-JP"/>
              <a:t>3 </a:t>
            </a:r>
            <a:r>
              <a:rPr kumimoji="1" lang="ja-JP" altLang="en-US"/>
              <a:t>レベル
第 </a:t>
            </a:r>
            <a:r>
              <a:rPr kumimoji="1" lang="en-US" altLang="ja-JP"/>
              <a:t>4 </a:t>
            </a:r>
            <a:r>
              <a:rPr kumimoji="1" lang="ja-JP" altLang="en-US"/>
              <a:t>レベル
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FA746F-AF1F-C048-A2ED-B38EF01E9631}" type="slidenum">
              <a:t>‹#›</a:t>
            </a:fld>
            <a:endParaRPr kumimoji="1" lang="ja-JP" altLang="en-US"/>
          </a:p>
        </p:txBody>
      </p:sp>
    </p:spTree>
    <p:extLst>
      <p:ext uri="{BB962C8B-B14F-4D97-AF65-F5344CB8AC3E}">
        <p14:creationId xmlns:p14="http://schemas.microsoft.com/office/powerpoint/2010/main" val="42559767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7" name="テキスト プレースホルダー 6">
            <a:extLst>
              <a:ext uri="{FF2B5EF4-FFF2-40B4-BE49-F238E27FC236}">
                <a16:creationId xmlns:a16="http://schemas.microsoft.com/office/drawing/2014/main" id="{1977278B-6103-7448-8885-11FCA29D84A1}"/>
              </a:ext>
            </a:extLst>
          </p:cNvPr>
          <p:cNvSpPr>
            <a:spLocks noGrp="1"/>
          </p:cNvSpPr>
          <p:nvPr>
            <p:ph type="body" sz="quarter" idx="10"/>
          </p:nvPr>
        </p:nvSpPr>
        <p:spPr>
          <a:xfrm>
            <a:off x="0" y="190133"/>
            <a:ext cx="9144000" cy="754062"/>
          </a:xfrm>
          <a:prstGeom prst="rect">
            <a:avLst/>
          </a:prstGeom>
        </p:spPr>
        <p:txBody>
          <a:bodyPr/>
          <a:lstStyle>
            <a:lvl1pPr marL="0" indent="0" algn="ctr">
              <a:buNone/>
              <a:defRPr sz="4000">
                <a:ln>
                  <a:solidFill>
                    <a:srgbClr val="011893"/>
                  </a:solidFill>
                </a:ln>
              </a:defRPr>
            </a:lvl1pPr>
          </a:lstStyle>
          <a:p>
            <a:endParaRPr kumimoji="1" lang="ja-JP" altLang="en-US"/>
          </a:p>
        </p:txBody>
      </p:sp>
      <p:sp>
        <p:nvSpPr>
          <p:cNvPr id="2" name="円/楕円 3">
            <a:extLst>
              <a:ext uri="{FF2B5EF4-FFF2-40B4-BE49-F238E27FC236}">
                <a16:creationId xmlns:a16="http://schemas.microsoft.com/office/drawing/2014/main" id="{7AB96E9E-8438-32D0-C81A-84D583F659A4}"/>
              </a:ext>
            </a:extLst>
          </p:cNvPr>
          <p:cNvSpPr/>
          <p:nvPr userDrawn="1"/>
        </p:nvSpPr>
        <p:spPr>
          <a:xfrm>
            <a:off x="8497721" y="6230795"/>
            <a:ext cx="531173" cy="531173"/>
          </a:xfrm>
          <a:prstGeom prst="ellipse">
            <a:avLst/>
          </a:prstGeom>
          <a:solidFill>
            <a:schemeClr val="bg1">
              <a:lumMod val="75000"/>
            </a:schemeClr>
          </a:solidFill>
          <a:ln>
            <a:solidFill>
              <a:schemeClr val="bg1">
                <a:lumMod val="8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sz="1050">
              <a:latin typeface="+mj-ea"/>
              <a:ea typeface="+mj-ea"/>
            </a:endParaRPr>
          </a:p>
        </p:txBody>
      </p:sp>
      <p:sp>
        <p:nvSpPr>
          <p:cNvPr id="3" name="テキスト ボックス 2">
            <a:extLst>
              <a:ext uri="{FF2B5EF4-FFF2-40B4-BE49-F238E27FC236}">
                <a16:creationId xmlns:a16="http://schemas.microsoft.com/office/drawing/2014/main" id="{E80D0456-3D93-305B-D44F-740C66D3D3CB}"/>
              </a:ext>
            </a:extLst>
          </p:cNvPr>
          <p:cNvSpPr txBox="1"/>
          <p:nvPr userDrawn="1"/>
        </p:nvSpPr>
        <p:spPr>
          <a:xfrm>
            <a:off x="8491428" y="6270575"/>
            <a:ext cx="401072" cy="307777"/>
          </a:xfrm>
          <a:prstGeom prst="rect">
            <a:avLst/>
          </a:prstGeom>
          <a:noFill/>
        </p:spPr>
        <p:txBody>
          <a:bodyPr wrap="none" rtlCol="0">
            <a:spAutoFit/>
          </a:bodyPr>
          <a:lstStyle/>
          <a:p>
            <a:pPr algn="ctr"/>
            <a:fld id="{E8E17320-8F29-C346-80F3-7693511BE498}" type="slidenum">
              <a:rPr kumimoji="1" lang="ja-JP" altLang="en-US" sz="1400"/>
              <a:pPr algn="ctr"/>
              <a:t>‹#›</a:t>
            </a:fld>
            <a:endParaRPr kumimoji="1" lang="ja-JP" altLang="en-US" sz="1400" dirty="0"/>
          </a:p>
        </p:txBody>
      </p:sp>
      <p:sp>
        <p:nvSpPr>
          <p:cNvPr id="6" name="弦 5">
            <a:extLst>
              <a:ext uri="{FF2B5EF4-FFF2-40B4-BE49-F238E27FC236}">
                <a16:creationId xmlns:a16="http://schemas.microsoft.com/office/drawing/2014/main" id="{621F4080-F0EB-A5EE-9135-34ACF25914EB}"/>
              </a:ext>
            </a:extLst>
          </p:cNvPr>
          <p:cNvSpPr/>
          <p:nvPr userDrawn="1"/>
        </p:nvSpPr>
        <p:spPr>
          <a:xfrm rot="16200000">
            <a:off x="8491626" y="6224701"/>
            <a:ext cx="588253" cy="576063"/>
          </a:xfrm>
          <a:prstGeom prst="chord">
            <a:avLst>
              <a:gd name="adj1" fmla="val 2700000"/>
              <a:gd name="adj2" fmla="val 14142403"/>
            </a:avLst>
          </a:prstGeom>
          <a:solidFill>
            <a:schemeClr val="bg1">
              <a:lumMod val="65000"/>
            </a:schemeClr>
          </a:soli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8" name="テキスト ボックス 7">
            <a:extLst>
              <a:ext uri="{FF2B5EF4-FFF2-40B4-BE49-F238E27FC236}">
                <a16:creationId xmlns:a16="http://schemas.microsoft.com/office/drawing/2014/main" id="{A9D70C12-A3CA-96B0-6084-6A4E33B92F48}"/>
              </a:ext>
            </a:extLst>
          </p:cNvPr>
          <p:cNvSpPr txBox="1"/>
          <p:nvPr userDrawn="1"/>
        </p:nvSpPr>
        <p:spPr>
          <a:xfrm>
            <a:off x="8596070" y="6442913"/>
            <a:ext cx="496310" cy="307777"/>
          </a:xfrm>
          <a:prstGeom prst="rect">
            <a:avLst/>
          </a:prstGeom>
          <a:noFill/>
        </p:spPr>
        <p:txBody>
          <a:bodyPr wrap="square" rtlCol="0">
            <a:spAutoFit/>
          </a:bodyPr>
          <a:lstStyle/>
          <a:p>
            <a:pPr algn="ctr"/>
            <a:r>
              <a:rPr kumimoji="1" lang="en-US" altLang="ja-JP" sz="1400" dirty="0"/>
              <a:t>27</a:t>
            </a:r>
          </a:p>
        </p:txBody>
      </p:sp>
    </p:spTree>
    <p:extLst>
      <p:ext uri="{BB962C8B-B14F-4D97-AF65-F5344CB8AC3E}">
        <p14:creationId xmlns:p14="http://schemas.microsoft.com/office/powerpoint/2010/main" val="238478159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9306940"/>
      </p:ext>
    </p:extLst>
  </p:cSld>
  <p:clrMap bg1="lt1" tx1="dk1" bg2="lt2" tx2="dk2" accent1="accent1" accent2="accent2" accent3="accent3" accent4="accent4" accent5="accent5" accent6="accent6" hlink="hlink" folHlink="folHlink"/>
  <p:sldLayoutIdLst>
    <p:sldLayoutId id="2147483664" r:id="rId1"/>
  </p:sldLayoutIdLst>
  <p:hf hdr="0" ftr="0" dt="0"/>
  <p:txStyles>
    <p:titleStyle>
      <a:lvl1pPr algn="ctr" defTabSz="914400" rtl="0" eaLnBrk="1" latinLnBrk="0" hangingPunct="1">
        <a:lnSpc>
          <a:spcPct val="90000"/>
        </a:lnSpc>
        <a:spcBef>
          <a:spcPct val="0"/>
        </a:spcBef>
        <a:buNone/>
        <a:defRPr kumimoji="1" sz="26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a:solidFill>
            <a:schemeClr val="tx1">
              <a:lumMod val="85000"/>
              <a:lumOff val="15000"/>
            </a:schemeClr>
          </a:solidFill>
          <a:latin typeface="+mn-lt"/>
          <a:ea typeface="+mn-ea"/>
          <a:cs typeface="+mn-cs"/>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baseline="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5.png"/><Relationship Id="rId3" Type="http://schemas.openxmlformats.org/officeDocument/2006/relationships/image" Target="../media/image5.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4.png"/><Relationship Id="rId2" Type="http://schemas.openxmlformats.org/officeDocument/2006/relationships/image" Target="../media/image4.png"/><Relationship Id="rId16" Type="http://schemas.openxmlformats.org/officeDocument/2006/relationships/image" Target="../media/image230.png"/><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6.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s>
</file>

<file path=ppt/slides/_rels/slide6.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 Id="rId9" Type="http://schemas.openxmlformats.org/officeDocument/2006/relationships/image" Target="../media/image33.png"/></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5.png"/><Relationship Id="rId7" Type="http://schemas.openxmlformats.org/officeDocument/2006/relationships/image" Target="../media/image38.png"/><Relationship Id="rId2" Type="http://schemas.openxmlformats.org/officeDocument/2006/relationships/image" Target="../media/image34.png"/><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1.png"/><Relationship Id="rId1" Type="http://schemas.openxmlformats.org/officeDocument/2006/relationships/slideLayout" Target="../slideLayouts/slideLayout1.xml"/><Relationship Id="rId5" Type="http://schemas.openxmlformats.org/officeDocument/2006/relationships/image" Target="../media/image43.png"/><Relationship Id="rId4" Type="http://schemas.openxmlformats.org/officeDocument/2006/relationships/image" Target="../media/image42.png"/></Relationships>
</file>

<file path=ppt/slides/_rels/slide1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1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9.png"/><Relationship Id="rId4" Type="http://schemas.openxmlformats.org/officeDocument/2006/relationships/image" Target="../media/image48.png"/></Relationships>
</file>

<file path=ppt/slides/_rels/slide1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hyperlink" Target="https://docs.github.com/en/authentication/keeping-your-account-and-data-secure/githubs-ssh-key-fingerprints"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50.png"/><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1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1.xml"/><Relationship Id="rId5" Type="http://schemas.openxmlformats.org/officeDocument/2006/relationships/image" Target="../media/image58.png"/><Relationship Id="rId4" Type="http://schemas.openxmlformats.org/officeDocument/2006/relationships/image" Target="../media/image54.png"/></Relationships>
</file>

<file path=ppt/slides/_rels/slide1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53.png"/><Relationship Id="rId7" Type="http://schemas.openxmlformats.org/officeDocument/2006/relationships/image" Target="../media/image58.png"/><Relationship Id="rId2" Type="http://schemas.openxmlformats.org/officeDocument/2006/relationships/image" Target="../media/image56.png"/><Relationship Id="rId1" Type="http://schemas.openxmlformats.org/officeDocument/2006/relationships/slideLayout" Target="../slideLayouts/slideLayout1.xml"/><Relationship Id="rId6" Type="http://schemas.openxmlformats.org/officeDocument/2006/relationships/image" Target="../media/image54.png"/><Relationship Id="rId5" Type="http://schemas.openxmlformats.org/officeDocument/2006/relationships/image" Target="../media/image57.png"/><Relationship Id="rId4" Type="http://schemas.openxmlformats.org/officeDocument/2006/relationships/image" Target="../media/image5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60.png"/><Relationship Id="rId1" Type="http://schemas.openxmlformats.org/officeDocument/2006/relationships/slideLayout" Target="../slideLayouts/slideLayout1.xml"/><Relationship Id="rId5" Type="http://schemas.openxmlformats.org/officeDocument/2006/relationships/image" Target="../media/image62.png"/><Relationship Id="rId4" Type="http://schemas.openxmlformats.org/officeDocument/2006/relationships/image" Target="../media/image61.png"/></Relationships>
</file>

<file path=ppt/slides/_rels/slide22.xml.rels><?xml version="1.0" encoding="UTF-8" standalone="yes"?>
<Relationships xmlns="http://schemas.openxmlformats.org/package/2006/relationships"><Relationship Id="rId3" Type="http://schemas.openxmlformats.org/officeDocument/2006/relationships/image" Target="../media/image61.png"/><Relationship Id="rId7" Type="http://schemas.openxmlformats.org/officeDocument/2006/relationships/image" Target="../media/image66.png"/><Relationship Id="rId2" Type="http://schemas.openxmlformats.org/officeDocument/2006/relationships/image" Target="../media/image54.png"/><Relationship Id="rId1" Type="http://schemas.openxmlformats.org/officeDocument/2006/relationships/slideLayout" Target="../slideLayouts/slideLayout1.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2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54.pn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62.png"/></Relationships>
</file>

<file path=ppt/slides/_rels/slide2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8.png"/><Relationship Id="rId1" Type="http://schemas.openxmlformats.org/officeDocument/2006/relationships/slideLayout" Target="../slideLayouts/slideLayout1.xml"/><Relationship Id="rId5" Type="http://schemas.openxmlformats.org/officeDocument/2006/relationships/image" Target="../media/image68.png"/><Relationship Id="rId4" Type="http://schemas.openxmlformats.org/officeDocument/2006/relationships/image" Target="../media/image67.png"/></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9.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2.png"/><Relationship Id="rId1" Type="http://schemas.openxmlformats.org/officeDocument/2006/relationships/slideLayout" Target="../slideLayouts/slideLayout1.xml"/><Relationship Id="rId4" Type="http://schemas.openxmlformats.org/officeDocument/2006/relationships/image" Target="../media/image5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36C4099E-EB60-DC4F-967D-225ED88E614D}"/>
              </a:ext>
            </a:extLst>
          </p:cNvPr>
          <p:cNvSpPr txBox="1"/>
          <p:nvPr/>
        </p:nvSpPr>
        <p:spPr>
          <a:xfrm>
            <a:off x="0" y="1249680"/>
            <a:ext cx="9144000" cy="584775"/>
          </a:xfrm>
          <a:prstGeom prst="rect">
            <a:avLst/>
          </a:prstGeom>
          <a:noFill/>
        </p:spPr>
        <p:txBody>
          <a:bodyPr wrap="square" rtlCol="0">
            <a:spAutoFit/>
          </a:bodyPr>
          <a:lstStyle/>
          <a:p>
            <a:pPr algn="ctr"/>
            <a:r>
              <a:rPr lang="en-US" altLang="ja-JP" sz="3200">
                <a:solidFill>
                  <a:srgbClr val="011893"/>
                </a:solidFill>
              </a:rPr>
              <a:t>SSH</a:t>
            </a:r>
            <a:r>
              <a:rPr lang="ja-JP" altLang="en-US" sz="3200">
                <a:solidFill>
                  <a:srgbClr val="011893"/>
                </a:solidFill>
              </a:rPr>
              <a:t>公開鍵認証</a:t>
            </a:r>
            <a:endParaRPr lang="en-US" altLang="ja-JP" sz="3200" dirty="0">
              <a:solidFill>
                <a:srgbClr val="011893"/>
              </a:solidFill>
            </a:endParaRPr>
          </a:p>
        </p:txBody>
      </p:sp>
      <p:sp>
        <p:nvSpPr>
          <p:cNvPr id="5" name="テキスト ボックス 4">
            <a:extLst>
              <a:ext uri="{FF2B5EF4-FFF2-40B4-BE49-F238E27FC236}">
                <a16:creationId xmlns:a16="http://schemas.microsoft.com/office/drawing/2014/main" id="{891C33B1-D329-9348-9718-97E836138DF6}"/>
              </a:ext>
            </a:extLst>
          </p:cNvPr>
          <p:cNvSpPr txBox="1"/>
          <p:nvPr/>
        </p:nvSpPr>
        <p:spPr>
          <a:xfrm>
            <a:off x="3627120" y="5242560"/>
            <a:ext cx="5416868" cy="461665"/>
          </a:xfrm>
          <a:prstGeom prst="rect">
            <a:avLst/>
          </a:prstGeom>
          <a:noFill/>
        </p:spPr>
        <p:txBody>
          <a:bodyPr wrap="none" rtlCol="0">
            <a:spAutoFit/>
          </a:bodyPr>
          <a:lstStyle/>
          <a:p>
            <a:r>
              <a:rPr lang="ja-JP" altLang="en-US" sz="2400"/>
              <a:t>慶應義塾大学理工学部物理情報工学科</a:t>
            </a:r>
            <a:endParaRPr lang="en-US" altLang="ja-JP" sz="2400"/>
          </a:p>
        </p:txBody>
      </p:sp>
      <p:sp>
        <p:nvSpPr>
          <p:cNvPr id="6" name="テキスト ボックス 5">
            <a:extLst>
              <a:ext uri="{FF2B5EF4-FFF2-40B4-BE49-F238E27FC236}">
                <a16:creationId xmlns:a16="http://schemas.microsoft.com/office/drawing/2014/main" id="{BF5EEEB6-32A6-914E-957E-5C31A877EF9C}"/>
              </a:ext>
            </a:extLst>
          </p:cNvPr>
          <p:cNvSpPr txBox="1"/>
          <p:nvPr/>
        </p:nvSpPr>
        <p:spPr>
          <a:xfrm>
            <a:off x="8172400" y="5661248"/>
            <a:ext cx="800219" cy="461665"/>
          </a:xfrm>
          <a:prstGeom prst="rect">
            <a:avLst/>
          </a:prstGeom>
          <a:noFill/>
        </p:spPr>
        <p:txBody>
          <a:bodyPr wrap="none" rtlCol="0">
            <a:spAutoFit/>
          </a:bodyPr>
          <a:lstStyle/>
          <a:p>
            <a:r>
              <a:rPr lang="ja-JP" altLang="en-US" sz="2400"/>
              <a:t>渡辺</a:t>
            </a:r>
            <a:endParaRPr lang="en-US" altLang="ja-JP" sz="2400"/>
          </a:p>
        </p:txBody>
      </p:sp>
      <p:sp>
        <p:nvSpPr>
          <p:cNvPr id="2" name="テキスト ボックス 1">
            <a:extLst>
              <a:ext uri="{FF2B5EF4-FFF2-40B4-BE49-F238E27FC236}">
                <a16:creationId xmlns:a16="http://schemas.microsoft.com/office/drawing/2014/main" id="{5FC1B616-006A-5291-EA20-13D10A41C65C}"/>
              </a:ext>
            </a:extLst>
          </p:cNvPr>
          <p:cNvSpPr txBox="1"/>
          <p:nvPr/>
        </p:nvSpPr>
        <p:spPr>
          <a:xfrm>
            <a:off x="0" y="6519446"/>
            <a:ext cx="7263527" cy="338554"/>
          </a:xfrm>
          <a:prstGeom prst="rect">
            <a:avLst/>
          </a:prstGeom>
          <a:noFill/>
        </p:spPr>
        <p:txBody>
          <a:bodyPr wrap="none" rtlCol="0">
            <a:spAutoFit/>
          </a:bodyPr>
          <a:lstStyle/>
          <a:p>
            <a:r>
              <a:rPr kumimoji="1" lang="en-US" altLang="ja-JP" sz="1600" dirty="0"/>
              <a:t>2026</a:t>
            </a:r>
            <a:r>
              <a:rPr kumimoji="1" lang="ja-JP" altLang="en-US" sz="1600"/>
              <a:t>年</a:t>
            </a:r>
            <a:r>
              <a:rPr kumimoji="1" lang="en-US" altLang="ja-JP" sz="1600" dirty="0"/>
              <a:t>3</a:t>
            </a:r>
            <a:r>
              <a:rPr kumimoji="1" lang="ja-JP" altLang="en-US" sz="1600"/>
              <a:t>月</a:t>
            </a:r>
            <a:r>
              <a:rPr kumimoji="1" lang="en-US" altLang="ja-JP" sz="1600" dirty="0"/>
              <a:t>9</a:t>
            </a:r>
            <a:r>
              <a:rPr kumimoji="1" lang="ja-JP" altLang="en-US" sz="1600"/>
              <a:t>日</a:t>
            </a:r>
            <a:r>
              <a:rPr kumimoji="1" lang="en-US" altLang="ja-JP" sz="1600" dirty="0"/>
              <a:t> </a:t>
            </a:r>
            <a:r>
              <a:rPr kumimoji="1" lang="ja-JP" altLang="en-US" sz="1600"/>
              <a:t>計算物理春の学校</a:t>
            </a:r>
            <a:r>
              <a:rPr kumimoji="1" lang="en-US" altLang="ja-JP" sz="1600" dirty="0"/>
              <a:t>2026</a:t>
            </a:r>
            <a:r>
              <a:rPr kumimoji="1" lang="ja-JP" altLang="en-US" sz="1600"/>
              <a:t>「計算物理屋のための</a:t>
            </a:r>
            <a:r>
              <a:rPr kumimoji="1" lang="en-US" altLang="ja-JP" sz="1600" dirty="0"/>
              <a:t>Git/GitHub</a:t>
            </a:r>
            <a:r>
              <a:rPr kumimoji="1" lang="ja-JP" altLang="en-US" sz="1600"/>
              <a:t>入門」</a:t>
            </a:r>
          </a:p>
        </p:txBody>
      </p:sp>
    </p:spTree>
    <p:extLst>
      <p:ext uri="{BB962C8B-B14F-4D97-AF65-F5344CB8AC3E}">
        <p14:creationId xmlns:p14="http://schemas.microsoft.com/office/powerpoint/2010/main" val="40795339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5F22D77A-7C9B-4509-AB65-EE2447454D86}"/>
              </a:ext>
            </a:extLst>
          </p:cNvPr>
          <p:cNvSpPr>
            <a:spLocks noGrp="1"/>
          </p:cNvSpPr>
          <p:nvPr>
            <p:ph type="body" sz="quarter" idx="10"/>
          </p:nvPr>
        </p:nvSpPr>
        <p:spPr/>
        <p:txBody>
          <a:bodyPr/>
          <a:lstStyle/>
          <a:p>
            <a:r>
              <a:rPr kumimoji="1" lang="ja-JP" altLang="en-US"/>
              <a:t>リモート接続</a:t>
            </a:r>
          </a:p>
        </p:txBody>
      </p:sp>
      <p:pic>
        <p:nvPicPr>
          <p:cNvPr id="3" name="Picture 8" descr="会社で働く人のイラスト（男性）">
            <a:extLst>
              <a:ext uri="{FF2B5EF4-FFF2-40B4-BE49-F238E27FC236}">
                <a16:creationId xmlns:a16="http://schemas.microsoft.com/office/drawing/2014/main" id="{8BCC0EDA-B8EA-A346-B4EF-D19718BCE3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2980" y="2965342"/>
            <a:ext cx="1225588" cy="1225588"/>
          </a:xfrm>
          <a:prstGeom prst="rect">
            <a:avLst/>
          </a:prstGeom>
          <a:noFill/>
          <a:extLst>
            <a:ext uri="{909E8E84-426E-40DD-AFC4-6F175D3DCCD1}">
              <a14:hiddenFill xmlns:a14="http://schemas.microsoft.com/office/drawing/2010/main">
                <a:solidFill>
                  <a:srgbClr val="FFFFFF"/>
                </a:solidFill>
              </a14:hiddenFill>
            </a:ext>
          </a:extLst>
        </p:spPr>
      </p:pic>
      <p:sp>
        <p:nvSpPr>
          <p:cNvPr id="4" name="テキスト ボックス 3">
            <a:extLst>
              <a:ext uri="{FF2B5EF4-FFF2-40B4-BE49-F238E27FC236}">
                <a16:creationId xmlns:a16="http://schemas.microsoft.com/office/drawing/2014/main" id="{57262126-5429-9590-03EE-1820CC07BEC9}"/>
              </a:ext>
            </a:extLst>
          </p:cNvPr>
          <p:cNvSpPr txBox="1"/>
          <p:nvPr/>
        </p:nvSpPr>
        <p:spPr>
          <a:xfrm>
            <a:off x="179512" y="1196752"/>
            <a:ext cx="8208912" cy="646331"/>
          </a:xfrm>
          <a:prstGeom prst="rect">
            <a:avLst/>
          </a:prstGeom>
          <a:noFill/>
        </p:spPr>
        <p:txBody>
          <a:bodyPr wrap="square" rtlCol="0">
            <a:spAutoFit/>
          </a:bodyPr>
          <a:lstStyle/>
          <a:p>
            <a:r>
              <a:rPr kumimoji="1" lang="ja-JP" altLang="en-US"/>
              <a:t>パーソナルコンピュータから、別の強力なコンピュータに遠隔から接続したい</a:t>
            </a:r>
            <a:endParaRPr kumimoji="1" lang="en-US" altLang="ja-JP" dirty="0"/>
          </a:p>
          <a:p>
            <a:r>
              <a:rPr kumimoji="1" lang="ja-JP" altLang="en-US"/>
              <a:t>→リモート接続</a:t>
            </a:r>
          </a:p>
        </p:txBody>
      </p:sp>
      <p:sp>
        <p:nvSpPr>
          <p:cNvPr id="5" name="テキスト ボックス 4">
            <a:extLst>
              <a:ext uri="{FF2B5EF4-FFF2-40B4-BE49-F238E27FC236}">
                <a16:creationId xmlns:a16="http://schemas.microsoft.com/office/drawing/2014/main" id="{AD36F46E-D3E5-4873-0BAD-5F006405BD44}"/>
              </a:ext>
            </a:extLst>
          </p:cNvPr>
          <p:cNvSpPr txBox="1"/>
          <p:nvPr/>
        </p:nvSpPr>
        <p:spPr>
          <a:xfrm>
            <a:off x="1174889" y="2381437"/>
            <a:ext cx="1338828" cy="369332"/>
          </a:xfrm>
          <a:prstGeom prst="rect">
            <a:avLst/>
          </a:prstGeom>
          <a:noFill/>
        </p:spPr>
        <p:txBody>
          <a:bodyPr wrap="none" rtlCol="0">
            <a:spAutoFit/>
          </a:bodyPr>
          <a:lstStyle/>
          <a:p>
            <a:r>
              <a:rPr kumimoji="1" lang="ja-JP" altLang="en-US"/>
              <a:t>自宅や居室</a:t>
            </a:r>
          </a:p>
        </p:txBody>
      </p:sp>
      <p:sp>
        <p:nvSpPr>
          <p:cNvPr id="6" name="テキスト ボックス 5">
            <a:extLst>
              <a:ext uri="{FF2B5EF4-FFF2-40B4-BE49-F238E27FC236}">
                <a16:creationId xmlns:a16="http://schemas.microsoft.com/office/drawing/2014/main" id="{9200FBF1-8FE0-2628-17B9-5099424BDFB1}"/>
              </a:ext>
            </a:extLst>
          </p:cNvPr>
          <p:cNvSpPr txBox="1"/>
          <p:nvPr/>
        </p:nvSpPr>
        <p:spPr>
          <a:xfrm>
            <a:off x="5025053" y="2381437"/>
            <a:ext cx="3185487" cy="369332"/>
          </a:xfrm>
          <a:prstGeom prst="rect">
            <a:avLst/>
          </a:prstGeom>
          <a:noFill/>
        </p:spPr>
        <p:txBody>
          <a:bodyPr wrap="none" rtlCol="0">
            <a:spAutoFit/>
          </a:bodyPr>
          <a:lstStyle/>
          <a:p>
            <a:r>
              <a:rPr kumimoji="1" lang="ja-JP" altLang="en-US"/>
              <a:t>大学やサーバ室にあるサーバ</a:t>
            </a:r>
          </a:p>
        </p:txBody>
      </p:sp>
      <p:pic>
        <p:nvPicPr>
          <p:cNvPr id="3074" name="Picture 2" descr="サーバーのイラスト（1台）">
            <a:extLst>
              <a:ext uri="{FF2B5EF4-FFF2-40B4-BE49-F238E27FC236}">
                <a16:creationId xmlns:a16="http://schemas.microsoft.com/office/drawing/2014/main" id="{7FE47A05-1125-2DE5-6A6C-25FEAC59556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40152" y="2852936"/>
            <a:ext cx="1225588" cy="1450400"/>
          </a:xfrm>
          <a:prstGeom prst="rect">
            <a:avLst/>
          </a:prstGeom>
          <a:noFill/>
          <a:extLst>
            <a:ext uri="{909E8E84-426E-40DD-AFC4-6F175D3DCCD1}">
              <a14:hiddenFill xmlns:a14="http://schemas.microsoft.com/office/drawing/2010/main">
                <a:solidFill>
                  <a:srgbClr val="FFFFFF"/>
                </a:solidFill>
              </a14:hiddenFill>
            </a:ext>
          </a:extLst>
        </p:spPr>
      </p:pic>
      <p:cxnSp>
        <p:nvCxnSpPr>
          <p:cNvPr id="8" name="直線矢印コネクタ 7">
            <a:extLst>
              <a:ext uri="{FF2B5EF4-FFF2-40B4-BE49-F238E27FC236}">
                <a16:creationId xmlns:a16="http://schemas.microsoft.com/office/drawing/2014/main" id="{C17C7867-2EC2-B619-935A-D8D8A1F27902}"/>
              </a:ext>
            </a:extLst>
          </p:cNvPr>
          <p:cNvCxnSpPr>
            <a:cxnSpLocks/>
            <a:stCxn id="3" idx="3"/>
            <a:endCxn id="3074" idx="1"/>
          </p:cNvCxnSpPr>
          <p:nvPr/>
        </p:nvCxnSpPr>
        <p:spPr>
          <a:xfrm>
            <a:off x="2578568" y="3578136"/>
            <a:ext cx="3361584"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DD886B70-5DBD-9ECE-DA41-889CBA56D08D}"/>
              </a:ext>
            </a:extLst>
          </p:cNvPr>
          <p:cNvSpPr txBox="1"/>
          <p:nvPr/>
        </p:nvSpPr>
        <p:spPr>
          <a:xfrm>
            <a:off x="621702" y="4470048"/>
            <a:ext cx="7430239" cy="646331"/>
          </a:xfrm>
          <a:prstGeom prst="rect">
            <a:avLst/>
          </a:prstGeom>
          <a:noFill/>
        </p:spPr>
        <p:txBody>
          <a:bodyPr wrap="none" rtlCol="0">
            <a:spAutoFit/>
          </a:bodyPr>
          <a:lstStyle/>
          <a:p>
            <a:r>
              <a:rPr kumimoji="1" lang="ja-JP" altLang="en-US"/>
              <a:t>手元の</a:t>
            </a:r>
            <a:r>
              <a:rPr lang="en-US" altLang="ja-JP" dirty="0"/>
              <a:t>PC</a:t>
            </a:r>
            <a:r>
              <a:rPr lang="ja-JP" altLang="en-US"/>
              <a:t>の端末から、遠隔にあるマシンにリモートログインして作業</a:t>
            </a:r>
            <a:endParaRPr lang="en-US" altLang="ja-JP" dirty="0"/>
          </a:p>
          <a:p>
            <a:r>
              <a:rPr lang="ja-JP" altLang="en-US"/>
              <a:t>リモートにあるサーバに直接ログインしているかのよう作業できる</a:t>
            </a:r>
            <a:endParaRPr lang="en-US" altLang="ja-JP" dirty="0"/>
          </a:p>
        </p:txBody>
      </p:sp>
      <p:sp>
        <p:nvSpPr>
          <p:cNvPr id="13" name="テキスト ボックス 12">
            <a:extLst>
              <a:ext uri="{FF2B5EF4-FFF2-40B4-BE49-F238E27FC236}">
                <a16:creationId xmlns:a16="http://schemas.microsoft.com/office/drawing/2014/main" id="{95BD159E-D7C0-2735-846D-BC6188D23EA3}"/>
              </a:ext>
            </a:extLst>
          </p:cNvPr>
          <p:cNvSpPr txBox="1"/>
          <p:nvPr/>
        </p:nvSpPr>
        <p:spPr>
          <a:xfrm>
            <a:off x="611560" y="5406007"/>
            <a:ext cx="5006499" cy="369332"/>
          </a:xfrm>
          <a:prstGeom prst="rect">
            <a:avLst/>
          </a:prstGeom>
          <a:noFill/>
        </p:spPr>
        <p:txBody>
          <a:bodyPr wrap="none" rtlCol="0">
            <a:spAutoFit/>
          </a:bodyPr>
          <a:lstStyle/>
          <a:p>
            <a:r>
              <a:rPr kumimoji="1" lang="ja-JP" altLang="en-US"/>
              <a:t>リモートログインに使われたのが</a:t>
            </a:r>
            <a:r>
              <a:rPr kumimoji="1" lang="en-US" altLang="ja-JP" dirty="0"/>
              <a:t>telnet</a:t>
            </a:r>
            <a:r>
              <a:rPr kumimoji="1" lang="ja-JP" altLang="en-US"/>
              <a:t>や</a:t>
            </a:r>
            <a:r>
              <a:rPr kumimoji="1" lang="en-US" altLang="ja-JP" dirty="0"/>
              <a:t>rlogin</a:t>
            </a:r>
            <a:endParaRPr kumimoji="1" lang="ja-JP" altLang="en-US"/>
          </a:p>
        </p:txBody>
      </p:sp>
    </p:spTree>
    <p:extLst>
      <p:ext uri="{BB962C8B-B14F-4D97-AF65-F5344CB8AC3E}">
        <p14:creationId xmlns:p14="http://schemas.microsoft.com/office/powerpoint/2010/main" val="29953228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144DBCD4-9EFB-38C8-31E9-6EE91659F879}"/>
              </a:ext>
            </a:extLst>
          </p:cNvPr>
          <p:cNvSpPr>
            <a:spLocks noGrp="1"/>
          </p:cNvSpPr>
          <p:nvPr>
            <p:ph type="body" sz="quarter" idx="10"/>
          </p:nvPr>
        </p:nvSpPr>
        <p:spPr/>
        <p:txBody>
          <a:bodyPr/>
          <a:lstStyle/>
          <a:p>
            <a:r>
              <a:rPr kumimoji="1" lang="ja-JP" altLang="en-US"/>
              <a:t>リモート接続とセキュリティ</a:t>
            </a:r>
          </a:p>
        </p:txBody>
      </p:sp>
      <p:pic>
        <p:nvPicPr>
          <p:cNvPr id="3" name="Picture 8" descr="会社で働く人のイラスト（男性）">
            <a:extLst>
              <a:ext uri="{FF2B5EF4-FFF2-40B4-BE49-F238E27FC236}">
                <a16:creationId xmlns:a16="http://schemas.microsoft.com/office/drawing/2014/main" id="{71FD5EE9-B510-EFC2-FC46-29237053DE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8964" y="2533294"/>
            <a:ext cx="1225588" cy="1225588"/>
          </a:xfrm>
          <a:prstGeom prst="rect">
            <a:avLst/>
          </a:prstGeom>
          <a:noFill/>
          <a:extLst>
            <a:ext uri="{909E8E84-426E-40DD-AFC4-6F175D3DCCD1}">
              <a14:hiddenFill xmlns:a14="http://schemas.microsoft.com/office/drawing/2010/main">
                <a:solidFill>
                  <a:srgbClr val="FFFFFF"/>
                </a:solidFill>
              </a14:hiddenFill>
            </a:ext>
          </a:extLst>
        </p:spPr>
      </p:pic>
      <p:sp>
        <p:nvSpPr>
          <p:cNvPr id="4" name="テキスト ボックス 3">
            <a:extLst>
              <a:ext uri="{FF2B5EF4-FFF2-40B4-BE49-F238E27FC236}">
                <a16:creationId xmlns:a16="http://schemas.microsoft.com/office/drawing/2014/main" id="{5947436A-3AF0-7101-5DDC-BA8ADA01F58F}"/>
              </a:ext>
            </a:extLst>
          </p:cNvPr>
          <p:cNvSpPr txBox="1"/>
          <p:nvPr/>
        </p:nvSpPr>
        <p:spPr>
          <a:xfrm>
            <a:off x="1030873" y="1949389"/>
            <a:ext cx="1338828" cy="369332"/>
          </a:xfrm>
          <a:prstGeom prst="rect">
            <a:avLst/>
          </a:prstGeom>
          <a:noFill/>
        </p:spPr>
        <p:txBody>
          <a:bodyPr wrap="none" rtlCol="0">
            <a:spAutoFit/>
          </a:bodyPr>
          <a:lstStyle/>
          <a:p>
            <a:r>
              <a:rPr kumimoji="1" lang="ja-JP" altLang="en-US"/>
              <a:t>自宅や居室</a:t>
            </a:r>
          </a:p>
        </p:txBody>
      </p:sp>
      <p:sp>
        <p:nvSpPr>
          <p:cNvPr id="5" name="テキスト ボックス 4">
            <a:extLst>
              <a:ext uri="{FF2B5EF4-FFF2-40B4-BE49-F238E27FC236}">
                <a16:creationId xmlns:a16="http://schemas.microsoft.com/office/drawing/2014/main" id="{DA3E0524-0BF8-C309-3CF1-4515858C5E34}"/>
              </a:ext>
            </a:extLst>
          </p:cNvPr>
          <p:cNvSpPr txBox="1"/>
          <p:nvPr/>
        </p:nvSpPr>
        <p:spPr>
          <a:xfrm>
            <a:off x="4881037" y="1949389"/>
            <a:ext cx="3185487" cy="369332"/>
          </a:xfrm>
          <a:prstGeom prst="rect">
            <a:avLst/>
          </a:prstGeom>
          <a:noFill/>
        </p:spPr>
        <p:txBody>
          <a:bodyPr wrap="none" rtlCol="0">
            <a:spAutoFit/>
          </a:bodyPr>
          <a:lstStyle/>
          <a:p>
            <a:r>
              <a:rPr kumimoji="1" lang="ja-JP" altLang="en-US"/>
              <a:t>大学やサーバ室にあるサーバ</a:t>
            </a:r>
          </a:p>
        </p:txBody>
      </p:sp>
      <p:pic>
        <p:nvPicPr>
          <p:cNvPr id="6" name="Picture 2" descr="サーバーのイラスト（1台）">
            <a:extLst>
              <a:ext uri="{FF2B5EF4-FFF2-40B4-BE49-F238E27FC236}">
                <a16:creationId xmlns:a16="http://schemas.microsoft.com/office/drawing/2014/main" id="{2D780F6E-2368-2995-C14F-4B4458F2C82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96136" y="2420888"/>
            <a:ext cx="1225588" cy="1450400"/>
          </a:xfrm>
          <a:prstGeom prst="rect">
            <a:avLst/>
          </a:prstGeom>
          <a:noFill/>
          <a:extLst>
            <a:ext uri="{909E8E84-426E-40DD-AFC4-6F175D3DCCD1}">
              <a14:hiddenFill xmlns:a14="http://schemas.microsoft.com/office/drawing/2010/main">
                <a:solidFill>
                  <a:srgbClr val="FFFFFF"/>
                </a:solidFill>
              </a14:hiddenFill>
            </a:ext>
          </a:extLst>
        </p:spPr>
      </p:pic>
      <p:cxnSp>
        <p:nvCxnSpPr>
          <p:cNvPr id="7" name="直線矢印コネクタ 6">
            <a:extLst>
              <a:ext uri="{FF2B5EF4-FFF2-40B4-BE49-F238E27FC236}">
                <a16:creationId xmlns:a16="http://schemas.microsoft.com/office/drawing/2014/main" id="{CB197782-3770-E570-DC72-08A5F7D1943D}"/>
              </a:ext>
            </a:extLst>
          </p:cNvPr>
          <p:cNvCxnSpPr>
            <a:cxnSpLocks/>
            <a:stCxn id="3" idx="3"/>
            <a:endCxn id="6" idx="1"/>
          </p:cNvCxnSpPr>
          <p:nvPr/>
        </p:nvCxnSpPr>
        <p:spPr>
          <a:xfrm>
            <a:off x="2434552" y="3146088"/>
            <a:ext cx="3361584"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 name="テキスト ボックス 7">
            <a:extLst>
              <a:ext uri="{FF2B5EF4-FFF2-40B4-BE49-F238E27FC236}">
                <a16:creationId xmlns:a16="http://schemas.microsoft.com/office/drawing/2014/main" id="{E4C1FA0A-9013-41FB-7B85-1AC60A32EAA0}"/>
              </a:ext>
            </a:extLst>
          </p:cNvPr>
          <p:cNvSpPr txBox="1"/>
          <p:nvPr/>
        </p:nvSpPr>
        <p:spPr>
          <a:xfrm>
            <a:off x="539552" y="1106739"/>
            <a:ext cx="4774064" cy="400110"/>
          </a:xfrm>
          <a:prstGeom prst="rect">
            <a:avLst/>
          </a:prstGeom>
          <a:noFill/>
        </p:spPr>
        <p:txBody>
          <a:bodyPr wrap="none" rtlCol="0">
            <a:spAutoFit/>
          </a:bodyPr>
          <a:lstStyle/>
          <a:p>
            <a:r>
              <a:rPr lang="en-US" altLang="ja-JP" sz="2000" dirty="0"/>
              <a:t>telnet</a:t>
            </a:r>
            <a:r>
              <a:rPr lang="ja-JP" altLang="en-US" sz="2000"/>
              <a:t>や</a:t>
            </a:r>
            <a:r>
              <a:rPr lang="en-US" altLang="ja-JP" sz="2000" dirty="0"/>
              <a:t>rlogin</a:t>
            </a:r>
            <a:r>
              <a:rPr lang="ja-JP" altLang="en-US" sz="2000"/>
              <a:t>は</a:t>
            </a:r>
            <a:r>
              <a:rPr lang="ja-JP" altLang="en-US" sz="2000">
                <a:solidFill>
                  <a:srgbClr val="FF0000"/>
                </a:solidFill>
              </a:rPr>
              <a:t>通信を平文で送受信</a:t>
            </a:r>
            <a:r>
              <a:rPr lang="ja-JP" altLang="en-US" sz="2000"/>
              <a:t>する</a:t>
            </a:r>
            <a:endParaRPr kumimoji="1" lang="ja-JP" altLang="en-US" sz="2000"/>
          </a:p>
        </p:txBody>
      </p:sp>
      <p:pic>
        <p:nvPicPr>
          <p:cNvPr id="4098" name="Picture 2" descr="悪人のイラスト「黒いシルエット」">
            <a:extLst>
              <a:ext uri="{FF2B5EF4-FFF2-40B4-BE49-F238E27FC236}">
                <a16:creationId xmlns:a16="http://schemas.microsoft.com/office/drawing/2014/main" id="{094235E5-A2E2-90E5-CE85-BB715FAAF2E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3522714" y="3229868"/>
            <a:ext cx="1032559" cy="1225589"/>
          </a:xfrm>
          <a:prstGeom prst="rect">
            <a:avLst/>
          </a:prstGeom>
          <a:noFill/>
          <a:extLst>
            <a:ext uri="{909E8E84-426E-40DD-AFC4-6F175D3DCCD1}">
              <a14:hiddenFill xmlns:a14="http://schemas.microsoft.com/office/drawing/2010/main">
                <a:solidFill>
                  <a:srgbClr val="FFFFFF"/>
                </a:solidFill>
              </a14:hiddenFill>
            </a:ext>
          </a:extLst>
        </p:spPr>
      </p:pic>
      <p:sp>
        <p:nvSpPr>
          <p:cNvPr id="9" name="テキスト ボックス 8">
            <a:extLst>
              <a:ext uri="{FF2B5EF4-FFF2-40B4-BE49-F238E27FC236}">
                <a16:creationId xmlns:a16="http://schemas.microsoft.com/office/drawing/2014/main" id="{463298FC-6718-9A30-F13D-63A040B5E407}"/>
              </a:ext>
            </a:extLst>
          </p:cNvPr>
          <p:cNvSpPr txBox="1"/>
          <p:nvPr/>
        </p:nvSpPr>
        <p:spPr>
          <a:xfrm>
            <a:off x="2987824" y="2559784"/>
            <a:ext cx="1749197" cy="369332"/>
          </a:xfrm>
          <a:prstGeom prst="rect">
            <a:avLst/>
          </a:prstGeom>
          <a:noFill/>
          <a:ln>
            <a:solidFill>
              <a:schemeClr val="tx1"/>
            </a:solidFill>
          </a:ln>
        </p:spPr>
        <p:txBody>
          <a:bodyPr wrap="none" rtlCol="0">
            <a:spAutoFit/>
          </a:bodyPr>
          <a:lstStyle/>
          <a:p>
            <a:r>
              <a:rPr lang="en-US" altLang="ja-JP" dirty="0"/>
              <a:t>user: password</a:t>
            </a:r>
            <a:endParaRPr kumimoji="1" lang="ja-JP" altLang="en-US"/>
          </a:p>
        </p:txBody>
      </p:sp>
      <p:sp>
        <p:nvSpPr>
          <p:cNvPr id="10" name="テキスト ボックス 9">
            <a:extLst>
              <a:ext uri="{FF2B5EF4-FFF2-40B4-BE49-F238E27FC236}">
                <a16:creationId xmlns:a16="http://schemas.microsoft.com/office/drawing/2014/main" id="{1AF3E030-1AF3-A338-3046-D6F1EA7DF578}"/>
              </a:ext>
            </a:extLst>
          </p:cNvPr>
          <p:cNvSpPr txBox="1"/>
          <p:nvPr/>
        </p:nvSpPr>
        <p:spPr>
          <a:xfrm>
            <a:off x="522825" y="4601057"/>
            <a:ext cx="8263801" cy="646331"/>
          </a:xfrm>
          <a:prstGeom prst="rect">
            <a:avLst/>
          </a:prstGeom>
          <a:noFill/>
        </p:spPr>
        <p:txBody>
          <a:bodyPr wrap="none" rtlCol="0">
            <a:spAutoFit/>
          </a:bodyPr>
          <a:lstStyle/>
          <a:p>
            <a:r>
              <a:rPr kumimoji="1" lang="ja-JP" altLang="en-US"/>
              <a:t>インターネットの通信は容易に傍受可能</a:t>
            </a:r>
            <a:endParaRPr kumimoji="1" lang="en-US" altLang="ja-JP" dirty="0"/>
          </a:p>
          <a:p>
            <a:r>
              <a:rPr kumimoji="1" lang="ja-JP" altLang="en-US"/>
              <a:t>通信路を傍受すると、接続先、ユーザ名、パスワードなどが全て見えてしまう</a:t>
            </a:r>
          </a:p>
        </p:txBody>
      </p:sp>
      <p:sp>
        <p:nvSpPr>
          <p:cNvPr id="12" name="テキスト ボックス 11">
            <a:extLst>
              <a:ext uri="{FF2B5EF4-FFF2-40B4-BE49-F238E27FC236}">
                <a16:creationId xmlns:a16="http://schemas.microsoft.com/office/drawing/2014/main" id="{B72BFC28-80A0-598A-18C5-672400C3F860}"/>
              </a:ext>
            </a:extLst>
          </p:cNvPr>
          <p:cNvSpPr txBox="1"/>
          <p:nvPr/>
        </p:nvSpPr>
        <p:spPr>
          <a:xfrm>
            <a:off x="833703" y="5685301"/>
            <a:ext cx="4185761" cy="461665"/>
          </a:xfrm>
          <a:prstGeom prst="rect">
            <a:avLst/>
          </a:prstGeom>
          <a:noFill/>
        </p:spPr>
        <p:txBody>
          <a:bodyPr wrap="none" rtlCol="0">
            <a:spAutoFit/>
          </a:bodyPr>
          <a:lstStyle/>
          <a:p>
            <a:r>
              <a:rPr kumimoji="1" lang="ja-JP" altLang="en-US" sz="2400"/>
              <a:t>セキュアな通信手段が欲しい</a:t>
            </a:r>
          </a:p>
        </p:txBody>
      </p:sp>
      <p:sp>
        <p:nvSpPr>
          <p:cNvPr id="13" name="右矢印 12">
            <a:extLst>
              <a:ext uri="{FF2B5EF4-FFF2-40B4-BE49-F238E27FC236}">
                <a16:creationId xmlns:a16="http://schemas.microsoft.com/office/drawing/2014/main" id="{BE35D613-C638-AB9A-9762-9D9D1E50E4E3}"/>
              </a:ext>
            </a:extLst>
          </p:cNvPr>
          <p:cNvSpPr/>
          <p:nvPr/>
        </p:nvSpPr>
        <p:spPr>
          <a:xfrm>
            <a:off x="5077396" y="5686958"/>
            <a:ext cx="626536" cy="458351"/>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ADFF1554-7A26-C33D-FC2B-AA5BB88ECDD7}"/>
              </a:ext>
            </a:extLst>
          </p:cNvPr>
          <p:cNvSpPr txBox="1"/>
          <p:nvPr/>
        </p:nvSpPr>
        <p:spPr>
          <a:xfrm>
            <a:off x="5819796" y="5685301"/>
            <a:ext cx="817853" cy="461665"/>
          </a:xfrm>
          <a:prstGeom prst="rect">
            <a:avLst/>
          </a:prstGeom>
          <a:noFill/>
        </p:spPr>
        <p:txBody>
          <a:bodyPr wrap="none" rtlCol="0">
            <a:spAutoFit/>
          </a:bodyPr>
          <a:lstStyle/>
          <a:p>
            <a:r>
              <a:rPr kumimoji="1" lang="en-US" altLang="ja-JP" sz="2400" dirty="0"/>
              <a:t>SSH</a:t>
            </a:r>
            <a:endParaRPr kumimoji="1" lang="ja-JP" altLang="en-US" sz="2400"/>
          </a:p>
        </p:txBody>
      </p:sp>
    </p:spTree>
    <p:extLst>
      <p:ext uri="{BB962C8B-B14F-4D97-AF65-F5344CB8AC3E}">
        <p14:creationId xmlns:p14="http://schemas.microsoft.com/office/powerpoint/2010/main" val="33788002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56485677-F073-F6EB-BF30-94C6174D1A40}"/>
              </a:ext>
            </a:extLst>
          </p:cNvPr>
          <p:cNvSpPr>
            <a:spLocks noGrp="1"/>
          </p:cNvSpPr>
          <p:nvPr>
            <p:ph type="body" sz="quarter" idx="10"/>
          </p:nvPr>
        </p:nvSpPr>
        <p:spPr/>
        <p:txBody>
          <a:bodyPr/>
          <a:lstStyle/>
          <a:p>
            <a:r>
              <a:rPr kumimoji="1" lang="en-US" altLang="ja-JP" dirty="0"/>
              <a:t>SSH</a:t>
            </a:r>
            <a:r>
              <a:rPr kumimoji="1" lang="ja-JP" altLang="en-US"/>
              <a:t>とは</a:t>
            </a:r>
          </a:p>
        </p:txBody>
      </p:sp>
      <p:sp>
        <p:nvSpPr>
          <p:cNvPr id="3" name="テキスト ボックス 2">
            <a:extLst>
              <a:ext uri="{FF2B5EF4-FFF2-40B4-BE49-F238E27FC236}">
                <a16:creationId xmlns:a16="http://schemas.microsoft.com/office/drawing/2014/main" id="{A3D000EF-0AD4-B477-46F3-61D4A583784B}"/>
              </a:ext>
            </a:extLst>
          </p:cNvPr>
          <p:cNvSpPr txBox="1"/>
          <p:nvPr/>
        </p:nvSpPr>
        <p:spPr>
          <a:xfrm>
            <a:off x="323528" y="1052736"/>
            <a:ext cx="2855269" cy="461665"/>
          </a:xfrm>
          <a:prstGeom prst="rect">
            <a:avLst/>
          </a:prstGeom>
          <a:noFill/>
        </p:spPr>
        <p:txBody>
          <a:bodyPr wrap="none" rtlCol="0">
            <a:spAutoFit/>
          </a:bodyPr>
          <a:lstStyle/>
          <a:p>
            <a:r>
              <a:rPr kumimoji="1" lang="en-US" altLang="ja-JP" sz="2400" dirty="0"/>
              <a:t>SSH (Secure Shell)</a:t>
            </a:r>
            <a:endParaRPr kumimoji="1" lang="ja-JP" altLang="en-US" sz="2400"/>
          </a:p>
        </p:txBody>
      </p:sp>
      <p:sp>
        <p:nvSpPr>
          <p:cNvPr id="4" name="テキスト ボックス 3">
            <a:extLst>
              <a:ext uri="{FF2B5EF4-FFF2-40B4-BE49-F238E27FC236}">
                <a16:creationId xmlns:a16="http://schemas.microsoft.com/office/drawing/2014/main" id="{FA63859E-F8D2-19E7-1188-0610E2AABC4C}"/>
              </a:ext>
            </a:extLst>
          </p:cNvPr>
          <p:cNvSpPr txBox="1"/>
          <p:nvPr/>
        </p:nvSpPr>
        <p:spPr>
          <a:xfrm>
            <a:off x="611560" y="1560997"/>
            <a:ext cx="5814412" cy="646331"/>
          </a:xfrm>
          <a:prstGeom prst="rect">
            <a:avLst/>
          </a:prstGeom>
          <a:noFill/>
        </p:spPr>
        <p:txBody>
          <a:bodyPr wrap="none" rtlCol="0">
            <a:spAutoFit/>
          </a:bodyPr>
          <a:lstStyle/>
          <a:p>
            <a:r>
              <a:rPr kumimoji="1" lang="en-US" altLang="ja-JP" dirty="0"/>
              <a:t>telnet</a:t>
            </a:r>
            <a:r>
              <a:rPr kumimoji="1" lang="ja-JP" altLang="en-US"/>
              <a:t>や</a:t>
            </a:r>
            <a:r>
              <a:rPr kumimoji="1" lang="en-US" altLang="ja-JP" dirty="0"/>
              <a:t>rlogin</a:t>
            </a:r>
            <a:r>
              <a:rPr lang="ja-JP" altLang="en-US"/>
              <a:t>、</a:t>
            </a:r>
            <a:r>
              <a:rPr lang="en-US" altLang="ja-JP" dirty="0" err="1"/>
              <a:t>rsh</a:t>
            </a:r>
            <a:r>
              <a:rPr lang="ja-JP" altLang="en-US"/>
              <a:t>、</a:t>
            </a:r>
            <a:r>
              <a:rPr kumimoji="1" lang="en-US" altLang="ja-JP" dirty="0"/>
              <a:t>ftp</a:t>
            </a:r>
            <a:r>
              <a:rPr kumimoji="1" lang="ja-JP" altLang="en-US"/>
              <a:t>などを代替するために生まれた</a:t>
            </a:r>
            <a:endParaRPr kumimoji="1" lang="en-US" altLang="ja-JP" dirty="0"/>
          </a:p>
          <a:p>
            <a:r>
              <a:rPr lang="en-US" altLang="ja-JP" dirty="0"/>
              <a:t>SSH</a:t>
            </a:r>
            <a:r>
              <a:rPr lang="ja-JP" altLang="en-US"/>
              <a:t>は規格であり、その実装の一つが</a:t>
            </a:r>
            <a:r>
              <a:rPr lang="en-US" altLang="ja-JP" dirty="0"/>
              <a:t>OpenSSH</a:t>
            </a:r>
            <a:endParaRPr kumimoji="1" lang="ja-JP" altLang="en-US"/>
          </a:p>
        </p:txBody>
      </p:sp>
      <p:sp>
        <p:nvSpPr>
          <p:cNvPr id="5" name="テキスト ボックス 4">
            <a:extLst>
              <a:ext uri="{FF2B5EF4-FFF2-40B4-BE49-F238E27FC236}">
                <a16:creationId xmlns:a16="http://schemas.microsoft.com/office/drawing/2014/main" id="{8C063D3F-5C5A-0A76-5249-AC4B7FBA31C4}"/>
              </a:ext>
            </a:extLst>
          </p:cNvPr>
          <p:cNvSpPr txBox="1"/>
          <p:nvPr/>
        </p:nvSpPr>
        <p:spPr>
          <a:xfrm>
            <a:off x="1043608" y="2286541"/>
            <a:ext cx="3857146" cy="646331"/>
          </a:xfrm>
          <a:prstGeom prst="rect">
            <a:avLst/>
          </a:prstGeom>
          <a:solidFill>
            <a:schemeClr val="tx1"/>
          </a:solidFill>
        </p:spPr>
        <p:txBody>
          <a:bodyPr wrap="none" rtlCol="0">
            <a:spAutoFit/>
          </a:bodyPr>
          <a:lstStyle/>
          <a:p>
            <a:r>
              <a:rPr kumimoji="1" lang="en-US" altLang="ja-JP" dirty="0">
                <a:solidFill>
                  <a:schemeClr val="bg1"/>
                </a:solidFill>
                <a:latin typeface="Consolas" panose="020B0609020204030204" pitchFamily="49" charset="0"/>
                <a:cs typeface="Consolas" panose="020B0609020204030204" pitchFamily="49" charset="0"/>
              </a:rPr>
              <a:t>$ ssh –V</a:t>
            </a:r>
          </a:p>
          <a:p>
            <a:r>
              <a:rPr lang="en" altLang="ja-JP" dirty="0">
                <a:solidFill>
                  <a:schemeClr val="bg1"/>
                </a:solidFill>
                <a:effectLst/>
                <a:latin typeface="Consolas" panose="020B0609020204030204" pitchFamily="49" charset="0"/>
                <a:cs typeface="Consolas" panose="020B0609020204030204" pitchFamily="49" charset="0"/>
              </a:rPr>
              <a:t>OpenSSH_9.7p1, LibreSSL 3.3.6</a:t>
            </a:r>
          </a:p>
        </p:txBody>
      </p:sp>
      <p:sp>
        <p:nvSpPr>
          <p:cNvPr id="6" name="テキスト ボックス 5">
            <a:extLst>
              <a:ext uri="{FF2B5EF4-FFF2-40B4-BE49-F238E27FC236}">
                <a16:creationId xmlns:a16="http://schemas.microsoft.com/office/drawing/2014/main" id="{D182893B-F295-7A10-1C04-D49DF94EF438}"/>
              </a:ext>
            </a:extLst>
          </p:cNvPr>
          <p:cNvSpPr txBox="1"/>
          <p:nvPr/>
        </p:nvSpPr>
        <p:spPr>
          <a:xfrm>
            <a:off x="323528" y="3105834"/>
            <a:ext cx="1741182" cy="461665"/>
          </a:xfrm>
          <a:prstGeom prst="rect">
            <a:avLst/>
          </a:prstGeom>
          <a:noFill/>
        </p:spPr>
        <p:txBody>
          <a:bodyPr wrap="none" rtlCol="0">
            <a:spAutoFit/>
          </a:bodyPr>
          <a:lstStyle/>
          <a:p>
            <a:r>
              <a:rPr kumimoji="1" lang="en-US" altLang="ja-JP" sz="2400" dirty="0"/>
              <a:t>SSH</a:t>
            </a:r>
            <a:r>
              <a:rPr kumimoji="1" lang="ja-JP" altLang="en-US" sz="2400"/>
              <a:t>の役割</a:t>
            </a:r>
          </a:p>
        </p:txBody>
      </p:sp>
      <p:sp>
        <p:nvSpPr>
          <p:cNvPr id="7" name="テキスト ボックス 6">
            <a:extLst>
              <a:ext uri="{FF2B5EF4-FFF2-40B4-BE49-F238E27FC236}">
                <a16:creationId xmlns:a16="http://schemas.microsoft.com/office/drawing/2014/main" id="{83C02181-6C38-0C82-2E4C-FDE589EC2457}"/>
              </a:ext>
            </a:extLst>
          </p:cNvPr>
          <p:cNvSpPr txBox="1"/>
          <p:nvPr/>
        </p:nvSpPr>
        <p:spPr>
          <a:xfrm>
            <a:off x="613447" y="3571650"/>
            <a:ext cx="8090676" cy="1477328"/>
          </a:xfrm>
          <a:prstGeom prst="rect">
            <a:avLst/>
          </a:prstGeom>
          <a:noFill/>
        </p:spPr>
        <p:txBody>
          <a:bodyPr wrap="none" rtlCol="0">
            <a:spAutoFit/>
          </a:bodyPr>
          <a:lstStyle/>
          <a:p>
            <a:pPr marL="285750" indent="-285750">
              <a:buFont typeface="Arial" panose="020B0604020202020204" pitchFamily="34" charset="0"/>
              <a:buChar char="•"/>
            </a:pPr>
            <a:r>
              <a:rPr kumimoji="1" lang="ja-JP" altLang="en-US"/>
              <a:t>通信路の暗号化</a:t>
            </a:r>
            <a:endParaRPr kumimoji="1" lang="en-US" altLang="ja-JP" dirty="0"/>
          </a:p>
          <a:p>
            <a:pPr marL="742950" lvl="1" indent="-285750">
              <a:buFont typeface="Arial" panose="020B0604020202020204" pitchFamily="34" charset="0"/>
              <a:buChar char="•"/>
            </a:pPr>
            <a:r>
              <a:rPr lang="ja-JP" altLang="en-US"/>
              <a:t>全ての通信を傍受されても、盗聴者が内容を復元できないようにする</a:t>
            </a:r>
            <a:endParaRPr lang="en-US" altLang="ja-JP" dirty="0"/>
          </a:p>
          <a:p>
            <a:pPr marL="285750" indent="-285750">
              <a:buFont typeface="Arial" panose="020B0604020202020204" pitchFamily="34" charset="0"/>
              <a:buChar char="•"/>
            </a:pPr>
            <a:r>
              <a:rPr kumimoji="1" lang="ja-JP" altLang="en-US"/>
              <a:t>認証</a:t>
            </a:r>
            <a:r>
              <a:rPr kumimoji="1" lang="en-US" altLang="ja-JP" dirty="0"/>
              <a:t>(</a:t>
            </a:r>
            <a:r>
              <a:rPr kumimoji="1" lang="ja-JP" altLang="en-US"/>
              <a:t>ホスト認証、ユーザ認証</a:t>
            </a:r>
            <a:r>
              <a:rPr kumimoji="1" lang="en-US" altLang="ja-JP" dirty="0"/>
              <a:t>)</a:t>
            </a:r>
          </a:p>
          <a:p>
            <a:pPr marL="742950" lvl="1" indent="-285750">
              <a:buFont typeface="Arial" panose="020B0604020202020204" pitchFamily="34" charset="0"/>
              <a:buChar char="•"/>
            </a:pPr>
            <a:r>
              <a:rPr kumimoji="1" lang="ja-JP" altLang="en-US"/>
              <a:t>ホスト認証：接続しようとしているホストが正しいことを確認</a:t>
            </a:r>
            <a:endParaRPr kumimoji="1" lang="en-US" altLang="ja-JP" dirty="0"/>
          </a:p>
          <a:p>
            <a:pPr marL="742950" lvl="1" indent="-285750">
              <a:buFont typeface="Arial" panose="020B0604020202020204" pitchFamily="34" charset="0"/>
              <a:buChar char="•"/>
            </a:pPr>
            <a:r>
              <a:rPr lang="ja-JP" altLang="en-US"/>
              <a:t>ユーザ認証：接続しようとしているユーザが正しいことを確認</a:t>
            </a:r>
            <a:endParaRPr kumimoji="1" lang="ja-JP" altLang="en-US"/>
          </a:p>
        </p:txBody>
      </p:sp>
      <p:sp>
        <p:nvSpPr>
          <p:cNvPr id="8" name="テキスト ボックス 7">
            <a:extLst>
              <a:ext uri="{FF2B5EF4-FFF2-40B4-BE49-F238E27FC236}">
                <a16:creationId xmlns:a16="http://schemas.microsoft.com/office/drawing/2014/main" id="{D8C268B2-796A-2C26-3CB6-F03E88747971}"/>
              </a:ext>
            </a:extLst>
          </p:cNvPr>
          <p:cNvSpPr txBox="1"/>
          <p:nvPr/>
        </p:nvSpPr>
        <p:spPr>
          <a:xfrm>
            <a:off x="261603" y="5153435"/>
            <a:ext cx="2339102" cy="461665"/>
          </a:xfrm>
          <a:prstGeom prst="rect">
            <a:avLst/>
          </a:prstGeom>
          <a:noFill/>
        </p:spPr>
        <p:txBody>
          <a:bodyPr wrap="none" rtlCol="0">
            <a:spAutoFit/>
          </a:bodyPr>
          <a:lstStyle/>
          <a:p>
            <a:r>
              <a:rPr kumimoji="1" lang="ja-JP" altLang="en-US" sz="2400"/>
              <a:t>接続時のフロー</a:t>
            </a:r>
          </a:p>
        </p:txBody>
      </p:sp>
      <p:sp>
        <p:nvSpPr>
          <p:cNvPr id="9" name="テキスト ボックス 8">
            <a:extLst>
              <a:ext uri="{FF2B5EF4-FFF2-40B4-BE49-F238E27FC236}">
                <a16:creationId xmlns:a16="http://schemas.microsoft.com/office/drawing/2014/main" id="{A4B32F61-4E08-62A6-EAF0-682CF8E26078}"/>
              </a:ext>
            </a:extLst>
          </p:cNvPr>
          <p:cNvSpPr txBox="1"/>
          <p:nvPr/>
        </p:nvSpPr>
        <p:spPr>
          <a:xfrm>
            <a:off x="467544" y="5995463"/>
            <a:ext cx="2954655" cy="369332"/>
          </a:xfrm>
          <a:prstGeom prst="rect">
            <a:avLst/>
          </a:prstGeom>
          <a:noFill/>
        </p:spPr>
        <p:txBody>
          <a:bodyPr wrap="none" rtlCol="0">
            <a:spAutoFit/>
          </a:bodyPr>
          <a:lstStyle/>
          <a:p>
            <a:r>
              <a:rPr kumimoji="1" lang="ja-JP" altLang="en-US"/>
              <a:t>鍵交換による通信路暗号化</a:t>
            </a:r>
          </a:p>
        </p:txBody>
      </p:sp>
      <p:sp>
        <p:nvSpPr>
          <p:cNvPr id="12" name="テキスト ボックス 11">
            <a:extLst>
              <a:ext uri="{FF2B5EF4-FFF2-40B4-BE49-F238E27FC236}">
                <a16:creationId xmlns:a16="http://schemas.microsoft.com/office/drawing/2014/main" id="{A3CD8613-EAB3-C047-01FB-4496E869F1A2}"/>
              </a:ext>
            </a:extLst>
          </p:cNvPr>
          <p:cNvSpPr txBox="1"/>
          <p:nvPr/>
        </p:nvSpPr>
        <p:spPr>
          <a:xfrm>
            <a:off x="3965104" y="5995463"/>
            <a:ext cx="1440160" cy="369332"/>
          </a:xfrm>
          <a:prstGeom prst="rect">
            <a:avLst/>
          </a:prstGeom>
          <a:noFill/>
        </p:spPr>
        <p:txBody>
          <a:bodyPr wrap="square">
            <a:spAutoFit/>
          </a:bodyPr>
          <a:lstStyle/>
          <a:p>
            <a:r>
              <a:rPr kumimoji="1" lang="ja-JP" altLang="en-US"/>
              <a:t>ホスト認証</a:t>
            </a:r>
          </a:p>
        </p:txBody>
      </p:sp>
      <p:sp>
        <p:nvSpPr>
          <p:cNvPr id="13" name="テキスト ボックス 12">
            <a:extLst>
              <a:ext uri="{FF2B5EF4-FFF2-40B4-BE49-F238E27FC236}">
                <a16:creationId xmlns:a16="http://schemas.microsoft.com/office/drawing/2014/main" id="{FF2D1DB3-E27A-E270-8533-6217E5D772FE}"/>
              </a:ext>
            </a:extLst>
          </p:cNvPr>
          <p:cNvSpPr txBox="1"/>
          <p:nvPr/>
        </p:nvSpPr>
        <p:spPr>
          <a:xfrm>
            <a:off x="5948169" y="5995463"/>
            <a:ext cx="1440160" cy="369332"/>
          </a:xfrm>
          <a:prstGeom prst="rect">
            <a:avLst/>
          </a:prstGeom>
          <a:noFill/>
        </p:spPr>
        <p:txBody>
          <a:bodyPr wrap="square">
            <a:spAutoFit/>
          </a:bodyPr>
          <a:lstStyle/>
          <a:p>
            <a:r>
              <a:rPr kumimoji="1" lang="ja-JP" altLang="en-US"/>
              <a:t>ユーザ認証</a:t>
            </a:r>
          </a:p>
        </p:txBody>
      </p:sp>
      <p:sp>
        <p:nvSpPr>
          <p:cNvPr id="14" name="右矢印 13">
            <a:extLst>
              <a:ext uri="{FF2B5EF4-FFF2-40B4-BE49-F238E27FC236}">
                <a16:creationId xmlns:a16="http://schemas.microsoft.com/office/drawing/2014/main" id="{8075E2D5-D8B7-6410-F2C7-67D54C7811EA}"/>
              </a:ext>
            </a:extLst>
          </p:cNvPr>
          <p:cNvSpPr/>
          <p:nvPr/>
        </p:nvSpPr>
        <p:spPr>
          <a:xfrm>
            <a:off x="3478297" y="5995463"/>
            <a:ext cx="430708" cy="369332"/>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右矢印 14">
            <a:extLst>
              <a:ext uri="{FF2B5EF4-FFF2-40B4-BE49-F238E27FC236}">
                <a16:creationId xmlns:a16="http://schemas.microsoft.com/office/drawing/2014/main" id="{3289B972-31A8-4BE1-0F1B-A81FB39916D2}"/>
              </a:ext>
            </a:extLst>
          </p:cNvPr>
          <p:cNvSpPr/>
          <p:nvPr/>
        </p:nvSpPr>
        <p:spPr>
          <a:xfrm>
            <a:off x="5405264" y="5995463"/>
            <a:ext cx="430708" cy="369332"/>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角丸四角形 15">
            <a:extLst>
              <a:ext uri="{FF2B5EF4-FFF2-40B4-BE49-F238E27FC236}">
                <a16:creationId xmlns:a16="http://schemas.microsoft.com/office/drawing/2014/main" id="{69773213-C485-6C37-137B-D4B99D45E9E7}"/>
              </a:ext>
            </a:extLst>
          </p:cNvPr>
          <p:cNvSpPr/>
          <p:nvPr/>
        </p:nvSpPr>
        <p:spPr>
          <a:xfrm>
            <a:off x="3347864" y="5805264"/>
            <a:ext cx="5328592" cy="749730"/>
          </a:xfrm>
          <a:prstGeom prst="roundRect">
            <a:avLst/>
          </a:prstGeom>
          <a:noFill/>
          <a:ln w="28575">
            <a:solidFill>
              <a:srgbClr val="01189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B72FEA28-2924-D940-73A8-7085D1ED4CA3}"/>
              </a:ext>
            </a:extLst>
          </p:cNvPr>
          <p:cNvSpPr txBox="1"/>
          <p:nvPr/>
        </p:nvSpPr>
        <p:spPr>
          <a:xfrm>
            <a:off x="4867756" y="5437049"/>
            <a:ext cx="1800493" cy="307777"/>
          </a:xfrm>
          <a:prstGeom prst="rect">
            <a:avLst/>
          </a:prstGeom>
          <a:noFill/>
        </p:spPr>
        <p:txBody>
          <a:bodyPr wrap="none" rtlCol="0">
            <a:spAutoFit/>
          </a:bodyPr>
          <a:lstStyle/>
          <a:p>
            <a:r>
              <a:rPr kumimoji="1" lang="ja-JP" altLang="en-US" sz="1400"/>
              <a:t>以後の通信は暗号化</a:t>
            </a:r>
          </a:p>
        </p:txBody>
      </p:sp>
      <p:sp>
        <p:nvSpPr>
          <p:cNvPr id="18" name="右矢印 17">
            <a:extLst>
              <a:ext uri="{FF2B5EF4-FFF2-40B4-BE49-F238E27FC236}">
                <a16:creationId xmlns:a16="http://schemas.microsoft.com/office/drawing/2014/main" id="{51CAEE30-46A7-F6F8-9741-D5A7FF595633}"/>
              </a:ext>
            </a:extLst>
          </p:cNvPr>
          <p:cNvSpPr/>
          <p:nvPr/>
        </p:nvSpPr>
        <p:spPr>
          <a:xfrm>
            <a:off x="7332231" y="5995463"/>
            <a:ext cx="430708" cy="369332"/>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2FF874C3-3152-D0B7-CBD7-9BF2E0ABE711}"/>
              </a:ext>
            </a:extLst>
          </p:cNvPr>
          <p:cNvSpPr txBox="1"/>
          <p:nvPr/>
        </p:nvSpPr>
        <p:spPr>
          <a:xfrm>
            <a:off x="7871230" y="5949280"/>
            <a:ext cx="651463" cy="369332"/>
          </a:xfrm>
          <a:prstGeom prst="rect">
            <a:avLst/>
          </a:prstGeom>
          <a:noFill/>
        </p:spPr>
        <p:txBody>
          <a:bodyPr wrap="square">
            <a:spAutoFit/>
          </a:bodyPr>
          <a:lstStyle/>
          <a:p>
            <a:r>
              <a:rPr kumimoji="1" lang="en-US" altLang="ja-JP" dirty="0"/>
              <a:t>……</a:t>
            </a:r>
            <a:endParaRPr kumimoji="1" lang="ja-JP" altLang="en-US"/>
          </a:p>
        </p:txBody>
      </p:sp>
    </p:spTree>
    <p:extLst>
      <p:ext uri="{BB962C8B-B14F-4D97-AF65-F5344CB8AC3E}">
        <p14:creationId xmlns:p14="http://schemas.microsoft.com/office/powerpoint/2010/main" val="29855087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78A21792-E642-2A39-8151-5FB5F65EB07C}"/>
              </a:ext>
            </a:extLst>
          </p:cNvPr>
          <p:cNvSpPr>
            <a:spLocks noGrp="1"/>
          </p:cNvSpPr>
          <p:nvPr>
            <p:ph type="body" sz="quarter" idx="10"/>
          </p:nvPr>
        </p:nvSpPr>
        <p:spPr/>
        <p:txBody>
          <a:bodyPr/>
          <a:lstStyle/>
          <a:p>
            <a:r>
              <a:rPr kumimoji="1" lang="ja-JP" altLang="en-US"/>
              <a:t>鍵交換</a:t>
            </a:r>
          </a:p>
        </p:txBody>
      </p:sp>
      <p:sp>
        <p:nvSpPr>
          <p:cNvPr id="3" name="テキスト ボックス 2">
            <a:extLst>
              <a:ext uri="{FF2B5EF4-FFF2-40B4-BE49-F238E27FC236}">
                <a16:creationId xmlns:a16="http://schemas.microsoft.com/office/drawing/2014/main" id="{4B4017B5-5AAA-58BC-D562-0C5EDD40E64B}"/>
              </a:ext>
            </a:extLst>
          </p:cNvPr>
          <p:cNvSpPr txBox="1"/>
          <p:nvPr/>
        </p:nvSpPr>
        <p:spPr>
          <a:xfrm>
            <a:off x="395536" y="1052736"/>
            <a:ext cx="6647974" cy="369332"/>
          </a:xfrm>
          <a:prstGeom prst="rect">
            <a:avLst/>
          </a:prstGeom>
          <a:noFill/>
        </p:spPr>
        <p:txBody>
          <a:bodyPr wrap="none" rtlCol="0">
            <a:spAutoFit/>
          </a:bodyPr>
          <a:lstStyle/>
          <a:p>
            <a:r>
              <a:rPr kumimoji="1" lang="ja-JP" altLang="en-US"/>
              <a:t>通信路が全て傍受されている前提で、秘密の情報を共有したい</a:t>
            </a:r>
          </a:p>
        </p:txBody>
      </p:sp>
      <p:pic>
        <p:nvPicPr>
          <p:cNvPr id="4" name="Picture 2" descr="私服で仕事をする人のイラスト（男性）">
            <a:extLst>
              <a:ext uri="{FF2B5EF4-FFF2-40B4-BE49-F238E27FC236}">
                <a16:creationId xmlns:a16="http://schemas.microsoft.com/office/drawing/2014/main" id="{D567E890-04D6-2B00-7485-1FE266DD0CF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840" y="1702244"/>
            <a:ext cx="815202" cy="75406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私服で働く人のイラスト（女性）">
            <a:extLst>
              <a:ext uri="{FF2B5EF4-FFF2-40B4-BE49-F238E27FC236}">
                <a16:creationId xmlns:a16="http://schemas.microsoft.com/office/drawing/2014/main" id="{6CA1B421-24B2-E81B-0829-A597FDC289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1820" y="1702244"/>
            <a:ext cx="754063" cy="754063"/>
          </a:xfrm>
          <a:prstGeom prst="rect">
            <a:avLst/>
          </a:prstGeom>
          <a:noFill/>
          <a:extLst>
            <a:ext uri="{909E8E84-426E-40DD-AFC4-6F175D3DCCD1}">
              <a14:hiddenFill xmlns:a14="http://schemas.microsoft.com/office/drawing/2010/main">
                <a:solidFill>
                  <a:srgbClr val="FFFFFF"/>
                </a:solidFill>
              </a14:hiddenFill>
            </a:ext>
          </a:extLst>
        </p:spPr>
      </p:pic>
      <p:sp>
        <p:nvSpPr>
          <p:cNvPr id="6" name="テキスト ボックス 5">
            <a:extLst>
              <a:ext uri="{FF2B5EF4-FFF2-40B4-BE49-F238E27FC236}">
                <a16:creationId xmlns:a16="http://schemas.microsoft.com/office/drawing/2014/main" id="{C4575CAF-4025-A007-601B-E04F42D5462B}"/>
              </a:ext>
            </a:extLst>
          </p:cNvPr>
          <p:cNvSpPr txBox="1"/>
          <p:nvPr/>
        </p:nvSpPr>
        <p:spPr>
          <a:xfrm>
            <a:off x="626449" y="2436426"/>
            <a:ext cx="684803" cy="369332"/>
          </a:xfrm>
          <a:prstGeom prst="rect">
            <a:avLst/>
          </a:prstGeom>
          <a:noFill/>
        </p:spPr>
        <p:txBody>
          <a:bodyPr wrap="none" rtlCol="0">
            <a:spAutoFit/>
          </a:bodyPr>
          <a:lstStyle/>
          <a:p>
            <a:r>
              <a:rPr kumimoji="1" lang="en-US" altLang="ja-JP" dirty="0"/>
              <a:t>Alice</a:t>
            </a:r>
            <a:endParaRPr kumimoji="1" lang="ja-JP" altLang="en-US"/>
          </a:p>
        </p:txBody>
      </p:sp>
      <p:sp>
        <p:nvSpPr>
          <p:cNvPr id="7" name="テキスト ボックス 6">
            <a:extLst>
              <a:ext uri="{FF2B5EF4-FFF2-40B4-BE49-F238E27FC236}">
                <a16:creationId xmlns:a16="http://schemas.microsoft.com/office/drawing/2014/main" id="{ECE6BDED-966C-B257-196E-F8DAACB572A4}"/>
              </a:ext>
            </a:extLst>
          </p:cNvPr>
          <p:cNvSpPr txBox="1"/>
          <p:nvPr/>
        </p:nvSpPr>
        <p:spPr>
          <a:xfrm>
            <a:off x="3241923" y="2436426"/>
            <a:ext cx="595035" cy="369332"/>
          </a:xfrm>
          <a:prstGeom prst="rect">
            <a:avLst/>
          </a:prstGeom>
          <a:noFill/>
        </p:spPr>
        <p:txBody>
          <a:bodyPr wrap="none" rtlCol="0">
            <a:spAutoFit/>
          </a:bodyPr>
          <a:lstStyle/>
          <a:p>
            <a:r>
              <a:rPr kumimoji="1" lang="en-US" altLang="ja-JP" dirty="0"/>
              <a:t>Bob</a:t>
            </a:r>
            <a:endParaRPr kumimoji="1" lang="ja-JP" altLang="en-US"/>
          </a:p>
        </p:txBody>
      </p:sp>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0070DAF8-4DB0-8C6C-B3EA-E41D47DCE2AA}"/>
                  </a:ext>
                </a:extLst>
              </p:cNvPr>
              <p:cNvSpPr txBox="1"/>
              <p:nvPr/>
            </p:nvSpPr>
            <p:spPr>
              <a:xfrm>
                <a:off x="752508" y="2913490"/>
                <a:ext cx="43268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𝑎</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𝐴</m:t>
                      </m:r>
                    </m:oMath>
                  </m:oMathPara>
                </a14:m>
                <a:endParaRPr kumimoji="1" lang="ja-JP" altLang="en-US"/>
              </a:p>
            </p:txBody>
          </p:sp>
        </mc:Choice>
        <mc:Fallback xmlns="">
          <p:sp>
            <p:nvSpPr>
              <p:cNvPr id="10" name="テキスト ボックス 9">
                <a:extLst>
                  <a:ext uri="{FF2B5EF4-FFF2-40B4-BE49-F238E27FC236}">
                    <a16:creationId xmlns:a16="http://schemas.microsoft.com/office/drawing/2014/main" id="{0070DAF8-4DB0-8C6C-B3EA-E41D47DCE2AA}"/>
                  </a:ext>
                </a:extLst>
              </p:cNvPr>
              <p:cNvSpPr txBox="1">
                <a:spLocks noRot="1" noChangeAspect="1" noMove="1" noResize="1" noEditPoints="1" noAdjustHandles="1" noChangeArrowheads="1" noChangeShapeType="1" noTextEdit="1"/>
              </p:cNvSpPr>
              <p:nvPr/>
            </p:nvSpPr>
            <p:spPr>
              <a:xfrm>
                <a:off x="752508" y="2913490"/>
                <a:ext cx="432683" cy="276999"/>
              </a:xfrm>
              <a:prstGeom prst="rect">
                <a:avLst/>
              </a:prstGeom>
              <a:blipFill>
                <a:blip r:embed="rId4"/>
                <a:stretch>
                  <a:fillRect l="-5714" r="-8571" b="-869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2F816765-D399-7621-BE9D-9CAF075CCF4E}"/>
                  </a:ext>
                </a:extLst>
              </p:cNvPr>
              <p:cNvSpPr txBox="1"/>
              <p:nvPr/>
            </p:nvSpPr>
            <p:spPr>
              <a:xfrm>
                <a:off x="3286840" y="2875657"/>
                <a:ext cx="43928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𝑏</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𝐵</m:t>
                      </m:r>
                    </m:oMath>
                  </m:oMathPara>
                </a14:m>
                <a:endParaRPr kumimoji="1" lang="ja-JP" altLang="en-US"/>
              </a:p>
            </p:txBody>
          </p:sp>
        </mc:Choice>
        <mc:Fallback xmlns="">
          <p:sp>
            <p:nvSpPr>
              <p:cNvPr id="11" name="テキスト ボックス 10">
                <a:extLst>
                  <a:ext uri="{FF2B5EF4-FFF2-40B4-BE49-F238E27FC236}">
                    <a16:creationId xmlns:a16="http://schemas.microsoft.com/office/drawing/2014/main" id="{2F816765-D399-7621-BE9D-9CAF075CCF4E}"/>
                  </a:ext>
                </a:extLst>
              </p:cNvPr>
              <p:cNvSpPr txBox="1">
                <a:spLocks noRot="1" noChangeAspect="1" noMove="1" noResize="1" noEditPoints="1" noAdjustHandles="1" noChangeArrowheads="1" noChangeShapeType="1" noTextEdit="1"/>
              </p:cNvSpPr>
              <p:nvPr/>
            </p:nvSpPr>
            <p:spPr>
              <a:xfrm>
                <a:off x="3286840" y="2875657"/>
                <a:ext cx="439286" cy="276999"/>
              </a:xfrm>
              <a:prstGeom prst="rect">
                <a:avLst/>
              </a:prstGeom>
              <a:blipFill>
                <a:blip r:embed="rId5"/>
                <a:stretch>
                  <a:fillRect l="-11111" r="-8333" b="-1304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2" name="テキスト ボックス 11">
                <a:extLst>
                  <a:ext uri="{FF2B5EF4-FFF2-40B4-BE49-F238E27FC236}">
                    <a16:creationId xmlns:a16="http://schemas.microsoft.com/office/drawing/2014/main" id="{D91BB337-9732-27E6-9730-1D5D5AAE63DF}"/>
                  </a:ext>
                </a:extLst>
              </p:cNvPr>
              <p:cNvSpPr txBox="1"/>
              <p:nvPr/>
            </p:nvSpPr>
            <p:spPr>
              <a:xfrm>
                <a:off x="4139952" y="2798534"/>
                <a:ext cx="4660187" cy="369332"/>
              </a:xfrm>
              <a:prstGeom prst="rect">
                <a:avLst/>
              </a:prstGeom>
              <a:noFill/>
            </p:spPr>
            <p:txBody>
              <a:bodyPr wrap="none" rtlCol="0">
                <a:spAutoFit/>
              </a:bodyPr>
              <a:lstStyle/>
              <a:p>
                <a:r>
                  <a:rPr kumimoji="1" lang="en-US" altLang="ja-JP" dirty="0"/>
                  <a:t>Alice</a:t>
                </a:r>
                <a:r>
                  <a:rPr kumimoji="1" lang="ja-JP" altLang="en-US"/>
                  <a:t>と</a:t>
                </a:r>
                <a:r>
                  <a:rPr kumimoji="1" lang="en-US" altLang="ja-JP" dirty="0"/>
                  <a:t>Bob</a:t>
                </a:r>
                <a:r>
                  <a:rPr kumimoji="1" lang="ja-JP" altLang="en-US"/>
                  <a:t>が鍵のペア</a:t>
                </a:r>
                <a14:m>
                  <m:oMath xmlns:m="http://schemas.openxmlformats.org/officeDocument/2006/math">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𝑎</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𝐴</m:t>
                    </m:r>
                    <m:r>
                      <a:rPr kumimoji="1" lang="en-US" altLang="ja-JP" b="0" i="1" smtClean="0">
                        <a:latin typeface="Cambria Math" panose="02040503050406030204" pitchFamily="18" charset="0"/>
                      </a:rPr>
                      <m:t>)</m:t>
                    </m:r>
                  </m:oMath>
                </a14:m>
                <a:r>
                  <a:rPr kumimoji="1" lang="ja-JP" altLang="en-US"/>
                  <a:t>と</a:t>
                </a:r>
                <a14:m>
                  <m:oMath xmlns:m="http://schemas.openxmlformats.org/officeDocument/2006/math">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𝑏</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𝐵</m:t>
                    </m:r>
                    <m:r>
                      <a:rPr kumimoji="1" lang="en-US" altLang="ja-JP" b="0" i="1" smtClean="0">
                        <a:latin typeface="Cambria Math" panose="02040503050406030204" pitchFamily="18" charset="0"/>
                      </a:rPr>
                      <m:t>)</m:t>
                    </m:r>
                  </m:oMath>
                </a14:m>
                <a:r>
                  <a:rPr kumimoji="1" lang="ja-JP" altLang="en-US"/>
                  <a:t>を生成</a:t>
                </a:r>
              </a:p>
            </p:txBody>
          </p:sp>
        </mc:Choice>
        <mc:Fallback xmlns="">
          <p:sp>
            <p:nvSpPr>
              <p:cNvPr id="12" name="テキスト ボックス 11">
                <a:extLst>
                  <a:ext uri="{FF2B5EF4-FFF2-40B4-BE49-F238E27FC236}">
                    <a16:creationId xmlns:a16="http://schemas.microsoft.com/office/drawing/2014/main" id="{D91BB337-9732-27E6-9730-1D5D5AAE63DF}"/>
                  </a:ext>
                </a:extLst>
              </p:cNvPr>
              <p:cNvSpPr txBox="1">
                <a:spLocks noRot="1" noChangeAspect="1" noMove="1" noResize="1" noEditPoints="1" noAdjustHandles="1" noChangeArrowheads="1" noChangeShapeType="1" noTextEdit="1"/>
              </p:cNvSpPr>
              <p:nvPr/>
            </p:nvSpPr>
            <p:spPr>
              <a:xfrm>
                <a:off x="4139952" y="2798534"/>
                <a:ext cx="4660187" cy="369332"/>
              </a:xfrm>
              <a:prstGeom prst="rect">
                <a:avLst/>
              </a:prstGeom>
              <a:blipFill>
                <a:blip r:embed="rId6"/>
                <a:stretch>
                  <a:fillRect l="-813" t="-10000" b="-2666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8C508638-8F54-EEDD-5EC9-FA43360D1255}"/>
                  </a:ext>
                </a:extLst>
              </p:cNvPr>
              <p:cNvSpPr txBox="1"/>
              <p:nvPr/>
            </p:nvSpPr>
            <p:spPr>
              <a:xfrm>
                <a:off x="857958" y="3434516"/>
                <a:ext cx="21223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𝐴</m:t>
                      </m:r>
                    </m:oMath>
                  </m:oMathPara>
                </a14:m>
                <a:endParaRPr kumimoji="1" lang="ja-JP" altLang="en-US"/>
              </a:p>
            </p:txBody>
          </p:sp>
        </mc:Choice>
        <mc:Fallback xmlns="">
          <p:sp>
            <p:nvSpPr>
              <p:cNvPr id="13" name="テキスト ボックス 12">
                <a:extLst>
                  <a:ext uri="{FF2B5EF4-FFF2-40B4-BE49-F238E27FC236}">
                    <a16:creationId xmlns:a16="http://schemas.microsoft.com/office/drawing/2014/main" id="{8C508638-8F54-EEDD-5EC9-FA43360D1255}"/>
                  </a:ext>
                </a:extLst>
              </p:cNvPr>
              <p:cNvSpPr txBox="1">
                <a:spLocks noRot="1" noChangeAspect="1" noMove="1" noResize="1" noEditPoints="1" noAdjustHandles="1" noChangeArrowheads="1" noChangeShapeType="1" noTextEdit="1"/>
              </p:cNvSpPr>
              <p:nvPr/>
            </p:nvSpPr>
            <p:spPr>
              <a:xfrm>
                <a:off x="857958" y="3434516"/>
                <a:ext cx="212238" cy="276999"/>
              </a:xfrm>
              <a:prstGeom prst="rect">
                <a:avLst/>
              </a:prstGeom>
              <a:blipFill>
                <a:blip r:embed="rId7"/>
                <a:stretch>
                  <a:fillRect l="-22222" r="-16667" b="-869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B260ADE3-2128-FC79-0A22-483EC78DD79A}"/>
                  </a:ext>
                </a:extLst>
              </p:cNvPr>
              <p:cNvSpPr txBox="1"/>
              <p:nvPr/>
            </p:nvSpPr>
            <p:spPr>
              <a:xfrm>
                <a:off x="3413271" y="3368025"/>
                <a:ext cx="22262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𝐵</m:t>
                      </m:r>
                    </m:oMath>
                  </m:oMathPara>
                </a14:m>
                <a:endParaRPr kumimoji="1" lang="ja-JP" altLang="en-US"/>
              </a:p>
            </p:txBody>
          </p:sp>
        </mc:Choice>
        <mc:Fallback xmlns="">
          <p:sp>
            <p:nvSpPr>
              <p:cNvPr id="14" name="テキスト ボックス 13">
                <a:extLst>
                  <a:ext uri="{FF2B5EF4-FFF2-40B4-BE49-F238E27FC236}">
                    <a16:creationId xmlns:a16="http://schemas.microsoft.com/office/drawing/2014/main" id="{B260ADE3-2128-FC79-0A22-483EC78DD79A}"/>
                  </a:ext>
                </a:extLst>
              </p:cNvPr>
              <p:cNvSpPr txBox="1">
                <a:spLocks noRot="1" noChangeAspect="1" noMove="1" noResize="1" noEditPoints="1" noAdjustHandles="1" noChangeArrowheads="1" noChangeShapeType="1" noTextEdit="1"/>
              </p:cNvSpPr>
              <p:nvPr/>
            </p:nvSpPr>
            <p:spPr>
              <a:xfrm>
                <a:off x="3413271" y="3368025"/>
                <a:ext cx="222625" cy="276999"/>
              </a:xfrm>
              <a:prstGeom prst="rect">
                <a:avLst/>
              </a:prstGeom>
              <a:blipFill>
                <a:blip r:embed="rId8"/>
                <a:stretch>
                  <a:fillRect l="-21053" r="-15789" b="-833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5" name="テキスト ボックス 14">
                <a:extLst>
                  <a:ext uri="{FF2B5EF4-FFF2-40B4-BE49-F238E27FC236}">
                    <a16:creationId xmlns:a16="http://schemas.microsoft.com/office/drawing/2014/main" id="{9B64FB8E-8354-1BE5-BDFD-DD2D76923962}"/>
                  </a:ext>
                </a:extLst>
              </p:cNvPr>
              <p:cNvSpPr txBox="1"/>
              <p:nvPr/>
            </p:nvSpPr>
            <p:spPr>
              <a:xfrm>
                <a:off x="857958" y="3872081"/>
                <a:ext cx="22262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𝐵</m:t>
                      </m:r>
                    </m:oMath>
                  </m:oMathPara>
                </a14:m>
                <a:endParaRPr kumimoji="1" lang="ja-JP" altLang="en-US"/>
              </a:p>
            </p:txBody>
          </p:sp>
        </mc:Choice>
        <mc:Fallback xmlns="">
          <p:sp>
            <p:nvSpPr>
              <p:cNvPr id="15" name="テキスト ボックス 14">
                <a:extLst>
                  <a:ext uri="{FF2B5EF4-FFF2-40B4-BE49-F238E27FC236}">
                    <a16:creationId xmlns:a16="http://schemas.microsoft.com/office/drawing/2014/main" id="{9B64FB8E-8354-1BE5-BDFD-DD2D76923962}"/>
                  </a:ext>
                </a:extLst>
              </p:cNvPr>
              <p:cNvSpPr txBox="1">
                <a:spLocks noRot="1" noChangeAspect="1" noMove="1" noResize="1" noEditPoints="1" noAdjustHandles="1" noChangeArrowheads="1" noChangeShapeType="1" noTextEdit="1"/>
              </p:cNvSpPr>
              <p:nvPr/>
            </p:nvSpPr>
            <p:spPr>
              <a:xfrm>
                <a:off x="857958" y="3872081"/>
                <a:ext cx="222625" cy="276999"/>
              </a:xfrm>
              <a:prstGeom prst="rect">
                <a:avLst/>
              </a:prstGeom>
              <a:blipFill>
                <a:blip r:embed="rId9"/>
                <a:stretch>
                  <a:fillRect l="-22222" r="-22222" b="-1304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6C10DA0C-83C1-6B2D-46B5-FE6DCABED6FE}"/>
                  </a:ext>
                </a:extLst>
              </p:cNvPr>
              <p:cNvSpPr txBox="1"/>
              <p:nvPr/>
            </p:nvSpPr>
            <p:spPr>
              <a:xfrm>
                <a:off x="3413271" y="3805590"/>
                <a:ext cx="21223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𝐴</m:t>
                      </m:r>
                    </m:oMath>
                  </m:oMathPara>
                </a14:m>
                <a:endParaRPr kumimoji="1" lang="ja-JP" altLang="en-US"/>
              </a:p>
            </p:txBody>
          </p:sp>
        </mc:Choice>
        <mc:Fallback xmlns="">
          <p:sp>
            <p:nvSpPr>
              <p:cNvPr id="16" name="テキスト ボックス 15">
                <a:extLst>
                  <a:ext uri="{FF2B5EF4-FFF2-40B4-BE49-F238E27FC236}">
                    <a16:creationId xmlns:a16="http://schemas.microsoft.com/office/drawing/2014/main" id="{6C10DA0C-83C1-6B2D-46B5-FE6DCABED6FE}"/>
                  </a:ext>
                </a:extLst>
              </p:cNvPr>
              <p:cNvSpPr txBox="1">
                <a:spLocks noRot="1" noChangeAspect="1" noMove="1" noResize="1" noEditPoints="1" noAdjustHandles="1" noChangeArrowheads="1" noChangeShapeType="1" noTextEdit="1"/>
              </p:cNvSpPr>
              <p:nvPr/>
            </p:nvSpPr>
            <p:spPr>
              <a:xfrm>
                <a:off x="3413271" y="3805590"/>
                <a:ext cx="212238" cy="276999"/>
              </a:xfrm>
              <a:prstGeom prst="rect">
                <a:avLst/>
              </a:prstGeom>
              <a:blipFill>
                <a:blip r:embed="rId10"/>
                <a:stretch>
                  <a:fillRect l="-22222" r="-16667" b="-8696"/>
                </a:stretch>
              </a:blipFill>
            </p:spPr>
            <p:txBody>
              <a:bodyPr/>
              <a:lstStyle/>
              <a:p>
                <a:r>
                  <a:rPr lang="ja-JP" altLang="en-US">
                    <a:noFill/>
                  </a:rPr>
                  <a:t> </a:t>
                </a:r>
              </a:p>
            </p:txBody>
          </p:sp>
        </mc:Fallback>
      </mc:AlternateContent>
      <p:cxnSp>
        <p:nvCxnSpPr>
          <p:cNvPr id="18" name="直線矢印コネクタ 17">
            <a:extLst>
              <a:ext uri="{FF2B5EF4-FFF2-40B4-BE49-F238E27FC236}">
                <a16:creationId xmlns:a16="http://schemas.microsoft.com/office/drawing/2014/main" id="{7E278FDC-DCA9-E063-DE5E-D2580F6EEDFB}"/>
              </a:ext>
            </a:extLst>
          </p:cNvPr>
          <p:cNvCxnSpPr>
            <a:stCxn id="13" idx="3"/>
            <a:endCxn id="16" idx="1"/>
          </p:cNvCxnSpPr>
          <p:nvPr/>
        </p:nvCxnSpPr>
        <p:spPr>
          <a:xfrm>
            <a:off x="1070196" y="3573016"/>
            <a:ext cx="2343075" cy="371074"/>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0" name="直線矢印コネクタ 19">
            <a:extLst>
              <a:ext uri="{FF2B5EF4-FFF2-40B4-BE49-F238E27FC236}">
                <a16:creationId xmlns:a16="http://schemas.microsoft.com/office/drawing/2014/main" id="{08FF7B28-2A89-EACB-C397-63BDBCB78516}"/>
              </a:ext>
            </a:extLst>
          </p:cNvPr>
          <p:cNvCxnSpPr>
            <a:stCxn id="14" idx="1"/>
            <a:endCxn id="15" idx="3"/>
          </p:cNvCxnSpPr>
          <p:nvPr/>
        </p:nvCxnSpPr>
        <p:spPr>
          <a:xfrm flipH="1">
            <a:off x="1080583" y="3506525"/>
            <a:ext cx="2332688" cy="504056"/>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テキスト ボックス 20">
                <a:extLst>
                  <a:ext uri="{FF2B5EF4-FFF2-40B4-BE49-F238E27FC236}">
                    <a16:creationId xmlns:a16="http://schemas.microsoft.com/office/drawing/2014/main" id="{C1B813FF-0B57-AA14-95C5-F9354D95E1CD}"/>
                  </a:ext>
                </a:extLst>
              </p:cNvPr>
              <p:cNvSpPr txBox="1"/>
              <p:nvPr/>
            </p:nvSpPr>
            <p:spPr>
              <a:xfrm>
                <a:off x="4148206" y="3506524"/>
                <a:ext cx="3963393" cy="369332"/>
              </a:xfrm>
              <a:prstGeom prst="rect">
                <a:avLst/>
              </a:prstGeom>
              <a:noFill/>
            </p:spPr>
            <p:txBody>
              <a:bodyPr wrap="none" rtlCol="0">
                <a:spAutoFit/>
              </a:bodyPr>
              <a:lstStyle/>
              <a:p>
                <a:r>
                  <a:rPr kumimoji="1" lang="ja-JP" altLang="en-US"/>
                  <a:t>公開鍵</a:t>
                </a:r>
                <a14:m>
                  <m:oMath xmlns:m="http://schemas.openxmlformats.org/officeDocument/2006/math">
                    <m:r>
                      <a:rPr kumimoji="1" lang="en-US" altLang="ja-JP" b="0" i="1" smtClean="0">
                        <a:latin typeface="Cambria Math" panose="02040503050406030204" pitchFamily="18" charset="0"/>
                      </a:rPr>
                      <m:t>𝐴</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𝐵</m:t>
                    </m:r>
                  </m:oMath>
                </a14:m>
                <a:r>
                  <a:rPr kumimoji="1" lang="ja-JP" altLang="en-US"/>
                  <a:t>を互いに伝える</a:t>
                </a:r>
                <a:r>
                  <a:rPr kumimoji="1" lang="en-US" altLang="ja-JP" dirty="0"/>
                  <a:t>(</a:t>
                </a:r>
                <a:r>
                  <a:rPr kumimoji="1" lang="ja-JP" altLang="en-US"/>
                  <a:t>傍受可能</a:t>
                </a:r>
                <a:r>
                  <a:rPr kumimoji="1" lang="en-US" altLang="ja-JP" dirty="0"/>
                  <a:t>)</a:t>
                </a:r>
                <a:endParaRPr kumimoji="1" lang="ja-JP" altLang="en-US"/>
              </a:p>
            </p:txBody>
          </p:sp>
        </mc:Choice>
        <mc:Fallback xmlns="">
          <p:sp>
            <p:nvSpPr>
              <p:cNvPr id="21" name="テキスト ボックス 20">
                <a:extLst>
                  <a:ext uri="{FF2B5EF4-FFF2-40B4-BE49-F238E27FC236}">
                    <a16:creationId xmlns:a16="http://schemas.microsoft.com/office/drawing/2014/main" id="{C1B813FF-0B57-AA14-95C5-F9354D95E1CD}"/>
                  </a:ext>
                </a:extLst>
              </p:cNvPr>
              <p:cNvSpPr txBox="1">
                <a:spLocks noRot="1" noChangeAspect="1" noMove="1" noResize="1" noEditPoints="1" noAdjustHandles="1" noChangeArrowheads="1" noChangeShapeType="1" noTextEdit="1"/>
              </p:cNvSpPr>
              <p:nvPr/>
            </p:nvSpPr>
            <p:spPr>
              <a:xfrm>
                <a:off x="4148206" y="3506524"/>
                <a:ext cx="3963393" cy="369332"/>
              </a:xfrm>
              <a:prstGeom prst="rect">
                <a:avLst/>
              </a:prstGeom>
              <a:blipFill>
                <a:blip r:embed="rId11"/>
                <a:stretch>
                  <a:fillRect l="-1278" t="-10000" r="-319" b="-2333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2" name="テキスト ボックス 21">
                <a:extLst>
                  <a:ext uri="{FF2B5EF4-FFF2-40B4-BE49-F238E27FC236}">
                    <a16:creationId xmlns:a16="http://schemas.microsoft.com/office/drawing/2014/main" id="{53BC29ED-78C5-5788-0A98-1C57E0C2FAFF}"/>
                  </a:ext>
                </a:extLst>
              </p:cNvPr>
              <p:cNvSpPr txBox="1"/>
              <p:nvPr/>
            </p:nvSpPr>
            <p:spPr>
              <a:xfrm>
                <a:off x="651512" y="4597484"/>
                <a:ext cx="76277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𝑠</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𝑎𝐵</m:t>
                      </m:r>
                    </m:oMath>
                  </m:oMathPara>
                </a14:m>
                <a:endParaRPr kumimoji="1" lang="ja-JP" altLang="en-US"/>
              </a:p>
            </p:txBody>
          </p:sp>
        </mc:Choice>
        <mc:Fallback xmlns="">
          <p:sp>
            <p:nvSpPr>
              <p:cNvPr id="22" name="テキスト ボックス 21">
                <a:extLst>
                  <a:ext uri="{FF2B5EF4-FFF2-40B4-BE49-F238E27FC236}">
                    <a16:creationId xmlns:a16="http://schemas.microsoft.com/office/drawing/2014/main" id="{53BC29ED-78C5-5788-0A98-1C57E0C2FAFF}"/>
                  </a:ext>
                </a:extLst>
              </p:cNvPr>
              <p:cNvSpPr txBox="1">
                <a:spLocks noRot="1" noChangeAspect="1" noMove="1" noResize="1" noEditPoints="1" noAdjustHandles="1" noChangeArrowheads="1" noChangeShapeType="1" noTextEdit="1"/>
              </p:cNvSpPr>
              <p:nvPr/>
            </p:nvSpPr>
            <p:spPr>
              <a:xfrm>
                <a:off x="651512" y="4597484"/>
                <a:ext cx="762773" cy="276999"/>
              </a:xfrm>
              <a:prstGeom prst="rect">
                <a:avLst/>
              </a:prstGeom>
              <a:blipFill>
                <a:blip r:embed="rId12"/>
                <a:stretch>
                  <a:fillRect l="-3279" r="-4918" b="-1304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3" name="テキスト ボックス 22">
                <a:extLst>
                  <a:ext uri="{FF2B5EF4-FFF2-40B4-BE49-F238E27FC236}">
                    <a16:creationId xmlns:a16="http://schemas.microsoft.com/office/drawing/2014/main" id="{2CD4A7FB-F872-2FD2-D968-E17FC2C21458}"/>
                  </a:ext>
                </a:extLst>
              </p:cNvPr>
              <p:cNvSpPr txBox="1"/>
              <p:nvPr/>
            </p:nvSpPr>
            <p:spPr>
              <a:xfrm>
                <a:off x="3111987" y="4597483"/>
                <a:ext cx="75360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𝑠</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𝐴𝑏</m:t>
                      </m:r>
                    </m:oMath>
                  </m:oMathPara>
                </a14:m>
                <a:endParaRPr kumimoji="1" lang="ja-JP" altLang="en-US"/>
              </a:p>
            </p:txBody>
          </p:sp>
        </mc:Choice>
        <mc:Fallback xmlns="">
          <p:sp>
            <p:nvSpPr>
              <p:cNvPr id="23" name="テキスト ボックス 22">
                <a:extLst>
                  <a:ext uri="{FF2B5EF4-FFF2-40B4-BE49-F238E27FC236}">
                    <a16:creationId xmlns:a16="http://schemas.microsoft.com/office/drawing/2014/main" id="{2CD4A7FB-F872-2FD2-D968-E17FC2C21458}"/>
                  </a:ext>
                </a:extLst>
              </p:cNvPr>
              <p:cNvSpPr txBox="1">
                <a:spLocks noRot="1" noChangeAspect="1" noMove="1" noResize="1" noEditPoints="1" noAdjustHandles="1" noChangeArrowheads="1" noChangeShapeType="1" noTextEdit="1"/>
              </p:cNvSpPr>
              <p:nvPr/>
            </p:nvSpPr>
            <p:spPr>
              <a:xfrm>
                <a:off x="3111987" y="4597483"/>
                <a:ext cx="753604" cy="276999"/>
              </a:xfrm>
              <a:prstGeom prst="rect">
                <a:avLst/>
              </a:prstGeom>
              <a:blipFill>
                <a:blip r:embed="rId13"/>
                <a:stretch>
                  <a:fillRect l="-3279" r="-4918" b="-1304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4" name="テキスト ボックス 23">
                <a:extLst>
                  <a:ext uri="{FF2B5EF4-FFF2-40B4-BE49-F238E27FC236}">
                    <a16:creationId xmlns:a16="http://schemas.microsoft.com/office/drawing/2014/main" id="{440CC643-2473-C7BC-342B-785710D7A257}"/>
                  </a:ext>
                </a:extLst>
              </p:cNvPr>
              <p:cNvSpPr txBox="1"/>
              <p:nvPr/>
            </p:nvSpPr>
            <p:spPr>
              <a:xfrm>
                <a:off x="4139952" y="4544332"/>
                <a:ext cx="4923143" cy="369332"/>
              </a:xfrm>
              <a:prstGeom prst="rect">
                <a:avLst/>
              </a:prstGeom>
              <a:noFill/>
            </p:spPr>
            <p:txBody>
              <a:bodyPr wrap="none" rtlCol="0">
                <a:spAutoFit/>
              </a:bodyPr>
              <a:lstStyle/>
              <a:p>
                <a14:m>
                  <m:oMath xmlns:m="http://schemas.openxmlformats.org/officeDocument/2006/math">
                    <m:r>
                      <a:rPr kumimoji="1" lang="en-US" altLang="ja-JP" b="0" i="1" smtClean="0">
                        <a:latin typeface="Cambria Math" panose="02040503050406030204" pitchFamily="18" charset="0"/>
                      </a:rPr>
                      <m:t>𝑠</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𝑎𝐵</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𝐴𝑏</m:t>
                    </m:r>
                  </m:oMath>
                </a14:m>
                <a:r>
                  <a:rPr kumimoji="1" lang="ja-JP" altLang="en-US"/>
                  <a:t>を計算し、共通の秘密情報とする</a:t>
                </a:r>
              </a:p>
            </p:txBody>
          </p:sp>
        </mc:Choice>
        <mc:Fallback xmlns="">
          <p:sp>
            <p:nvSpPr>
              <p:cNvPr id="24" name="テキスト ボックス 23">
                <a:extLst>
                  <a:ext uri="{FF2B5EF4-FFF2-40B4-BE49-F238E27FC236}">
                    <a16:creationId xmlns:a16="http://schemas.microsoft.com/office/drawing/2014/main" id="{440CC643-2473-C7BC-342B-785710D7A257}"/>
                  </a:ext>
                </a:extLst>
              </p:cNvPr>
              <p:cNvSpPr txBox="1">
                <a:spLocks noRot="1" noChangeAspect="1" noMove="1" noResize="1" noEditPoints="1" noAdjustHandles="1" noChangeArrowheads="1" noChangeShapeType="1" noTextEdit="1"/>
              </p:cNvSpPr>
              <p:nvPr/>
            </p:nvSpPr>
            <p:spPr>
              <a:xfrm>
                <a:off x="4139952" y="4544332"/>
                <a:ext cx="4923143" cy="369332"/>
              </a:xfrm>
              <a:prstGeom prst="rect">
                <a:avLst/>
              </a:prstGeom>
              <a:blipFill>
                <a:blip r:embed="rId14"/>
                <a:stretch>
                  <a:fillRect t="-10000" b="-23333"/>
                </a:stretch>
              </a:blipFill>
            </p:spPr>
            <p:txBody>
              <a:bodyPr/>
              <a:lstStyle/>
              <a:p>
                <a:r>
                  <a:rPr lang="ja-JP" altLang="en-US">
                    <a:noFill/>
                  </a:rPr>
                  <a:t> </a:t>
                </a:r>
              </a:p>
            </p:txBody>
          </p:sp>
        </mc:Fallback>
      </mc:AlternateContent>
      <p:pic>
        <p:nvPicPr>
          <p:cNvPr id="25" name="Picture 2" descr="悪人のイラスト「黒いシルエット」">
            <a:extLst>
              <a:ext uri="{FF2B5EF4-FFF2-40B4-BE49-F238E27FC236}">
                <a16:creationId xmlns:a16="http://schemas.microsoft.com/office/drawing/2014/main" id="{3530CEBC-6412-A96E-94EC-B628D52BE2D1}"/>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flipH="1">
            <a:off x="994929" y="5090041"/>
            <a:ext cx="595034" cy="706272"/>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7" name="テキスト ボックス 26">
                <a:extLst>
                  <a:ext uri="{FF2B5EF4-FFF2-40B4-BE49-F238E27FC236}">
                    <a16:creationId xmlns:a16="http://schemas.microsoft.com/office/drawing/2014/main" id="{3B8AA980-9DE4-F924-8141-9A78445566B4}"/>
                  </a:ext>
                </a:extLst>
              </p:cNvPr>
              <p:cNvSpPr txBox="1"/>
              <p:nvPr/>
            </p:nvSpPr>
            <p:spPr>
              <a:xfrm>
                <a:off x="1759262" y="5304677"/>
                <a:ext cx="45730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𝐴</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𝐵</m:t>
                      </m:r>
                    </m:oMath>
                  </m:oMathPara>
                </a14:m>
                <a:endParaRPr kumimoji="1" lang="ja-JP" altLang="en-US"/>
              </a:p>
            </p:txBody>
          </p:sp>
        </mc:Choice>
        <mc:Fallback xmlns="">
          <p:sp>
            <p:nvSpPr>
              <p:cNvPr id="27" name="テキスト ボックス 26">
                <a:extLst>
                  <a:ext uri="{FF2B5EF4-FFF2-40B4-BE49-F238E27FC236}">
                    <a16:creationId xmlns:a16="http://schemas.microsoft.com/office/drawing/2014/main" id="{3B8AA980-9DE4-F924-8141-9A78445566B4}"/>
                  </a:ext>
                </a:extLst>
              </p:cNvPr>
              <p:cNvSpPr txBox="1">
                <a:spLocks noRot="1" noChangeAspect="1" noMove="1" noResize="1" noEditPoints="1" noAdjustHandles="1" noChangeArrowheads="1" noChangeShapeType="1" noTextEdit="1"/>
              </p:cNvSpPr>
              <p:nvPr/>
            </p:nvSpPr>
            <p:spPr>
              <a:xfrm>
                <a:off x="1759262" y="5304677"/>
                <a:ext cx="457305" cy="276999"/>
              </a:xfrm>
              <a:prstGeom prst="rect">
                <a:avLst/>
              </a:prstGeom>
              <a:blipFill>
                <a:blip r:embed="rId16"/>
                <a:stretch>
                  <a:fillRect l="-10811" r="-8108" b="-1304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8" name="テキスト ボックス 27">
                <a:extLst>
                  <a:ext uri="{FF2B5EF4-FFF2-40B4-BE49-F238E27FC236}">
                    <a16:creationId xmlns:a16="http://schemas.microsoft.com/office/drawing/2014/main" id="{0992193F-C9BC-2189-627A-4BA518A4A051}"/>
                  </a:ext>
                </a:extLst>
              </p:cNvPr>
              <p:cNvSpPr txBox="1"/>
              <p:nvPr/>
            </p:nvSpPr>
            <p:spPr>
              <a:xfrm>
                <a:off x="2594064" y="5309022"/>
                <a:ext cx="389334"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𝑠</m:t>
                      </m:r>
                    </m:oMath>
                  </m:oMathPara>
                </a14:m>
                <a:endParaRPr kumimoji="1" lang="ja-JP" altLang="en-US"/>
              </a:p>
            </p:txBody>
          </p:sp>
        </mc:Choice>
        <mc:Fallback xmlns="">
          <p:sp>
            <p:nvSpPr>
              <p:cNvPr id="28" name="テキスト ボックス 27">
                <a:extLst>
                  <a:ext uri="{FF2B5EF4-FFF2-40B4-BE49-F238E27FC236}">
                    <a16:creationId xmlns:a16="http://schemas.microsoft.com/office/drawing/2014/main" id="{0992193F-C9BC-2189-627A-4BA518A4A051}"/>
                  </a:ext>
                </a:extLst>
              </p:cNvPr>
              <p:cNvSpPr txBox="1">
                <a:spLocks noRot="1" noChangeAspect="1" noMove="1" noResize="1" noEditPoints="1" noAdjustHandles="1" noChangeArrowheads="1" noChangeShapeType="1" noTextEdit="1"/>
              </p:cNvSpPr>
              <p:nvPr/>
            </p:nvSpPr>
            <p:spPr>
              <a:xfrm>
                <a:off x="2594064" y="5309022"/>
                <a:ext cx="389334" cy="276999"/>
              </a:xfrm>
              <a:prstGeom prst="rect">
                <a:avLst/>
              </a:prstGeom>
              <a:blipFill>
                <a:blip r:embed="rId17"/>
                <a:stretch>
                  <a:fillRect b="-4545"/>
                </a:stretch>
              </a:blipFill>
            </p:spPr>
            <p:txBody>
              <a:bodyPr/>
              <a:lstStyle/>
              <a:p>
                <a:r>
                  <a:rPr lang="ja-JP" altLang="en-US">
                    <a:noFill/>
                  </a:rPr>
                  <a:t> </a:t>
                </a:r>
              </a:p>
            </p:txBody>
          </p:sp>
        </mc:Fallback>
      </mc:AlternateContent>
      <p:cxnSp>
        <p:nvCxnSpPr>
          <p:cNvPr id="30" name="直線矢印コネクタ 29">
            <a:extLst>
              <a:ext uri="{FF2B5EF4-FFF2-40B4-BE49-F238E27FC236}">
                <a16:creationId xmlns:a16="http://schemas.microsoft.com/office/drawing/2014/main" id="{D1E0EF53-8B21-20C6-6271-4F99CAA6C06A}"/>
              </a:ext>
            </a:extLst>
          </p:cNvPr>
          <p:cNvCxnSpPr>
            <a:cxnSpLocks/>
            <a:stCxn id="27" idx="3"/>
            <a:endCxn id="28" idx="1"/>
          </p:cNvCxnSpPr>
          <p:nvPr/>
        </p:nvCxnSpPr>
        <p:spPr>
          <a:xfrm>
            <a:off x="2216567" y="5443177"/>
            <a:ext cx="377497" cy="4345"/>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2" name="十字形 31">
            <a:extLst>
              <a:ext uri="{FF2B5EF4-FFF2-40B4-BE49-F238E27FC236}">
                <a16:creationId xmlns:a16="http://schemas.microsoft.com/office/drawing/2014/main" id="{E6B38B25-A899-54C8-15BE-1AA96B566D4C}"/>
              </a:ext>
            </a:extLst>
          </p:cNvPr>
          <p:cNvSpPr/>
          <p:nvPr/>
        </p:nvSpPr>
        <p:spPr>
          <a:xfrm rot="2700000">
            <a:off x="1953818" y="5007444"/>
            <a:ext cx="864096" cy="864096"/>
          </a:xfrm>
          <a:prstGeom prst="plus">
            <a:avLst>
              <a:gd name="adj" fmla="val 43606"/>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33" name="テキスト ボックス 32">
                <a:extLst>
                  <a:ext uri="{FF2B5EF4-FFF2-40B4-BE49-F238E27FC236}">
                    <a16:creationId xmlns:a16="http://schemas.microsoft.com/office/drawing/2014/main" id="{75BB6688-5917-12FE-7FE6-61E98FF35C12}"/>
                  </a:ext>
                </a:extLst>
              </p:cNvPr>
              <p:cNvSpPr txBox="1"/>
              <p:nvPr/>
            </p:nvSpPr>
            <p:spPr>
              <a:xfrm>
                <a:off x="3413271" y="5180610"/>
                <a:ext cx="4236853" cy="646331"/>
              </a:xfrm>
              <a:prstGeom prst="rect">
                <a:avLst/>
              </a:prstGeom>
              <a:noFill/>
            </p:spPr>
            <p:txBody>
              <a:bodyPr wrap="square" rtlCol="0">
                <a:spAutoFit/>
              </a:bodyPr>
              <a:lstStyle/>
              <a:p>
                <a:r>
                  <a:rPr kumimoji="1" lang="ja-JP" altLang="en-US"/>
                  <a:t>傍受者は通信傍受で得た</a:t>
                </a:r>
                <a14:m>
                  <m:oMath xmlns:m="http://schemas.openxmlformats.org/officeDocument/2006/math">
                    <m:r>
                      <a:rPr kumimoji="1" lang="en-US" altLang="ja-JP" b="0" i="1" smtClean="0">
                        <a:latin typeface="Cambria Math" panose="02040503050406030204" pitchFamily="18" charset="0"/>
                      </a:rPr>
                      <m:t>𝐴</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𝐵</m:t>
                    </m:r>
                  </m:oMath>
                </a14:m>
                <a:r>
                  <a:rPr kumimoji="1" lang="ja-JP" altLang="en-US"/>
                  <a:t>から秘密情報</a:t>
                </a:r>
                <a14:m>
                  <m:oMath xmlns:m="http://schemas.openxmlformats.org/officeDocument/2006/math">
                    <m:r>
                      <a:rPr kumimoji="1" lang="en-US" altLang="ja-JP" b="0" i="1" smtClean="0">
                        <a:latin typeface="Cambria Math" panose="02040503050406030204" pitchFamily="18" charset="0"/>
                      </a:rPr>
                      <m:t>𝑠</m:t>
                    </m:r>
                  </m:oMath>
                </a14:m>
                <a:r>
                  <a:rPr kumimoji="1" lang="ja-JP" altLang="en-US"/>
                  <a:t>を再現できない</a:t>
                </a:r>
              </a:p>
            </p:txBody>
          </p:sp>
        </mc:Choice>
        <mc:Fallback xmlns="">
          <p:sp>
            <p:nvSpPr>
              <p:cNvPr id="33" name="テキスト ボックス 32">
                <a:extLst>
                  <a:ext uri="{FF2B5EF4-FFF2-40B4-BE49-F238E27FC236}">
                    <a16:creationId xmlns:a16="http://schemas.microsoft.com/office/drawing/2014/main" id="{75BB6688-5917-12FE-7FE6-61E98FF35C12}"/>
                  </a:ext>
                </a:extLst>
              </p:cNvPr>
              <p:cNvSpPr txBox="1">
                <a:spLocks noRot="1" noChangeAspect="1" noMove="1" noResize="1" noEditPoints="1" noAdjustHandles="1" noChangeArrowheads="1" noChangeShapeType="1" noTextEdit="1"/>
              </p:cNvSpPr>
              <p:nvPr/>
            </p:nvSpPr>
            <p:spPr>
              <a:xfrm>
                <a:off x="3413271" y="5180610"/>
                <a:ext cx="4236853" cy="646331"/>
              </a:xfrm>
              <a:prstGeom prst="rect">
                <a:avLst/>
              </a:prstGeom>
              <a:blipFill>
                <a:blip r:embed="rId18"/>
                <a:stretch>
                  <a:fillRect l="-1194" t="-7843" r="-896" b="-11765"/>
                </a:stretch>
              </a:blipFill>
            </p:spPr>
            <p:txBody>
              <a:bodyPr/>
              <a:lstStyle/>
              <a:p>
                <a:r>
                  <a:rPr lang="ja-JP" altLang="en-US">
                    <a:noFill/>
                  </a:rPr>
                  <a:t> </a:t>
                </a:r>
              </a:p>
            </p:txBody>
          </p:sp>
        </mc:Fallback>
      </mc:AlternateContent>
      <p:sp>
        <p:nvSpPr>
          <p:cNvPr id="34" name="テキスト ボックス 33">
            <a:extLst>
              <a:ext uri="{FF2B5EF4-FFF2-40B4-BE49-F238E27FC236}">
                <a16:creationId xmlns:a16="http://schemas.microsoft.com/office/drawing/2014/main" id="{BB091BBE-67A9-230F-293A-EC07CC699E81}"/>
              </a:ext>
            </a:extLst>
          </p:cNvPr>
          <p:cNvSpPr txBox="1"/>
          <p:nvPr/>
        </p:nvSpPr>
        <p:spPr>
          <a:xfrm>
            <a:off x="420641" y="6132781"/>
            <a:ext cx="5925661" cy="369332"/>
          </a:xfrm>
          <a:prstGeom prst="rect">
            <a:avLst/>
          </a:prstGeom>
          <a:noFill/>
        </p:spPr>
        <p:txBody>
          <a:bodyPr wrap="none" rtlCol="0">
            <a:spAutoFit/>
          </a:bodyPr>
          <a:lstStyle/>
          <a:p>
            <a:r>
              <a:rPr kumimoji="1" lang="ja-JP" altLang="en-US"/>
              <a:t>以上のアルゴリズムを</a:t>
            </a:r>
            <a:r>
              <a:rPr lang="en" altLang="ja-JP" b="0" i="0" dirty="0">
                <a:solidFill>
                  <a:srgbClr val="202122"/>
                </a:solidFill>
                <a:effectLst/>
                <a:latin typeface="Arial" panose="020B0604020202020204" pitchFamily="34" charset="0"/>
              </a:rPr>
              <a:t>Diffie–Hellman (DH)</a:t>
            </a:r>
            <a:r>
              <a:rPr lang="ja-JP" altLang="en-US" b="0" i="0">
                <a:solidFill>
                  <a:srgbClr val="202122"/>
                </a:solidFill>
                <a:effectLst/>
                <a:latin typeface="Arial" panose="020B0604020202020204" pitchFamily="34" charset="0"/>
              </a:rPr>
              <a:t>鍵交換と呼ぶ</a:t>
            </a:r>
            <a:endParaRPr kumimoji="1" lang="ja-JP" altLang="en-US"/>
          </a:p>
        </p:txBody>
      </p:sp>
    </p:spTree>
    <p:extLst>
      <p:ext uri="{BB962C8B-B14F-4D97-AF65-F5344CB8AC3E}">
        <p14:creationId xmlns:p14="http://schemas.microsoft.com/office/powerpoint/2010/main" val="32400335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A5B04C9E-FA76-25B1-6943-49660A1C7380}"/>
              </a:ext>
            </a:extLst>
          </p:cNvPr>
          <p:cNvSpPr>
            <a:spLocks noGrp="1"/>
          </p:cNvSpPr>
          <p:nvPr>
            <p:ph type="body" sz="quarter" idx="10"/>
          </p:nvPr>
        </p:nvSpPr>
        <p:spPr/>
        <p:txBody>
          <a:bodyPr/>
          <a:lstStyle/>
          <a:p>
            <a:r>
              <a:rPr kumimoji="1" lang="ja-JP" altLang="en-US"/>
              <a:t>鍵交換</a:t>
            </a:r>
          </a:p>
        </p:txBody>
      </p:sp>
      <p:sp>
        <p:nvSpPr>
          <p:cNvPr id="3" name="テキスト ボックス 2">
            <a:extLst>
              <a:ext uri="{FF2B5EF4-FFF2-40B4-BE49-F238E27FC236}">
                <a16:creationId xmlns:a16="http://schemas.microsoft.com/office/drawing/2014/main" id="{0F8E8DCE-6444-1120-575A-26838161194A}"/>
              </a:ext>
            </a:extLst>
          </p:cNvPr>
          <p:cNvSpPr txBox="1"/>
          <p:nvPr/>
        </p:nvSpPr>
        <p:spPr>
          <a:xfrm>
            <a:off x="179512" y="1041410"/>
            <a:ext cx="3185487" cy="369332"/>
          </a:xfrm>
          <a:prstGeom prst="rect">
            <a:avLst/>
          </a:prstGeom>
          <a:noFill/>
        </p:spPr>
        <p:txBody>
          <a:bodyPr wrap="none" rtlCol="0">
            <a:spAutoFit/>
          </a:bodyPr>
          <a:lstStyle/>
          <a:p>
            <a:r>
              <a:rPr lang="ja-JP" altLang="en-US"/>
              <a:t>離散対数問題を使った</a:t>
            </a:r>
            <a:r>
              <a:rPr kumimoji="1" lang="ja-JP" altLang="en-US"/>
              <a:t>実装例</a:t>
            </a:r>
          </a:p>
        </p:txBody>
      </p:sp>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A6C3751C-0AEC-0E0F-6E1B-F2889D4B7695}"/>
                  </a:ext>
                </a:extLst>
              </p:cNvPr>
              <p:cNvSpPr txBox="1"/>
              <p:nvPr/>
            </p:nvSpPr>
            <p:spPr>
              <a:xfrm>
                <a:off x="724094" y="1862483"/>
                <a:ext cx="6953635" cy="369332"/>
              </a:xfrm>
              <a:prstGeom prst="rect">
                <a:avLst/>
              </a:prstGeom>
              <a:noFill/>
            </p:spPr>
            <p:txBody>
              <a:bodyPr wrap="none" rtlCol="0">
                <a:spAutoFit/>
              </a:bodyPr>
              <a:lstStyle/>
              <a:p>
                <a:r>
                  <a:rPr kumimoji="1" lang="en-US" altLang="ja-JP" dirty="0"/>
                  <a:t>Alice: </a:t>
                </a:r>
                <a:r>
                  <a:rPr kumimoji="1" lang="ja-JP" altLang="en-US"/>
                  <a:t>秘密の整数</a:t>
                </a:r>
                <a14:m>
                  <m:oMath xmlns:m="http://schemas.openxmlformats.org/officeDocument/2006/math">
                    <m:r>
                      <a:rPr kumimoji="1" lang="en-US" altLang="ja-JP" b="0" i="1" smtClean="0">
                        <a:latin typeface="Cambria Math" panose="02040503050406030204" pitchFamily="18" charset="0"/>
                      </a:rPr>
                      <m:t>𝑎</m:t>
                    </m:r>
                  </m:oMath>
                </a14:m>
                <a:r>
                  <a:rPr kumimoji="1" lang="ja-JP" altLang="en-US"/>
                  <a:t>に対して</a:t>
                </a:r>
                <a14:m>
                  <m:oMath xmlns:m="http://schemas.openxmlformats.org/officeDocument/2006/math">
                    <m:r>
                      <a:rPr kumimoji="1" lang="en-US" altLang="ja-JP" b="0" i="1" smtClean="0">
                        <a:latin typeface="Cambria Math" panose="02040503050406030204" pitchFamily="18" charset="0"/>
                      </a:rPr>
                      <m:t>𝐴</m:t>
                    </m:r>
                    <m:r>
                      <a:rPr kumimoji="1" lang="en-US" altLang="ja-JP" b="0" i="1" smtClean="0">
                        <a:latin typeface="Cambria Math" panose="02040503050406030204" pitchFamily="18" charset="0"/>
                      </a:rPr>
                      <m:t>=</m:t>
                    </m:r>
                    <m:sSup>
                      <m:sSupPr>
                        <m:ctrlPr>
                          <a:rPr kumimoji="1" lang="en-US" altLang="ja-JP" b="0" i="1" smtClean="0">
                            <a:latin typeface="Cambria Math" panose="02040503050406030204" pitchFamily="18" charset="0"/>
                          </a:rPr>
                        </m:ctrlPr>
                      </m:sSupPr>
                      <m:e>
                        <m:r>
                          <a:rPr kumimoji="1" lang="en-US" altLang="ja-JP" b="0" i="1" smtClean="0">
                            <a:latin typeface="Cambria Math" panose="02040503050406030204" pitchFamily="18" charset="0"/>
                          </a:rPr>
                          <m:t>𝑔</m:t>
                        </m:r>
                      </m:e>
                      <m:sup>
                        <m:r>
                          <a:rPr kumimoji="1" lang="en-US" altLang="ja-JP" b="0" i="1" smtClean="0">
                            <a:latin typeface="Cambria Math" panose="02040503050406030204" pitchFamily="18" charset="0"/>
                          </a:rPr>
                          <m:t>𝑎</m:t>
                        </m:r>
                      </m:sup>
                    </m:sSup>
                    <m:r>
                      <a:rPr kumimoji="1" lang="en-US" altLang="ja-JP" b="0" i="1" smtClean="0">
                        <a:latin typeface="Cambria Math" panose="02040503050406030204" pitchFamily="18" charset="0"/>
                      </a:rPr>
                      <m:t> </m:t>
                    </m:r>
                    <m:r>
                      <m:rPr>
                        <m:sty m:val="p"/>
                      </m:rPr>
                      <a:rPr kumimoji="1" lang="en-US" altLang="ja-JP" b="0" i="0" smtClean="0">
                        <a:latin typeface="Cambria Math" panose="02040503050406030204" pitchFamily="18" charset="0"/>
                      </a:rPr>
                      <m:t>mod</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𝑝</m:t>
                    </m:r>
                  </m:oMath>
                </a14:m>
                <a:r>
                  <a:rPr kumimoji="1" lang="ja-JP" altLang="en-US"/>
                  <a:t>を計算し、公開鍵とする</a:t>
                </a:r>
              </a:p>
            </p:txBody>
          </p:sp>
        </mc:Choice>
        <mc:Fallback xmlns="">
          <p:sp>
            <p:nvSpPr>
              <p:cNvPr id="4" name="テキスト ボックス 3">
                <a:extLst>
                  <a:ext uri="{FF2B5EF4-FFF2-40B4-BE49-F238E27FC236}">
                    <a16:creationId xmlns:a16="http://schemas.microsoft.com/office/drawing/2014/main" id="{A6C3751C-0AEC-0E0F-6E1B-F2889D4B7695}"/>
                  </a:ext>
                </a:extLst>
              </p:cNvPr>
              <p:cNvSpPr txBox="1">
                <a:spLocks noRot="1" noChangeAspect="1" noMove="1" noResize="1" noEditPoints="1" noAdjustHandles="1" noChangeArrowheads="1" noChangeShapeType="1" noTextEdit="1"/>
              </p:cNvSpPr>
              <p:nvPr/>
            </p:nvSpPr>
            <p:spPr>
              <a:xfrm>
                <a:off x="724094" y="1862483"/>
                <a:ext cx="6953635" cy="369332"/>
              </a:xfrm>
              <a:prstGeom prst="rect">
                <a:avLst/>
              </a:prstGeom>
              <a:blipFill>
                <a:blip r:embed="rId2"/>
                <a:stretch>
                  <a:fillRect l="-912" t="-10000" b="-2666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E9212B98-A907-D609-09E4-A6B36810E797}"/>
                  </a:ext>
                </a:extLst>
              </p:cNvPr>
              <p:cNvSpPr txBox="1"/>
              <p:nvPr/>
            </p:nvSpPr>
            <p:spPr>
              <a:xfrm>
                <a:off x="827584" y="2299290"/>
                <a:ext cx="6866047" cy="374270"/>
              </a:xfrm>
              <a:prstGeom prst="rect">
                <a:avLst/>
              </a:prstGeom>
              <a:noFill/>
            </p:spPr>
            <p:txBody>
              <a:bodyPr wrap="none" rtlCol="0">
                <a:spAutoFit/>
              </a:bodyPr>
              <a:lstStyle/>
              <a:p>
                <a:r>
                  <a:rPr kumimoji="1" lang="en-US" altLang="ja-JP" dirty="0"/>
                  <a:t>Bob: </a:t>
                </a:r>
                <a:r>
                  <a:rPr kumimoji="1" lang="ja-JP" altLang="en-US"/>
                  <a:t>秘密の整数</a:t>
                </a:r>
                <a14:m>
                  <m:oMath xmlns:m="http://schemas.openxmlformats.org/officeDocument/2006/math">
                    <m:r>
                      <a:rPr kumimoji="1" lang="en-US" altLang="ja-JP" b="0" i="1" smtClean="0">
                        <a:latin typeface="Cambria Math" panose="02040503050406030204" pitchFamily="18" charset="0"/>
                      </a:rPr>
                      <m:t>𝑏</m:t>
                    </m:r>
                  </m:oMath>
                </a14:m>
                <a:r>
                  <a:rPr kumimoji="1" lang="ja-JP" altLang="en-US"/>
                  <a:t>に対して</a:t>
                </a:r>
                <a14:m>
                  <m:oMath xmlns:m="http://schemas.openxmlformats.org/officeDocument/2006/math">
                    <m:r>
                      <a:rPr kumimoji="1" lang="en-US" altLang="ja-JP" b="0" i="1" smtClean="0">
                        <a:latin typeface="Cambria Math" panose="02040503050406030204" pitchFamily="18" charset="0"/>
                      </a:rPr>
                      <m:t>𝐵</m:t>
                    </m:r>
                    <m:r>
                      <a:rPr kumimoji="1" lang="en-US" altLang="ja-JP" b="0" i="1" smtClean="0">
                        <a:latin typeface="Cambria Math" panose="02040503050406030204" pitchFamily="18" charset="0"/>
                      </a:rPr>
                      <m:t>=</m:t>
                    </m:r>
                    <m:sSup>
                      <m:sSupPr>
                        <m:ctrlPr>
                          <a:rPr kumimoji="1" lang="en-US" altLang="ja-JP" b="0" i="1" smtClean="0">
                            <a:latin typeface="Cambria Math" panose="02040503050406030204" pitchFamily="18" charset="0"/>
                          </a:rPr>
                        </m:ctrlPr>
                      </m:sSupPr>
                      <m:e>
                        <m:r>
                          <a:rPr kumimoji="1" lang="en-US" altLang="ja-JP" b="0" i="1" smtClean="0">
                            <a:latin typeface="Cambria Math" panose="02040503050406030204" pitchFamily="18" charset="0"/>
                          </a:rPr>
                          <m:t>𝑔</m:t>
                        </m:r>
                      </m:e>
                      <m:sup>
                        <m:r>
                          <a:rPr kumimoji="1" lang="en-US" altLang="ja-JP" b="0" i="1" smtClean="0">
                            <a:latin typeface="Cambria Math" panose="02040503050406030204" pitchFamily="18" charset="0"/>
                          </a:rPr>
                          <m:t>𝑏</m:t>
                        </m:r>
                      </m:sup>
                    </m:sSup>
                    <m:r>
                      <a:rPr kumimoji="1" lang="en-US" altLang="ja-JP" b="0" i="1" smtClean="0">
                        <a:latin typeface="Cambria Math" panose="02040503050406030204" pitchFamily="18" charset="0"/>
                      </a:rPr>
                      <m:t> </m:t>
                    </m:r>
                    <m:r>
                      <m:rPr>
                        <m:sty m:val="p"/>
                      </m:rPr>
                      <a:rPr kumimoji="1" lang="en-US" altLang="ja-JP" b="0" i="0" smtClean="0">
                        <a:latin typeface="Cambria Math" panose="02040503050406030204" pitchFamily="18" charset="0"/>
                      </a:rPr>
                      <m:t>mod</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𝑝</m:t>
                    </m:r>
                  </m:oMath>
                </a14:m>
                <a:r>
                  <a:rPr kumimoji="1" lang="ja-JP" altLang="en-US"/>
                  <a:t>を計算し、公開鍵とする</a:t>
                </a:r>
              </a:p>
            </p:txBody>
          </p:sp>
        </mc:Choice>
        <mc:Fallback xmlns="">
          <p:sp>
            <p:nvSpPr>
              <p:cNvPr id="5" name="テキスト ボックス 4">
                <a:extLst>
                  <a:ext uri="{FF2B5EF4-FFF2-40B4-BE49-F238E27FC236}">
                    <a16:creationId xmlns:a16="http://schemas.microsoft.com/office/drawing/2014/main" id="{E9212B98-A907-D609-09E4-A6B36810E797}"/>
                  </a:ext>
                </a:extLst>
              </p:cNvPr>
              <p:cNvSpPr txBox="1">
                <a:spLocks noRot="1" noChangeAspect="1" noMove="1" noResize="1" noEditPoints="1" noAdjustHandles="1" noChangeArrowheads="1" noChangeShapeType="1" noTextEdit="1"/>
              </p:cNvSpPr>
              <p:nvPr/>
            </p:nvSpPr>
            <p:spPr>
              <a:xfrm>
                <a:off x="827584" y="2299290"/>
                <a:ext cx="6866047" cy="374270"/>
              </a:xfrm>
              <a:prstGeom prst="rect">
                <a:avLst/>
              </a:prstGeom>
              <a:blipFill>
                <a:blip r:embed="rId3"/>
                <a:stretch>
                  <a:fillRect l="-924" t="-6452" b="-2258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3253020-89C0-C73F-763F-04E72393A574}"/>
                  </a:ext>
                </a:extLst>
              </p:cNvPr>
              <p:cNvSpPr txBox="1"/>
              <p:nvPr/>
            </p:nvSpPr>
            <p:spPr>
              <a:xfrm>
                <a:off x="1582848" y="3558128"/>
                <a:ext cx="2959656" cy="37427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𝑠</m:t>
                      </m:r>
                      <m:r>
                        <a:rPr kumimoji="1" lang="en-US" altLang="ja-JP" b="0" i="1" smtClean="0">
                          <a:latin typeface="Cambria Math" panose="02040503050406030204" pitchFamily="18" charset="0"/>
                        </a:rPr>
                        <m:t>=</m:t>
                      </m:r>
                      <m:sSup>
                        <m:sSupPr>
                          <m:ctrlPr>
                            <a:rPr kumimoji="1" lang="en-US" altLang="ja-JP" b="0" i="1" smtClean="0">
                              <a:latin typeface="Cambria Math" panose="02040503050406030204" pitchFamily="18" charset="0"/>
                            </a:rPr>
                          </m:ctrlPr>
                        </m:sSupPr>
                        <m:e>
                          <m:r>
                            <a:rPr kumimoji="1" lang="en-US" altLang="ja-JP" b="0" i="1" smtClean="0">
                              <a:latin typeface="Cambria Math" panose="02040503050406030204" pitchFamily="18" charset="0"/>
                            </a:rPr>
                            <m:t>𝐵</m:t>
                          </m:r>
                        </m:e>
                        <m:sup>
                          <m:r>
                            <a:rPr kumimoji="1" lang="en-US" altLang="ja-JP" b="0" i="1" smtClean="0">
                              <a:latin typeface="Cambria Math" panose="02040503050406030204" pitchFamily="18" charset="0"/>
                            </a:rPr>
                            <m:t>𝑎</m:t>
                          </m:r>
                        </m:sup>
                      </m:sSup>
                      <m:r>
                        <a:rPr kumimoji="1" lang="en-US" altLang="ja-JP" b="0" i="1" smtClean="0">
                          <a:latin typeface="Cambria Math" panose="02040503050406030204" pitchFamily="18" charset="0"/>
                        </a:rPr>
                        <m:t> </m:t>
                      </m:r>
                      <m:r>
                        <m:rPr>
                          <m:sty m:val="p"/>
                        </m:rPr>
                        <a:rPr kumimoji="1" lang="en-US" altLang="ja-JP" b="0" i="0" smtClean="0">
                          <a:latin typeface="Cambria Math" panose="02040503050406030204" pitchFamily="18" charset="0"/>
                        </a:rPr>
                        <m:t>mod</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𝑝</m:t>
                      </m:r>
                      <m:r>
                        <a:rPr kumimoji="1" lang="en-US" altLang="ja-JP" b="0" i="1" smtClean="0">
                          <a:latin typeface="Cambria Math" panose="02040503050406030204" pitchFamily="18" charset="0"/>
                        </a:rPr>
                        <m:t>=</m:t>
                      </m:r>
                      <m:sSup>
                        <m:sSupPr>
                          <m:ctrlPr>
                            <a:rPr kumimoji="1" lang="en-US" altLang="ja-JP" b="0" i="1" smtClean="0">
                              <a:latin typeface="Cambria Math" panose="02040503050406030204" pitchFamily="18" charset="0"/>
                            </a:rPr>
                          </m:ctrlPr>
                        </m:sSupPr>
                        <m:e>
                          <m:r>
                            <a:rPr kumimoji="1" lang="en-US" altLang="ja-JP" b="0" i="1" smtClean="0">
                              <a:latin typeface="Cambria Math" panose="02040503050406030204" pitchFamily="18" charset="0"/>
                            </a:rPr>
                            <m:t>𝑔</m:t>
                          </m:r>
                        </m:e>
                        <m:sup>
                          <m:r>
                            <a:rPr kumimoji="1" lang="en-US" altLang="ja-JP" b="0" i="1" smtClean="0">
                              <a:latin typeface="Cambria Math" panose="02040503050406030204" pitchFamily="18" charset="0"/>
                            </a:rPr>
                            <m:t>𝑎𝑏</m:t>
                          </m:r>
                        </m:sup>
                      </m:sSup>
                      <m:r>
                        <a:rPr kumimoji="1" lang="en-US" altLang="ja-JP" b="0" i="1" smtClean="0">
                          <a:latin typeface="Cambria Math" panose="02040503050406030204" pitchFamily="18" charset="0"/>
                        </a:rPr>
                        <m:t> </m:t>
                      </m:r>
                      <m:r>
                        <m:rPr>
                          <m:sty m:val="p"/>
                        </m:rPr>
                        <a:rPr kumimoji="1" lang="en-US" altLang="ja-JP" b="0" i="0" smtClean="0">
                          <a:latin typeface="Cambria Math" panose="02040503050406030204" pitchFamily="18" charset="0"/>
                        </a:rPr>
                        <m:t>mod</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𝑝</m:t>
                      </m:r>
                    </m:oMath>
                  </m:oMathPara>
                </a14:m>
                <a:endParaRPr kumimoji="1" lang="ja-JP" altLang="en-US"/>
              </a:p>
            </p:txBody>
          </p:sp>
        </mc:Choice>
        <mc:Fallback xmlns="">
          <p:sp>
            <p:nvSpPr>
              <p:cNvPr id="6" name="テキスト ボックス 5">
                <a:extLst>
                  <a:ext uri="{FF2B5EF4-FFF2-40B4-BE49-F238E27FC236}">
                    <a16:creationId xmlns:a16="http://schemas.microsoft.com/office/drawing/2014/main" id="{53253020-89C0-C73F-763F-04E72393A574}"/>
                  </a:ext>
                </a:extLst>
              </p:cNvPr>
              <p:cNvSpPr txBox="1">
                <a:spLocks noRot="1" noChangeAspect="1" noMove="1" noResize="1" noEditPoints="1" noAdjustHandles="1" noChangeArrowheads="1" noChangeShapeType="1" noTextEdit="1"/>
              </p:cNvSpPr>
              <p:nvPr/>
            </p:nvSpPr>
            <p:spPr>
              <a:xfrm>
                <a:off x="1582848" y="3558128"/>
                <a:ext cx="2959656" cy="374270"/>
              </a:xfrm>
              <a:prstGeom prst="rect">
                <a:avLst/>
              </a:prstGeom>
              <a:blipFill>
                <a:blip r:embed="rId4"/>
                <a:stretch>
                  <a:fillRect b="-1666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F8A10C7F-2F90-8B39-FE72-2B840DF71C62}"/>
                  </a:ext>
                </a:extLst>
              </p:cNvPr>
              <p:cNvSpPr txBox="1"/>
              <p:nvPr/>
            </p:nvSpPr>
            <p:spPr>
              <a:xfrm>
                <a:off x="395536" y="3024998"/>
                <a:ext cx="5639493" cy="369332"/>
              </a:xfrm>
              <a:prstGeom prst="rect">
                <a:avLst/>
              </a:prstGeom>
              <a:noFill/>
            </p:spPr>
            <p:txBody>
              <a:bodyPr wrap="none" rtlCol="0">
                <a:spAutoFit/>
              </a:bodyPr>
              <a:lstStyle/>
              <a:p>
                <a:r>
                  <a:rPr kumimoji="1" lang="en-US" altLang="ja-JP" dirty="0"/>
                  <a:t>Alice</a:t>
                </a:r>
                <a:r>
                  <a:rPr kumimoji="1" lang="ja-JP" altLang="en-US"/>
                  <a:t>は</a:t>
                </a:r>
                <a:r>
                  <a:rPr kumimoji="1" lang="en-US" altLang="ja-JP" dirty="0"/>
                  <a:t>Bob</a:t>
                </a:r>
                <a:r>
                  <a:rPr kumimoji="1" lang="ja-JP" altLang="en-US"/>
                  <a:t>から受け取った</a:t>
                </a:r>
                <a14:m>
                  <m:oMath xmlns:m="http://schemas.openxmlformats.org/officeDocument/2006/math">
                    <m:r>
                      <a:rPr kumimoji="1" lang="en-US" altLang="ja-JP" b="0" i="1" smtClean="0">
                        <a:latin typeface="Cambria Math" panose="02040503050406030204" pitchFamily="18" charset="0"/>
                      </a:rPr>
                      <m:t>𝐵</m:t>
                    </m:r>
                  </m:oMath>
                </a14:m>
                <a:r>
                  <a:rPr kumimoji="1" lang="ja-JP" altLang="en-US"/>
                  <a:t>を使って以下を計算する</a:t>
                </a:r>
              </a:p>
            </p:txBody>
          </p:sp>
        </mc:Choice>
        <mc:Fallback xmlns="">
          <p:sp>
            <p:nvSpPr>
              <p:cNvPr id="7" name="テキスト ボックス 6">
                <a:extLst>
                  <a:ext uri="{FF2B5EF4-FFF2-40B4-BE49-F238E27FC236}">
                    <a16:creationId xmlns:a16="http://schemas.microsoft.com/office/drawing/2014/main" id="{F8A10C7F-2F90-8B39-FE72-2B840DF71C62}"/>
                  </a:ext>
                </a:extLst>
              </p:cNvPr>
              <p:cNvSpPr txBox="1">
                <a:spLocks noRot="1" noChangeAspect="1" noMove="1" noResize="1" noEditPoints="1" noAdjustHandles="1" noChangeArrowheads="1" noChangeShapeType="1" noTextEdit="1"/>
              </p:cNvSpPr>
              <p:nvPr/>
            </p:nvSpPr>
            <p:spPr>
              <a:xfrm>
                <a:off x="395536" y="3024998"/>
                <a:ext cx="5639493" cy="369332"/>
              </a:xfrm>
              <a:prstGeom prst="rect">
                <a:avLst/>
              </a:prstGeom>
              <a:blipFill>
                <a:blip r:embed="rId5"/>
                <a:stretch>
                  <a:fillRect l="-1124" t="-10000" b="-2666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C3A7D60A-FD28-C9FE-2397-57189B281976}"/>
                  </a:ext>
                </a:extLst>
              </p:cNvPr>
              <p:cNvSpPr txBox="1"/>
              <p:nvPr/>
            </p:nvSpPr>
            <p:spPr>
              <a:xfrm>
                <a:off x="395535" y="4096196"/>
                <a:ext cx="5398273" cy="369332"/>
              </a:xfrm>
              <a:prstGeom prst="rect">
                <a:avLst/>
              </a:prstGeom>
              <a:noFill/>
            </p:spPr>
            <p:txBody>
              <a:bodyPr wrap="none" rtlCol="0">
                <a:spAutoFit/>
              </a:bodyPr>
              <a:lstStyle/>
              <a:p>
                <a:r>
                  <a:rPr kumimoji="1" lang="en-US" altLang="ja-JP" dirty="0"/>
                  <a:t>Bob</a:t>
                </a:r>
                <a:r>
                  <a:rPr kumimoji="1" lang="ja-JP" altLang="en-US"/>
                  <a:t>は</a:t>
                </a:r>
                <a:r>
                  <a:rPr kumimoji="1" lang="en-US" altLang="ja-JP" dirty="0"/>
                  <a:t>Alice</a:t>
                </a:r>
                <a:r>
                  <a:rPr kumimoji="1" lang="ja-JP" altLang="en-US"/>
                  <a:t>から受け取った</a:t>
                </a:r>
                <a14:m>
                  <m:oMath xmlns:m="http://schemas.openxmlformats.org/officeDocument/2006/math">
                    <m:r>
                      <a:rPr kumimoji="1" lang="en-US" altLang="ja-JP" b="0" i="1" smtClean="0">
                        <a:latin typeface="Cambria Math" panose="02040503050406030204" pitchFamily="18" charset="0"/>
                      </a:rPr>
                      <m:t>𝐴</m:t>
                    </m:r>
                  </m:oMath>
                </a14:m>
                <a:r>
                  <a:rPr kumimoji="1" lang="ja-JP" altLang="en-US"/>
                  <a:t>使って以下を計算する</a:t>
                </a:r>
              </a:p>
            </p:txBody>
          </p:sp>
        </mc:Choice>
        <mc:Fallback xmlns="">
          <p:sp>
            <p:nvSpPr>
              <p:cNvPr id="8" name="テキスト ボックス 7">
                <a:extLst>
                  <a:ext uri="{FF2B5EF4-FFF2-40B4-BE49-F238E27FC236}">
                    <a16:creationId xmlns:a16="http://schemas.microsoft.com/office/drawing/2014/main" id="{C3A7D60A-FD28-C9FE-2397-57189B281976}"/>
                  </a:ext>
                </a:extLst>
              </p:cNvPr>
              <p:cNvSpPr txBox="1">
                <a:spLocks noRot="1" noChangeAspect="1" noMove="1" noResize="1" noEditPoints="1" noAdjustHandles="1" noChangeArrowheads="1" noChangeShapeType="1" noTextEdit="1"/>
              </p:cNvSpPr>
              <p:nvPr/>
            </p:nvSpPr>
            <p:spPr>
              <a:xfrm>
                <a:off x="395535" y="4096196"/>
                <a:ext cx="5398273" cy="369332"/>
              </a:xfrm>
              <a:prstGeom prst="rect">
                <a:avLst/>
              </a:prstGeom>
              <a:blipFill>
                <a:blip r:embed="rId6"/>
                <a:stretch>
                  <a:fillRect l="-1174" t="-10000" b="-2666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6C17BB1B-D7BE-244B-4377-ACEA550FD2C0}"/>
                  </a:ext>
                </a:extLst>
              </p:cNvPr>
              <p:cNvSpPr txBox="1"/>
              <p:nvPr/>
            </p:nvSpPr>
            <p:spPr>
              <a:xfrm>
                <a:off x="1600095" y="4550982"/>
                <a:ext cx="2989152" cy="37427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𝑠</m:t>
                      </m:r>
                      <m:r>
                        <a:rPr kumimoji="1" lang="en-US" altLang="ja-JP" b="0" i="1" smtClean="0">
                          <a:latin typeface="Cambria Math" panose="02040503050406030204" pitchFamily="18" charset="0"/>
                        </a:rPr>
                        <m:t>=</m:t>
                      </m:r>
                      <m:sSup>
                        <m:sSupPr>
                          <m:ctrlPr>
                            <a:rPr kumimoji="1" lang="en-US" altLang="ja-JP" b="0" i="1" smtClean="0">
                              <a:latin typeface="Cambria Math" panose="02040503050406030204" pitchFamily="18" charset="0"/>
                            </a:rPr>
                          </m:ctrlPr>
                        </m:sSupPr>
                        <m:e>
                          <m:r>
                            <a:rPr kumimoji="1" lang="en-US" altLang="ja-JP" b="0" i="1" smtClean="0">
                              <a:latin typeface="Cambria Math" panose="02040503050406030204" pitchFamily="18" charset="0"/>
                            </a:rPr>
                            <m:t>𝐴</m:t>
                          </m:r>
                        </m:e>
                        <m:sup>
                          <m:r>
                            <a:rPr kumimoji="1" lang="en-US" altLang="ja-JP" b="0" i="1" smtClean="0">
                              <a:latin typeface="Cambria Math" panose="02040503050406030204" pitchFamily="18" charset="0"/>
                            </a:rPr>
                            <m:t>𝑏</m:t>
                          </m:r>
                        </m:sup>
                      </m:sSup>
                      <m:r>
                        <a:rPr kumimoji="1" lang="en-US" altLang="ja-JP" b="0" i="1" smtClean="0">
                          <a:latin typeface="Cambria Math" panose="02040503050406030204" pitchFamily="18" charset="0"/>
                        </a:rPr>
                        <m:t> </m:t>
                      </m:r>
                      <m:r>
                        <m:rPr>
                          <m:sty m:val="p"/>
                        </m:rPr>
                        <a:rPr kumimoji="1" lang="en-US" altLang="ja-JP" b="0" i="0" smtClean="0">
                          <a:latin typeface="Cambria Math" panose="02040503050406030204" pitchFamily="18" charset="0"/>
                        </a:rPr>
                        <m:t>mod</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𝑝</m:t>
                      </m:r>
                      <m:r>
                        <a:rPr kumimoji="1" lang="en-US" altLang="ja-JP" b="0" i="1" smtClean="0">
                          <a:latin typeface="Cambria Math" panose="02040503050406030204" pitchFamily="18" charset="0"/>
                        </a:rPr>
                        <m:t>=</m:t>
                      </m:r>
                      <m:sSup>
                        <m:sSupPr>
                          <m:ctrlPr>
                            <a:rPr kumimoji="1" lang="en-US" altLang="ja-JP" b="0" i="1" smtClean="0">
                              <a:latin typeface="Cambria Math" panose="02040503050406030204" pitchFamily="18" charset="0"/>
                            </a:rPr>
                          </m:ctrlPr>
                        </m:sSupPr>
                        <m:e>
                          <m:r>
                            <a:rPr kumimoji="1" lang="en-US" altLang="ja-JP" b="0" i="1" smtClean="0">
                              <a:latin typeface="Cambria Math" panose="02040503050406030204" pitchFamily="18" charset="0"/>
                            </a:rPr>
                            <m:t>𝑔</m:t>
                          </m:r>
                        </m:e>
                        <m:sup>
                          <m:r>
                            <a:rPr kumimoji="1" lang="en-US" altLang="ja-JP" b="0" i="1" smtClean="0">
                              <a:latin typeface="Cambria Math" panose="02040503050406030204" pitchFamily="18" charset="0"/>
                            </a:rPr>
                            <m:t>𝑎𝑏</m:t>
                          </m:r>
                        </m:sup>
                      </m:sSup>
                      <m:r>
                        <a:rPr kumimoji="1" lang="en-US" altLang="ja-JP" b="0" i="1" smtClean="0">
                          <a:latin typeface="Cambria Math" panose="02040503050406030204" pitchFamily="18" charset="0"/>
                        </a:rPr>
                        <m:t> </m:t>
                      </m:r>
                      <m:r>
                        <m:rPr>
                          <m:sty m:val="p"/>
                        </m:rPr>
                        <a:rPr kumimoji="1" lang="en-US" altLang="ja-JP" b="0" i="0" smtClean="0">
                          <a:latin typeface="Cambria Math" panose="02040503050406030204" pitchFamily="18" charset="0"/>
                        </a:rPr>
                        <m:t>mod</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𝑝</m:t>
                      </m:r>
                    </m:oMath>
                  </m:oMathPara>
                </a14:m>
                <a:endParaRPr kumimoji="1" lang="ja-JP" altLang="en-US"/>
              </a:p>
            </p:txBody>
          </p:sp>
        </mc:Choice>
        <mc:Fallback xmlns="">
          <p:sp>
            <p:nvSpPr>
              <p:cNvPr id="9" name="テキスト ボックス 8">
                <a:extLst>
                  <a:ext uri="{FF2B5EF4-FFF2-40B4-BE49-F238E27FC236}">
                    <a16:creationId xmlns:a16="http://schemas.microsoft.com/office/drawing/2014/main" id="{6C17BB1B-D7BE-244B-4377-ACEA550FD2C0}"/>
                  </a:ext>
                </a:extLst>
              </p:cNvPr>
              <p:cNvSpPr txBox="1">
                <a:spLocks noRot="1" noChangeAspect="1" noMove="1" noResize="1" noEditPoints="1" noAdjustHandles="1" noChangeArrowheads="1" noChangeShapeType="1" noTextEdit="1"/>
              </p:cNvSpPr>
              <p:nvPr/>
            </p:nvSpPr>
            <p:spPr>
              <a:xfrm>
                <a:off x="1600095" y="4550982"/>
                <a:ext cx="2989152" cy="374270"/>
              </a:xfrm>
              <a:prstGeom prst="rect">
                <a:avLst/>
              </a:prstGeom>
              <a:blipFill>
                <a:blip r:embed="rId7"/>
                <a:stretch>
                  <a:fillRect b="-20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4363164A-1F67-7BBE-5796-C1638096DE2C}"/>
                  </a:ext>
                </a:extLst>
              </p:cNvPr>
              <p:cNvSpPr txBox="1"/>
              <p:nvPr/>
            </p:nvSpPr>
            <p:spPr>
              <a:xfrm>
                <a:off x="331605" y="5087057"/>
                <a:ext cx="8132291" cy="646331"/>
              </a:xfrm>
              <a:prstGeom prst="rect">
                <a:avLst/>
              </a:prstGeom>
              <a:noFill/>
            </p:spPr>
            <p:txBody>
              <a:bodyPr wrap="none" rtlCol="0">
                <a:spAutoFit/>
              </a:bodyPr>
              <a:lstStyle/>
              <a:p>
                <a:r>
                  <a:rPr lang="ja-JP" altLang="en-US"/>
                  <a:t>傍受者は</a:t>
                </a:r>
                <a14:m>
                  <m:oMath xmlns:m="http://schemas.openxmlformats.org/officeDocument/2006/math">
                    <m:r>
                      <a:rPr lang="en-US" altLang="ja-JP" i="1">
                        <a:latin typeface="Cambria Math" panose="02040503050406030204" pitchFamily="18" charset="0"/>
                      </a:rPr>
                      <m:t>𝐴</m:t>
                    </m:r>
                    <m:r>
                      <a:rPr lang="en-US" altLang="ja-JP" i="1">
                        <a:latin typeface="Cambria Math" panose="02040503050406030204" pitchFamily="18" charset="0"/>
                      </a:rPr>
                      <m:t>,</m:t>
                    </m:r>
                    <m:r>
                      <a:rPr lang="en-US" altLang="ja-JP" i="1">
                        <a:latin typeface="Cambria Math" panose="02040503050406030204" pitchFamily="18" charset="0"/>
                      </a:rPr>
                      <m:t>𝐵</m:t>
                    </m:r>
                  </m:oMath>
                </a14:m>
                <a:r>
                  <a:rPr lang="ja-JP" altLang="en-US"/>
                  <a:t>の情報から</a:t>
                </a:r>
                <a14:m>
                  <m:oMath xmlns:m="http://schemas.openxmlformats.org/officeDocument/2006/math">
                    <m:r>
                      <a:rPr lang="en-US" altLang="ja-JP" i="1">
                        <a:latin typeface="Cambria Math" panose="02040503050406030204" pitchFamily="18" charset="0"/>
                      </a:rPr>
                      <m:t>𝑠</m:t>
                    </m:r>
                  </m:oMath>
                </a14:m>
                <a:r>
                  <a:rPr lang="ja-JP" altLang="en-US"/>
                  <a:t>を計算することができない</a:t>
                </a:r>
                <a:r>
                  <a:rPr lang="en-US" altLang="ja-JP" dirty="0"/>
                  <a:t>(</a:t>
                </a:r>
                <a:r>
                  <a:rPr lang="ja-JP" altLang="en-US"/>
                  <a:t>離散対数問題</a:t>
                </a:r>
                <a:r>
                  <a:rPr lang="en-US" altLang="ja-JP" dirty="0"/>
                  <a:t>)</a:t>
                </a:r>
                <a:endParaRPr lang="ja-JP" altLang="en-US"/>
              </a:p>
              <a:p>
                <a:r>
                  <a:rPr kumimoji="1" lang="ja-JP" altLang="en-US"/>
                  <a:t>→</a:t>
                </a:r>
                <a:r>
                  <a:rPr kumimoji="1" lang="en-US" altLang="ja-JP" dirty="0"/>
                  <a:t>Alice</a:t>
                </a:r>
                <a:r>
                  <a:rPr kumimoji="1" lang="ja-JP" altLang="en-US"/>
                  <a:t>と</a:t>
                </a:r>
                <a:r>
                  <a:rPr kumimoji="1" lang="en-US" altLang="ja-JP" dirty="0"/>
                  <a:t>Bob</a:t>
                </a:r>
                <a:r>
                  <a:rPr kumimoji="1" lang="ja-JP" altLang="en-US"/>
                  <a:t>は、傍受されている通信路を使って秘密の情報</a:t>
                </a:r>
                <a14:m>
                  <m:oMath xmlns:m="http://schemas.openxmlformats.org/officeDocument/2006/math">
                    <m:r>
                      <a:rPr kumimoji="1" lang="en-US" altLang="ja-JP" b="0" i="1" smtClean="0">
                        <a:latin typeface="Cambria Math" panose="02040503050406030204" pitchFamily="18" charset="0"/>
                      </a:rPr>
                      <m:t>𝑠</m:t>
                    </m:r>
                  </m:oMath>
                </a14:m>
                <a:r>
                  <a:rPr kumimoji="1" lang="ja-JP" altLang="en-US"/>
                  <a:t>を共有できた</a:t>
                </a:r>
                <a:endParaRPr kumimoji="1" lang="en-US" altLang="ja-JP" dirty="0"/>
              </a:p>
            </p:txBody>
          </p:sp>
        </mc:Choice>
        <mc:Fallback xmlns="">
          <p:sp>
            <p:nvSpPr>
              <p:cNvPr id="10" name="テキスト ボックス 9">
                <a:extLst>
                  <a:ext uri="{FF2B5EF4-FFF2-40B4-BE49-F238E27FC236}">
                    <a16:creationId xmlns:a16="http://schemas.microsoft.com/office/drawing/2014/main" id="{4363164A-1F67-7BBE-5796-C1638096DE2C}"/>
                  </a:ext>
                </a:extLst>
              </p:cNvPr>
              <p:cNvSpPr txBox="1">
                <a:spLocks noRot="1" noChangeAspect="1" noMove="1" noResize="1" noEditPoints="1" noAdjustHandles="1" noChangeArrowheads="1" noChangeShapeType="1" noTextEdit="1"/>
              </p:cNvSpPr>
              <p:nvPr/>
            </p:nvSpPr>
            <p:spPr>
              <a:xfrm>
                <a:off x="331605" y="5087057"/>
                <a:ext cx="8132291" cy="646331"/>
              </a:xfrm>
              <a:prstGeom prst="rect">
                <a:avLst/>
              </a:prstGeom>
              <a:blipFill>
                <a:blip r:embed="rId8"/>
                <a:stretch>
                  <a:fillRect l="-467" t="-5769" b="-13462"/>
                </a:stretch>
              </a:blipFill>
            </p:spPr>
            <p:txBody>
              <a:bodyPr/>
              <a:lstStyle/>
              <a:p>
                <a:r>
                  <a:rPr lang="ja-JP" altLang="en-US">
                    <a:noFill/>
                  </a:rPr>
                  <a:t> </a:t>
                </a:r>
              </a:p>
            </p:txBody>
          </p:sp>
        </mc:Fallback>
      </mc:AlternateContent>
      <p:sp>
        <p:nvSpPr>
          <p:cNvPr id="11" name="テキスト ボックス 10">
            <a:extLst>
              <a:ext uri="{FF2B5EF4-FFF2-40B4-BE49-F238E27FC236}">
                <a16:creationId xmlns:a16="http://schemas.microsoft.com/office/drawing/2014/main" id="{4F45CAB9-4817-8230-32B9-003559A5025F}"/>
              </a:ext>
            </a:extLst>
          </p:cNvPr>
          <p:cNvSpPr txBox="1"/>
          <p:nvPr/>
        </p:nvSpPr>
        <p:spPr>
          <a:xfrm>
            <a:off x="179512" y="6237312"/>
            <a:ext cx="8352927" cy="369332"/>
          </a:xfrm>
          <a:prstGeom prst="rect">
            <a:avLst/>
          </a:prstGeom>
          <a:noFill/>
        </p:spPr>
        <p:txBody>
          <a:bodyPr wrap="square" rtlCol="0">
            <a:spAutoFit/>
          </a:bodyPr>
          <a:lstStyle/>
          <a:p>
            <a:r>
              <a:rPr kumimoji="1" lang="ja-JP" altLang="en-US"/>
              <a:t>楕円曲線上の演算を用いる</a:t>
            </a:r>
            <a:r>
              <a:rPr kumimoji="1" lang="en-US" altLang="ja-JP" dirty="0"/>
              <a:t> Elliptic-curve Diffie-Hellman (ECDH)</a:t>
            </a:r>
            <a:r>
              <a:rPr kumimoji="1" lang="ja-JP" altLang="en-US"/>
              <a:t>もよく使われる</a:t>
            </a:r>
          </a:p>
        </p:txBody>
      </p:sp>
      <mc:AlternateContent xmlns:mc="http://schemas.openxmlformats.org/markup-compatibility/2006" xmlns:a14="http://schemas.microsoft.com/office/drawing/2010/main">
        <mc:Choice Requires="a14">
          <p:sp>
            <p:nvSpPr>
              <p:cNvPr id="12" name="テキスト ボックス 11">
                <a:extLst>
                  <a:ext uri="{FF2B5EF4-FFF2-40B4-BE49-F238E27FC236}">
                    <a16:creationId xmlns:a16="http://schemas.microsoft.com/office/drawing/2014/main" id="{F3DF32D9-A70C-EF64-0D08-F5A6DB06AACF}"/>
                  </a:ext>
                </a:extLst>
              </p:cNvPr>
              <p:cNvSpPr txBox="1"/>
              <p:nvPr/>
            </p:nvSpPr>
            <p:spPr>
              <a:xfrm>
                <a:off x="719241" y="1468388"/>
                <a:ext cx="2076594" cy="369332"/>
              </a:xfrm>
              <a:prstGeom prst="rect">
                <a:avLst/>
              </a:prstGeom>
              <a:noFill/>
            </p:spPr>
            <p:txBody>
              <a:bodyPr wrap="none" rtlCol="0">
                <a:spAutoFit/>
              </a:bodyPr>
              <a:lstStyle/>
              <a:p>
                <a14:m>
                  <m:oMath xmlns:m="http://schemas.openxmlformats.org/officeDocument/2006/math">
                    <m:r>
                      <a:rPr kumimoji="1" lang="en-US" altLang="ja-JP" b="0" i="1" smtClean="0">
                        <a:latin typeface="Cambria Math" panose="02040503050406030204" pitchFamily="18" charset="0"/>
                      </a:rPr>
                      <m:t>𝑔</m:t>
                    </m:r>
                  </m:oMath>
                </a14:m>
                <a:r>
                  <a:rPr kumimoji="1" lang="ja-JP" altLang="en-US"/>
                  <a:t>と</a:t>
                </a:r>
                <a14:m>
                  <m:oMath xmlns:m="http://schemas.openxmlformats.org/officeDocument/2006/math">
                    <m:r>
                      <a:rPr kumimoji="1" lang="en-US" altLang="ja-JP" b="0" i="1" smtClean="0">
                        <a:latin typeface="Cambria Math" panose="02040503050406030204" pitchFamily="18" charset="0"/>
                      </a:rPr>
                      <m:t>𝑝</m:t>
                    </m:r>
                  </m:oMath>
                </a14:m>
                <a:r>
                  <a:rPr kumimoji="1" lang="ja-JP" altLang="en-US"/>
                  <a:t>は既知とする</a:t>
                </a:r>
              </a:p>
            </p:txBody>
          </p:sp>
        </mc:Choice>
        <mc:Fallback xmlns="">
          <p:sp>
            <p:nvSpPr>
              <p:cNvPr id="12" name="テキスト ボックス 11">
                <a:extLst>
                  <a:ext uri="{FF2B5EF4-FFF2-40B4-BE49-F238E27FC236}">
                    <a16:creationId xmlns:a16="http://schemas.microsoft.com/office/drawing/2014/main" id="{F3DF32D9-A70C-EF64-0D08-F5A6DB06AACF}"/>
                  </a:ext>
                </a:extLst>
              </p:cNvPr>
              <p:cNvSpPr txBox="1">
                <a:spLocks noRot="1" noChangeAspect="1" noMove="1" noResize="1" noEditPoints="1" noAdjustHandles="1" noChangeArrowheads="1" noChangeShapeType="1" noTextEdit="1"/>
              </p:cNvSpPr>
              <p:nvPr/>
            </p:nvSpPr>
            <p:spPr>
              <a:xfrm>
                <a:off x="719241" y="1468388"/>
                <a:ext cx="2076594" cy="369332"/>
              </a:xfrm>
              <a:prstGeom prst="rect">
                <a:avLst/>
              </a:prstGeom>
              <a:blipFill>
                <a:blip r:embed="rId9"/>
                <a:stretch>
                  <a:fillRect t="-10000" r="-1212" b="-2333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4660085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ECF38ADF-47C2-AE90-B29C-D59F2B249773}"/>
              </a:ext>
            </a:extLst>
          </p:cNvPr>
          <p:cNvSpPr>
            <a:spLocks noGrp="1"/>
          </p:cNvSpPr>
          <p:nvPr>
            <p:ph type="body" sz="quarter" idx="10"/>
          </p:nvPr>
        </p:nvSpPr>
        <p:spPr/>
        <p:txBody>
          <a:bodyPr/>
          <a:lstStyle/>
          <a:p>
            <a:r>
              <a:rPr kumimoji="1" lang="ja-JP" altLang="en-US"/>
              <a:t>認証</a:t>
            </a:r>
          </a:p>
        </p:txBody>
      </p:sp>
      <p:sp>
        <p:nvSpPr>
          <p:cNvPr id="3" name="テキスト ボックス 2">
            <a:extLst>
              <a:ext uri="{FF2B5EF4-FFF2-40B4-BE49-F238E27FC236}">
                <a16:creationId xmlns:a16="http://schemas.microsoft.com/office/drawing/2014/main" id="{3F74843F-A887-7890-A5D6-89C94379B6FB}"/>
              </a:ext>
            </a:extLst>
          </p:cNvPr>
          <p:cNvSpPr txBox="1"/>
          <p:nvPr/>
        </p:nvSpPr>
        <p:spPr>
          <a:xfrm>
            <a:off x="323528" y="1268760"/>
            <a:ext cx="8280920" cy="646331"/>
          </a:xfrm>
          <a:prstGeom prst="rect">
            <a:avLst/>
          </a:prstGeom>
          <a:noFill/>
        </p:spPr>
        <p:txBody>
          <a:bodyPr wrap="square" rtlCol="0">
            <a:spAutoFit/>
          </a:bodyPr>
          <a:lstStyle/>
          <a:p>
            <a:r>
              <a:rPr kumimoji="1" lang="ja-JP" altLang="en-US"/>
              <a:t>鍵交換により通信路が暗号化されたとしても、通信相手が正しい相手であるかどうかはわからない</a:t>
            </a:r>
          </a:p>
        </p:txBody>
      </p:sp>
      <p:sp>
        <p:nvSpPr>
          <p:cNvPr id="4" name="テキスト ボックス 3">
            <a:extLst>
              <a:ext uri="{FF2B5EF4-FFF2-40B4-BE49-F238E27FC236}">
                <a16:creationId xmlns:a16="http://schemas.microsoft.com/office/drawing/2014/main" id="{11EF5CCD-117B-75E0-4B75-213563A90A4A}"/>
              </a:ext>
            </a:extLst>
          </p:cNvPr>
          <p:cNvSpPr txBox="1"/>
          <p:nvPr/>
        </p:nvSpPr>
        <p:spPr>
          <a:xfrm>
            <a:off x="3679897" y="6021288"/>
            <a:ext cx="3312368" cy="523220"/>
          </a:xfrm>
          <a:prstGeom prst="rect">
            <a:avLst/>
          </a:prstGeom>
          <a:noFill/>
        </p:spPr>
        <p:txBody>
          <a:bodyPr wrap="square" rtlCol="0">
            <a:spAutoFit/>
          </a:bodyPr>
          <a:lstStyle/>
          <a:p>
            <a:r>
              <a:rPr kumimoji="1" lang="ja-JP" altLang="en-US" sz="2800"/>
              <a:t>公開鍵による認証</a:t>
            </a:r>
          </a:p>
        </p:txBody>
      </p:sp>
      <p:sp>
        <p:nvSpPr>
          <p:cNvPr id="5" name="右矢印 4">
            <a:extLst>
              <a:ext uri="{FF2B5EF4-FFF2-40B4-BE49-F238E27FC236}">
                <a16:creationId xmlns:a16="http://schemas.microsoft.com/office/drawing/2014/main" id="{3C3FBA07-E9F1-8A73-A7E4-A985DC4F36EF}"/>
              </a:ext>
            </a:extLst>
          </p:cNvPr>
          <p:cNvSpPr/>
          <p:nvPr/>
        </p:nvSpPr>
        <p:spPr>
          <a:xfrm>
            <a:off x="2743793" y="6074166"/>
            <a:ext cx="720080" cy="472698"/>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6" name="Picture 2" descr="詐欺の電話のイラスト（男性）">
            <a:extLst>
              <a:ext uri="{FF2B5EF4-FFF2-40B4-BE49-F238E27FC236}">
                <a16:creationId xmlns:a16="http://schemas.microsoft.com/office/drawing/2014/main" id="{15A0764E-91E9-D550-C16B-F17112B0EB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2220" y="1909193"/>
            <a:ext cx="2810053" cy="2810053"/>
          </a:xfrm>
          <a:prstGeom prst="rect">
            <a:avLst/>
          </a:prstGeom>
          <a:noFill/>
          <a:extLst>
            <a:ext uri="{909E8E84-426E-40DD-AFC4-6F175D3DCCD1}">
              <a14:hiddenFill xmlns:a14="http://schemas.microsoft.com/office/drawing/2010/main">
                <a:solidFill>
                  <a:srgbClr val="FFFFFF"/>
                </a:solidFill>
              </a14:hiddenFill>
            </a:ext>
          </a:extLst>
        </p:spPr>
      </p:pic>
      <p:sp>
        <p:nvSpPr>
          <p:cNvPr id="6" name="テキスト ボックス 5">
            <a:extLst>
              <a:ext uri="{FF2B5EF4-FFF2-40B4-BE49-F238E27FC236}">
                <a16:creationId xmlns:a16="http://schemas.microsoft.com/office/drawing/2014/main" id="{492A05C6-30D9-A2F5-B3C0-478327894EA1}"/>
              </a:ext>
            </a:extLst>
          </p:cNvPr>
          <p:cNvSpPr txBox="1"/>
          <p:nvPr/>
        </p:nvSpPr>
        <p:spPr>
          <a:xfrm>
            <a:off x="1115616" y="4915152"/>
            <a:ext cx="6545382" cy="646331"/>
          </a:xfrm>
          <a:prstGeom prst="rect">
            <a:avLst/>
          </a:prstGeom>
          <a:noFill/>
        </p:spPr>
        <p:txBody>
          <a:bodyPr wrap="none" rtlCol="0">
            <a:spAutoFit/>
          </a:bodyPr>
          <a:lstStyle/>
          <a:p>
            <a:r>
              <a:rPr kumimoji="1" lang="ja-JP" altLang="en-US"/>
              <a:t>クライアントから見てホストは正しい相手か？</a:t>
            </a:r>
            <a:r>
              <a:rPr kumimoji="1" lang="en-US" altLang="ja-JP" dirty="0"/>
              <a:t> </a:t>
            </a:r>
            <a:r>
              <a:rPr kumimoji="1" lang="ja-JP" altLang="en-US"/>
              <a:t>→</a:t>
            </a:r>
            <a:r>
              <a:rPr kumimoji="1" lang="en-US" altLang="ja-JP" dirty="0"/>
              <a:t> </a:t>
            </a:r>
            <a:r>
              <a:rPr kumimoji="1" lang="ja-JP" altLang="en-US"/>
              <a:t>ホスト認証</a:t>
            </a:r>
            <a:endParaRPr kumimoji="1" lang="en-US" altLang="ja-JP" dirty="0"/>
          </a:p>
          <a:p>
            <a:r>
              <a:rPr lang="ja-JP" altLang="en-US"/>
              <a:t>ホストから見てクライアントは正しい相手か？</a:t>
            </a:r>
            <a:r>
              <a:rPr lang="en-US" altLang="ja-JP" dirty="0"/>
              <a:t> </a:t>
            </a:r>
            <a:r>
              <a:rPr lang="ja-JP" altLang="en-US"/>
              <a:t>→</a:t>
            </a:r>
            <a:r>
              <a:rPr lang="en-US" altLang="ja-JP" dirty="0"/>
              <a:t> </a:t>
            </a:r>
            <a:r>
              <a:rPr lang="ja-JP" altLang="en-US"/>
              <a:t>ユーザ認証</a:t>
            </a:r>
            <a:endParaRPr kumimoji="1" lang="ja-JP" altLang="en-US"/>
          </a:p>
        </p:txBody>
      </p:sp>
    </p:spTree>
    <p:extLst>
      <p:ext uri="{BB962C8B-B14F-4D97-AF65-F5344CB8AC3E}">
        <p14:creationId xmlns:p14="http://schemas.microsoft.com/office/powerpoint/2010/main" val="25862292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D379E94E-81E2-6DB7-437E-7C7B4FEE9E70}"/>
              </a:ext>
            </a:extLst>
          </p:cNvPr>
          <p:cNvSpPr>
            <a:spLocks noGrp="1"/>
          </p:cNvSpPr>
          <p:nvPr>
            <p:ph type="body" sz="quarter" idx="10"/>
          </p:nvPr>
        </p:nvSpPr>
        <p:spPr/>
        <p:txBody>
          <a:bodyPr/>
          <a:lstStyle/>
          <a:p>
            <a:r>
              <a:rPr lang="ja-JP" altLang="en-US"/>
              <a:t>認証とは</a:t>
            </a:r>
          </a:p>
        </p:txBody>
      </p:sp>
      <p:pic>
        <p:nvPicPr>
          <p:cNvPr id="3" name="Picture 4" descr="笑う男性のイラスト（段階2）">
            <a:extLst>
              <a:ext uri="{FF2B5EF4-FFF2-40B4-BE49-F238E27FC236}">
                <a16:creationId xmlns:a16="http://schemas.microsoft.com/office/drawing/2014/main" id="{1D354997-78FC-B96B-0269-361909A5E9E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04277" y="3126321"/>
            <a:ext cx="672081" cy="90333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descr="悪人のイラスト「黒いシルエット」">
            <a:extLst>
              <a:ext uri="{FF2B5EF4-FFF2-40B4-BE49-F238E27FC236}">
                <a16:creationId xmlns:a16="http://schemas.microsoft.com/office/drawing/2014/main" id="{38E30A24-15DE-3790-7431-A1F972C4E0E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74409" y="4326460"/>
            <a:ext cx="805282" cy="95582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4" descr="閉まったドアのイラスト">
            <a:extLst>
              <a:ext uri="{FF2B5EF4-FFF2-40B4-BE49-F238E27FC236}">
                <a16:creationId xmlns:a16="http://schemas.microsoft.com/office/drawing/2014/main" id="{B86DB41F-40F6-391E-52EC-BCB0AF0188A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92080" y="3573016"/>
            <a:ext cx="687804" cy="105410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6" descr="宝箱・宝物のイラスト">
            <a:extLst>
              <a:ext uri="{FF2B5EF4-FFF2-40B4-BE49-F238E27FC236}">
                <a16:creationId xmlns:a16="http://schemas.microsoft.com/office/drawing/2014/main" id="{19B61629-E7F2-0E24-F0FE-2D5C1B04806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979884" y="3641152"/>
            <a:ext cx="940975" cy="903336"/>
          </a:xfrm>
          <a:prstGeom prst="rect">
            <a:avLst/>
          </a:prstGeom>
          <a:noFill/>
          <a:extLst>
            <a:ext uri="{909E8E84-426E-40DD-AFC4-6F175D3DCCD1}">
              <a14:hiddenFill xmlns:a14="http://schemas.microsoft.com/office/drawing/2010/main">
                <a:solidFill>
                  <a:srgbClr val="FFFFFF"/>
                </a:solidFill>
              </a14:hiddenFill>
            </a:ext>
          </a:extLst>
        </p:spPr>
      </p:pic>
      <p:sp>
        <p:nvSpPr>
          <p:cNvPr id="7" name="右矢印 6">
            <a:extLst>
              <a:ext uri="{FF2B5EF4-FFF2-40B4-BE49-F238E27FC236}">
                <a16:creationId xmlns:a16="http://schemas.microsoft.com/office/drawing/2014/main" id="{961682BE-AE33-7D2F-6F64-290D564AF7A1}"/>
              </a:ext>
            </a:extLst>
          </p:cNvPr>
          <p:cNvSpPr/>
          <p:nvPr/>
        </p:nvSpPr>
        <p:spPr>
          <a:xfrm rot="1800000">
            <a:off x="4147585" y="3675811"/>
            <a:ext cx="1075413" cy="293679"/>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右矢印 7">
            <a:extLst>
              <a:ext uri="{FF2B5EF4-FFF2-40B4-BE49-F238E27FC236}">
                <a16:creationId xmlns:a16="http://schemas.microsoft.com/office/drawing/2014/main" id="{AC53D581-B648-42A9-3409-76050F11883F}"/>
              </a:ext>
            </a:extLst>
          </p:cNvPr>
          <p:cNvSpPr/>
          <p:nvPr/>
        </p:nvSpPr>
        <p:spPr>
          <a:xfrm rot="19800000">
            <a:off x="4147585" y="4482514"/>
            <a:ext cx="1075413" cy="293679"/>
          </a:xfrm>
          <a:prstGeom prst="rightArrow">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十字形 8">
            <a:extLst>
              <a:ext uri="{FF2B5EF4-FFF2-40B4-BE49-F238E27FC236}">
                <a16:creationId xmlns:a16="http://schemas.microsoft.com/office/drawing/2014/main" id="{AF192DEB-9480-315B-616E-8C3692DF2F8B}"/>
              </a:ext>
            </a:extLst>
          </p:cNvPr>
          <p:cNvSpPr/>
          <p:nvPr/>
        </p:nvSpPr>
        <p:spPr>
          <a:xfrm rot="2700000">
            <a:off x="3390512" y="4430930"/>
            <a:ext cx="746884" cy="746884"/>
          </a:xfrm>
          <a:prstGeom prst="plus">
            <a:avLst>
              <a:gd name="adj" fmla="val 45153"/>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ドーナツ 9">
            <a:extLst>
              <a:ext uri="{FF2B5EF4-FFF2-40B4-BE49-F238E27FC236}">
                <a16:creationId xmlns:a16="http://schemas.microsoft.com/office/drawing/2014/main" id="{366070B1-762D-522E-7BA9-07835F68D94B}"/>
              </a:ext>
            </a:extLst>
          </p:cNvPr>
          <p:cNvSpPr/>
          <p:nvPr/>
        </p:nvSpPr>
        <p:spPr>
          <a:xfrm>
            <a:off x="3434384" y="3296262"/>
            <a:ext cx="689780" cy="689780"/>
          </a:xfrm>
          <a:prstGeom prst="donut">
            <a:avLst>
              <a:gd name="adj" fmla="val 11208"/>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1" name="テキスト ボックス 10">
            <a:extLst>
              <a:ext uri="{FF2B5EF4-FFF2-40B4-BE49-F238E27FC236}">
                <a16:creationId xmlns:a16="http://schemas.microsoft.com/office/drawing/2014/main" id="{7AD1622B-78D1-A56D-D6F9-9B7E85F394DB}"/>
              </a:ext>
            </a:extLst>
          </p:cNvPr>
          <p:cNvSpPr txBox="1"/>
          <p:nvPr/>
        </p:nvSpPr>
        <p:spPr>
          <a:xfrm>
            <a:off x="258312" y="1104733"/>
            <a:ext cx="8084264" cy="523220"/>
          </a:xfrm>
          <a:prstGeom prst="rect">
            <a:avLst/>
          </a:prstGeom>
          <a:noFill/>
        </p:spPr>
        <p:txBody>
          <a:bodyPr wrap="none" rtlCol="0">
            <a:spAutoFit/>
          </a:bodyPr>
          <a:lstStyle/>
          <a:p>
            <a:r>
              <a:rPr lang="ja-JP" altLang="en-US" sz="2800"/>
              <a:t>ある行為を行うことができる権利を確認すること</a:t>
            </a:r>
            <a:endParaRPr kumimoji="1" lang="ja-JP" altLang="en-US" sz="2800"/>
          </a:p>
        </p:txBody>
      </p:sp>
      <p:sp>
        <p:nvSpPr>
          <p:cNvPr id="12" name="テキスト ボックス 11">
            <a:extLst>
              <a:ext uri="{FF2B5EF4-FFF2-40B4-BE49-F238E27FC236}">
                <a16:creationId xmlns:a16="http://schemas.microsoft.com/office/drawing/2014/main" id="{712ADFA7-43F6-9B8C-BAF2-E7FA67044EC7}"/>
              </a:ext>
            </a:extLst>
          </p:cNvPr>
          <p:cNvSpPr txBox="1"/>
          <p:nvPr/>
        </p:nvSpPr>
        <p:spPr>
          <a:xfrm>
            <a:off x="489144" y="1942796"/>
            <a:ext cx="7622600" cy="707886"/>
          </a:xfrm>
          <a:prstGeom prst="rect">
            <a:avLst/>
          </a:prstGeom>
          <a:noFill/>
        </p:spPr>
        <p:txBody>
          <a:bodyPr wrap="none" rtlCol="0">
            <a:spAutoFit/>
          </a:bodyPr>
          <a:lstStyle/>
          <a:p>
            <a:r>
              <a:rPr kumimoji="1" lang="ja-JP" altLang="en-US" sz="2000"/>
              <a:t>自分の家には、自分か、自分が許可した人だけ出入りして欲しい</a:t>
            </a:r>
            <a:endParaRPr kumimoji="1" lang="en-US" altLang="ja-JP" sz="2000" dirty="0"/>
          </a:p>
          <a:p>
            <a:r>
              <a:rPr lang="ja-JP" altLang="en-US" sz="2000"/>
              <a:t>不特定多数が出入りしては困る</a:t>
            </a:r>
            <a:endParaRPr kumimoji="1" lang="ja-JP" altLang="en-US" sz="2000"/>
          </a:p>
        </p:txBody>
      </p:sp>
      <p:pic>
        <p:nvPicPr>
          <p:cNvPr id="13" name="Picture 2" descr="鍵のイラスト">
            <a:extLst>
              <a:ext uri="{FF2B5EF4-FFF2-40B4-BE49-F238E27FC236}">
                <a16:creationId xmlns:a16="http://schemas.microsoft.com/office/drawing/2014/main" id="{C3C95A3C-A3AB-1054-AA6E-31727C563D85}"/>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740263" y="3296262"/>
            <a:ext cx="672081" cy="672081"/>
          </a:xfrm>
          <a:prstGeom prst="rect">
            <a:avLst/>
          </a:prstGeom>
          <a:noFill/>
          <a:extLst>
            <a:ext uri="{909E8E84-426E-40DD-AFC4-6F175D3DCCD1}">
              <a14:hiddenFill xmlns:a14="http://schemas.microsoft.com/office/drawing/2010/main">
                <a:solidFill>
                  <a:srgbClr val="FFFFFF"/>
                </a:solidFill>
              </a14:hiddenFill>
            </a:ext>
          </a:extLst>
        </p:spPr>
      </p:pic>
      <p:sp>
        <p:nvSpPr>
          <p:cNvPr id="14" name="テキスト ボックス 13">
            <a:extLst>
              <a:ext uri="{FF2B5EF4-FFF2-40B4-BE49-F238E27FC236}">
                <a16:creationId xmlns:a16="http://schemas.microsoft.com/office/drawing/2014/main" id="{9733CCF9-5F9C-9691-58CF-EE5705D56B11}"/>
              </a:ext>
            </a:extLst>
          </p:cNvPr>
          <p:cNvSpPr txBox="1"/>
          <p:nvPr/>
        </p:nvSpPr>
        <p:spPr>
          <a:xfrm>
            <a:off x="395536" y="5525304"/>
            <a:ext cx="8186857" cy="830997"/>
          </a:xfrm>
          <a:prstGeom prst="rect">
            <a:avLst/>
          </a:prstGeom>
          <a:noFill/>
        </p:spPr>
        <p:txBody>
          <a:bodyPr wrap="none" rtlCol="0">
            <a:spAutoFit/>
          </a:bodyPr>
          <a:lstStyle/>
          <a:p>
            <a:r>
              <a:rPr kumimoji="1" lang="ja-JP" altLang="en-US" sz="2400"/>
              <a:t>鍵を持っている人だけ出入りを許可する</a:t>
            </a:r>
            <a:endParaRPr kumimoji="1" lang="en-US" altLang="ja-JP" sz="2400" dirty="0"/>
          </a:p>
          <a:p>
            <a:r>
              <a:rPr lang="ja-JP" altLang="en-US" sz="2400"/>
              <a:t>→鍵の所持によって「出入りの権利」を「認証」している</a:t>
            </a:r>
            <a:endParaRPr kumimoji="1" lang="ja-JP" altLang="en-US" sz="2400"/>
          </a:p>
        </p:txBody>
      </p:sp>
    </p:spTree>
    <p:extLst>
      <p:ext uri="{BB962C8B-B14F-4D97-AF65-F5344CB8AC3E}">
        <p14:creationId xmlns:p14="http://schemas.microsoft.com/office/powerpoint/2010/main" val="42383438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3F502FD9-A172-1E2F-634B-3B892C18A8A4}"/>
              </a:ext>
            </a:extLst>
          </p:cNvPr>
          <p:cNvSpPr>
            <a:spLocks noGrp="1"/>
          </p:cNvSpPr>
          <p:nvPr>
            <p:ph type="body" sz="quarter" idx="10"/>
          </p:nvPr>
        </p:nvSpPr>
        <p:spPr/>
        <p:txBody>
          <a:bodyPr/>
          <a:lstStyle/>
          <a:p>
            <a:r>
              <a:rPr lang="ja-JP" altLang="en-US"/>
              <a:t>認証の種類</a:t>
            </a:r>
          </a:p>
        </p:txBody>
      </p:sp>
      <p:pic>
        <p:nvPicPr>
          <p:cNvPr id="3" name="Picture 2" descr="鍵のイラスト">
            <a:extLst>
              <a:ext uri="{FF2B5EF4-FFF2-40B4-BE49-F238E27FC236}">
                <a16:creationId xmlns:a16="http://schemas.microsoft.com/office/drawing/2014/main" id="{87187B71-448A-F58C-B922-443FC0BF622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1966" y="1547638"/>
            <a:ext cx="883816" cy="88381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シンプルな南京錠のイラスト">
            <a:extLst>
              <a:ext uri="{FF2B5EF4-FFF2-40B4-BE49-F238E27FC236}">
                <a16:creationId xmlns:a16="http://schemas.microsoft.com/office/drawing/2014/main" id="{A4167A4D-4DF5-B9F4-51D3-DC14BE8B0D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6079" y="1528119"/>
            <a:ext cx="883816" cy="883816"/>
          </a:xfrm>
          <a:prstGeom prst="rect">
            <a:avLst/>
          </a:prstGeom>
          <a:noFill/>
          <a:extLst>
            <a:ext uri="{909E8E84-426E-40DD-AFC4-6F175D3DCCD1}">
              <a14:hiddenFill xmlns:a14="http://schemas.microsoft.com/office/drawing/2010/main">
                <a:solidFill>
                  <a:srgbClr val="FFFFFF"/>
                </a:solidFill>
              </a14:hiddenFill>
            </a:ext>
          </a:extLst>
        </p:spPr>
      </p:pic>
      <p:sp>
        <p:nvSpPr>
          <p:cNvPr id="5" name="テキスト ボックス 4">
            <a:extLst>
              <a:ext uri="{FF2B5EF4-FFF2-40B4-BE49-F238E27FC236}">
                <a16:creationId xmlns:a16="http://schemas.microsoft.com/office/drawing/2014/main" id="{BA74EE5B-EC28-4AB8-3FEF-7EA4F4FA259B}"/>
              </a:ext>
            </a:extLst>
          </p:cNvPr>
          <p:cNvSpPr txBox="1"/>
          <p:nvPr/>
        </p:nvSpPr>
        <p:spPr>
          <a:xfrm>
            <a:off x="179512" y="1052736"/>
            <a:ext cx="1415772" cy="461665"/>
          </a:xfrm>
          <a:prstGeom prst="rect">
            <a:avLst/>
          </a:prstGeom>
          <a:noFill/>
        </p:spPr>
        <p:txBody>
          <a:bodyPr wrap="none" rtlCol="0">
            <a:spAutoFit/>
          </a:bodyPr>
          <a:lstStyle/>
          <a:p>
            <a:r>
              <a:rPr kumimoji="1" lang="ja-JP" altLang="en-US" sz="2400">
                <a:solidFill>
                  <a:srgbClr val="011893"/>
                </a:solidFill>
              </a:rPr>
              <a:t>所持認証</a:t>
            </a:r>
          </a:p>
        </p:txBody>
      </p:sp>
      <p:sp>
        <p:nvSpPr>
          <p:cNvPr id="6" name="テキスト ボックス 5">
            <a:extLst>
              <a:ext uri="{FF2B5EF4-FFF2-40B4-BE49-F238E27FC236}">
                <a16:creationId xmlns:a16="http://schemas.microsoft.com/office/drawing/2014/main" id="{CB2FCBD4-9628-6E12-40FB-0309077C3914}"/>
              </a:ext>
            </a:extLst>
          </p:cNvPr>
          <p:cNvSpPr txBox="1"/>
          <p:nvPr/>
        </p:nvSpPr>
        <p:spPr>
          <a:xfrm>
            <a:off x="179512" y="2799876"/>
            <a:ext cx="1415772" cy="461665"/>
          </a:xfrm>
          <a:prstGeom prst="rect">
            <a:avLst/>
          </a:prstGeom>
          <a:noFill/>
        </p:spPr>
        <p:txBody>
          <a:bodyPr wrap="none" rtlCol="0">
            <a:spAutoFit/>
          </a:bodyPr>
          <a:lstStyle/>
          <a:p>
            <a:r>
              <a:rPr kumimoji="1" lang="ja-JP" altLang="en-US" sz="2400">
                <a:solidFill>
                  <a:srgbClr val="011893"/>
                </a:solidFill>
              </a:rPr>
              <a:t>知識認証</a:t>
            </a:r>
          </a:p>
        </p:txBody>
      </p:sp>
      <p:pic>
        <p:nvPicPr>
          <p:cNvPr id="7" name="Picture 4" descr="笑う男性のイラスト（段階2）">
            <a:extLst>
              <a:ext uri="{FF2B5EF4-FFF2-40B4-BE49-F238E27FC236}">
                <a16:creationId xmlns:a16="http://schemas.microsoft.com/office/drawing/2014/main" id="{1CBDD91A-D03C-EFCE-3A1E-39B438170EF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1907" y="3688498"/>
            <a:ext cx="672081" cy="903335"/>
          </a:xfrm>
          <a:prstGeom prst="rect">
            <a:avLst/>
          </a:prstGeom>
          <a:noFill/>
          <a:extLst>
            <a:ext uri="{909E8E84-426E-40DD-AFC4-6F175D3DCCD1}">
              <a14:hiddenFill xmlns:a14="http://schemas.microsoft.com/office/drawing/2010/main">
                <a:solidFill>
                  <a:srgbClr val="FFFFFF"/>
                </a:solidFill>
              </a14:hiddenFill>
            </a:ext>
          </a:extLst>
        </p:spPr>
      </p:pic>
      <p:sp>
        <p:nvSpPr>
          <p:cNvPr id="8" name="雲 7">
            <a:extLst>
              <a:ext uri="{FF2B5EF4-FFF2-40B4-BE49-F238E27FC236}">
                <a16:creationId xmlns:a16="http://schemas.microsoft.com/office/drawing/2014/main" id="{1C9D5B6E-79EA-DF62-885D-5B26D51AC3E2}"/>
              </a:ext>
            </a:extLst>
          </p:cNvPr>
          <p:cNvSpPr/>
          <p:nvPr/>
        </p:nvSpPr>
        <p:spPr>
          <a:xfrm>
            <a:off x="1060585" y="3293174"/>
            <a:ext cx="922837" cy="654060"/>
          </a:xfrm>
          <a:prstGeom prst="clou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F662FC3D-F989-C7BA-4102-21442E1A3BDF}"/>
              </a:ext>
            </a:extLst>
          </p:cNvPr>
          <p:cNvSpPr txBox="1"/>
          <p:nvPr/>
        </p:nvSpPr>
        <p:spPr>
          <a:xfrm>
            <a:off x="1154906" y="3442405"/>
            <a:ext cx="1006636" cy="369332"/>
          </a:xfrm>
          <a:prstGeom prst="rect">
            <a:avLst/>
          </a:prstGeom>
          <a:noFill/>
        </p:spPr>
        <p:txBody>
          <a:bodyPr wrap="square" rtlCol="0">
            <a:spAutoFit/>
          </a:bodyPr>
          <a:lstStyle/>
          <a:p>
            <a:r>
              <a:rPr lang="en-US" altLang="ja-JP" dirty="0"/>
              <a:t>1234</a:t>
            </a:r>
            <a:endParaRPr kumimoji="1" lang="ja-JP" altLang="en-US"/>
          </a:p>
        </p:txBody>
      </p:sp>
      <p:pic>
        <p:nvPicPr>
          <p:cNvPr id="10" name="Picture 4" descr="笑う男性のイラスト（段階2）">
            <a:extLst>
              <a:ext uri="{FF2B5EF4-FFF2-40B4-BE49-F238E27FC236}">
                <a16:creationId xmlns:a16="http://schemas.microsoft.com/office/drawing/2014/main" id="{481E3534-489E-1D39-BA64-59A7CE0587D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69101" y="1537878"/>
            <a:ext cx="672081" cy="903335"/>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指で数えている男の子のイラスト（1）">
            <a:extLst>
              <a:ext uri="{FF2B5EF4-FFF2-40B4-BE49-F238E27FC236}">
                <a16:creationId xmlns:a16="http://schemas.microsoft.com/office/drawing/2014/main" id="{7C8C3987-55A0-8C2F-DCB4-8425470460D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8509" y="5593724"/>
            <a:ext cx="1023881" cy="93173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2" descr="指紋のマーク">
            <a:extLst>
              <a:ext uri="{FF2B5EF4-FFF2-40B4-BE49-F238E27FC236}">
                <a16:creationId xmlns:a16="http://schemas.microsoft.com/office/drawing/2014/main" id="{AB5DF585-D41E-EBC8-ECBB-AC791A8AE286}"/>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41224" y="5148653"/>
            <a:ext cx="654060" cy="654060"/>
          </a:xfrm>
          <a:prstGeom prst="rect">
            <a:avLst/>
          </a:prstGeom>
          <a:noFill/>
          <a:extLst>
            <a:ext uri="{909E8E84-426E-40DD-AFC4-6F175D3DCCD1}">
              <a14:hiddenFill xmlns:a14="http://schemas.microsoft.com/office/drawing/2010/main">
                <a:solidFill>
                  <a:srgbClr val="FFFFFF"/>
                </a:solidFill>
              </a14:hiddenFill>
            </a:ext>
          </a:extLst>
        </p:spPr>
      </p:pic>
      <p:sp>
        <p:nvSpPr>
          <p:cNvPr id="13" name="テキスト ボックス 12">
            <a:extLst>
              <a:ext uri="{FF2B5EF4-FFF2-40B4-BE49-F238E27FC236}">
                <a16:creationId xmlns:a16="http://schemas.microsoft.com/office/drawing/2014/main" id="{C94D7DCC-AB1D-1C6E-268C-FC6B54C4C181}"/>
              </a:ext>
            </a:extLst>
          </p:cNvPr>
          <p:cNvSpPr txBox="1"/>
          <p:nvPr/>
        </p:nvSpPr>
        <p:spPr>
          <a:xfrm>
            <a:off x="179512" y="4761686"/>
            <a:ext cx="1415772" cy="461665"/>
          </a:xfrm>
          <a:prstGeom prst="rect">
            <a:avLst/>
          </a:prstGeom>
          <a:noFill/>
        </p:spPr>
        <p:txBody>
          <a:bodyPr wrap="none" rtlCol="0">
            <a:spAutoFit/>
          </a:bodyPr>
          <a:lstStyle/>
          <a:p>
            <a:r>
              <a:rPr kumimoji="1" lang="ja-JP" altLang="en-US" sz="2400">
                <a:solidFill>
                  <a:srgbClr val="011893"/>
                </a:solidFill>
              </a:rPr>
              <a:t>生体認証</a:t>
            </a:r>
          </a:p>
        </p:txBody>
      </p:sp>
      <p:pic>
        <p:nvPicPr>
          <p:cNvPr id="14" name="Picture 18" descr="タブレットPCのイラスト">
            <a:extLst>
              <a:ext uri="{FF2B5EF4-FFF2-40B4-BE49-F238E27FC236}">
                <a16:creationId xmlns:a16="http://schemas.microsoft.com/office/drawing/2014/main" id="{916484EA-ADA1-15BA-A973-F0FEA726CA4C}"/>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388237" y="5732840"/>
            <a:ext cx="851658" cy="792042"/>
          </a:xfrm>
          <a:prstGeom prst="rect">
            <a:avLst/>
          </a:prstGeom>
          <a:noFill/>
          <a:extLst>
            <a:ext uri="{909E8E84-426E-40DD-AFC4-6F175D3DCCD1}">
              <a14:hiddenFill xmlns:a14="http://schemas.microsoft.com/office/drawing/2010/main">
                <a:solidFill>
                  <a:srgbClr val="FFFFFF"/>
                </a:solidFill>
              </a14:hiddenFill>
            </a:ext>
          </a:extLst>
        </p:spPr>
      </p:pic>
      <p:sp>
        <p:nvSpPr>
          <p:cNvPr id="15" name="右矢印 14">
            <a:extLst>
              <a:ext uri="{FF2B5EF4-FFF2-40B4-BE49-F238E27FC236}">
                <a16:creationId xmlns:a16="http://schemas.microsoft.com/office/drawing/2014/main" id="{BBAAE398-CC89-9947-0CD6-A8FF027C6DA7}"/>
              </a:ext>
            </a:extLst>
          </p:cNvPr>
          <p:cNvSpPr/>
          <p:nvPr/>
        </p:nvSpPr>
        <p:spPr>
          <a:xfrm>
            <a:off x="1805646" y="1872148"/>
            <a:ext cx="533673" cy="284932"/>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右矢印 15">
            <a:extLst>
              <a:ext uri="{FF2B5EF4-FFF2-40B4-BE49-F238E27FC236}">
                <a16:creationId xmlns:a16="http://schemas.microsoft.com/office/drawing/2014/main" id="{926A3105-8500-76A9-2B76-830012A0498E}"/>
              </a:ext>
            </a:extLst>
          </p:cNvPr>
          <p:cNvSpPr/>
          <p:nvPr/>
        </p:nvSpPr>
        <p:spPr>
          <a:xfrm>
            <a:off x="1805646" y="3959965"/>
            <a:ext cx="533673" cy="284932"/>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右矢印 16">
            <a:extLst>
              <a:ext uri="{FF2B5EF4-FFF2-40B4-BE49-F238E27FC236}">
                <a16:creationId xmlns:a16="http://schemas.microsoft.com/office/drawing/2014/main" id="{40AAEAF6-D383-1EDB-CEF2-65F7F1B79260}"/>
              </a:ext>
            </a:extLst>
          </p:cNvPr>
          <p:cNvSpPr/>
          <p:nvPr/>
        </p:nvSpPr>
        <p:spPr>
          <a:xfrm>
            <a:off x="1805646" y="5949422"/>
            <a:ext cx="533673" cy="284932"/>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BD550A8E-0515-0693-3525-2A376AD2020B}"/>
              </a:ext>
            </a:extLst>
          </p:cNvPr>
          <p:cNvSpPr txBox="1"/>
          <p:nvPr/>
        </p:nvSpPr>
        <p:spPr>
          <a:xfrm>
            <a:off x="3563888" y="1489931"/>
            <a:ext cx="5057795" cy="707886"/>
          </a:xfrm>
          <a:prstGeom prst="rect">
            <a:avLst/>
          </a:prstGeom>
          <a:noFill/>
        </p:spPr>
        <p:txBody>
          <a:bodyPr wrap="none" rtlCol="0">
            <a:spAutoFit/>
          </a:bodyPr>
          <a:lstStyle/>
          <a:p>
            <a:r>
              <a:rPr kumimoji="1" lang="ja-JP" altLang="en-US" sz="2000"/>
              <a:t>何かを所持していることをもって認証する</a:t>
            </a:r>
            <a:endParaRPr kumimoji="1" lang="en-US" altLang="ja-JP" sz="2000" dirty="0"/>
          </a:p>
          <a:p>
            <a:r>
              <a:rPr lang="ja-JP" altLang="en-US" sz="2000"/>
              <a:t>例：家の鍵など</a:t>
            </a:r>
            <a:endParaRPr kumimoji="1" lang="ja-JP" altLang="en-US" sz="2000"/>
          </a:p>
        </p:txBody>
      </p:sp>
      <p:sp>
        <p:nvSpPr>
          <p:cNvPr id="19" name="テキスト ボックス 18">
            <a:extLst>
              <a:ext uri="{FF2B5EF4-FFF2-40B4-BE49-F238E27FC236}">
                <a16:creationId xmlns:a16="http://schemas.microsoft.com/office/drawing/2014/main" id="{17A398EC-F0D5-4500-27D1-1C94D0094E1A}"/>
              </a:ext>
            </a:extLst>
          </p:cNvPr>
          <p:cNvSpPr txBox="1"/>
          <p:nvPr/>
        </p:nvSpPr>
        <p:spPr>
          <a:xfrm>
            <a:off x="3654968" y="3506868"/>
            <a:ext cx="4887877" cy="707886"/>
          </a:xfrm>
          <a:prstGeom prst="rect">
            <a:avLst/>
          </a:prstGeom>
          <a:noFill/>
        </p:spPr>
        <p:txBody>
          <a:bodyPr wrap="none" rtlCol="0">
            <a:spAutoFit/>
          </a:bodyPr>
          <a:lstStyle/>
          <a:p>
            <a:r>
              <a:rPr kumimoji="1" lang="ja-JP" altLang="en-US" sz="2000" b="1"/>
              <a:t>何かを知っていることをもって認証する</a:t>
            </a:r>
            <a:endParaRPr kumimoji="1" lang="en-US" altLang="ja-JP" sz="2000" b="1" dirty="0"/>
          </a:p>
          <a:p>
            <a:r>
              <a:rPr lang="ja-JP" altLang="en-US" sz="2000" b="1"/>
              <a:t>例：暗証番号やパスワード等</a:t>
            </a:r>
            <a:endParaRPr lang="en-US" altLang="ja-JP" sz="2000" b="1" dirty="0"/>
          </a:p>
        </p:txBody>
      </p:sp>
      <p:pic>
        <p:nvPicPr>
          <p:cNvPr id="20" name="Picture 2" descr="ATM・キャッシュディスペンサーのイラスト">
            <a:extLst>
              <a:ext uri="{FF2B5EF4-FFF2-40B4-BE49-F238E27FC236}">
                <a16:creationId xmlns:a16="http://schemas.microsoft.com/office/drawing/2014/main" id="{EA4DDFB5-647A-88F2-795F-ED9542467842}"/>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339319" y="3506868"/>
            <a:ext cx="1063280" cy="1137198"/>
          </a:xfrm>
          <a:prstGeom prst="rect">
            <a:avLst/>
          </a:prstGeom>
          <a:noFill/>
          <a:extLst>
            <a:ext uri="{909E8E84-426E-40DD-AFC4-6F175D3DCCD1}">
              <a14:hiddenFill xmlns:a14="http://schemas.microsoft.com/office/drawing/2010/main">
                <a:solidFill>
                  <a:srgbClr val="FFFFFF"/>
                </a:solidFill>
              </a14:hiddenFill>
            </a:ext>
          </a:extLst>
        </p:spPr>
      </p:pic>
      <p:sp>
        <p:nvSpPr>
          <p:cNvPr id="21" name="テキスト ボックス 20">
            <a:extLst>
              <a:ext uri="{FF2B5EF4-FFF2-40B4-BE49-F238E27FC236}">
                <a16:creationId xmlns:a16="http://schemas.microsoft.com/office/drawing/2014/main" id="{A384B30D-0C5A-6204-D622-B3A0327C5D2C}"/>
              </a:ext>
            </a:extLst>
          </p:cNvPr>
          <p:cNvSpPr txBox="1"/>
          <p:nvPr/>
        </p:nvSpPr>
        <p:spPr>
          <a:xfrm>
            <a:off x="3683569" y="5595479"/>
            <a:ext cx="3518912" cy="707886"/>
          </a:xfrm>
          <a:prstGeom prst="rect">
            <a:avLst/>
          </a:prstGeom>
          <a:noFill/>
        </p:spPr>
        <p:txBody>
          <a:bodyPr wrap="none" rtlCol="0">
            <a:spAutoFit/>
          </a:bodyPr>
          <a:lstStyle/>
          <a:p>
            <a:r>
              <a:rPr kumimoji="1" lang="ja-JP" altLang="en-US" sz="2000"/>
              <a:t>体の一部を利用して認証する</a:t>
            </a:r>
            <a:endParaRPr kumimoji="1" lang="en-US" altLang="ja-JP" sz="2000" dirty="0"/>
          </a:p>
          <a:p>
            <a:r>
              <a:rPr lang="ja-JP" altLang="en-US" sz="2000"/>
              <a:t>例：指紋認証や顔認証など</a:t>
            </a:r>
            <a:endParaRPr lang="en-US" altLang="ja-JP" sz="2000" dirty="0"/>
          </a:p>
        </p:txBody>
      </p:sp>
    </p:spTree>
    <p:extLst>
      <p:ext uri="{BB962C8B-B14F-4D97-AF65-F5344CB8AC3E}">
        <p14:creationId xmlns:p14="http://schemas.microsoft.com/office/powerpoint/2010/main" val="16653545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グループ化 10">
            <a:extLst>
              <a:ext uri="{FF2B5EF4-FFF2-40B4-BE49-F238E27FC236}">
                <a16:creationId xmlns:a16="http://schemas.microsoft.com/office/drawing/2014/main" id="{4F6EF7A6-FEE8-FBF5-62AE-48756FE6F463}"/>
              </a:ext>
            </a:extLst>
          </p:cNvPr>
          <p:cNvGrpSpPr/>
          <p:nvPr/>
        </p:nvGrpSpPr>
        <p:grpSpPr>
          <a:xfrm>
            <a:off x="1353711" y="4526728"/>
            <a:ext cx="599238" cy="677400"/>
            <a:chOff x="3980964" y="3583025"/>
            <a:chExt cx="828092" cy="936104"/>
          </a:xfrm>
        </p:grpSpPr>
        <p:sp>
          <p:nvSpPr>
            <p:cNvPr id="8" name="正方形/長方形 7">
              <a:extLst>
                <a:ext uri="{FF2B5EF4-FFF2-40B4-BE49-F238E27FC236}">
                  <a16:creationId xmlns:a16="http://schemas.microsoft.com/office/drawing/2014/main" id="{98CA4B85-66E3-DA08-C3F7-FA0A8F7CC906}"/>
                </a:ext>
              </a:extLst>
            </p:cNvPr>
            <p:cNvSpPr/>
            <p:nvPr/>
          </p:nvSpPr>
          <p:spPr>
            <a:xfrm>
              <a:off x="4232992" y="3583025"/>
              <a:ext cx="576064" cy="93610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三角形 9">
              <a:extLst>
                <a:ext uri="{FF2B5EF4-FFF2-40B4-BE49-F238E27FC236}">
                  <a16:creationId xmlns:a16="http://schemas.microsoft.com/office/drawing/2014/main" id="{0B543320-B11A-30CD-8EB7-0A4562E5DFD0}"/>
                </a:ext>
              </a:extLst>
            </p:cNvPr>
            <p:cNvSpPr/>
            <p:nvPr/>
          </p:nvSpPr>
          <p:spPr>
            <a:xfrm rot="5400000">
              <a:off x="4016968" y="3799049"/>
              <a:ext cx="432048" cy="504056"/>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 name="テキスト プレースホルダー 1">
            <a:extLst>
              <a:ext uri="{FF2B5EF4-FFF2-40B4-BE49-F238E27FC236}">
                <a16:creationId xmlns:a16="http://schemas.microsoft.com/office/drawing/2014/main" id="{D2763AA1-478F-FDAE-08FD-6B7B1D685204}"/>
              </a:ext>
            </a:extLst>
          </p:cNvPr>
          <p:cNvSpPr>
            <a:spLocks noGrp="1"/>
          </p:cNvSpPr>
          <p:nvPr>
            <p:ph type="body" sz="quarter" idx="10"/>
          </p:nvPr>
        </p:nvSpPr>
        <p:spPr/>
        <p:txBody>
          <a:bodyPr/>
          <a:lstStyle/>
          <a:p>
            <a:r>
              <a:rPr kumimoji="1" lang="ja-JP" altLang="en-US"/>
              <a:t>公開鍵認証</a:t>
            </a:r>
            <a:r>
              <a:rPr kumimoji="1" lang="en-US" altLang="ja-JP" dirty="0"/>
              <a:t> (</a:t>
            </a:r>
            <a:r>
              <a:rPr kumimoji="1" lang="ja-JP" altLang="en-US"/>
              <a:t>ユーザ認証</a:t>
            </a:r>
            <a:r>
              <a:rPr kumimoji="1" lang="en-US" altLang="ja-JP" dirty="0"/>
              <a:t>)</a:t>
            </a:r>
            <a:endParaRPr kumimoji="1" lang="ja-JP" altLang="en-US"/>
          </a:p>
        </p:txBody>
      </p:sp>
      <p:pic>
        <p:nvPicPr>
          <p:cNvPr id="2050" name="Picture 2" descr="私服で仕事をする人のイラスト（男性）">
            <a:extLst>
              <a:ext uri="{FF2B5EF4-FFF2-40B4-BE49-F238E27FC236}">
                <a16:creationId xmlns:a16="http://schemas.microsoft.com/office/drawing/2014/main" id="{6E18B789-747A-BBC5-44CD-46AE6D76619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04248" y="1807922"/>
            <a:ext cx="1138763" cy="1053356"/>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私服で働く人のイラスト（女性）">
            <a:extLst>
              <a:ext uri="{FF2B5EF4-FFF2-40B4-BE49-F238E27FC236}">
                <a16:creationId xmlns:a16="http://schemas.microsoft.com/office/drawing/2014/main" id="{704BF224-0C8B-2272-FEF1-4D4B5A9202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1807922"/>
            <a:ext cx="1053357" cy="1053357"/>
          </a:xfrm>
          <a:prstGeom prst="rect">
            <a:avLst/>
          </a:prstGeom>
          <a:noFill/>
          <a:extLst>
            <a:ext uri="{909E8E84-426E-40DD-AFC4-6F175D3DCCD1}">
              <a14:hiddenFill xmlns:a14="http://schemas.microsoft.com/office/drawing/2010/main">
                <a:solidFill>
                  <a:srgbClr val="FFFFFF"/>
                </a:solidFill>
              </a14:hiddenFill>
            </a:ext>
          </a:extLst>
        </p:spPr>
      </p:pic>
      <p:sp>
        <p:nvSpPr>
          <p:cNvPr id="4" name="テキスト ボックス 3">
            <a:extLst>
              <a:ext uri="{FF2B5EF4-FFF2-40B4-BE49-F238E27FC236}">
                <a16:creationId xmlns:a16="http://schemas.microsoft.com/office/drawing/2014/main" id="{25D67835-EB9B-A5AE-3687-0AE742801319}"/>
              </a:ext>
            </a:extLst>
          </p:cNvPr>
          <p:cNvSpPr txBox="1"/>
          <p:nvPr/>
        </p:nvSpPr>
        <p:spPr>
          <a:xfrm>
            <a:off x="899592" y="2960050"/>
            <a:ext cx="684803" cy="369332"/>
          </a:xfrm>
          <a:prstGeom prst="rect">
            <a:avLst/>
          </a:prstGeom>
          <a:noFill/>
        </p:spPr>
        <p:txBody>
          <a:bodyPr wrap="none" rtlCol="0">
            <a:spAutoFit/>
          </a:bodyPr>
          <a:lstStyle/>
          <a:p>
            <a:r>
              <a:rPr kumimoji="1" lang="en-US" altLang="ja-JP" dirty="0"/>
              <a:t>Alice</a:t>
            </a:r>
            <a:endParaRPr kumimoji="1" lang="ja-JP" altLang="en-US"/>
          </a:p>
        </p:txBody>
      </p:sp>
      <p:sp>
        <p:nvSpPr>
          <p:cNvPr id="5" name="テキスト ボックス 4">
            <a:extLst>
              <a:ext uri="{FF2B5EF4-FFF2-40B4-BE49-F238E27FC236}">
                <a16:creationId xmlns:a16="http://schemas.microsoft.com/office/drawing/2014/main" id="{50AA8FE3-1AFC-9D96-24F2-E4D67F37C160}"/>
              </a:ext>
            </a:extLst>
          </p:cNvPr>
          <p:cNvSpPr txBox="1"/>
          <p:nvPr/>
        </p:nvSpPr>
        <p:spPr>
          <a:xfrm>
            <a:off x="6948264" y="2963606"/>
            <a:ext cx="595035" cy="369332"/>
          </a:xfrm>
          <a:prstGeom prst="rect">
            <a:avLst/>
          </a:prstGeom>
          <a:noFill/>
        </p:spPr>
        <p:txBody>
          <a:bodyPr wrap="none" rtlCol="0">
            <a:spAutoFit/>
          </a:bodyPr>
          <a:lstStyle/>
          <a:p>
            <a:r>
              <a:rPr kumimoji="1" lang="en-US" altLang="ja-JP" dirty="0"/>
              <a:t>Bob</a:t>
            </a:r>
            <a:endParaRPr kumimoji="1" lang="ja-JP" altLang="en-US"/>
          </a:p>
        </p:txBody>
      </p:sp>
      <p:sp>
        <p:nvSpPr>
          <p:cNvPr id="6" name="テキスト ボックス 5">
            <a:extLst>
              <a:ext uri="{FF2B5EF4-FFF2-40B4-BE49-F238E27FC236}">
                <a16:creationId xmlns:a16="http://schemas.microsoft.com/office/drawing/2014/main" id="{6C0562DB-67C1-C1A3-005C-E58FDC126C86}"/>
              </a:ext>
            </a:extLst>
          </p:cNvPr>
          <p:cNvSpPr txBox="1"/>
          <p:nvPr/>
        </p:nvSpPr>
        <p:spPr>
          <a:xfrm>
            <a:off x="395536" y="1052312"/>
            <a:ext cx="8250977" cy="369332"/>
          </a:xfrm>
          <a:prstGeom prst="rect">
            <a:avLst/>
          </a:prstGeom>
          <a:noFill/>
        </p:spPr>
        <p:txBody>
          <a:bodyPr wrap="none" rtlCol="0">
            <a:spAutoFit/>
          </a:bodyPr>
          <a:lstStyle/>
          <a:p>
            <a:r>
              <a:rPr kumimoji="1" lang="en-US" altLang="ja-JP" dirty="0"/>
              <a:t>Alice</a:t>
            </a:r>
            <a:r>
              <a:rPr kumimoji="1" lang="ja-JP" altLang="en-US"/>
              <a:t>が通信を通じて</a:t>
            </a:r>
            <a:r>
              <a:rPr kumimoji="1" lang="en-US" altLang="ja-JP" dirty="0"/>
              <a:t>Bob</a:t>
            </a:r>
            <a:r>
              <a:rPr kumimoji="1" lang="ja-JP" altLang="en-US"/>
              <a:t>に「いま通信しているのは自分である」と証明したい</a:t>
            </a:r>
          </a:p>
        </p:txBody>
      </p:sp>
      <p:grpSp>
        <p:nvGrpSpPr>
          <p:cNvPr id="12" name="グループ化 11">
            <a:extLst>
              <a:ext uri="{FF2B5EF4-FFF2-40B4-BE49-F238E27FC236}">
                <a16:creationId xmlns:a16="http://schemas.microsoft.com/office/drawing/2014/main" id="{6D1DD960-7467-7821-095E-06E8DC5CFF71}"/>
              </a:ext>
            </a:extLst>
          </p:cNvPr>
          <p:cNvGrpSpPr/>
          <p:nvPr/>
        </p:nvGrpSpPr>
        <p:grpSpPr>
          <a:xfrm>
            <a:off x="936850" y="4526728"/>
            <a:ext cx="599238" cy="677400"/>
            <a:chOff x="2339752" y="3645024"/>
            <a:chExt cx="828092" cy="936104"/>
          </a:xfrm>
        </p:grpSpPr>
        <p:sp>
          <p:nvSpPr>
            <p:cNvPr id="7" name="正方形/長方形 6">
              <a:extLst>
                <a:ext uri="{FF2B5EF4-FFF2-40B4-BE49-F238E27FC236}">
                  <a16:creationId xmlns:a16="http://schemas.microsoft.com/office/drawing/2014/main" id="{042E0050-1B52-E212-F64A-38DEB34A9587}"/>
                </a:ext>
              </a:extLst>
            </p:cNvPr>
            <p:cNvSpPr/>
            <p:nvPr/>
          </p:nvSpPr>
          <p:spPr>
            <a:xfrm>
              <a:off x="2339752" y="3645024"/>
              <a:ext cx="576064" cy="93610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三角形 8">
              <a:extLst>
                <a:ext uri="{FF2B5EF4-FFF2-40B4-BE49-F238E27FC236}">
                  <a16:creationId xmlns:a16="http://schemas.microsoft.com/office/drawing/2014/main" id="{24B87E48-0C5F-1E3F-8668-22E176C80A6B}"/>
                </a:ext>
              </a:extLst>
            </p:cNvPr>
            <p:cNvSpPr/>
            <p:nvPr/>
          </p:nvSpPr>
          <p:spPr>
            <a:xfrm rot="5400000">
              <a:off x="2699792" y="3861048"/>
              <a:ext cx="432048" cy="504056"/>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3" name="テキスト ボックス 12">
            <a:extLst>
              <a:ext uri="{FF2B5EF4-FFF2-40B4-BE49-F238E27FC236}">
                <a16:creationId xmlns:a16="http://schemas.microsoft.com/office/drawing/2014/main" id="{3FF9EFFB-3154-190F-1C7A-9501A5F9835E}"/>
              </a:ext>
            </a:extLst>
          </p:cNvPr>
          <p:cNvSpPr txBox="1"/>
          <p:nvPr/>
        </p:nvSpPr>
        <p:spPr>
          <a:xfrm>
            <a:off x="551386" y="3693122"/>
            <a:ext cx="7391625" cy="369332"/>
          </a:xfrm>
          <a:prstGeom prst="rect">
            <a:avLst/>
          </a:prstGeom>
          <a:noFill/>
        </p:spPr>
        <p:txBody>
          <a:bodyPr wrap="square" rtlCol="0">
            <a:spAutoFit/>
          </a:bodyPr>
          <a:lstStyle/>
          <a:p>
            <a:r>
              <a:rPr kumimoji="1" lang="ja-JP" altLang="en-US"/>
              <a:t>あらかじめ</a:t>
            </a:r>
            <a:r>
              <a:rPr kumimoji="1" lang="en-US" altLang="ja-JP" dirty="0"/>
              <a:t>Alice</a:t>
            </a:r>
            <a:r>
              <a:rPr kumimoji="1" lang="ja-JP" altLang="en-US"/>
              <a:t>は鍵のペアを作っておき、公開鍵を</a:t>
            </a:r>
            <a:r>
              <a:rPr kumimoji="1" lang="en-US" altLang="ja-JP" dirty="0"/>
              <a:t>Bob</a:t>
            </a:r>
            <a:r>
              <a:rPr kumimoji="1" lang="ja-JP" altLang="en-US"/>
              <a:t>に渡しておく</a:t>
            </a:r>
          </a:p>
        </p:txBody>
      </p:sp>
      <p:cxnSp>
        <p:nvCxnSpPr>
          <p:cNvPr id="18" name="直線矢印コネクタ 17">
            <a:extLst>
              <a:ext uri="{FF2B5EF4-FFF2-40B4-BE49-F238E27FC236}">
                <a16:creationId xmlns:a16="http://schemas.microsoft.com/office/drawing/2014/main" id="{AE935331-CA68-547E-E84A-5BFB2A8E76E6}"/>
              </a:ext>
            </a:extLst>
          </p:cNvPr>
          <p:cNvCxnSpPr>
            <a:cxnSpLocks/>
          </p:cNvCxnSpPr>
          <p:nvPr/>
        </p:nvCxnSpPr>
        <p:spPr>
          <a:xfrm>
            <a:off x="2195736" y="4865428"/>
            <a:ext cx="4608512" cy="893476"/>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19" name="グループ化 18">
            <a:extLst>
              <a:ext uri="{FF2B5EF4-FFF2-40B4-BE49-F238E27FC236}">
                <a16:creationId xmlns:a16="http://schemas.microsoft.com/office/drawing/2014/main" id="{153E7E0A-65D3-A76E-CDF5-3647C22B3848}"/>
              </a:ext>
            </a:extLst>
          </p:cNvPr>
          <p:cNvGrpSpPr/>
          <p:nvPr/>
        </p:nvGrpSpPr>
        <p:grpSpPr>
          <a:xfrm>
            <a:off x="920963" y="5512079"/>
            <a:ext cx="599238" cy="677400"/>
            <a:chOff x="2339752" y="3645024"/>
            <a:chExt cx="828092" cy="936104"/>
          </a:xfrm>
        </p:grpSpPr>
        <p:sp>
          <p:nvSpPr>
            <p:cNvPr id="20" name="正方形/長方形 19">
              <a:extLst>
                <a:ext uri="{FF2B5EF4-FFF2-40B4-BE49-F238E27FC236}">
                  <a16:creationId xmlns:a16="http://schemas.microsoft.com/office/drawing/2014/main" id="{A99C7546-DD0B-1CC8-FCD1-5F80AFC81549}"/>
                </a:ext>
              </a:extLst>
            </p:cNvPr>
            <p:cNvSpPr/>
            <p:nvPr/>
          </p:nvSpPr>
          <p:spPr>
            <a:xfrm>
              <a:off x="2339752" y="3645024"/>
              <a:ext cx="576064" cy="93610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三角形 20">
              <a:extLst>
                <a:ext uri="{FF2B5EF4-FFF2-40B4-BE49-F238E27FC236}">
                  <a16:creationId xmlns:a16="http://schemas.microsoft.com/office/drawing/2014/main" id="{79BFF8A9-18C2-35B2-CE50-6C421626EFCE}"/>
                </a:ext>
              </a:extLst>
            </p:cNvPr>
            <p:cNvSpPr/>
            <p:nvPr/>
          </p:nvSpPr>
          <p:spPr>
            <a:xfrm rot="5400000">
              <a:off x="2699792" y="3861048"/>
              <a:ext cx="432048" cy="504056"/>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2" name="グループ化 21">
            <a:extLst>
              <a:ext uri="{FF2B5EF4-FFF2-40B4-BE49-F238E27FC236}">
                <a16:creationId xmlns:a16="http://schemas.microsoft.com/office/drawing/2014/main" id="{D0080E6E-DE08-C6B3-67A3-9D48F7E3F2B2}"/>
              </a:ext>
            </a:extLst>
          </p:cNvPr>
          <p:cNvGrpSpPr/>
          <p:nvPr/>
        </p:nvGrpSpPr>
        <p:grpSpPr>
          <a:xfrm>
            <a:off x="6907677" y="5466988"/>
            <a:ext cx="599238" cy="677400"/>
            <a:chOff x="3980964" y="3583025"/>
            <a:chExt cx="828092" cy="936104"/>
          </a:xfrm>
        </p:grpSpPr>
        <p:sp>
          <p:nvSpPr>
            <p:cNvPr id="23" name="正方形/長方形 22">
              <a:extLst>
                <a:ext uri="{FF2B5EF4-FFF2-40B4-BE49-F238E27FC236}">
                  <a16:creationId xmlns:a16="http://schemas.microsoft.com/office/drawing/2014/main" id="{9E8451D9-552A-9AF7-AD73-F064452DD69E}"/>
                </a:ext>
              </a:extLst>
            </p:cNvPr>
            <p:cNvSpPr/>
            <p:nvPr/>
          </p:nvSpPr>
          <p:spPr>
            <a:xfrm>
              <a:off x="4232992" y="3583025"/>
              <a:ext cx="576064" cy="93610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三角形 23">
              <a:extLst>
                <a:ext uri="{FF2B5EF4-FFF2-40B4-BE49-F238E27FC236}">
                  <a16:creationId xmlns:a16="http://schemas.microsoft.com/office/drawing/2014/main" id="{0E155143-BD91-AC75-128F-35D994BF2C35}"/>
                </a:ext>
              </a:extLst>
            </p:cNvPr>
            <p:cNvSpPr/>
            <p:nvPr/>
          </p:nvSpPr>
          <p:spPr>
            <a:xfrm rot="5400000">
              <a:off x="4016968" y="3799049"/>
              <a:ext cx="432048" cy="504056"/>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7" name="テキスト ボックス 26">
            <a:extLst>
              <a:ext uri="{FF2B5EF4-FFF2-40B4-BE49-F238E27FC236}">
                <a16:creationId xmlns:a16="http://schemas.microsoft.com/office/drawing/2014/main" id="{9F35639F-25DC-5635-1833-69F271795AF6}"/>
              </a:ext>
            </a:extLst>
          </p:cNvPr>
          <p:cNvSpPr txBox="1"/>
          <p:nvPr/>
        </p:nvSpPr>
        <p:spPr>
          <a:xfrm>
            <a:off x="683568" y="6281816"/>
            <a:ext cx="1723549" cy="369332"/>
          </a:xfrm>
          <a:prstGeom prst="rect">
            <a:avLst/>
          </a:prstGeom>
          <a:noFill/>
        </p:spPr>
        <p:txBody>
          <a:bodyPr wrap="none" rtlCol="0">
            <a:spAutoFit/>
          </a:bodyPr>
          <a:lstStyle/>
          <a:p>
            <a:r>
              <a:rPr lang="ja-JP" altLang="en-US"/>
              <a:t>秘密鍵</a:t>
            </a:r>
            <a:r>
              <a:rPr lang="en-US" altLang="ja-JP" dirty="0"/>
              <a:t>(</a:t>
            </a:r>
            <a:r>
              <a:rPr lang="ja-JP" altLang="en-US"/>
              <a:t>署名鍵</a:t>
            </a:r>
            <a:r>
              <a:rPr lang="en-US" altLang="ja-JP" dirty="0"/>
              <a:t>)</a:t>
            </a:r>
            <a:endParaRPr kumimoji="1" lang="ja-JP" altLang="en-US"/>
          </a:p>
        </p:txBody>
      </p:sp>
      <p:sp>
        <p:nvSpPr>
          <p:cNvPr id="28" name="テキスト ボックス 27">
            <a:extLst>
              <a:ext uri="{FF2B5EF4-FFF2-40B4-BE49-F238E27FC236}">
                <a16:creationId xmlns:a16="http://schemas.microsoft.com/office/drawing/2014/main" id="{BD4CC54B-8679-C121-59AD-34BD9772E917}"/>
              </a:ext>
            </a:extLst>
          </p:cNvPr>
          <p:cNvSpPr txBox="1"/>
          <p:nvPr/>
        </p:nvSpPr>
        <p:spPr>
          <a:xfrm>
            <a:off x="6436709" y="6281816"/>
            <a:ext cx="1723549" cy="369332"/>
          </a:xfrm>
          <a:prstGeom prst="rect">
            <a:avLst/>
          </a:prstGeom>
          <a:noFill/>
        </p:spPr>
        <p:txBody>
          <a:bodyPr wrap="none" rtlCol="0">
            <a:spAutoFit/>
          </a:bodyPr>
          <a:lstStyle/>
          <a:p>
            <a:r>
              <a:rPr lang="ja-JP" altLang="en-US"/>
              <a:t>公開鍵</a:t>
            </a:r>
            <a:r>
              <a:rPr lang="en-US" altLang="ja-JP" dirty="0"/>
              <a:t>(</a:t>
            </a:r>
            <a:r>
              <a:rPr lang="ja-JP" altLang="en-US"/>
              <a:t>検証鍵</a:t>
            </a:r>
            <a:r>
              <a:rPr lang="en-US" altLang="ja-JP" dirty="0"/>
              <a:t>)</a:t>
            </a:r>
            <a:endParaRPr kumimoji="1" lang="ja-JP" altLang="en-US"/>
          </a:p>
        </p:txBody>
      </p:sp>
    </p:spTree>
    <p:extLst>
      <p:ext uri="{BB962C8B-B14F-4D97-AF65-F5344CB8AC3E}">
        <p14:creationId xmlns:p14="http://schemas.microsoft.com/office/powerpoint/2010/main" val="28151124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3BB39FAE-410F-0D78-934F-296756FE6C6F}"/>
              </a:ext>
            </a:extLst>
          </p:cNvPr>
          <p:cNvSpPr>
            <a:spLocks noGrp="1"/>
          </p:cNvSpPr>
          <p:nvPr>
            <p:ph type="body" sz="quarter" idx="10"/>
          </p:nvPr>
        </p:nvSpPr>
        <p:spPr/>
        <p:txBody>
          <a:bodyPr/>
          <a:lstStyle/>
          <a:p>
            <a:r>
              <a:rPr kumimoji="1" lang="ja-JP" altLang="en-US"/>
              <a:t>公開鍵認証</a:t>
            </a:r>
            <a:r>
              <a:rPr kumimoji="1" lang="en-US" altLang="ja-JP" dirty="0"/>
              <a:t> </a:t>
            </a:r>
            <a:r>
              <a:rPr lang="en-US" altLang="ja-JP" dirty="0"/>
              <a:t>(</a:t>
            </a:r>
            <a:r>
              <a:rPr lang="ja-JP" altLang="en-US"/>
              <a:t>ユーザ認証</a:t>
            </a:r>
            <a:r>
              <a:rPr lang="en-US" altLang="ja-JP" dirty="0"/>
              <a:t>)</a:t>
            </a:r>
            <a:endParaRPr kumimoji="1" lang="ja-JP" altLang="en-US"/>
          </a:p>
        </p:txBody>
      </p:sp>
      <p:pic>
        <p:nvPicPr>
          <p:cNvPr id="3" name="Picture 2" descr="私服で仕事をする人のイラスト（男性）">
            <a:extLst>
              <a:ext uri="{FF2B5EF4-FFF2-40B4-BE49-F238E27FC236}">
                <a16:creationId xmlns:a16="http://schemas.microsoft.com/office/drawing/2014/main" id="{3555ACB6-2751-5B57-2306-D88AAC83445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79169" y="1093658"/>
            <a:ext cx="937506" cy="86719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私服で働く人のイラスト（女性）">
            <a:extLst>
              <a:ext uri="{FF2B5EF4-FFF2-40B4-BE49-F238E27FC236}">
                <a16:creationId xmlns:a16="http://schemas.microsoft.com/office/drawing/2014/main" id="{93964CC5-5E83-4905-2B0A-FC60BAA8FB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564" y="1179340"/>
            <a:ext cx="867194" cy="867194"/>
          </a:xfrm>
          <a:prstGeom prst="rect">
            <a:avLst/>
          </a:prstGeom>
          <a:noFill/>
          <a:extLst>
            <a:ext uri="{909E8E84-426E-40DD-AFC4-6F175D3DCCD1}">
              <a14:hiddenFill xmlns:a14="http://schemas.microsoft.com/office/drawing/2010/main">
                <a:solidFill>
                  <a:srgbClr val="FFFFFF"/>
                </a:solidFill>
              </a14:hiddenFill>
            </a:ext>
          </a:extLst>
        </p:spPr>
      </p:pic>
      <p:sp>
        <p:nvSpPr>
          <p:cNvPr id="5" name="テキスト ボックス 4">
            <a:extLst>
              <a:ext uri="{FF2B5EF4-FFF2-40B4-BE49-F238E27FC236}">
                <a16:creationId xmlns:a16="http://schemas.microsoft.com/office/drawing/2014/main" id="{2F6C0571-43C5-16AA-FB89-49750D8E8C8A}"/>
              </a:ext>
            </a:extLst>
          </p:cNvPr>
          <p:cNvSpPr txBox="1"/>
          <p:nvPr/>
        </p:nvSpPr>
        <p:spPr>
          <a:xfrm>
            <a:off x="710331" y="2012319"/>
            <a:ext cx="684803" cy="369332"/>
          </a:xfrm>
          <a:prstGeom prst="rect">
            <a:avLst/>
          </a:prstGeom>
          <a:noFill/>
        </p:spPr>
        <p:txBody>
          <a:bodyPr wrap="none" rtlCol="0">
            <a:spAutoFit/>
          </a:bodyPr>
          <a:lstStyle/>
          <a:p>
            <a:r>
              <a:rPr kumimoji="1" lang="en-US" altLang="ja-JP" dirty="0"/>
              <a:t>Alice</a:t>
            </a:r>
            <a:endParaRPr kumimoji="1" lang="ja-JP" altLang="en-US"/>
          </a:p>
        </p:txBody>
      </p:sp>
      <p:sp>
        <p:nvSpPr>
          <p:cNvPr id="6" name="テキスト ボックス 5">
            <a:extLst>
              <a:ext uri="{FF2B5EF4-FFF2-40B4-BE49-F238E27FC236}">
                <a16:creationId xmlns:a16="http://schemas.microsoft.com/office/drawing/2014/main" id="{5DEAC815-2AB3-F885-3555-B8BB89596A90}"/>
              </a:ext>
            </a:extLst>
          </p:cNvPr>
          <p:cNvSpPr txBox="1"/>
          <p:nvPr/>
        </p:nvSpPr>
        <p:spPr>
          <a:xfrm>
            <a:off x="3147615" y="2015875"/>
            <a:ext cx="595035" cy="369332"/>
          </a:xfrm>
          <a:prstGeom prst="rect">
            <a:avLst/>
          </a:prstGeom>
          <a:noFill/>
        </p:spPr>
        <p:txBody>
          <a:bodyPr wrap="none" rtlCol="0">
            <a:spAutoFit/>
          </a:bodyPr>
          <a:lstStyle/>
          <a:p>
            <a:r>
              <a:rPr kumimoji="1" lang="en-US" altLang="ja-JP" dirty="0"/>
              <a:t>Bob</a:t>
            </a:r>
            <a:endParaRPr kumimoji="1" lang="ja-JP" altLang="en-US"/>
          </a:p>
        </p:txBody>
      </p:sp>
      <p:pic>
        <p:nvPicPr>
          <p:cNvPr id="3074" name="Picture 2" descr="掲示板に貼られた紙のイラスト（メモ）">
            <a:extLst>
              <a:ext uri="{FF2B5EF4-FFF2-40B4-BE49-F238E27FC236}">
                <a16:creationId xmlns:a16="http://schemas.microsoft.com/office/drawing/2014/main" id="{66F1EA97-106A-F72D-0B49-58AB1926BFF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38877" y="2481699"/>
            <a:ext cx="703773" cy="566537"/>
          </a:xfrm>
          <a:prstGeom prst="rect">
            <a:avLst/>
          </a:prstGeom>
          <a:noFill/>
          <a:extLst>
            <a:ext uri="{909E8E84-426E-40DD-AFC4-6F175D3DCCD1}">
              <a14:hiddenFill xmlns:a14="http://schemas.microsoft.com/office/drawing/2010/main">
                <a:solidFill>
                  <a:srgbClr val="FFFFFF"/>
                </a:solidFill>
              </a14:hiddenFill>
            </a:ext>
          </a:extLst>
        </p:spPr>
      </p:pic>
      <p:cxnSp>
        <p:nvCxnSpPr>
          <p:cNvPr id="8" name="直線矢印コネクタ 7">
            <a:extLst>
              <a:ext uri="{FF2B5EF4-FFF2-40B4-BE49-F238E27FC236}">
                <a16:creationId xmlns:a16="http://schemas.microsoft.com/office/drawing/2014/main" id="{F392E027-D4A8-8BAF-86EC-BBD0E5E2502A}"/>
              </a:ext>
            </a:extLst>
          </p:cNvPr>
          <p:cNvCxnSpPr>
            <a:cxnSpLocks/>
          </p:cNvCxnSpPr>
          <p:nvPr/>
        </p:nvCxnSpPr>
        <p:spPr>
          <a:xfrm flipH="1">
            <a:off x="1735271" y="2764967"/>
            <a:ext cx="1124312"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9" name="テキスト ボックス 8">
            <a:extLst>
              <a:ext uri="{FF2B5EF4-FFF2-40B4-BE49-F238E27FC236}">
                <a16:creationId xmlns:a16="http://schemas.microsoft.com/office/drawing/2014/main" id="{8834FB53-E697-065B-CA67-C1E943763344}"/>
              </a:ext>
            </a:extLst>
          </p:cNvPr>
          <p:cNvSpPr txBox="1"/>
          <p:nvPr/>
        </p:nvSpPr>
        <p:spPr>
          <a:xfrm>
            <a:off x="4763430" y="2772846"/>
            <a:ext cx="3659976" cy="369332"/>
          </a:xfrm>
          <a:prstGeom prst="rect">
            <a:avLst/>
          </a:prstGeom>
          <a:noFill/>
        </p:spPr>
        <p:txBody>
          <a:bodyPr wrap="none" rtlCol="0">
            <a:spAutoFit/>
          </a:bodyPr>
          <a:lstStyle/>
          <a:p>
            <a:r>
              <a:rPr kumimoji="1" lang="en-US" altLang="ja-JP" dirty="0"/>
              <a:t>1. Bob</a:t>
            </a:r>
            <a:r>
              <a:rPr kumimoji="1" lang="ja-JP" altLang="en-US"/>
              <a:t>は</a:t>
            </a:r>
            <a:r>
              <a:rPr kumimoji="1" lang="en-US" altLang="ja-JP" dirty="0"/>
              <a:t>Alice</a:t>
            </a:r>
            <a:r>
              <a:rPr kumimoji="1" lang="ja-JP" altLang="en-US"/>
              <a:t>にメッセージを送る</a:t>
            </a:r>
          </a:p>
        </p:txBody>
      </p:sp>
      <p:pic>
        <p:nvPicPr>
          <p:cNvPr id="10" name="Picture 2" descr="掲示板に貼られた紙のイラスト（メモ）">
            <a:extLst>
              <a:ext uri="{FF2B5EF4-FFF2-40B4-BE49-F238E27FC236}">
                <a16:creationId xmlns:a16="http://schemas.microsoft.com/office/drawing/2014/main" id="{A031513B-23A9-5C34-3F14-936A7E93A00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10331" y="3315904"/>
            <a:ext cx="703773" cy="566537"/>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グループ化 10">
            <a:extLst>
              <a:ext uri="{FF2B5EF4-FFF2-40B4-BE49-F238E27FC236}">
                <a16:creationId xmlns:a16="http://schemas.microsoft.com/office/drawing/2014/main" id="{BE934F6F-43C3-7D46-7956-84A471C484A5}"/>
              </a:ext>
            </a:extLst>
          </p:cNvPr>
          <p:cNvGrpSpPr/>
          <p:nvPr/>
        </p:nvGrpSpPr>
        <p:grpSpPr>
          <a:xfrm>
            <a:off x="234111" y="3362924"/>
            <a:ext cx="438123" cy="495270"/>
            <a:chOff x="2339752" y="3645024"/>
            <a:chExt cx="828092" cy="936104"/>
          </a:xfrm>
        </p:grpSpPr>
        <p:sp>
          <p:nvSpPr>
            <p:cNvPr id="12" name="正方形/長方形 11">
              <a:extLst>
                <a:ext uri="{FF2B5EF4-FFF2-40B4-BE49-F238E27FC236}">
                  <a16:creationId xmlns:a16="http://schemas.microsoft.com/office/drawing/2014/main" id="{3A50336B-9998-F31A-FD34-D2807215FC95}"/>
                </a:ext>
              </a:extLst>
            </p:cNvPr>
            <p:cNvSpPr/>
            <p:nvPr/>
          </p:nvSpPr>
          <p:spPr>
            <a:xfrm>
              <a:off x="2339752" y="3645024"/>
              <a:ext cx="576064" cy="93610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三角形 12">
              <a:extLst>
                <a:ext uri="{FF2B5EF4-FFF2-40B4-BE49-F238E27FC236}">
                  <a16:creationId xmlns:a16="http://schemas.microsoft.com/office/drawing/2014/main" id="{461B27C2-3077-9EA7-CA6F-9BE38A4AC379}"/>
                </a:ext>
              </a:extLst>
            </p:cNvPr>
            <p:cNvSpPr/>
            <p:nvPr/>
          </p:nvSpPr>
          <p:spPr>
            <a:xfrm rot="5400000">
              <a:off x="2699792" y="3861048"/>
              <a:ext cx="432048" cy="504056"/>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9" name="グループ化 18">
            <a:extLst>
              <a:ext uri="{FF2B5EF4-FFF2-40B4-BE49-F238E27FC236}">
                <a16:creationId xmlns:a16="http://schemas.microsoft.com/office/drawing/2014/main" id="{75C801EF-3920-DD19-C7CB-71F434FA5FD0}"/>
              </a:ext>
            </a:extLst>
          </p:cNvPr>
          <p:cNvGrpSpPr/>
          <p:nvPr/>
        </p:nvGrpSpPr>
        <p:grpSpPr>
          <a:xfrm>
            <a:off x="1031498" y="4117586"/>
            <a:ext cx="703773" cy="566537"/>
            <a:chOff x="1193558" y="4261389"/>
            <a:chExt cx="703773" cy="566537"/>
          </a:xfrm>
        </p:grpSpPr>
        <p:pic>
          <p:nvPicPr>
            <p:cNvPr id="14" name="Picture 2" descr="掲示板に貼られた紙のイラスト（メモ）">
              <a:extLst>
                <a:ext uri="{FF2B5EF4-FFF2-40B4-BE49-F238E27FC236}">
                  <a16:creationId xmlns:a16="http://schemas.microsoft.com/office/drawing/2014/main" id="{BC50FE0B-D03E-2B02-AC99-D8D9BD1A8AA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93558" y="4261389"/>
              <a:ext cx="703773" cy="566537"/>
            </a:xfrm>
            <a:prstGeom prst="rect">
              <a:avLst/>
            </a:prstGeom>
            <a:noFill/>
            <a:extLst>
              <a:ext uri="{909E8E84-426E-40DD-AFC4-6F175D3DCCD1}">
                <a14:hiddenFill xmlns:a14="http://schemas.microsoft.com/office/drawing/2010/main">
                  <a:solidFill>
                    <a:srgbClr val="FFFFFF"/>
                  </a:solidFill>
                </a14:hiddenFill>
              </a:ext>
            </a:extLst>
          </p:spPr>
        </p:pic>
        <p:grpSp>
          <p:nvGrpSpPr>
            <p:cNvPr id="15" name="グループ化 14">
              <a:extLst>
                <a:ext uri="{FF2B5EF4-FFF2-40B4-BE49-F238E27FC236}">
                  <a16:creationId xmlns:a16="http://schemas.microsoft.com/office/drawing/2014/main" id="{385DE26A-818C-9043-C8C0-28F370C1FF20}"/>
                </a:ext>
              </a:extLst>
            </p:cNvPr>
            <p:cNvGrpSpPr/>
            <p:nvPr/>
          </p:nvGrpSpPr>
          <p:grpSpPr>
            <a:xfrm>
              <a:off x="1468290" y="4442527"/>
              <a:ext cx="236787" cy="267673"/>
              <a:chOff x="2339752" y="3645024"/>
              <a:chExt cx="828092" cy="936104"/>
            </a:xfrm>
            <a:solidFill>
              <a:srgbClr val="FF0000"/>
            </a:solidFill>
          </p:grpSpPr>
          <p:sp>
            <p:nvSpPr>
              <p:cNvPr id="16" name="正方形/長方形 15">
                <a:extLst>
                  <a:ext uri="{FF2B5EF4-FFF2-40B4-BE49-F238E27FC236}">
                    <a16:creationId xmlns:a16="http://schemas.microsoft.com/office/drawing/2014/main" id="{333C79EC-5065-65DA-A074-A3B120AB9182}"/>
                  </a:ext>
                </a:extLst>
              </p:cNvPr>
              <p:cNvSpPr/>
              <p:nvPr/>
            </p:nvSpPr>
            <p:spPr>
              <a:xfrm>
                <a:off x="2339752" y="3645024"/>
                <a:ext cx="576064" cy="936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三角形 16">
                <a:extLst>
                  <a:ext uri="{FF2B5EF4-FFF2-40B4-BE49-F238E27FC236}">
                    <a16:creationId xmlns:a16="http://schemas.microsoft.com/office/drawing/2014/main" id="{081FE207-F854-8F06-4BC6-2D8F7DD98BEC}"/>
                  </a:ext>
                </a:extLst>
              </p:cNvPr>
              <p:cNvSpPr/>
              <p:nvPr/>
            </p:nvSpPr>
            <p:spPr>
              <a:xfrm rot="5400000">
                <a:off x="2699792" y="3861048"/>
                <a:ext cx="432048" cy="504056"/>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
        <p:nvSpPr>
          <p:cNvPr id="18" name="テキスト ボックス 17">
            <a:extLst>
              <a:ext uri="{FF2B5EF4-FFF2-40B4-BE49-F238E27FC236}">
                <a16:creationId xmlns:a16="http://schemas.microsoft.com/office/drawing/2014/main" id="{CD8D1D18-BF1C-CB8D-8C2B-3D333279C8CF}"/>
              </a:ext>
            </a:extLst>
          </p:cNvPr>
          <p:cNvSpPr txBox="1"/>
          <p:nvPr/>
        </p:nvSpPr>
        <p:spPr>
          <a:xfrm>
            <a:off x="4749918" y="3915193"/>
            <a:ext cx="3600400" cy="646331"/>
          </a:xfrm>
          <a:prstGeom prst="rect">
            <a:avLst/>
          </a:prstGeom>
          <a:noFill/>
        </p:spPr>
        <p:txBody>
          <a:bodyPr wrap="square" rtlCol="0">
            <a:spAutoFit/>
          </a:bodyPr>
          <a:lstStyle/>
          <a:p>
            <a:r>
              <a:rPr kumimoji="1" lang="en-US" altLang="ja-JP" dirty="0"/>
              <a:t>2. Alice</a:t>
            </a:r>
            <a:r>
              <a:rPr kumimoji="1" lang="ja-JP" altLang="en-US"/>
              <a:t>はメッセージに秘密鍵で署名をして</a:t>
            </a:r>
            <a:r>
              <a:rPr kumimoji="1" lang="en-US" altLang="ja-JP" dirty="0"/>
              <a:t>Bob</a:t>
            </a:r>
            <a:r>
              <a:rPr kumimoji="1" lang="ja-JP" altLang="en-US"/>
              <a:t>に送り返す</a:t>
            </a:r>
          </a:p>
        </p:txBody>
      </p:sp>
      <p:sp>
        <p:nvSpPr>
          <p:cNvPr id="20" name="下矢印 19">
            <a:extLst>
              <a:ext uri="{FF2B5EF4-FFF2-40B4-BE49-F238E27FC236}">
                <a16:creationId xmlns:a16="http://schemas.microsoft.com/office/drawing/2014/main" id="{2D4AD687-83E6-59AD-722E-0F4C6CBF4C8C}"/>
              </a:ext>
            </a:extLst>
          </p:cNvPr>
          <p:cNvSpPr/>
          <p:nvPr/>
        </p:nvSpPr>
        <p:spPr>
          <a:xfrm rot="19254955">
            <a:off x="614420" y="3973571"/>
            <a:ext cx="367388" cy="288032"/>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2" name="直線矢印コネクタ 21">
            <a:extLst>
              <a:ext uri="{FF2B5EF4-FFF2-40B4-BE49-F238E27FC236}">
                <a16:creationId xmlns:a16="http://schemas.microsoft.com/office/drawing/2014/main" id="{62A1D4AE-C0A3-11AA-E89C-DA9311B00C1E}"/>
              </a:ext>
            </a:extLst>
          </p:cNvPr>
          <p:cNvCxnSpPr>
            <a:cxnSpLocks/>
          </p:cNvCxnSpPr>
          <p:nvPr/>
        </p:nvCxnSpPr>
        <p:spPr>
          <a:xfrm>
            <a:off x="1963007" y="4370790"/>
            <a:ext cx="964274"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25" name="グループ化 24">
            <a:extLst>
              <a:ext uri="{FF2B5EF4-FFF2-40B4-BE49-F238E27FC236}">
                <a16:creationId xmlns:a16="http://schemas.microsoft.com/office/drawing/2014/main" id="{1E01EE04-5B35-9F4D-B8C3-9E83B648BF47}"/>
              </a:ext>
            </a:extLst>
          </p:cNvPr>
          <p:cNvGrpSpPr/>
          <p:nvPr/>
        </p:nvGrpSpPr>
        <p:grpSpPr>
          <a:xfrm>
            <a:off x="3689847" y="4973782"/>
            <a:ext cx="491092" cy="555148"/>
            <a:chOff x="3980964" y="3583025"/>
            <a:chExt cx="828092" cy="936104"/>
          </a:xfrm>
        </p:grpSpPr>
        <p:sp>
          <p:nvSpPr>
            <p:cNvPr id="26" name="正方形/長方形 25">
              <a:extLst>
                <a:ext uri="{FF2B5EF4-FFF2-40B4-BE49-F238E27FC236}">
                  <a16:creationId xmlns:a16="http://schemas.microsoft.com/office/drawing/2014/main" id="{86742212-5278-5F67-52AA-F67F9B0B80EE}"/>
                </a:ext>
              </a:extLst>
            </p:cNvPr>
            <p:cNvSpPr/>
            <p:nvPr/>
          </p:nvSpPr>
          <p:spPr>
            <a:xfrm>
              <a:off x="4232992" y="3583025"/>
              <a:ext cx="576064" cy="93610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三角形 26">
              <a:extLst>
                <a:ext uri="{FF2B5EF4-FFF2-40B4-BE49-F238E27FC236}">
                  <a16:creationId xmlns:a16="http://schemas.microsoft.com/office/drawing/2014/main" id="{06DD0CA1-F6F7-DCED-EB97-85522C5FA1E2}"/>
                </a:ext>
              </a:extLst>
            </p:cNvPr>
            <p:cNvSpPr/>
            <p:nvPr/>
          </p:nvSpPr>
          <p:spPr>
            <a:xfrm rot="5400000">
              <a:off x="4016968" y="3799049"/>
              <a:ext cx="432048" cy="504056"/>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8" name="グループ化 27">
            <a:extLst>
              <a:ext uri="{FF2B5EF4-FFF2-40B4-BE49-F238E27FC236}">
                <a16:creationId xmlns:a16="http://schemas.microsoft.com/office/drawing/2014/main" id="{8F2A6287-6C04-1DFA-E9D4-A740BB6409FA}"/>
              </a:ext>
            </a:extLst>
          </p:cNvPr>
          <p:cNvGrpSpPr/>
          <p:nvPr/>
        </p:nvGrpSpPr>
        <p:grpSpPr>
          <a:xfrm>
            <a:off x="2927281" y="4962393"/>
            <a:ext cx="703773" cy="566537"/>
            <a:chOff x="1193558" y="4261389"/>
            <a:chExt cx="703773" cy="566537"/>
          </a:xfrm>
        </p:grpSpPr>
        <p:pic>
          <p:nvPicPr>
            <p:cNvPr id="29" name="Picture 2" descr="掲示板に貼られた紙のイラスト（メモ）">
              <a:extLst>
                <a:ext uri="{FF2B5EF4-FFF2-40B4-BE49-F238E27FC236}">
                  <a16:creationId xmlns:a16="http://schemas.microsoft.com/office/drawing/2014/main" id="{4CBBBD5C-1BD0-EEFE-68EE-5F533BC8BF9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93558" y="4261389"/>
              <a:ext cx="703773" cy="566537"/>
            </a:xfrm>
            <a:prstGeom prst="rect">
              <a:avLst/>
            </a:prstGeom>
            <a:noFill/>
            <a:extLst>
              <a:ext uri="{909E8E84-426E-40DD-AFC4-6F175D3DCCD1}">
                <a14:hiddenFill xmlns:a14="http://schemas.microsoft.com/office/drawing/2010/main">
                  <a:solidFill>
                    <a:srgbClr val="FFFFFF"/>
                  </a:solidFill>
                </a14:hiddenFill>
              </a:ext>
            </a:extLst>
          </p:spPr>
        </p:pic>
        <p:grpSp>
          <p:nvGrpSpPr>
            <p:cNvPr id="30" name="グループ化 29">
              <a:extLst>
                <a:ext uri="{FF2B5EF4-FFF2-40B4-BE49-F238E27FC236}">
                  <a16:creationId xmlns:a16="http://schemas.microsoft.com/office/drawing/2014/main" id="{3F26D2D8-8587-38C4-47CC-5B340B41287B}"/>
                </a:ext>
              </a:extLst>
            </p:cNvPr>
            <p:cNvGrpSpPr/>
            <p:nvPr/>
          </p:nvGrpSpPr>
          <p:grpSpPr>
            <a:xfrm>
              <a:off x="1468290" y="4442527"/>
              <a:ext cx="236787" cy="267673"/>
              <a:chOff x="2339752" y="3645024"/>
              <a:chExt cx="828092" cy="936104"/>
            </a:xfrm>
            <a:solidFill>
              <a:srgbClr val="FF0000"/>
            </a:solidFill>
          </p:grpSpPr>
          <p:sp>
            <p:nvSpPr>
              <p:cNvPr id="31" name="正方形/長方形 30">
                <a:extLst>
                  <a:ext uri="{FF2B5EF4-FFF2-40B4-BE49-F238E27FC236}">
                    <a16:creationId xmlns:a16="http://schemas.microsoft.com/office/drawing/2014/main" id="{D35A9024-249E-BDDF-0686-6354C2F24C93}"/>
                  </a:ext>
                </a:extLst>
              </p:cNvPr>
              <p:cNvSpPr/>
              <p:nvPr/>
            </p:nvSpPr>
            <p:spPr>
              <a:xfrm>
                <a:off x="2339752" y="3645024"/>
                <a:ext cx="576064" cy="936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三角形 31">
                <a:extLst>
                  <a:ext uri="{FF2B5EF4-FFF2-40B4-BE49-F238E27FC236}">
                    <a16:creationId xmlns:a16="http://schemas.microsoft.com/office/drawing/2014/main" id="{A05AA85D-17A7-6ED5-5272-9E214B25DE8E}"/>
                  </a:ext>
                </a:extLst>
              </p:cNvPr>
              <p:cNvSpPr/>
              <p:nvPr/>
            </p:nvSpPr>
            <p:spPr>
              <a:xfrm rot="5400000">
                <a:off x="2699792" y="3861048"/>
                <a:ext cx="432048" cy="504056"/>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
        <p:nvSpPr>
          <p:cNvPr id="33" name="テキスト ボックス 32">
            <a:extLst>
              <a:ext uri="{FF2B5EF4-FFF2-40B4-BE49-F238E27FC236}">
                <a16:creationId xmlns:a16="http://schemas.microsoft.com/office/drawing/2014/main" id="{EA5E3B8E-AB26-4FED-7B4A-12533A2787D6}"/>
              </a:ext>
            </a:extLst>
          </p:cNvPr>
          <p:cNvSpPr txBox="1"/>
          <p:nvPr/>
        </p:nvSpPr>
        <p:spPr>
          <a:xfrm>
            <a:off x="4749918" y="5202029"/>
            <a:ext cx="4342040" cy="369332"/>
          </a:xfrm>
          <a:prstGeom prst="rect">
            <a:avLst/>
          </a:prstGeom>
          <a:noFill/>
        </p:spPr>
        <p:txBody>
          <a:bodyPr wrap="square" rtlCol="0">
            <a:spAutoFit/>
          </a:bodyPr>
          <a:lstStyle/>
          <a:p>
            <a:r>
              <a:rPr kumimoji="1" lang="en-US" altLang="ja-JP" dirty="0"/>
              <a:t>3. Bob</a:t>
            </a:r>
            <a:r>
              <a:rPr kumimoji="1" lang="ja-JP" altLang="en-US"/>
              <a:t>は</a:t>
            </a:r>
            <a:r>
              <a:rPr kumimoji="1" lang="en-US" altLang="ja-JP" dirty="0"/>
              <a:t>Alice</a:t>
            </a:r>
            <a:r>
              <a:rPr kumimoji="1" lang="ja-JP" altLang="en-US"/>
              <a:t>の公開鍵で署名を検証する</a:t>
            </a:r>
          </a:p>
        </p:txBody>
      </p:sp>
      <p:sp>
        <p:nvSpPr>
          <p:cNvPr id="34" name="テキスト ボックス 33">
            <a:extLst>
              <a:ext uri="{FF2B5EF4-FFF2-40B4-BE49-F238E27FC236}">
                <a16:creationId xmlns:a16="http://schemas.microsoft.com/office/drawing/2014/main" id="{E0224B29-1F89-3D0A-0909-485CE9CC0BA3}"/>
              </a:ext>
            </a:extLst>
          </p:cNvPr>
          <p:cNvSpPr txBox="1"/>
          <p:nvPr/>
        </p:nvSpPr>
        <p:spPr>
          <a:xfrm>
            <a:off x="4802385" y="6164269"/>
            <a:ext cx="3582066" cy="369332"/>
          </a:xfrm>
          <a:prstGeom prst="rect">
            <a:avLst/>
          </a:prstGeom>
          <a:noFill/>
        </p:spPr>
        <p:txBody>
          <a:bodyPr wrap="square" rtlCol="0">
            <a:spAutoFit/>
          </a:bodyPr>
          <a:lstStyle/>
          <a:p>
            <a:r>
              <a:rPr lang="en-US" altLang="ja-JP" dirty="0"/>
              <a:t>4</a:t>
            </a:r>
            <a:r>
              <a:rPr kumimoji="1" lang="en-US" altLang="ja-JP" dirty="0"/>
              <a:t>. </a:t>
            </a:r>
            <a:r>
              <a:rPr kumimoji="1" lang="ja-JP" altLang="en-US"/>
              <a:t>検証に成功したら認証完了</a:t>
            </a:r>
          </a:p>
        </p:txBody>
      </p:sp>
      <p:pic>
        <p:nvPicPr>
          <p:cNvPr id="3078" name="Picture 6" descr="握手する手のイラスト">
            <a:extLst>
              <a:ext uri="{FF2B5EF4-FFF2-40B4-BE49-F238E27FC236}">
                <a16:creationId xmlns:a16="http://schemas.microsoft.com/office/drawing/2014/main" id="{0A120654-C5C8-24EC-8E03-5A453798A90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763688" y="5810088"/>
            <a:ext cx="1197218" cy="850025"/>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2" descr="掲示板に貼られた紙のイラスト（メモ）">
            <a:extLst>
              <a:ext uri="{FF2B5EF4-FFF2-40B4-BE49-F238E27FC236}">
                <a16:creationId xmlns:a16="http://schemas.microsoft.com/office/drawing/2014/main" id="{0EFF03B1-ACA5-0802-5E0A-7D14112F0DB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01111" y="2474022"/>
            <a:ext cx="703773" cy="566537"/>
          </a:xfrm>
          <a:prstGeom prst="rect">
            <a:avLst/>
          </a:prstGeom>
          <a:noFill/>
          <a:extLst>
            <a:ext uri="{909E8E84-426E-40DD-AFC4-6F175D3DCCD1}">
              <a14:hiddenFill xmlns:a14="http://schemas.microsoft.com/office/drawing/2010/main">
                <a:solidFill>
                  <a:srgbClr val="FFFFFF"/>
                </a:solidFill>
              </a14:hiddenFill>
            </a:ext>
          </a:extLst>
        </p:spPr>
      </p:pic>
      <p:grpSp>
        <p:nvGrpSpPr>
          <p:cNvPr id="38" name="グループ化 37">
            <a:extLst>
              <a:ext uri="{FF2B5EF4-FFF2-40B4-BE49-F238E27FC236}">
                <a16:creationId xmlns:a16="http://schemas.microsoft.com/office/drawing/2014/main" id="{EA86B244-4EEE-21A9-F131-501178BD6BD9}"/>
              </a:ext>
            </a:extLst>
          </p:cNvPr>
          <p:cNvGrpSpPr/>
          <p:nvPr/>
        </p:nvGrpSpPr>
        <p:grpSpPr>
          <a:xfrm>
            <a:off x="3124301" y="4049245"/>
            <a:ext cx="703773" cy="566537"/>
            <a:chOff x="1193558" y="4261389"/>
            <a:chExt cx="703773" cy="566537"/>
          </a:xfrm>
        </p:grpSpPr>
        <p:pic>
          <p:nvPicPr>
            <p:cNvPr id="39" name="Picture 2" descr="掲示板に貼られた紙のイラスト（メモ）">
              <a:extLst>
                <a:ext uri="{FF2B5EF4-FFF2-40B4-BE49-F238E27FC236}">
                  <a16:creationId xmlns:a16="http://schemas.microsoft.com/office/drawing/2014/main" id="{BB567167-9CD1-7D3D-3C20-BBFBAB61226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93558" y="4261389"/>
              <a:ext cx="703773" cy="566537"/>
            </a:xfrm>
            <a:prstGeom prst="rect">
              <a:avLst/>
            </a:prstGeom>
            <a:noFill/>
            <a:extLst>
              <a:ext uri="{909E8E84-426E-40DD-AFC4-6F175D3DCCD1}">
                <a14:hiddenFill xmlns:a14="http://schemas.microsoft.com/office/drawing/2010/main">
                  <a:solidFill>
                    <a:srgbClr val="FFFFFF"/>
                  </a:solidFill>
                </a14:hiddenFill>
              </a:ext>
            </a:extLst>
          </p:spPr>
        </p:pic>
        <p:grpSp>
          <p:nvGrpSpPr>
            <p:cNvPr id="40" name="グループ化 39">
              <a:extLst>
                <a:ext uri="{FF2B5EF4-FFF2-40B4-BE49-F238E27FC236}">
                  <a16:creationId xmlns:a16="http://schemas.microsoft.com/office/drawing/2014/main" id="{4A7CB697-B395-A0F4-DD69-ECD8B00FB5BC}"/>
                </a:ext>
              </a:extLst>
            </p:cNvPr>
            <p:cNvGrpSpPr/>
            <p:nvPr/>
          </p:nvGrpSpPr>
          <p:grpSpPr>
            <a:xfrm>
              <a:off x="1468290" y="4442527"/>
              <a:ext cx="236787" cy="267673"/>
              <a:chOff x="2339752" y="3645024"/>
              <a:chExt cx="828092" cy="936104"/>
            </a:xfrm>
            <a:solidFill>
              <a:srgbClr val="FF0000"/>
            </a:solidFill>
          </p:grpSpPr>
          <p:sp>
            <p:nvSpPr>
              <p:cNvPr id="41" name="正方形/長方形 40">
                <a:extLst>
                  <a:ext uri="{FF2B5EF4-FFF2-40B4-BE49-F238E27FC236}">
                    <a16:creationId xmlns:a16="http://schemas.microsoft.com/office/drawing/2014/main" id="{8A1ABC4E-71A9-3014-F2BD-37FF20ED977C}"/>
                  </a:ext>
                </a:extLst>
              </p:cNvPr>
              <p:cNvSpPr/>
              <p:nvPr/>
            </p:nvSpPr>
            <p:spPr>
              <a:xfrm>
                <a:off x="2339752" y="3645024"/>
                <a:ext cx="576064" cy="936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三角形 41">
                <a:extLst>
                  <a:ext uri="{FF2B5EF4-FFF2-40B4-BE49-F238E27FC236}">
                    <a16:creationId xmlns:a16="http://schemas.microsoft.com/office/drawing/2014/main" id="{19124DAB-7C37-0AE4-A3E4-E6A97194CE06}"/>
                  </a:ext>
                </a:extLst>
              </p:cNvPr>
              <p:cNvSpPr/>
              <p:nvPr/>
            </p:nvSpPr>
            <p:spPr>
              <a:xfrm rot="5400000">
                <a:off x="2699792" y="3861048"/>
                <a:ext cx="432048" cy="504056"/>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Tree>
    <p:extLst>
      <p:ext uri="{BB962C8B-B14F-4D97-AF65-F5344CB8AC3E}">
        <p14:creationId xmlns:p14="http://schemas.microsoft.com/office/powerpoint/2010/main" val="39478075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37934764-EE7D-82EF-7324-AF8E50D8331E}"/>
              </a:ext>
            </a:extLst>
          </p:cNvPr>
          <p:cNvSpPr>
            <a:spLocks noGrp="1"/>
          </p:cNvSpPr>
          <p:nvPr>
            <p:ph type="body" sz="quarter" idx="10"/>
          </p:nvPr>
        </p:nvSpPr>
        <p:spPr/>
        <p:txBody>
          <a:bodyPr/>
          <a:lstStyle/>
          <a:p>
            <a:r>
              <a:rPr kumimoji="1" lang="ja-JP" altLang="en-US"/>
              <a:t>ホスト認証</a:t>
            </a:r>
          </a:p>
        </p:txBody>
      </p:sp>
      <p:pic>
        <p:nvPicPr>
          <p:cNvPr id="3" name="Picture 8" descr="会社で働く人のイラスト（男性）">
            <a:extLst>
              <a:ext uri="{FF2B5EF4-FFF2-40B4-BE49-F238E27FC236}">
                <a16:creationId xmlns:a16="http://schemas.microsoft.com/office/drawing/2014/main" id="{D3DC81BA-3853-BB20-CAC1-694C77D26F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2564904"/>
            <a:ext cx="1004629" cy="1004629"/>
          </a:xfrm>
          <a:prstGeom prst="rect">
            <a:avLst/>
          </a:prstGeom>
          <a:noFill/>
          <a:extLst>
            <a:ext uri="{909E8E84-426E-40DD-AFC4-6F175D3DCCD1}">
              <a14:hiddenFill xmlns:a14="http://schemas.microsoft.com/office/drawing/2010/main">
                <a:solidFill>
                  <a:srgbClr val="FFFFFF"/>
                </a:solidFill>
              </a14:hiddenFill>
            </a:ext>
          </a:extLst>
        </p:spPr>
      </p:pic>
      <p:sp>
        <p:nvSpPr>
          <p:cNvPr id="4" name="テキスト ボックス 3">
            <a:extLst>
              <a:ext uri="{FF2B5EF4-FFF2-40B4-BE49-F238E27FC236}">
                <a16:creationId xmlns:a16="http://schemas.microsoft.com/office/drawing/2014/main" id="{4CC6A931-9E96-8FBD-2BA9-A2EBB5080011}"/>
              </a:ext>
            </a:extLst>
          </p:cNvPr>
          <p:cNvSpPr txBox="1"/>
          <p:nvPr/>
        </p:nvSpPr>
        <p:spPr>
          <a:xfrm>
            <a:off x="555516" y="944194"/>
            <a:ext cx="7976924" cy="646331"/>
          </a:xfrm>
          <a:prstGeom prst="rect">
            <a:avLst/>
          </a:prstGeom>
          <a:noFill/>
        </p:spPr>
        <p:txBody>
          <a:bodyPr wrap="square" rtlCol="0">
            <a:spAutoFit/>
          </a:bodyPr>
          <a:lstStyle/>
          <a:p>
            <a:r>
              <a:rPr kumimoji="1" lang="ja-JP" altLang="en-US"/>
              <a:t>インターネットは情報がリレーされるので、途中に悪意ある中継点があると通信路が書き換えられるおそれがある</a:t>
            </a:r>
          </a:p>
        </p:txBody>
      </p:sp>
      <p:pic>
        <p:nvPicPr>
          <p:cNvPr id="5" name="Picture 2" descr="悪人のイラスト「黒いシルエット」">
            <a:extLst>
              <a:ext uri="{FF2B5EF4-FFF2-40B4-BE49-F238E27FC236}">
                <a16:creationId xmlns:a16="http://schemas.microsoft.com/office/drawing/2014/main" id="{30DE6CC0-B0A5-D6A4-C862-A76A67D4E38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3799918" y="4348076"/>
            <a:ext cx="983096" cy="1166880"/>
          </a:xfrm>
          <a:prstGeom prst="rect">
            <a:avLst/>
          </a:prstGeom>
          <a:noFill/>
          <a:extLst>
            <a:ext uri="{909E8E84-426E-40DD-AFC4-6F175D3DCCD1}">
              <a14:hiddenFill xmlns:a14="http://schemas.microsoft.com/office/drawing/2010/main">
                <a:solidFill>
                  <a:srgbClr val="FFFFFF"/>
                </a:solidFill>
              </a14:hiddenFill>
            </a:ext>
          </a:extLst>
        </p:spPr>
      </p:pic>
      <p:pic>
        <p:nvPicPr>
          <p:cNvPr id="6" name="図 5">
            <a:extLst>
              <a:ext uri="{FF2B5EF4-FFF2-40B4-BE49-F238E27FC236}">
                <a16:creationId xmlns:a16="http://schemas.microsoft.com/office/drawing/2014/main" id="{D91EFC8F-7D34-C3DC-7369-D3B70182488E}"/>
              </a:ext>
            </a:extLst>
          </p:cNvPr>
          <p:cNvPicPr>
            <a:picLocks noChangeAspect="1"/>
          </p:cNvPicPr>
          <p:nvPr/>
        </p:nvPicPr>
        <p:blipFill>
          <a:blip r:embed="rId4"/>
          <a:stretch>
            <a:fillRect/>
          </a:stretch>
        </p:blipFill>
        <p:spPr>
          <a:xfrm>
            <a:off x="6516216" y="2716377"/>
            <a:ext cx="716898" cy="716898"/>
          </a:xfrm>
          <a:prstGeom prst="rect">
            <a:avLst/>
          </a:prstGeom>
        </p:spPr>
      </p:pic>
      <p:pic>
        <p:nvPicPr>
          <p:cNvPr id="2050" name="Picture 2" descr="Wi-Fi無線ルーターのイラスト">
            <a:extLst>
              <a:ext uri="{FF2B5EF4-FFF2-40B4-BE49-F238E27FC236}">
                <a16:creationId xmlns:a16="http://schemas.microsoft.com/office/drawing/2014/main" id="{478356E9-F61B-D165-718B-939BFBA87DA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H="1">
            <a:off x="3822174" y="2367574"/>
            <a:ext cx="942256" cy="116688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骸骨・海賊のマークのイラスト">
            <a:extLst>
              <a:ext uri="{FF2B5EF4-FFF2-40B4-BE49-F238E27FC236}">
                <a16:creationId xmlns:a16="http://schemas.microsoft.com/office/drawing/2014/main" id="{CECEFED9-0CE3-0609-9E15-416701ED2006}"/>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088166" y="2982357"/>
            <a:ext cx="555842" cy="472465"/>
          </a:xfrm>
          <a:prstGeom prst="rect">
            <a:avLst/>
          </a:prstGeom>
          <a:noFill/>
          <a:extLst>
            <a:ext uri="{909E8E84-426E-40DD-AFC4-6F175D3DCCD1}">
              <a14:hiddenFill xmlns:a14="http://schemas.microsoft.com/office/drawing/2010/main">
                <a:solidFill>
                  <a:srgbClr val="FFFFFF"/>
                </a:solidFill>
              </a14:hiddenFill>
            </a:ext>
          </a:extLst>
        </p:spPr>
      </p:pic>
      <p:cxnSp>
        <p:nvCxnSpPr>
          <p:cNvPr id="8" name="直線コネクタ 7">
            <a:extLst>
              <a:ext uri="{FF2B5EF4-FFF2-40B4-BE49-F238E27FC236}">
                <a16:creationId xmlns:a16="http://schemas.microsoft.com/office/drawing/2014/main" id="{7FC6CA5A-0CED-E19F-8386-6CFDA824D4FE}"/>
              </a:ext>
            </a:extLst>
          </p:cNvPr>
          <p:cNvCxnSpPr>
            <a:stCxn id="3" idx="3"/>
          </p:cNvCxnSpPr>
          <p:nvPr/>
        </p:nvCxnSpPr>
        <p:spPr>
          <a:xfrm>
            <a:off x="2264261" y="3067219"/>
            <a:ext cx="1557913" cy="1741"/>
          </a:xfrm>
          <a:prstGeom prst="line">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直線矢印コネクタ 9">
            <a:extLst>
              <a:ext uri="{FF2B5EF4-FFF2-40B4-BE49-F238E27FC236}">
                <a16:creationId xmlns:a16="http://schemas.microsoft.com/office/drawing/2014/main" id="{1DFABB1E-D8E9-E42A-0357-0A1E06444860}"/>
              </a:ext>
            </a:extLst>
          </p:cNvPr>
          <p:cNvCxnSpPr>
            <a:stCxn id="2050" idx="2"/>
            <a:endCxn id="5" idx="0"/>
          </p:cNvCxnSpPr>
          <p:nvPr/>
        </p:nvCxnSpPr>
        <p:spPr>
          <a:xfrm flipH="1">
            <a:off x="4291466" y="3534454"/>
            <a:ext cx="1836" cy="813622"/>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6B1DD7F9-CC7D-4EB5-63C6-F264C4CDEB49}"/>
              </a:ext>
            </a:extLst>
          </p:cNvPr>
          <p:cNvSpPr txBox="1"/>
          <p:nvPr/>
        </p:nvSpPr>
        <p:spPr>
          <a:xfrm>
            <a:off x="827584" y="5805264"/>
            <a:ext cx="5955476" cy="646331"/>
          </a:xfrm>
          <a:prstGeom prst="rect">
            <a:avLst/>
          </a:prstGeom>
          <a:noFill/>
        </p:spPr>
        <p:txBody>
          <a:bodyPr wrap="none" rtlCol="0">
            <a:spAutoFit/>
          </a:bodyPr>
          <a:lstStyle/>
          <a:p>
            <a:r>
              <a:rPr kumimoji="1" lang="ja-JP" altLang="en-US"/>
              <a:t>通信相手が正しいホストであると確認する→ホスト認証</a:t>
            </a:r>
            <a:endParaRPr kumimoji="1" lang="en-US" altLang="ja-JP" dirty="0"/>
          </a:p>
          <a:p>
            <a:r>
              <a:rPr lang="ja-JP" altLang="en-US">
                <a:solidFill>
                  <a:srgbClr val="FF0000"/>
                </a:solidFill>
              </a:rPr>
              <a:t>ユーザ認証の前</a:t>
            </a:r>
            <a:r>
              <a:rPr lang="ja-JP" altLang="en-US"/>
              <a:t>に行われる</a:t>
            </a:r>
            <a:endParaRPr kumimoji="1" lang="ja-JP" altLang="en-US"/>
          </a:p>
        </p:txBody>
      </p:sp>
    </p:spTree>
    <p:extLst>
      <p:ext uri="{BB962C8B-B14F-4D97-AF65-F5344CB8AC3E}">
        <p14:creationId xmlns:p14="http://schemas.microsoft.com/office/powerpoint/2010/main" val="37652416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2856B158-0DF0-BE58-5923-FC575624C2FA}"/>
              </a:ext>
            </a:extLst>
          </p:cNvPr>
          <p:cNvSpPr>
            <a:spLocks noGrp="1"/>
          </p:cNvSpPr>
          <p:nvPr>
            <p:ph type="body" sz="quarter" idx="10"/>
          </p:nvPr>
        </p:nvSpPr>
        <p:spPr/>
        <p:txBody>
          <a:bodyPr/>
          <a:lstStyle/>
          <a:p>
            <a:r>
              <a:rPr kumimoji="1" lang="ja-JP" altLang="en-US"/>
              <a:t>ホスト認証</a:t>
            </a:r>
            <a:r>
              <a:rPr kumimoji="1" lang="en-US" altLang="ja-JP" dirty="0"/>
              <a:t>(</a:t>
            </a:r>
            <a:r>
              <a:rPr kumimoji="1" lang="ja-JP" altLang="en-US"/>
              <a:t>初回</a:t>
            </a:r>
            <a:r>
              <a:rPr kumimoji="1" lang="en-US" altLang="ja-JP" dirty="0"/>
              <a:t>)</a:t>
            </a:r>
            <a:endParaRPr kumimoji="1" lang="ja-JP" altLang="en-US"/>
          </a:p>
        </p:txBody>
      </p:sp>
      <p:pic>
        <p:nvPicPr>
          <p:cNvPr id="4" name="Picture 8" descr="会社で働く人のイラスト（男性）">
            <a:extLst>
              <a:ext uri="{FF2B5EF4-FFF2-40B4-BE49-F238E27FC236}">
                <a16:creationId xmlns:a16="http://schemas.microsoft.com/office/drawing/2014/main" id="{5865CAD8-412C-FB6E-9879-3A315EB397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2991773" y="1711827"/>
            <a:ext cx="777586" cy="777586"/>
          </a:xfrm>
          <a:prstGeom prst="rect">
            <a:avLst/>
          </a:prstGeom>
          <a:noFill/>
          <a:extLst>
            <a:ext uri="{909E8E84-426E-40DD-AFC4-6F175D3DCCD1}">
              <a14:hiddenFill xmlns:a14="http://schemas.microsoft.com/office/drawing/2010/main">
                <a:solidFill>
                  <a:srgbClr val="FFFFFF"/>
                </a:solidFill>
              </a14:hiddenFill>
            </a:ext>
          </a:extLst>
        </p:spPr>
      </p:pic>
      <p:sp>
        <p:nvSpPr>
          <p:cNvPr id="5" name="テキスト ボックス 4">
            <a:extLst>
              <a:ext uri="{FF2B5EF4-FFF2-40B4-BE49-F238E27FC236}">
                <a16:creationId xmlns:a16="http://schemas.microsoft.com/office/drawing/2014/main" id="{F1018928-47C5-F477-F7AF-E2A6FFA78943}"/>
              </a:ext>
            </a:extLst>
          </p:cNvPr>
          <p:cNvSpPr txBox="1"/>
          <p:nvPr/>
        </p:nvSpPr>
        <p:spPr>
          <a:xfrm>
            <a:off x="903937" y="1155573"/>
            <a:ext cx="7340471" cy="369332"/>
          </a:xfrm>
          <a:prstGeom prst="rect">
            <a:avLst/>
          </a:prstGeom>
          <a:noFill/>
        </p:spPr>
        <p:txBody>
          <a:bodyPr wrap="none" rtlCol="0">
            <a:spAutoFit/>
          </a:bodyPr>
          <a:lstStyle/>
          <a:p>
            <a:r>
              <a:rPr kumimoji="1" lang="ja-JP" altLang="en-US"/>
              <a:t>初めて接続するホストで、クライアントが公開鍵を持っていない場合</a:t>
            </a:r>
          </a:p>
        </p:txBody>
      </p:sp>
      <p:pic>
        <p:nvPicPr>
          <p:cNvPr id="6" name="図 5">
            <a:extLst>
              <a:ext uri="{FF2B5EF4-FFF2-40B4-BE49-F238E27FC236}">
                <a16:creationId xmlns:a16="http://schemas.microsoft.com/office/drawing/2014/main" id="{E9B42F60-4D44-414B-6C38-098BF38BFD85}"/>
              </a:ext>
            </a:extLst>
          </p:cNvPr>
          <p:cNvPicPr>
            <a:picLocks noChangeAspect="1"/>
          </p:cNvPicPr>
          <p:nvPr/>
        </p:nvPicPr>
        <p:blipFill>
          <a:blip r:embed="rId3"/>
          <a:stretch>
            <a:fillRect/>
          </a:stretch>
        </p:blipFill>
        <p:spPr>
          <a:xfrm>
            <a:off x="671277" y="1836886"/>
            <a:ext cx="716898" cy="716898"/>
          </a:xfrm>
          <a:prstGeom prst="rect">
            <a:avLst/>
          </a:prstGeom>
        </p:spPr>
      </p:pic>
      <p:sp>
        <p:nvSpPr>
          <p:cNvPr id="13" name="テキスト ボックス 12">
            <a:extLst>
              <a:ext uri="{FF2B5EF4-FFF2-40B4-BE49-F238E27FC236}">
                <a16:creationId xmlns:a16="http://schemas.microsoft.com/office/drawing/2014/main" id="{2DE1A010-C164-C9C7-DAAA-E16DC0190283}"/>
              </a:ext>
            </a:extLst>
          </p:cNvPr>
          <p:cNvSpPr txBox="1"/>
          <p:nvPr/>
        </p:nvSpPr>
        <p:spPr>
          <a:xfrm>
            <a:off x="4269802" y="3389346"/>
            <a:ext cx="3903633" cy="369332"/>
          </a:xfrm>
          <a:prstGeom prst="rect">
            <a:avLst/>
          </a:prstGeom>
          <a:noFill/>
        </p:spPr>
        <p:txBody>
          <a:bodyPr wrap="none" rtlCol="0">
            <a:spAutoFit/>
          </a:bodyPr>
          <a:lstStyle/>
          <a:p>
            <a:r>
              <a:rPr kumimoji="1" lang="en-US" altLang="ja-JP" dirty="0"/>
              <a:t>1. </a:t>
            </a:r>
            <a:r>
              <a:rPr kumimoji="1" lang="ja-JP" altLang="en-US"/>
              <a:t>ホストから公開鍵が送られてくる</a:t>
            </a:r>
          </a:p>
        </p:txBody>
      </p:sp>
      <p:cxnSp>
        <p:nvCxnSpPr>
          <p:cNvPr id="15" name="直線矢印コネクタ 14">
            <a:extLst>
              <a:ext uri="{FF2B5EF4-FFF2-40B4-BE49-F238E27FC236}">
                <a16:creationId xmlns:a16="http://schemas.microsoft.com/office/drawing/2014/main" id="{A6B8733E-A84D-DE8C-04ED-DFD3444C73EC}"/>
              </a:ext>
            </a:extLst>
          </p:cNvPr>
          <p:cNvCxnSpPr>
            <a:cxnSpLocks/>
          </p:cNvCxnSpPr>
          <p:nvPr/>
        </p:nvCxnSpPr>
        <p:spPr>
          <a:xfrm>
            <a:off x="1647118" y="3566140"/>
            <a:ext cx="948618"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0" name="テキスト ボックス 19">
            <a:extLst>
              <a:ext uri="{FF2B5EF4-FFF2-40B4-BE49-F238E27FC236}">
                <a16:creationId xmlns:a16="http://schemas.microsoft.com/office/drawing/2014/main" id="{39095693-46F9-F492-703D-509C492B5E87}"/>
              </a:ext>
            </a:extLst>
          </p:cNvPr>
          <p:cNvSpPr txBox="1"/>
          <p:nvPr/>
        </p:nvSpPr>
        <p:spPr>
          <a:xfrm>
            <a:off x="4269802" y="4305186"/>
            <a:ext cx="3672800" cy="369332"/>
          </a:xfrm>
          <a:prstGeom prst="rect">
            <a:avLst/>
          </a:prstGeom>
          <a:noFill/>
        </p:spPr>
        <p:txBody>
          <a:bodyPr wrap="none" rtlCol="0">
            <a:spAutoFit/>
          </a:bodyPr>
          <a:lstStyle/>
          <a:p>
            <a:r>
              <a:rPr kumimoji="1" lang="en-US" altLang="ja-JP" dirty="0"/>
              <a:t>2. </a:t>
            </a:r>
            <a:r>
              <a:rPr kumimoji="1" lang="ja-JP" altLang="en-US"/>
              <a:t>この公開鍵を信じるか確認する</a:t>
            </a:r>
          </a:p>
        </p:txBody>
      </p:sp>
      <p:sp>
        <p:nvSpPr>
          <p:cNvPr id="24" name="テキスト ボックス 23">
            <a:extLst>
              <a:ext uri="{FF2B5EF4-FFF2-40B4-BE49-F238E27FC236}">
                <a16:creationId xmlns:a16="http://schemas.microsoft.com/office/drawing/2014/main" id="{67286F1D-A85E-4902-6BA6-55DD34456301}"/>
              </a:ext>
            </a:extLst>
          </p:cNvPr>
          <p:cNvSpPr txBox="1"/>
          <p:nvPr/>
        </p:nvSpPr>
        <p:spPr>
          <a:xfrm>
            <a:off x="4269802" y="5450128"/>
            <a:ext cx="4349080" cy="646331"/>
          </a:xfrm>
          <a:prstGeom prst="rect">
            <a:avLst/>
          </a:prstGeom>
          <a:noFill/>
        </p:spPr>
        <p:txBody>
          <a:bodyPr wrap="square" rtlCol="0">
            <a:spAutoFit/>
          </a:bodyPr>
          <a:lstStyle/>
          <a:p>
            <a:r>
              <a:rPr kumimoji="1" lang="en-US" altLang="ja-JP" dirty="0"/>
              <a:t>3. </a:t>
            </a:r>
            <a:r>
              <a:rPr kumimoji="1" lang="ja-JP" altLang="en-US"/>
              <a:t>鍵を信じる場合</a:t>
            </a:r>
            <a:r>
              <a:rPr lang="en-US" altLang="ja-JP" dirty="0"/>
              <a:t>(yes)</a:t>
            </a:r>
            <a:r>
              <a:rPr kumimoji="1" lang="ja-JP" altLang="en-US"/>
              <a:t>、この鍵を「知っているホスト」に登録する</a:t>
            </a:r>
          </a:p>
        </p:txBody>
      </p:sp>
      <p:sp>
        <p:nvSpPr>
          <p:cNvPr id="25" name="テキスト ボックス 24">
            <a:extLst>
              <a:ext uri="{FF2B5EF4-FFF2-40B4-BE49-F238E27FC236}">
                <a16:creationId xmlns:a16="http://schemas.microsoft.com/office/drawing/2014/main" id="{814DB56F-25A7-6EB6-2C90-2B2BA8D4473C}"/>
              </a:ext>
            </a:extLst>
          </p:cNvPr>
          <p:cNvSpPr txBox="1"/>
          <p:nvPr/>
        </p:nvSpPr>
        <p:spPr>
          <a:xfrm>
            <a:off x="2595736" y="2606846"/>
            <a:ext cx="1569660" cy="369332"/>
          </a:xfrm>
          <a:prstGeom prst="rect">
            <a:avLst/>
          </a:prstGeom>
          <a:noFill/>
        </p:spPr>
        <p:txBody>
          <a:bodyPr wrap="none" rtlCol="0">
            <a:spAutoFit/>
          </a:bodyPr>
          <a:lstStyle/>
          <a:p>
            <a:r>
              <a:rPr kumimoji="1" lang="ja-JP" altLang="en-US"/>
              <a:t>クライアント</a:t>
            </a:r>
          </a:p>
        </p:txBody>
      </p:sp>
      <p:sp>
        <p:nvSpPr>
          <p:cNvPr id="26" name="テキスト ボックス 25">
            <a:extLst>
              <a:ext uri="{FF2B5EF4-FFF2-40B4-BE49-F238E27FC236}">
                <a16:creationId xmlns:a16="http://schemas.microsoft.com/office/drawing/2014/main" id="{9000EECF-6FEE-425F-16E9-01B8B2CAD45B}"/>
              </a:ext>
            </a:extLst>
          </p:cNvPr>
          <p:cNvSpPr txBox="1"/>
          <p:nvPr/>
        </p:nvSpPr>
        <p:spPr>
          <a:xfrm>
            <a:off x="671277" y="2616431"/>
            <a:ext cx="877163" cy="369332"/>
          </a:xfrm>
          <a:prstGeom prst="rect">
            <a:avLst/>
          </a:prstGeom>
          <a:noFill/>
        </p:spPr>
        <p:txBody>
          <a:bodyPr wrap="none" rtlCol="0">
            <a:spAutoFit/>
          </a:bodyPr>
          <a:lstStyle/>
          <a:p>
            <a:r>
              <a:rPr kumimoji="1" lang="ja-JP" altLang="en-US"/>
              <a:t>ホスト</a:t>
            </a:r>
          </a:p>
        </p:txBody>
      </p:sp>
      <p:pic>
        <p:nvPicPr>
          <p:cNvPr id="5122" name="Picture 2" descr="ロッカーのイラスト（閉）">
            <a:extLst>
              <a:ext uri="{FF2B5EF4-FFF2-40B4-BE49-F238E27FC236}">
                <a16:creationId xmlns:a16="http://schemas.microsoft.com/office/drawing/2014/main" id="{FC563572-0F26-A989-51E9-9DA3E950DAE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14112" y="5263442"/>
            <a:ext cx="591769" cy="1047378"/>
          </a:xfrm>
          <a:prstGeom prst="rect">
            <a:avLst/>
          </a:prstGeom>
          <a:noFill/>
          <a:extLst>
            <a:ext uri="{909E8E84-426E-40DD-AFC4-6F175D3DCCD1}">
              <a14:hiddenFill xmlns:a14="http://schemas.microsoft.com/office/drawing/2010/main">
                <a:solidFill>
                  <a:srgbClr val="FFFFFF"/>
                </a:solidFill>
              </a14:hiddenFill>
            </a:ext>
          </a:extLst>
        </p:spPr>
      </p:pic>
      <p:grpSp>
        <p:nvGrpSpPr>
          <p:cNvPr id="31" name="グループ化 30">
            <a:extLst>
              <a:ext uri="{FF2B5EF4-FFF2-40B4-BE49-F238E27FC236}">
                <a16:creationId xmlns:a16="http://schemas.microsoft.com/office/drawing/2014/main" id="{79A992EA-006C-C5C7-195D-8B7CD7B57E27}"/>
              </a:ext>
            </a:extLst>
          </p:cNvPr>
          <p:cNvGrpSpPr/>
          <p:nvPr/>
        </p:nvGrpSpPr>
        <p:grpSpPr>
          <a:xfrm>
            <a:off x="2976074" y="3227440"/>
            <a:ext cx="599238" cy="677400"/>
            <a:chOff x="3980964" y="3583025"/>
            <a:chExt cx="828092" cy="936104"/>
          </a:xfrm>
        </p:grpSpPr>
        <p:sp>
          <p:nvSpPr>
            <p:cNvPr id="32" name="正方形/長方形 31">
              <a:extLst>
                <a:ext uri="{FF2B5EF4-FFF2-40B4-BE49-F238E27FC236}">
                  <a16:creationId xmlns:a16="http://schemas.microsoft.com/office/drawing/2014/main" id="{468AA0BD-DF29-7FBB-6209-C7D02BEC4510}"/>
                </a:ext>
              </a:extLst>
            </p:cNvPr>
            <p:cNvSpPr/>
            <p:nvPr/>
          </p:nvSpPr>
          <p:spPr>
            <a:xfrm>
              <a:off x="4232992" y="3583025"/>
              <a:ext cx="576064" cy="93610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三角形 32">
              <a:extLst>
                <a:ext uri="{FF2B5EF4-FFF2-40B4-BE49-F238E27FC236}">
                  <a16:creationId xmlns:a16="http://schemas.microsoft.com/office/drawing/2014/main" id="{4EDA9DCB-B6D0-0A33-2D69-592604627CEA}"/>
                </a:ext>
              </a:extLst>
            </p:cNvPr>
            <p:cNvSpPr/>
            <p:nvPr/>
          </p:nvSpPr>
          <p:spPr>
            <a:xfrm rot="5400000">
              <a:off x="4016968" y="3799049"/>
              <a:ext cx="432048" cy="504056"/>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4" name="グループ化 33">
            <a:extLst>
              <a:ext uri="{FF2B5EF4-FFF2-40B4-BE49-F238E27FC236}">
                <a16:creationId xmlns:a16="http://schemas.microsoft.com/office/drawing/2014/main" id="{9B54F918-BE57-7772-B573-DAD005DB2BDB}"/>
              </a:ext>
            </a:extLst>
          </p:cNvPr>
          <p:cNvGrpSpPr/>
          <p:nvPr/>
        </p:nvGrpSpPr>
        <p:grpSpPr>
          <a:xfrm>
            <a:off x="788937" y="3227440"/>
            <a:ext cx="599238" cy="677400"/>
            <a:chOff x="2339752" y="3645024"/>
            <a:chExt cx="828092" cy="936104"/>
          </a:xfrm>
        </p:grpSpPr>
        <p:sp>
          <p:nvSpPr>
            <p:cNvPr id="35" name="正方形/長方形 34">
              <a:extLst>
                <a:ext uri="{FF2B5EF4-FFF2-40B4-BE49-F238E27FC236}">
                  <a16:creationId xmlns:a16="http://schemas.microsoft.com/office/drawing/2014/main" id="{72522722-D060-0480-FDFC-2520AB436111}"/>
                </a:ext>
              </a:extLst>
            </p:cNvPr>
            <p:cNvSpPr/>
            <p:nvPr/>
          </p:nvSpPr>
          <p:spPr>
            <a:xfrm>
              <a:off x="2339752" y="3645024"/>
              <a:ext cx="576064" cy="93610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三角形 35">
              <a:extLst>
                <a:ext uri="{FF2B5EF4-FFF2-40B4-BE49-F238E27FC236}">
                  <a16:creationId xmlns:a16="http://schemas.microsoft.com/office/drawing/2014/main" id="{8A1B9060-166B-DAA4-E63D-4CBECEE12693}"/>
                </a:ext>
              </a:extLst>
            </p:cNvPr>
            <p:cNvSpPr/>
            <p:nvPr/>
          </p:nvSpPr>
          <p:spPr>
            <a:xfrm rot="5400000">
              <a:off x="2699792" y="3861048"/>
              <a:ext cx="432048" cy="504056"/>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7" name="グループ化 36">
            <a:extLst>
              <a:ext uri="{FF2B5EF4-FFF2-40B4-BE49-F238E27FC236}">
                <a16:creationId xmlns:a16="http://schemas.microsoft.com/office/drawing/2014/main" id="{2DF0EC30-91AF-AAFA-ADA3-1B475B543872}"/>
              </a:ext>
            </a:extLst>
          </p:cNvPr>
          <p:cNvGrpSpPr/>
          <p:nvPr/>
        </p:nvGrpSpPr>
        <p:grpSpPr>
          <a:xfrm>
            <a:off x="3216840" y="4403685"/>
            <a:ext cx="599238" cy="677400"/>
            <a:chOff x="3980964" y="3583025"/>
            <a:chExt cx="828092" cy="936104"/>
          </a:xfrm>
        </p:grpSpPr>
        <p:sp>
          <p:nvSpPr>
            <p:cNvPr id="38" name="正方形/長方形 37">
              <a:extLst>
                <a:ext uri="{FF2B5EF4-FFF2-40B4-BE49-F238E27FC236}">
                  <a16:creationId xmlns:a16="http://schemas.microsoft.com/office/drawing/2014/main" id="{DD7A39C0-534D-FED7-C942-42102D0EE60B}"/>
                </a:ext>
              </a:extLst>
            </p:cNvPr>
            <p:cNvSpPr/>
            <p:nvPr/>
          </p:nvSpPr>
          <p:spPr>
            <a:xfrm>
              <a:off x="4232992" y="3583025"/>
              <a:ext cx="576064" cy="93610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三角形 38">
              <a:extLst>
                <a:ext uri="{FF2B5EF4-FFF2-40B4-BE49-F238E27FC236}">
                  <a16:creationId xmlns:a16="http://schemas.microsoft.com/office/drawing/2014/main" id="{23764456-21BE-AE12-031B-EC762275025C}"/>
                </a:ext>
              </a:extLst>
            </p:cNvPr>
            <p:cNvSpPr/>
            <p:nvPr/>
          </p:nvSpPr>
          <p:spPr>
            <a:xfrm rot="5400000">
              <a:off x="4016968" y="3799049"/>
              <a:ext cx="432048" cy="504056"/>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5124" name="Picture 4" descr="虫眼鏡を持った男性会社員のイラスト">
            <a:extLst>
              <a:ext uri="{FF2B5EF4-FFF2-40B4-BE49-F238E27FC236}">
                <a16:creationId xmlns:a16="http://schemas.microsoft.com/office/drawing/2014/main" id="{419B33F9-C953-1CC3-D6C6-376EE1FB795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631551" y="4272351"/>
            <a:ext cx="689045" cy="842869"/>
          </a:xfrm>
          <a:prstGeom prst="rect">
            <a:avLst/>
          </a:prstGeom>
          <a:noFill/>
          <a:extLst>
            <a:ext uri="{909E8E84-426E-40DD-AFC4-6F175D3DCCD1}">
              <a14:hiddenFill xmlns:a14="http://schemas.microsoft.com/office/drawing/2010/main">
                <a:solidFill>
                  <a:srgbClr val="FFFFFF"/>
                </a:solidFill>
              </a14:hiddenFill>
            </a:ext>
          </a:extLst>
        </p:spPr>
      </p:pic>
      <p:grpSp>
        <p:nvGrpSpPr>
          <p:cNvPr id="40" name="グループ化 39">
            <a:extLst>
              <a:ext uri="{FF2B5EF4-FFF2-40B4-BE49-F238E27FC236}">
                <a16:creationId xmlns:a16="http://schemas.microsoft.com/office/drawing/2014/main" id="{EF2C2EDD-3B50-BF35-6F4D-E22A802BA515}"/>
              </a:ext>
            </a:extLst>
          </p:cNvPr>
          <p:cNvGrpSpPr/>
          <p:nvPr/>
        </p:nvGrpSpPr>
        <p:grpSpPr>
          <a:xfrm>
            <a:off x="2273532" y="5396420"/>
            <a:ext cx="599238" cy="677400"/>
            <a:chOff x="3980964" y="3583025"/>
            <a:chExt cx="828092" cy="936104"/>
          </a:xfrm>
        </p:grpSpPr>
        <p:sp>
          <p:nvSpPr>
            <p:cNvPr id="41" name="正方形/長方形 40">
              <a:extLst>
                <a:ext uri="{FF2B5EF4-FFF2-40B4-BE49-F238E27FC236}">
                  <a16:creationId xmlns:a16="http://schemas.microsoft.com/office/drawing/2014/main" id="{8EC0F707-EA8B-6C70-BBEB-9800BDD1C2AD}"/>
                </a:ext>
              </a:extLst>
            </p:cNvPr>
            <p:cNvSpPr/>
            <p:nvPr/>
          </p:nvSpPr>
          <p:spPr>
            <a:xfrm>
              <a:off x="4232992" y="3583025"/>
              <a:ext cx="576064" cy="93610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三角形 41">
              <a:extLst>
                <a:ext uri="{FF2B5EF4-FFF2-40B4-BE49-F238E27FC236}">
                  <a16:creationId xmlns:a16="http://schemas.microsoft.com/office/drawing/2014/main" id="{7B26660F-7659-67FE-DEB5-38303905B526}"/>
                </a:ext>
              </a:extLst>
            </p:cNvPr>
            <p:cNvSpPr/>
            <p:nvPr/>
          </p:nvSpPr>
          <p:spPr>
            <a:xfrm rot="5400000">
              <a:off x="4016968" y="3799049"/>
              <a:ext cx="432048" cy="504056"/>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43" name="右矢印 42">
            <a:extLst>
              <a:ext uri="{FF2B5EF4-FFF2-40B4-BE49-F238E27FC236}">
                <a16:creationId xmlns:a16="http://schemas.microsoft.com/office/drawing/2014/main" id="{2CA43408-AD91-6BD5-9008-4E3108819369}"/>
              </a:ext>
            </a:extLst>
          </p:cNvPr>
          <p:cNvSpPr/>
          <p:nvPr/>
        </p:nvSpPr>
        <p:spPr>
          <a:xfrm>
            <a:off x="3023304" y="5578797"/>
            <a:ext cx="344523" cy="312646"/>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テキスト ボックス 43">
            <a:extLst>
              <a:ext uri="{FF2B5EF4-FFF2-40B4-BE49-F238E27FC236}">
                <a16:creationId xmlns:a16="http://schemas.microsoft.com/office/drawing/2014/main" id="{478FDE66-0CE7-FFBD-1935-53CB6E5EB1F7}"/>
              </a:ext>
            </a:extLst>
          </p:cNvPr>
          <p:cNvSpPr txBox="1"/>
          <p:nvPr/>
        </p:nvSpPr>
        <p:spPr>
          <a:xfrm>
            <a:off x="2779344" y="6355020"/>
            <a:ext cx="1980029" cy="338554"/>
          </a:xfrm>
          <a:prstGeom prst="rect">
            <a:avLst/>
          </a:prstGeom>
          <a:noFill/>
        </p:spPr>
        <p:txBody>
          <a:bodyPr wrap="none" rtlCol="0">
            <a:spAutoFit/>
          </a:bodyPr>
          <a:lstStyle/>
          <a:p>
            <a:r>
              <a:rPr lang="en-US" altLang="ja-JP" sz="1600" dirty="0">
                <a:latin typeface="Consolas" panose="020B0609020204030204" pitchFamily="49" charset="0"/>
                <a:cs typeface="Consolas" panose="020B0609020204030204" pitchFamily="49" charset="0"/>
              </a:rPr>
              <a:t>.ssh/</a:t>
            </a:r>
            <a:r>
              <a:rPr lang="en-US" altLang="ja-JP" sz="1600" dirty="0" err="1">
                <a:latin typeface="Consolas" panose="020B0609020204030204" pitchFamily="49" charset="0"/>
                <a:cs typeface="Consolas" panose="020B0609020204030204" pitchFamily="49" charset="0"/>
              </a:rPr>
              <a:t>known_hosts</a:t>
            </a:r>
            <a:endParaRPr kumimoji="1" lang="ja-JP" altLang="en-US" sz="1600">
              <a:latin typeface="Consolas" panose="020B0609020204030204" pitchFamily="49" charset="0"/>
              <a:cs typeface="Consolas" panose="020B0609020204030204" pitchFamily="49" charset="0"/>
            </a:endParaRPr>
          </a:p>
        </p:txBody>
      </p:sp>
      <p:sp>
        <p:nvSpPr>
          <p:cNvPr id="7" name="テキスト ボックス 6">
            <a:extLst>
              <a:ext uri="{FF2B5EF4-FFF2-40B4-BE49-F238E27FC236}">
                <a16:creationId xmlns:a16="http://schemas.microsoft.com/office/drawing/2014/main" id="{B2270556-3EE4-7A46-B714-DAAC3CA167B0}"/>
              </a:ext>
            </a:extLst>
          </p:cNvPr>
          <p:cNvSpPr txBox="1"/>
          <p:nvPr/>
        </p:nvSpPr>
        <p:spPr>
          <a:xfrm>
            <a:off x="4269802" y="4705047"/>
            <a:ext cx="4669389" cy="238184"/>
          </a:xfrm>
          <a:prstGeom prst="rect">
            <a:avLst/>
          </a:prstGeom>
          <a:solidFill>
            <a:schemeClr val="tx1"/>
          </a:solidFill>
        </p:spPr>
        <p:txBody>
          <a:bodyPr wrap="square">
            <a:spAutoFit/>
          </a:bodyPr>
          <a:lstStyle/>
          <a:p>
            <a:r>
              <a:rPr lang="en" altLang="ja-JP" sz="900" dirty="0">
                <a:solidFill>
                  <a:schemeClr val="bg1"/>
                </a:solidFill>
                <a:effectLst/>
                <a:latin typeface="Consolas" panose="020B0609020204030204" pitchFamily="49" charset="0"/>
                <a:cs typeface="Consolas" panose="020B0609020204030204" pitchFamily="49" charset="0"/>
              </a:rPr>
              <a:t>Are you sure you want to continue connecting (yes/no/[fingerprint])?</a:t>
            </a:r>
            <a:endParaRPr lang="ja-JP" altLang="en-US" sz="900">
              <a:solidFill>
                <a:schemeClr val="bg1"/>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1353661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75DF943A-6E15-5633-CBBA-F02A4C1A7101}"/>
              </a:ext>
            </a:extLst>
          </p:cNvPr>
          <p:cNvSpPr>
            <a:spLocks noGrp="1"/>
          </p:cNvSpPr>
          <p:nvPr>
            <p:ph type="body" sz="quarter" idx="10"/>
          </p:nvPr>
        </p:nvSpPr>
        <p:spPr/>
        <p:txBody>
          <a:bodyPr/>
          <a:lstStyle/>
          <a:p>
            <a:r>
              <a:rPr lang="ja-JP" altLang="en-US"/>
              <a:t>ホスト認証</a:t>
            </a:r>
            <a:r>
              <a:rPr lang="en-US" altLang="ja-JP" dirty="0"/>
              <a:t>(</a:t>
            </a:r>
            <a:r>
              <a:rPr lang="ja-JP" altLang="en-US"/>
              <a:t>初回</a:t>
            </a:r>
            <a:r>
              <a:rPr lang="en-US" altLang="ja-JP" dirty="0"/>
              <a:t>)</a:t>
            </a:r>
            <a:endParaRPr lang="ja-JP" altLang="en-US"/>
          </a:p>
        </p:txBody>
      </p:sp>
      <p:pic>
        <p:nvPicPr>
          <p:cNvPr id="3" name="Picture 8" descr="会社で働く人のイラスト（男性）">
            <a:extLst>
              <a:ext uri="{FF2B5EF4-FFF2-40B4-BE49-F238E27FC236}">
                <a16:creationId xmlns:a16="http://schemas.microsoft.com/office/drawing/2014/main" id="{8F655F72-D8E2-B5F5-16BE-D1E99F05A9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2861923" y="955055"/>
            <a:ext cx="777586" cy="777586"/>
          </a:xfrm>
          <a:prstGeom prst="rect">
            <a:avLst/>
          </a:prstGeom>
          <a:noFill/>
          <a:extLst>
            <a:ext uri="{909E8E84-426E-40DD-AFC4-6F175D3DCCD1}">
              <a14:hiddenFill xmlns:a14="http://schemas.microsoft.com/office/drawing/2010/main">
                <a:solidFill>
                  <a:srgbClr val="FFFFFF"/>
                </a:solidFill>
              </a14:hiddenFill>
            </a:ext>
          </a:extLst>
        </p:spPr>
      </p:pic>
      <p:pic>
        <p:nvPicPr>
          <p:cNvPr id="4" name="図 3">
            <a:extLst>
              <a:ext uri="{FF2B5EF4-FFF2-40B4-BE49-F238E27FC236}">
                <a16:creationId xmlns:a16="http://schemas.microsoft.com/office/drawing/2014/main" id="{F9A529AC-7299-D6F4-0F5A-9A4CBB25789A}"/>
              </a:ext>
            </a:extLst>
          </p:cNvPr>
          <p:cNvPicPr>
            <a:picLocks noChangeAspect="1"/>
          </p:cNvPicPr>
          <p:nvPr/>
        </p:nvPicPr>
        <p:blipFill>
          <a:blip r:embed="rId3"/>
          <a:stretch>
            <a:fillRect/>
          </a:stretch>
        </p:blipFill>
        <p:spPr>
          <a:xfrm>
            <a:off x="541427" y="1080114"/>
            <a:ext cx="716898" cy="716898"/>
          </a:xfrm>
          <a:prstGeom prst="rect">
            <a:avLst/>
          </a:prstGeom>
        </p:spPr>
      </p:pic>
      <p:sp>
        <p:nvSpPr>
          <p:cNvPr id="5" name="テキスト ボックス 4">
            <a:extLst>
              <a:ext uri="{FF2B5EF4-FFF2-40B4-BE49-F238E27FC236}">
                <a16:creationId xmlns:a16="http://schemas.microsoft.com/office/drawing/2014/main" id="{22ADA965-1B6B-56B1-9923-FD2908B1FCD9}"/>
              </a:ext>
            </a:extLst>
          </p:cNvPr>
          <p:cNvSpPr txBox="1"/>
          <p:nvPr/>
        </p:nvSpPr>
        <p:spPr>
          <a:xfrm>
            <a:off x="4139952" y="2632574"/>
            <a:ext cx="3903633" cy="369332"/>
          </a:xfrm>
          <a:prstGeom prst="rect">
            <a:avLst/>
          </a:prstGeom>
          <a:noFill/>
        </p:spPr>
        <p:txBody>
          <a:bodyPr wrap="none" rtlCol="0">
            <a:spAutoFit/>
          </a:bodyPr>
          <a:lstStyle/>
          <a:p>
            <a:r>
              <a:rPr kumimoji="1" lang="en-US" altLang="ja-JP" dirty="0"/>
              <a:t>1. </a:t>
            </a:r>
            <a:r>
              <a:rPr kumimoji="1" lang="ja-JP" altLang="en-US"/>
              <a:t>ホストから公開鍵が送られてくる</a:t>
            </a:r>
          </a:p>
        </p:txBody>
      </p:sp>
      <p:cxnSp>
        <p:nvCxnSpPr>
          <p:cNvPr id="6" name="直線矢印コネクタ 5">
            <a:extLst>
              <a:ext uri="{FF2B5EF4-FFF2-40B4-BE49-F238E27FC236}">
                <a16:creationId xmlns:a16="http://schemas.microsoft.com/office/drawing/2014/main" id="{FA43FA61-7339-BA9E-D5D8-94C4C7F5EBDC}"/>
              </a:ext>
            </a:extLst>
          </p:cNvPr>
          <p:cNvCxnSpPr>
            <a:cxnSpLocks/>
          </p:cNvCxnSpPr>
          <p:nvPr/>
        </p:nvCxnSpPr>
        <p:spPr>
          <a:xfrm>
            <a:off x="1517268" y="2816921"/>
            <a:ext cx="948618"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51D90FC1-2A25-E8E1-1A9A-E7D827F57188}"/>
              </a:ext>
            </a:extLst>
          </p:cNvPr>
          <p:cNvSpPr txBox="1"/>
          <p:nvPr/>
        </p:nvSpPr>
        <p:spPr>
          <a:xfrm>
            <a:off x="2465886" y="1850074"/>
            <a:ext cx="1569660" cy="369332"/>
          </a:xfrm>
          <a:prstGeom prst="rect">
            <a:avLst/>
          </a:prstGeom>
          <a:noFill/>
        </p:spPr>
        <p:txBody>
          <a:bodyPr wrap="none" rtlCol="0">
            <a:spAutoFit/>
          </a:bodyPr>
          <a:lstStyle/>
          <a:p>
            <a:r>
              <a:rPr kumimoji="1" lang="ja-JP" altLang="en-US"/>
              <a:t>クライアント</a:t>
            </a:r>
          </a:p>
        </p:txBody>
      </p:sp>
      <p:sp>
        <p:nvSpPr>
          <p:cNvPr id="8" name="テキスト ボックス 7">
            <a:extLst>
              <a:ext uri="{FF2B5EF4-FFF2-40B4-BE49-F238E27FC236}">
                <a16:creationId xmlns:a16="http://schemas.microsoft.com/office/drawing/2014/main" id="{85B75EDB-0195-313B-1614-1DF0F3A73B15}"/>
              </a:ext>
            </a:extLst>
          </p:cNvPr>
          <p:cNvSpPr txBox="1"/>
          <p:nvPr/>
        </p:nvSpPr>
        <p:spPr>
          <a:xfrm>
            <a:off x="541427" y="1859659"/>
            <a:ext cx="877163" cy="369332"/>
          </a:xfrm>
          <a:prstGeom prst="rect">
            <a:avLst/>
          </a:prstGeom>
          <a:noFill/>
        </p:spPr>
        <p:txBody>
          <a:bodyPr wrap="none" rtlCol="0">
            <a:spAutoFit/>
          </a:bodyPr>
          <a:lstStyle/>
          <a:p>
            <a:r>
              <a:rPr kumimoji="1" lang="ja-JP" altLang="en-US"/>
              <a:t>ホスト</a:t>
            </a:r>
          </a:p>
        </p:txBody>
      </p:sp>
      <p:grpSp>
        <p:nvGrpSpPr>
          <p:cNvPr id="9" name="グループ化 8">
            <a:extLst>
              <a:ext uri="{FF2B5EF4-FFF2-40B4-BE49-F238E27FC236}">
                <a16:creationId xmlns:a16="http://schemas.microsoft.com/office/drawing/2014/main" id="{EF128C34-1094-8BF9-A043-0E2831E6797F}"/>
              </a:ext>
            </a:extLst>
          </p:cNvPr>
          <p:cNvGrpSpPr/>
          <p:nvPr/>
        </p:nvGrpSpPr>
        <p:grpSpPr>
          <a:xfrm>
            <a:off x="2846224" y="2478221"/>
            <a:ext cx="599238" cy="677400"/>
            <a:chOff x="3980964" y="3583025"/>
            <a:chExt cx="828092" cy="936104"/>
          </a:xfrm>
        </p:grpSpPr>
        <p:sp>
          <p:nvSpPr>
            <p:cNvPr id="10" name="正方形/長方形 9">
              <a:extLst>
                <a:ext uri="{FF2B5EF4-FFF2-40B4-BE49-F238E27FC236}">
                  <a16:creationId xmlns:a16="http://schemas.microsoft.com/office/drawing/2014/main" id="{4FD02385-34F9-9F3F-10E2-A1262EA51692}"/>
                </a:ext>
              </a:extLst>
            </p:cNvPr>
            <p:cNvSpPr/>
            <p:nvPr/>
          </p:nvSpPr>
          <p:spPr>
            <a:xfrm>
              <a:off x="4232992" y="3583025"/>
              <a:ext cx="576064" cy="93610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三角形 10">
              <a:extLst>
                <a:ext uri="{FF2B5EF4-FFF2-40B4-BE49-F238E27FC236}">
                  <a16:creationId xmlns:a16="http://schemas.microsoft.com/office/drawing/2014/main" id="{A88C1497-4A5C-6AED-7816-AFB4A7B2D44D}"/>
                </a:ext>
              </a:extLst>
            </p:cNvPr>
            <p:cNvSpPr/>
            <p:nvPr/>
          </p:nvSpPr>
          <p:spPr>
            <a:xfrm rot="5400000">
              <a:off x="4016968" y="3799049"/>
              <a:ext cx="432048" cy="504056"/>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2" name="グループ化 11">
            <a:extLst>
              <a:ext uri="{FF2B5EF4-FFF2-40B4-BE49-F238E27FC236}">
                <a16:creationId xmlns:a16="http://schemas.microsoft.com/office/drawing/2014/main" id="{9DA2CD57-955D-6DA2-455C-119E3B37AA65}"/>
              </a:ext>
            </a:extLst>
          </p:cNvPr>
          <p:cNvGrpSpPr/>
          <p:nvPr/>
        </p:nvGrpSpPr>
        <p:grpSpPr>
          <a:xfrm>
            <a:off x="659087" y="2478221"/>
            <a:ext cx="599238" cy="677400"/>
            <a:chOff x="2339752" y="3645024"/>
            <a:chExt cx="828092" cy="936104"/>
          </a:xfrm>
        </p:grpSpPr>
        <p:sp>
          <p:nvSpPr>
            <p:cNvPr id="13" name="正方形/長方形 12">
              <a:extLst>
                <a:ext uri="{FF2B5EF4-FFF2-40B4-BE49-F238E27FC236}">
                  <a16:creationId xmlns:a16="http://schemas.microsoft.com/office/drawing/2014/main" id="{BE1A394D-FA95-99FD-FB76-691788950221}"/>
                </a:ext>
              </a:extLst>
            </p:cNvPr>
            <p:cNvSpPr/>
            <p:nvPr/>
          </p:nvSpPr>
          <p:spPr>
            <a:xfrm>
              <a:off x="2339752" y="3645024"/>
              <a:ext cx="576064" cy="93610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三角形 13">
              <a:extLst>
                <a:ext uri="{FF2B5EF4-FFF2-40B4-BE49-F238E27FC236}">
                  <a16:creationId xmlns:a16="http://schemas.microsoft.com/office/drawing/2014/main" id="{96333C82-49E9-FE00-9DA2-4B993B5233A2}"/>
                </a:ext>
              </a:extLst>
            </p:cNvPr>
            <p:cNvSpPr/>
            <p:nvPr/>
          </p:nvSpPr>
          <p:spPr>
            <a:xfrm rot="5400000">
              <a:off x="2699792" y="3861048"/>
              <a:ext cx="432048" cy="504056"/>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5" name="テキスト ボックス 14">
            <a:extLst>
              <a:ext uri="{FF2B5EF4-FFF2-40B4-BE49-F238E27FC236}">
                <a16:creationId xmlns:a16="http://schemas.microsoft.com/office/drawing/2014/main" id="{F08D0056-EC92-40BE-9776-627341183760}"/>
              </a:ext>
            </a:extLst>
          </p:cNvPr>
          <p:cNvSpPr txBox="1"/>
          <p:nvPr/>
        </p:nvSpPr>
        <p:spPr>
          <a:xfrm>
            <a:off x="4581955" y="3749248"/>
            <a:ext cx="3416320" cy="369332"/>
          </a:xfrm>
          <a:prstGeom prst="rect">
            <a:avLst/>
          </a:prstGeom>
          <a:noFill/>
        </p:spPr>
        <p:txBody>
          <a:bodyPr wrap="none" rtlCol="0">
            <a:spAutoFit/>
          </a:bodyPr>
          <a:lstStyle/>
          <a:p>
            <a:r>
              <a:rPr kumimoji="1" lang="ja-JP" altLang="en-US"/>
              <a:t>この鍵をどうやって信じるか？</a:t>
            </a:r>
          </a:p>
        </p:txBody>
      </p:sp>
      <p:sp>
        <p:nvSpPr>
          <p:cNvPr id="16" name="角丸四角形 15">
            <a:extLst>
              <a:ext uri="{FF2B5EF4-FFF2-40B4-BE49-F238E27FC236}">
                <a16:creationId xmlns:a16="http://schemas.microsoft.com/office/drawing/2014/main" id="{021D006B-A8EC-EB7F-B3F0-AAD7214ACA14}"/>
              </a:ext>
            </a:extLst>
          </p:cNvPr>
          <p:cNvSpPr/>
          <p:nvPr/>
        </p:nvSpPr>
        <p:spPr>
          <a:xfrm>
            <a:off x="2771800" y="2348880"/>
            <a:ext cx="948618" cy="936082"/>
          </a:xfrm>
          <a:prstGeom prst="round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1" name="カギ線コネクタ 20">
            <a:extLst>
              <a:ext uri="{FF2B5EF4-FFF2-40B4-BE49-F238E27FC236}">
                <a16:creationId xmlns:a16="http://schemas.microsoft.com/office/drawing/2014/main" id="{3479BC3A-D5A4-0CC8-F8A6-7C96EDE285F8}"/>
              </a:ext>
            </a:extLst>
          </p:cNvPr>
          <p:cNvCxnSpPr>
            <a:stCxn id="15" idx="1"/>
            <a:endCxn id="16" idx="2"/>
          </p:cNvCxnSpPr>
          <p:nvPr/>
        </p:nvCxnSpPr>
        <p:spPr>
          <a:xfrm rot="10800000">
            <a:off x="3246109" y="3284962"/>
            <a:ext cx="1335846" cy="648952"/>
          </a:xfrm>
          <a:prstGeom prst="bentConnector2">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2" name="テキスト ボックス 21">
            <a:extLst>
              <a:ext uri="{FF2B5EF4-FFF2-40B4-BE49-F238E27FC236}">
                <a16:creationId xmlns:a16="http://schemas.microsoft.com/office/drawing/2014/main" id="{28CE6CAB-D04B-D050-55FD-3A2154E25049}"/>
              </a:ext>
            </a:extLst>
          </p:cNvPr>
          <p:cNvSpPr txBox="1"/>
          <p:nvPr/>
        </p:nvSpPr>
        <p:spPr>
          <a:xfrm>
            <a:off x="182633" y="4865922"/>
            <a:ext cx="7648248" cy="369332"/>
          </a:xfrm>
          <a:prstGeom prst="rect">
            <a:avLst/>
          </a:prstGeom>
          <a:noFill/>
        </p:spPr>
        <p:txBody>
          <a:bodyPr wrap="none" rtlCol="0">
            <a:spAutoFit/>
          </a:bodyPr>
          <a:lstStyle/>
          <a:p>
            <a:r>
              <a:rPr kumimoji="1" lang="en-US" altLang="ja-JP" dirty="0"/>
              <a:t>GitHub</a:t>
            </a:r>
            <a:r>
              <a:rPr kumimoji="1" lang="ja-JP" altLang="en-US"/>
              <a:t>の場合は</a:t>
            </a:r>
            <a:r>
              <a:rPr kumimoji="1" lang="en-US" altLang="ja-JP" dirty="0"/>
              <a:t>SSH</a:t>
            </a:r>
            <a:r>
              <a:rPr kumimoji="1" lang="ja-JP" altLang="en-US"/>
              <a:t>公開鍵</a:t>
            </a:r>
            <a:r>
              <a:rPr lang="ja-JP" altLang="en-US"/>
              <a:t>と、その</a:t>
            </a:r>
            <a:r>
              <a:rPr lang="en-US" altLang="ja-JP" dirty="0"/>
              <a:t>fingerprint</a:t>
            </a:r>
            <a:r>
              <a:rPr kumimoji="1" lang="ja-JP" altLang="en-US"/>
              <a:t>がウェブで公開されている</a:t>
            </a:r>
          </a:p>
        </p:txBody>
      </p:sp>
      <p:sp>
        <p:nvSpPr>
          <p:cNvPr id="24" name="テキスト ボックス 23">
            <a:extLst>
              <a:ext uri="{FF2B5EF4-FFF2-40B4-BE49-F238E27FC236}">
                <a16:creationId xmlns:a16="http://schemas.microsoft.com/office/drawing/2014/main" id="{F2A325BB-8B96-A124-9DF9-56E9794A0809}"/>
              </a:ext>
            </a:extLst>
          </p:cNvPr>
          <p:cNvSpPr txBox="1"/>
          <p:nvPr/>
        </p:nvSpPr>
        <p:spPr>
          <a:xfrm>
            <a:off x="472615" y="5235254"/>
            <a:ext cx="7720057" cy="276999"/>
          </a:xfrm>
          <a:prstGeom prst="rect">
            <a:avLst/>
          </a:prstGeom>
          <a:noFill/>
        </p:spPr>
        <p:txBody>
          <a:bodyPr wrap="square">
            <a:spAutoFit/>
          </a:bodyPr>
          <a:lstStyle/>
          <a:p>
            <a:r>
              <a:rPr lang="ja-JP" altLang="en-US" sz="1200">
                <a:hlinkClick r:id="rId4"/>
              </a:rPr>
              <a:t>https://docs.github.com/en/authentication/keeping-your-account-and-data-secure/githubs-ssh-key-fingerprints</a:t>
            </a:r>
            <a:endParaRPr lang="ja-JP" altLang="en-US" sz="1200"/>
          </a:p>
        </p:txBody>
      </p:sp>
      <p:sp>
        <p:nvSpPr>
          <p:cNvPr id="25" name="テキスト ボックス 24">
            <a:extLst>
              <a:ext uri="{FF2B5EF4-FFF2-40B4-BE49-F238E27FC236}">
                <a16:creationId xmlns:a16="http://schemas.microsoft.com/office/drawing/2014/main" id="{9354A711-31E8-224B-D975-D18BC2450DEA}"/>
              </a:ext>
            </a:extLst>
          </p:cNvPr>
          <p:cNvSpPr txBox="1"/>
          <p:nvPr/>
        </p:nvSpPr>
        <p:spPr>
          <a:xfrm>
            <a:off x="179512" y="5744537"/>
            <a:ext cx="8289449" cy="923330"/>
          </a:xfrm>
          <a:prstGeom prst="rect">
            <a:avLst/>
          </a:prstGeom>
          <a:noFill/>
        </p:spPr>
        <p:txBody>
          <a:bodyPr wrap="none" rtlCol="0">
            <a:spAutoFit/>
          </a:bodyPr>
          <a:lstStyle/>
          <a:p>
            <a:r>
              <a:rPr kumimoji="1" lang="ja-JP" altLang="en-US"/>
              <a:t>公開鍵がない状態での初回接続時に表示された</a:t>
            </a:r>
            <a:r>
              <a:rPr kumimoji="1" lang="en-US" altLang="ja-JP" dirty="0"/>
              <a:t>fingerprint</a:t>
            </a:r>
            <a:r>
              <a:rPr kumimoji="1" lang="ja-JP" altLang="en-US"/>
              <a:t>を確認する</a:t>
            </a:r>
            <a:endParaRPr kumimoji="1" lang="en-US" altLang="ja-JP" dirty="0"/>
          </a:p>
          <a:p>
            <a:r>
              <a:rPr lang="en-US" altLang="ja-JP" dirty="0"/>
              <a:t>or</a:t>
            </a:r>
          </a:p>
          <a:p>
            <a:r>
              <a:rPr lang="en-US" altLang="ja-JP" dirty="0"/>
              <a:t>GitHub</a:t>
            </a:r>
            <a:r>
              <a:rPr lang="ja-JP" altLang="en-US"/>
              <a:t>が公開している公開鍵を「知ってるホストリスト」に登録してから接続</a:t>
            </a:r>
            <a:endParaRPr kumimoji="1" lang="ja-JP" altLang="en-US"/>
          </a:p>
        </p:txBody>
      </p:sp>
    </p:spTree>
    <p:extLst>
      <p:ext uri="{BB962C8B-B14F-4D97-AF65-F5344CB8AC3E}">
        <p14:creationId xmlns:p14="http://schemas.microsoft.com/office/powerpoint/2010/main" val="32466485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D2029CCD-7DA5-EF15-6879-EC1457B83FDA}"/>
              </a:ext>
            </a:extLst>
          </p:cNvPr>
          <p:cNvSpPr>
            <a:spLocks noGrp="1"/>
          </p:cNvSpPr>
          <p:nvPr>
            <p:ph type="body" sz="quarter" idx="10"/>
          </p:nvPr>
        </p:nvSpPr>
        <p:spPr/>
        <p:txBody>
          <a:bodyPr/>
          <a:lstStyle/>
          <a:p>
            <a:r>
              <a:rPr kumimoji="1" lang="ja-JP" altLang="en-US"/>
              <a:t>ホスト認証</a:t>
            </a:r>
            <a:r>
              <a:rPr kumimoji="1" lang="en-US" altLang="ja-JP" dirty="0"/>
              <a:t>(</a:t>
            </a:r>
            <a:r>
              <a:rPr kumimoji="1" lang="ja-JP" altLang="en-US"/>
              <a:t>二回目以降</a:t>
            </a:r>
            <a:r>
              <a:rPr kumimoji="1" lang="en-US" altLang="ja-JP" dirty="0"/>
              <a:t>)</a:t>
            </a:r>
            <a:endParaRPr kumimoji="1" lang="ja-JP" altLang="en-US"/>
          </a:p>
        </p:txBody>
      </p:sp>
      <p:pic>
        <p:nvPicPr>
          <p:cNvPr id="4" name="Picture 8" descr="会社で働く人のイラスト（男性）">
            <a:extLst>
              <a:ext uri="{FF2B5EF4-FFF2-40B4-BE49-F238E27FC236}">
                <a16:creationId xmlns:a16="http://schemas.microsoft.com/office/drawing/2014/main" id="{05790EB3-B905-367D-DF19-1847FFDD03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2843808" y="1124744"/>
            <a:ext cx="777586" cy="777586"/>
          </a:xfrm>
          <a:prstGeom prst="rect">
            <a:avLst/>
          </a:prstGeom>
          <a:noFill/>
          <a:extLst>
            <a:ext uri="{909E8E84-426E-40DD-AFC4-6F175D3DCCD1}">
              <a14:hiddenFill xmlns:a14="http://schemas.microsoft.com/office/drawing/2010/main">
                <a:solidFill>
                  <a:srgbClr val="FFFFFF"/>
                </a:solidFill>
              </a14:hiddenFill>
            </a:ext>
          </a:extLst>
        </p:spPr>
      </p:pic>
      <p:pic>
        <p:nvPicPr>
          <p:cNvPr id="5" name="図 4">
            <a:extLst>
              <a:ext uri="{FF2B5EF4-FFF2-40B4-BE49-F238E27FC236}">
                <a16:creationId xmlns:a16="http://schemas.microsoft.com/office/drawing/2014/main" id="{ABA577EE-1150-0ADB-B12F-061D004ADBE6}"/>
              </a:ext>
            </a:extLst>
          </p:cNvPr>
          <p:cNvPicPr>
            <a:picLocks noChangeAspect="1"/>
          </p:cNvPicPr>
          <p:nvPr/>
        </p:nvPicPr>
        <p:blipFill>
          <a:blip r:embed="rId3"/>
          <a:stretch>
            <a:fillRect/>
          </a:stretch>
        </p:blipFill>
        <p:spPr>
          <a:xfrm>
            <a:off x="523312" y="1249803"/>
            <a:ext cx="716898" cy="716898"/>
          </a:xfrm>
          <a:prstGeom prst="rect">
            <a:avLst/>
          </a:prstGeom>
        </p:spPr>
      </p:pic>
      <p:sp>
        <p:nvSpPr>
          <p:cNvPr id="7" name="テキスト ボックス 6">
            <a:extLst>
              <a:ext uri="{FF2B5EF4-FFF2-40B4-BE49-F238E27FC236}">
                <a16:creationId xmlns:a16="http://schemas.microsoft.com/office/drawing/2014/main" id="{CCD64365-DEA2-A469-B59B-7C8E5E34D679}"/>
              </a:ext>
            </a:extLst>
          </p:cNvPr>
          <p:cNvSpPr txBox="1"/>
          <p:nvPr/>
        </p:nvSpPr>
        <p:spPr>
          <a:xfrm>
            <a:off x="2447771" y="2019763"/>
            <a:ext cx="1569660" cy="369332"/>
          </a:xfrm>
          <a:prstGeom prst="rect">
            <a:avLst/>
          </a:prstGeom>
          <a:noFill/>
        </p:spPr>
        <p:txBody>
          <a:bodyPr wrap="none" rtlCol="0">
            <a:spAutoFit/>
          </a:bodyPr>
          <a:lstStyle/>
          <a:p>
            <a:r>
              <a:rPr kumimoji="1" lang="ja-JP" altLang="en-US"/>
              <a:t>クライアント</a:t>
            </a:r>
          </a:p>
        </p:txBody>
      </p:sp>
      <p:sp>
        <p:nvSpPr>
          <p:cNvPr id="8" name="テキスト ボックス 7">
            <a:extLst>
              <a:ext uri="{FF2B5EF4-FFF2-40B4-BE49-F238E27FC236}">
                <a16:creationId xmlns:a16="http://schemas.microsoft.com/office/drawing/2014/main" id="{F8399EF8-8834-8AE3-F059-C287580ED403}"/>
              </a:ext>
            </a:extLst>
          </p:cNvPr>
          <p:cNvSpPr txBox="1"/>
          <p:nvPr/>
        </p:nvSpPr>
        <p:spPr>
          <a:xfrm>
            <a:off x="523312" y="2029348"/>
            <a:ext cx="877163" cy="369332"/>
          </a:xfrm>
          <a:prstGeom prst="rect">
            <a:avLst/>
          </a:prstGeom>
          <a:noFill/>
        </p:spPr>
        <p:txBody>
          <a:bodyPr wrap="none" rtlCol="0">
            <a:spAutoFit/>
          </a:bodyPr>
          <a:lstStyle/>
          <a:p>
            <a:r>
              <a:rPr kumimoji="1" lang="ja-JP" altLang="en-US"/>
              <a:t>ホスト</a:t>
            </a:r>
          </a:p>
        </p:txBody>
      </p:sp>
      <p:grpSp>
        <p:nvGrpSpPr>
          <p:cNvPr id="25" name="グループ化 24">
            <a:extLst>
              <a:ext uri="{FF2B5EF4-FFF2-40B4-BE49-F238E27FC236}">
                <a16:creationId xmlns:a16="http://schemas.microsoft.com/office/drawing/2014/main" id="{1E4190AB-2E29-AD2F-A303-CAF56470D231}"/>
              </a:ext>
            </a:extLst>
          </p:cNvPr>
          <p:cNvGrpSpPr/>
          <p:nvPr/>
        </p:nvGrpSpPr>
        <p:grpSpPr>
          <a:xfrm>
            <a:off x="662699" y="2740414"/>
            <a:ext cx="438123" cy="495270"/>
            <a:chOff x="2339752" y="3645024"/>
            <a:chExt cx="828092" cy="936104"/>
          </a:xfrm>
        </p:grpSpPr>
        <p:sp>
          <p:nvSpPr>
            <p:cNvPr id="26" name="正方形/長方形 25">
              <a:extLst>
                <a:ext uri="{FF2B5EF4-FFF2-40B4-BE49-F238E27FC236}">
                  <a16:creationId xmlns:a16="http://schemas.microsoft.com/office/drawing/2014/main" id="{EDA11579-023A-3774-50F5-2D278360D4DA}"/>
                </a:ext>
              </a:extLst>
            </p:cNvPr>
            <p:cNvSpPr/>
            <p:nvPr/>
          </p:nvSpPr>
          <p:spPr>
            <a:xfrm>
              <a:off x="2339752" y="3645024"/>
              <a:ext cx="576064" cy="93610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三角形 26">
              <a:extLst>
                <a:ext uri="{FF2B5EF4-FFF2-40B4-BE49-F238E27FC236}">
                  <a16:creationId xmlns:a16="http://schemas.microsoft.com/office/drawing/2014/main" id="{57C7E320-8970-2E73-F536-DFF213BD0FA2}"/>
                </a:ext>
              </a:extLst>
            </p:cNvPr>
            <p:cNvSpPr/>
            <p:nvPr/>
          </p:nvSpPr>
          <p:spPr>
            <a:xfrm rot="5400000">
              <a:off x="2699792" y="3861048"/>
              <a:ext cx="432048" cy="504056"/>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8" name="グループ化 27">
            <a:extLst>
              <a:ext uri="{FF2B5EF4-FFF2-40B4-BE49-F238E27FC236}">
                <a16:creationId xmlns:a16="http://schemas.microsoft.com/office/drawing/2014/main" id="{48D9A151-D29E-1047-C533-E6274F54B53E}"/>
              </a:ext>
            </a:extLst>
          </p:cNvPr>
          <p:cNvGrpSpPr/>
          <p:nvPr/>
        </p:nvGrpSpPr>
        <p:grpSpPr>
          <a:xfrm>
            <a:off x="2473728" y="2704780"/>
            <a:ext cx="703773" cy="566537"/>
            <a:chOff x="1193558" y="4261389"/>
            <a:chExt cx="703773" cy="566537"/>
          </a:xfrm>
        </p:grpSpPr>
        <p:pic>
          <p:nvPicPr>
            <p:cNvPr id="29" name="Picture 2" descr="掲示板に貼られた紙のイラスト（メモ）">
              <a:extLst>
                <a:ext uri="{FF2B5EF4-FFF2-40B4-BE49-F238E27FC236}">
                  <a16:creationId xmlns:a16="http://schemas.microsoft.com/office/drawing/2014/main" id="{E363C6F8-B95D-C0B2-AFAC-540D1C605E3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93558" y="4261389"/>
              <a:ext cx="703773" cy="566537"/>
            </a:xfrm>
            <a:prstGeom prst="rect">
              <a:avLst/>
            </a:prstGeom>
            <a:noFill/>
            <a:extLst>
              <a:ext uri="{909E8E84-426E-40DD-AFC4-6F175D3DCCD1}">
                <a14:hiddenFill xmlns:a14="http://schemas.microsoft.com/office/drawing/2010/main">
                  <a:solidFill>
                    <a:srgbClr val="FFFFFF"/>
                  </a:solidFill>
                </a14:hiddenFill>
              </a:ext>
            </a:extLst>
          </p:spPr>
        </p:pic>
        <p:grpSp>
          <p:nvGrpSpPr>
            <p:cNvPr id="30" name="グループ化 29">
              <a:extLst>
                <a:ext uri="{FF2B5EF4-FFF2-40B4-BE49-F238E27FC236}">
                  <a16:creationId xmlns:a16="http://schemas.microsoft.com/office/drawing/2014/main" id="{D7E7F6BB-5475-BC7F-9E67-CF59B7036C53}"/>
                </a:ext>
              </a:extLst>
            </p:cNvPr>
            <p:cNvGrpSpPr/>
            <p:nvPr/>
          </p:nvGrpSpPr>
          <p:grpSpPr>
            <a:xfrm>
              <a:off x="1468290" y="4442527"/>
              <a:ext cx="236787" cy="267673"/>
              <a:chOff x="2339752" y="3645024"/>
              <a:chExt cx="828092" cy="936104"/>
            </a:xfrm>
            <a:solidFill>
              <a:srgbClr val="FF0000"/>
            </a:solidFill>
          </p:grpSpPr>
          <p:sp>
            <p:nvSpPr>
              <p:cNvPr id="31" name="正方形/長方形 30">
                <a:extLst>
                  <a:ext uri="{FF2B5EF4-FFF2-40B4-BE49-F238E27FC236}">
                    <a16:creationId xmlns:a16="http://schemas.microsoft.com/office/drawing/2014/main" id="{6B9B11FD-5088-8052-8CDA-A4DC30FD32DD}"/>
                  </a:ext>
                </a:extLst>
              </p:cNvPr>
              <p:cNvSpPr/>
              <p:nvPr/>
            </p:nvSpPr>
            <p:spPr>
              <a:xfrm>
                <a:off x="2339752" y="3645024"/>
                <a:ext cx="576064" cy="936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三角形 31">
                <a:extLst>
                  <a:ext uri="{FF2B5EF4-FFF2-40B4-BE49-F238E27FC236}">
                    <a16:creationId xmlns:a16="http://schemas.microsoft.com/office/drawing/2014/main" id="{6111DA25-A9D1-23BA-D296-A17587C88187}"/>
                  </a:ext>
                </a:extLst>
              </p:cNvPr>
              <p:cNvSpPr/>
              <p:nvPr/>
            </p:nvSpPr>
            <p:spPr>
              <a:xfrm rot="5400000">
                <a:off x="2699792" y="3861048"/>
                <a:ext cx="432048" cy="504056"/>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cxnSp>
        <p:nvCxnSpPr>
          <p:cNvPr id="34" name="直線矢印コネクタ 33">
            <a:extLst>
              <a:ext uri="{FF2B5EF4-FFF2-40B4-BE49-F238E27FC236}">
                <a16:creationId xmlns:a16="http://schemas.microsoft.com/office/drawing/2014/main" id="{6B4C8C42-E8C7-D45F-D6D4-93FEAC8F3DEE}"/>
              </a:ext>
            </a:extLst>
          </p:cNvPr>
          <p:cNvCxnSpPr/>
          <p:nvPr/>
        </p:nvCxnSpPr>
        <p:spPr>
          <a:xfrm>
            <a:off x="1400475" y="2988049"/>
            <a:ext cx="795261"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35" name="グループ化 34">
            <a:extLst>
              <a:ext uri="{FF2B5EF4-FFF2-40B4-BE49-F238E27FC236}">
                <a16:creationId xmlns:a16="http://schemas.microsoft.com/office/drawing/2014/main" id="{EDE1F0C6-A5EE-7AE0-4711-211334C7999D}"/>
              </a:ext>
            </a:extLst>
          </p:cNvPr>
          <p:cNvGrpSpPr/>
          <p:nvPr/>
        </p:nvGrpSpPr>
        <p:grpSpPr>
          <a:xfrm>
            <a:off x="3268247" y="2680410"/>
            <a:ext cx="491092" cy="555148"/>
            <a:chOff x="3980964" y="3583025"/>
            <a:chExt cx="828092" cy="936104"/>
          </a:xfrm>
        </p:grpSpPr>
        <p:sp>
          <p:nvSpPr>
            <p:cNvPr id="36" name="正方形/長方形 35">
              <a:extLst>
                <a:ext uri="{FF2B5EF4-FFF2-40B4-BE49-F238E27FC236}">
                  <a16:creationId xmlns:a16="http://schemas.microsoft.com/office/drawing/2014/main" id="{595D92C7-23F2-4B59-462B-E5704A9CC7F0}"/>
                </a:ext>
              </a:extLst>
            </p:cNvPr>
            <p:cNvSpPr/>
            <p:nvPr/>
          </p:nvSpPr>
          <p:spPr>
            <a:xfrm>
              <a:off x="4232992" y="3583025"/>
              <a:ext cx="576064" cy="93610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三角形 36">
              <a:extLst>
                <a:ext uri="{FF2B5EF4-FFF2-40B4-BE49-F238E27FC236}">
                  <a16:creationId xmlns:a16="http://schemas.microsoft.com/office/drawing/2014/main" id="{D3975E65-47B0-5E8B-13A1-7EDC30EBC9D9}"/>
                </a:ext>
              </a:extLst>
            </p:cNvPr>
            <p:cNvSpPr/>
            <p:nvPr/>
          </p:nvSpPr>
          <p:spPr>
            <a:xfrm rot="5400000">
              <a:off x="4016968" y="3799049"/>
              <a:ext cx="432048" cy="504056"/>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8" name="テキスト ボックス 37">
            <a:extLst>
              <a:ext uri="{FF2B5EF4-FFF2-40B4-BE49-F238E27FC236}">
                <a16:creationId xmlns:a16="http://schemas.microsoft.com/office/drawing/2014/main" id="{E66ACEB2-6820-A835-0B2D-BD5C1501108C}"/>
              </a:ext>
            </a:extLst>
          </p:cNvPr>
          <p:cNvSpPr txBox="1"/>
          <p:nvPr/>
        </p:nvSpPr>
        <p:spPr>
          <a:xfrm>
            <a:off x="4283968" y="2664883"/>
            <a:ext cx="4440683" cy="646331"/>
          </a:xfrm>
          <a:prstGeom prst="rect">
            <a:avLst/>
          </a:prstGeom>
          <a:noFill/>
        </p:spPr>
        <p:txBody>
          <a:bodyPr wrap="square" rtlCol="0">
            <a:spAutoFit/>
          </a:bodyPr>
          <a:lstStyle/>
          <a:p>
            <a:r>
              <a:rPr lang="ja-JP" altLang="en-US"/>
              <a:t>ホストが秘密鍵で署名したメッセージをすでに所持している公開鍵で検証</a:t>
            </a:r>
            <a:endParaRPr kumimoji="1" lang="ja-JP" altLang="en-US"/>
          </a:p>
        </p:txBody>
      </p:sp>
      <p:pic>
        <p:nvPicPr>
          <p:cNvPr id="39" name="Picture 2" descr="悪人のイラスト「黒いシルエット」">
            <a:extLst>
              <a:ext uri="{FF2B5EF4-FFF2-40B4-BE49-F238E27FC236}">
                <a16:creationId xmlns:a16="http://schemas.microsoft.com/office/drawing/2014/main" id="{21198BD6-33F3-9A14-4E86-589F3ED98E6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H="1">
            <a:off x="532144" y="4100872"/>
            <a:ext cx="603987" cy="716898"/>
          </a:xfrm>
          <a:prstGeom prst="rect">
            <a:avLst/>
          </a:prstGeom>
          <a:noFill/>
          <a:extLst>
            <a:ext uri="{909E8E84-426E-40DD-AFC4-6F175D3DCCD1}">
              <a14:hiddenFill xmlns:a14="http://schemas.microsoft.com/office/drawing/2010/main">
                <a:solidFill>
                  <a:srgbClr val="FFFFFF"/>
                </a:solidFill>
              </a14:hiddenFill>
            </a:ext>
          </a:extLst>
        </p:spPr>
      </p:pic>
      <p:grpSp>
        <p:nvGrpSpPr>
          <p:cNvPr id="47" name="グループ化 46">
            <a:extLst>
              <a:ext uri="{FF2B5EF4-FFF2-40B4-BE49-F238E27FC236}">
                <a16:creationId xmlns:a16="http://schemas.microsoft.com/office/drawing/2014/main" id="{491D156C-4ABB-EF0D-0C5B-AA3734279603}"/>
              </a:ext>
            </a:extLst>
          </p:cNvPr>
          <p:cNvGrpSpPr/>
          <p:nvPr/>
        </p:nvGrpSpPr>
        <p:grpSpPr>
          <a:xfrm>
            <a:off x="699512" y="4939102"/>
            <a:ext cx="404426" cy="495270"/>
            <a:chOff x="2043345" y="5485621"/>
            <a:chExt cx="404426" cy="495270"/>
          </a:xfrm>
        </p:grpSpPr>
        <p:sp>
          <p:nvSpPr>
            <p:cNvPr id="41" name="正方形/長方形 40">
              <a:extLst>
                <a:ext uri="{FF2B5EF4-FFF2-40B4-BE49-F238E27FC236}">
                  <a16:creationId xmlns:a16="http://schemas.microsoft.com/office/drawing/2014/main" id="{38D6CE04-4E20-5CEC-8DD9-BE7C5F94AD19}"/>
                </a:ext>
              </a:extLst>
            </p:cNvPr>
            <p:cNvSpPr/>
            <p:nvPr/>
          </p:nvSpPr>
          <p:spPr>
            <a:xfrm>
              <a:off x="2043345" y="5485621"/>
              <a:ext cx="304781" cy="49527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円/楕円 43">
              <a:extLst>
                <a:ext uri="{FF2B5EF4-FFF2-40B4-BE49-F238E27FC236}">
                  <a16:creationId xmlns:a16="http://schemas.microsoft.com/office/drawing/2014/main" id="{8F4C28EF-629A-4E62-6D95-DB8D1E054289}"/>
                </a:ext>
              </a:extLst>
            </p:cNvPr>
            <p:cNvSpPr/>
            <p:nvPr/>
          </p:nvSpPr>
          <p:spPr>
            <a:xfrm>
              <a:off x="2231747" y="5625244"/>
              <a:ext cx="216024" cy="216024"/>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6" name="グループ化 45">
            <a:extLst>
              <a:ext uri="{FF2B5EF4-FFF2-40B4-BE49-F238E27FC236}">
                <a16:creationId xmlns:a16="http://schemas.microsoft.com/office/drawing/2014/main" id="{D3A0F885-9B43-148B-1D7F-D078F705F374}"/>
              </a:ext>
            </a:extLst>
          </p:cNvPr>
          <p:cNvGrpSpPr/>
          <p:nvPr/>
        </p:nvGrpSpPr>
        <p:grpSpPr>
          <a:xfrm>
            <a:off x="2541422" y="4897067"/>
            <a:ext cx="414075" cy="495270"/>
            <a:chOff x="2915816" y="5485621"/>
            <a:chExt cx="414075" cy="495270"/>
          </a:xfrm>
        </p:grpSpPr>
        <p:sp>
          <p:nvSpPr>
            <p:cNvPr id="43" name="正方形/長方形 42">
              <a:extLst>
                <a:ext uri="{FF2B5EF4-FFF2-40B4-BE49-F238E27FC236}">
                  <a16:creationId xmlns:a16="http://schemas.microsoft.com/office/drawing/2014/main" id="{B918C5E4-86DE-C5EC-7BDD-8D9A2C280B61}"/>
                </a:ext>
              </a:extLst>
            </p:cNvPr>
            <p:cNvSpPr/>
            <p:nvPr/>
          </p:nvSpPr>
          <p:spPr>
            <a:xfrm>
              <a:off x="3025110" y="5485621"/>
              <a:ext cx="304781" cy="49527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円/楕円 44">
              <a:extLst>
                <a:ext uri="{FF2B5EF4-FFF2-40B4-BE49-F238E27FC236}">
                  <a16:creationId xmlns:a16="http://schemas.microsoft.com/office/drawing/2014/main" id="{AA768FD0-4EEA-FF92-71DE-EB082AC0B8D2}"/>
                </a:ext>
              </a:extLst>
            </p:cNvPr>
            <p:cNvSpPr/>
            <p:nvPr/>
          </p:nvSpPr>
          <p:spPr>
            <a:xfrm>
              <a:off x="2915816" y="5625244"/>
              <a:ext cx="216024" cy="216024"/>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8" name="グループ化 47">
            <a:extLst>
              <a:ext uri="{FF2B5EF4-FFF2-40B4-BE49-F238E27FC236}">
                <a16:creationId xmlns:a16="http://schemas.microsoft.com/office/drawing/2014/main" id="{3F9AC79F-C63F-9B14-1E2D-EE24C10A5407}"/>
              </a:ext>
            </a:extLst>
          </p:cNvPr>
          <p:cNvGrpSpPr/>
          <p:nvPr/>
        </p:nvGrpSpPr>
        <p:grpSpPr>
          <a:xfrm>
            <a:off x="3254481" y="4861701"/>
            <a:ext cx="491092" cy="555148"/>
            <a:chOff x="3980964" y="3583025"/>
            <a:chExt cx="828092" cy="936104"/>
          </a:xfrm>
        </p:grpSpPr>
        <p:sp>
          <p:nvSpPr>
            <p:cNvPr id="49" name="正方形/長方形 48">
              <a:extLst>
                <a:ext uri="{FF2B5EF4-FFF2-40B4-BE49-F238E27FC236}">
                  <a16:creationId xmlns:a16="http://schemas.microsoft.com/office/drawing/2014/main" id="{32B2F2E0-57CD-ABB5-5115-EFF44FF3E45E}"/>
                </a:ext>
              </a:extLst>
            </p:cNvPr>
            <p:cNvSpPr/>
            <p:nvPr/>
          </p:nvSpPr>
          <p:spPr>
            <a:xfrm>
              <a:off x="4232992" y="3583025"/>
              <a:ext cx="576064" cy="93610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三角形 49">
              <a:extLst>
                <a:ext uri="{FF2B5EF4-FFF2-40B4-BE49-F238E27FC236}">
                  <a16:creationId xmlns:a16="http://schemas.microsoft.com/office/drawing/2014/main" id="{DC0576ED-0905-833F-AC03-459274FFFF42}"/>
                </a:ext>
              </a:extLst>
            </p:cNvPr>
            <p:cNvSpPr/>
            <p:nvPr/>
          </p:nvSpPr>
          <p:spPr>
            <a:xfrm rot="5400000">
              <a:off x="4016968" y="3799049"/>
              <a:ext cx="432048" cy="504056"/>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51" name="Picture 8" descr="会社で働く人のイラスト（男性）">
            <a:extLst>
              <a:ext uri="{FF2B5EF4-FFF2-40B4-BE49-F238E27FC236}">
                <a16:creationId xmlns:a16="http://schemas.microsoft.com/office/drawing/2014/main" id="{217587CF-272B-B578-ECCF-0B8E2DE60D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2709455" y="3978053"/>
            <a:ext cx="777586" cy="777586"/>
          </a:xfrm>
          <a:prstGeom prst="rect">
            <a:avLst/>
          </a:prstGeom>
          <a:noFill/>
          <a:extLst>
            <a:ext uri="{909E8E84-426E-40DD-AFC4-6F175D3DCCD1}">
              <a14:hiddenFill xmlns:a14="http://schemas.microsoft.com/office/drawing/2010/main">
                <a:solidFill>
                  <a:srgbClr val="FFFFFF"/>
                </a:solidFill>
              </a14:hiddenFill>
            </a:ext>
          </a:extLst>
        </p:spPr>
      </p:pic>
      <p:sp>
        <p:nvSpPr>
          <p:cNvPr id="52" name="テキスト ボックス 51">
            <a:extLst>
              <a:ext uri="{FF2B5EF4-FFF2-40B4-BE49-F238E27FC236}">
                <a16:creationId xmlns:a16="http://schemas.microsoft.com/office/drawing/2014/main" id="{CA986DFD-155F-959C-AFD2-BCC903654E36}"/>
              </a:ext>
            </a:extLst>
          </p:cNvPr>
          <p:cNvSpPr txBox="1"/>
          <p:nvPr/>
        </p:nvSpPr>
        <p:spPr>
          <a:xfrm>
            <a:off x="3047332" y="4954609"/>
            <a:ext cx="311304" cy="369332"/>
          </a:xfrm>
          <a:prstGeom prst="rect">
            <a:avLst/>
          </a:prstGeom>
          <a:noFill/>
        </p:spPr>
        <p:txBody>
          <a:bodyPr wrap="none" rtlCol="0">
            <a:spAutoFit/>
          </a:bodyPr>
          <a:lstStyle/>
          <a:p>
            <a:r>
              <a:rPr kumimoji="1" lang="en-US" altLang="ja-JP" dirty="0"/>
              <a:t>≠</a:t>
            </a:r>
            <a:endParaRPr kumimoji="1" lang="ja-JP" altLang="en-US"/>
          </a:p>
        </p:txBody>
      </p:sp>
      <p:sp>
        <p:nvSpPr>
          <p:cNvPr id="53" name="テキスト ボックス 52">
            <a:extLst>
              <a:ext uri="{FF2B5EF4-FFF2-40B4-BE49-F238E27FC236}">
                <a16:creationId xmlns:a16="http://schemas.microsoft.com/office/drawing/2014/main" id="{BC951E55-1DE7-F830-7F8B-6E7EFF8A4309}"/>
              </a:ext>
            </a:extLst>
          </p:cNvPr>
          <p:cNvSpPr txBox="1"/>
          <p:nvPr/>
        </p:nvSpPr>
        <p:spPr>
          <a:xfrm>
            <a:off x="4229688" y="4708736"/>
            <a:ext cx="4440683" cy="646331"/>
          </a:xfrm>
          <a:prstGeom prst="rect">
            <a:avLst/>
          </a:prstGeom>
          <a:noFill/>
        </p:spPr>
        <p:txBody>
          <a:bodyPr wrap="square" rtlCol="0">
            <a:spAutoFit/>
          </a:bodyPr>
          <a:lstStyle/>
          <a:p>
            <a:r>
              <a:rPr lang="ja-JP" altLang="en-US"/>
              <a:t>ホストがなりすましである場合、異なる公開鍵を送ってくるのでわかる</a:t>
            </a:r>
            <a:endParaRPr kumimoji="1" lang="ja-JP" altLang="en-US"/>
          </a:p>
        </p:txBody>
      </p:sp>
      <p:cxnSp>
        <p:nvCxnSpPr>
          <p:cNvPr id="54" name="直線矢印コネクタ 53">
            <a:extLst>
              <a:ext uri="{FF2B5EF4-FFF2-40B4-BE49-F238E27FC236}">
                <a16:creationId xmlns:a16="http://schemas.microsoft.com/office/drawing/2014/main" id="{42D8F9FE-4162-C5A5-918C-EB2DA10C4CE5}"/>
              </a:ext>
            </a:extLst>
          </p:cNvPr>
          <p:cNvCxnSpPr/>
          <p:nvPr/>
        </p:nvCxnSpPr>
        <p:spPr>
          <a:xfrm>
            <a:off x="1400475" y="5139275"/>
            <a:ext cx="795261"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5" name="テキスト ボックス 54">
            <a:extLst>
              <a:ext uri="{FF2B5EF4-FFF2-40B4-BE49-F238E27FC236}">
                <a16:creationId xmlns:a16="http://schemas.microsoft.com/office/drawing/2014/main" id="{3615EAE7-2F5C-DA50-7F10-FE9C695296AD}"/>
              </a:ext>
            </a:extLst>
          </p:cNvPr>
          <p:cNvSpPr txBox="1"/>
          <p:nvPr/>
        </p:nvSpPr>
        <p:spPr>
          <a:xfrm>
            <a:off x="4254544" y="5877272"/>
            <a:ext cx="4530419" cy="646331"/>
          </a:xfrm>
          <a:prstGeom prst="rect">
            <a:avLst/>
          </a:prstGeom>
          <a:noFill/>
        </p:spPr>
        <p:txBody>
          <a:bodyPr wrap="square" rtlCol="0">
            <a:spAutoFit/>
          </a:bodyPr>
          <a:lstStyle/>
          <a:p>
            <a:r>
              <a:rPr lang="ja-JP" altLang="en-US"/>
              <a:t>公開鍵を偽装しても、秘密鍵を持っていないので公開鍵に対応した署名ができない</a:t>
            </a:r>
            <a:endParaRPr kumimoji="1" lang="ja-JP" altLang="en-US"/>
          </a:p>
        </p:txBody>
      </p:sp>
      <p:grpSp>
        <p:nvGrpSpPr>
          <p:cNvPr id="56" name="グループ化 55">
            <a:extLst>
              <a:ext uri="{FF2B5EF4-FFF2-40B4-BE49-F238E27FC236}">
                <a16:creationId xmlns:a16="http://schemas.microsoft.com/office/drawing/2014/main" id="{B4CF50FB-A5DD-2C8D-6406-0447E8AD29C6}"/>
              </a:ext>
            </a:extLst>
          </p:cNvPr>
          <p:cNvGrpSpPr/>
          <p:nvPr/>
        </p:nvGrpSpPr>
        <p:grpSpPr>
          <a:xfrm>
            <a:off x="699512" y="5893741"/>
            <a:ext cx="404426" cy="495270"/>
            <a:chOff x="2043345" y="5485621"/>
            <a:chExt cx="404426" cy="495270"/>
          </a:xfrm>
        </p:grpSpPr>
        <p:sp>
          <p:nvSpPr>
            <p:cNvPr id="57" name="正方形/長方形 56">
              <a:extLst>
                <a:ext uri="{FF2B5EF4-FFF2-40B4-BE49-F238E27FC236}">
                  <a16:creationId xmlns:a16="http://schemas.microsoft.com/office/drawing/2014/main" id="{558A95C9-95F8-0D42-2CD5-EB2DC629630D}"/>
                </a:ext>
              </a:extLst>
            </p:cNvPr>
            <p:cNvSpPr/>
            <p:nvPr/>
          </p:nvSpPr>
          <p:spPr>
            <a:xfrm>
              <a:off x="2043345" y="5485621"/>
              <a:ext cx="304781" cy="49527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円/楕円 57">
              <a:extLst>
                <a:ext uri="{FF2B5EF4-FFF2-40B4-BE49-F238E27FC236}">
                  <a16:creationId xmlns:a16="http://schemas.microsoft.com/office/drawing/2014/main" id="{1906CB8D-AA67-7D4F-298E-B56B848AC413}"/>
                </a:ext>
              </a:extLst>
            </p:cNvPr>
            <p:cNvSpPr/>
            <p:nvPr/>
          </p:nvSpPr>
          <p:spPr>
            <a:xfrm>
              <a:off x="2231747" y="5625244"/>
              <a:ext cx="216024" cy="216024"/>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59" name="直線矢印コネクタ 58">
            <a:extLst>
              <a:ext uri="{FF2B5EF4-FFF2-40B4-BE49-F238E27FC236}">
                <a16:creationId xmlns:a16="http://schemas.microsoft.com/office/drawing/2014/main" id="{DCCFEDC2-8509-4194-AEEE-485A66DAA182}"/>
              </a:ext>
            </a:extLst>
          </p:cNvPr>
          <p:cNvCxnSpPr/>
          <p:nvPr/>
        </p:nvCxnSpPr>
        <p:spPr>
          <a:xfrm>
            <a:off x="1400475" y="6141376"/>
            <a:ext cx="795261"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68" name="グループ化 67">
            <a:extLst>
              <a:ext uri="{FF2B5EF4-FFF2-40B4-BE49-F238E27FC236}">
                <a16:creationId xmlns:a16="http://schemas.microsoft.com/office/drawing/2014/main" id="{81A1F9B4-A837-4767-CE66-5FDC7DB7AA47}"/>
              </a:ext>
            </a:extLst>
          </p:cNvPr>
          <p:cNvGrpSpPr/>
          <p:nvPr/>
        </p:nvGrpSpPr>
        <p:grpSpPr>
          <a:xfrm>
            <a:off x="2447771" y="5840830"/>
            <a:ext cx="703773" cy="566537"/>
            <a:chOff x="3284687" y="5877272"/>
            <a:chExt cx="703773" cy="566537"/>
          </a:xfrm>
        </p:grpSpPr>
        <p:pic>
          <p:nvPicPr>
            <p:cNvPr id="64" name="Picture 2" descr="掲示板に貼られた紙のイラスト（メモ）">
              <a:extLst>
                <a:ext uri="{FF2B5EF4-FFF2-40B4-BE49-F238E27FC236}">
                  <a16:creationId xmlns:a16="http://schemas.microsoft.com/office/drawing/2014/main" id="{BC22D1C6-6F90-D206-9E3B-51EC9CD5C2C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84687" y="5877272"/>
              <a:ext cx="703773" cy="566537"/>
            </a:xfrm>
            <a:prstGeom prst="rect">
              <a:avLst/>
            </a:prstGeom>
            <a:noFill/>
            <a:extLst>
              <a:ext uri="{909E8E84-426E-40DD-AFC4-6F175D3DCCD1}">
                <a14:hiddenFill xmlns:a14="http://schemas.microsoft.com/office/drawing/2010/main">
                  <a:solidFill>
                    <a:srgbClr val="FFFFFF"/>
                  </a:solidFill>
                </a14:hiddenFill>
              </a:ext>
            </a:extLst>
          </p:spPr>
        </p:pic>
        <p:grpSp>
          <p:nvGrpSpPr>
            <p:cNvPr id="60" name="グループ化 59">
              <a:extLst>
                <a:ext uri="{FF2B5EF4-FFF2-40B4-BE49-F238E27FC236}">
                  <a16:creationId xmlns:a16="http://schemas.microsoft.com/office/drawing/2014/main" id="{C7F3DFD1-5B97-759D-4EB4-BBE6A51959F7}"/>
                </a:ext>
              </a:extLst>
            </p:cNvPr>
            <p:cNvGrpSpPr/>
            <p:nvPr/>
          </p:nvGrpSpPr>
          <p:grpSpPr>
            <a:xfrm>
              <a:off x="3519970" y="6033364"/>
              <a:ext cx="250304" cy="306529"/>
              <a:chOff x="2043345" y="5485621"/>
              <a:chExt cx="404426" cy="495270"/>
            </a:xfrm>
            <a:solidFill>
              <a:srgbClr val="FF0000"/>
            </a:solidFill>
          </p:grpSpPr>
          <p:sp>
            <p:nvSpPr>
              <p:cNvPr id="61" name="正方形/長方形 60">
                <a:extLst>
                  <a:ext uri="{FF2B5EF4-FFF2-40B4-BE49-F238E27FC236}">
                    <a16:creationId xmlns:a16="http://schemas.microsoft.com/office/drawing/2014/main" id="{7DE788E0-CF84-19BB-72BC-C4EB1D5A08CA}"/>
                  </a:ext>
                </a:extLst>
              </p:cNvPr>
              <p:cNvSpPr/>
              <p:nvPr/>
            </p:nvSpPr>
            <p:spPr>
              <a:xfrm>
                <a:off x="2043345" y="5485621"/>
                <a:ext cx="304781" cy="49527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円/楕円 61">
                <a:extLst>
                  <a:ext uri="{FF2B5EF4-FFF2-40B4-BE49-F238E27FC236}">
                    <a16:creationId xmlns:a16="http://schemas.microsoft.com/office/drawing/2014/main" id="{16876F60-B928-F132-3FA7-09C6D0896512}"/>
                  </a:ext>
                </a:extLst>
              </p:cNvPr>
              <p:cNvSpPr/>
              <p:nvPr/>
            </p:nvSpPr>
            <p:spPr>
              <a:xfrm>
                <a:off x="2231747" y="5625244"/>
                <a:ext cx="216024" cy="21602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
        <p:nvSpPr>
          <p:cNvPr id="69" name="テキスト ボックス 68">
            <a:extLst>
              <a:ext uri="{FF2B5EF4-FFF2-40B4-BE49-F238E27FC236}">
                <a16:creationId xmlns:a16="http://schemas.microsoft.com/office/drawing/2014/main" id="{AB3BF710-270A-3505-FFDE-42A2A9668736}"/>
              </a:ext>
            </a:extLst>
          </p:cNvPr>
          <p:cNvSpPr txBox="1"/>
          <p:nvPr/>
        </p:nvSpPr>
        <p:spPr>
          <a:xfrm>
            <a:off x="3047332" y="5975265"/>
            <a:ext cx="311304" cy="369332"/>
          </a:xfrm>
          <a:prstGeom prst="rect">
            <a:avLst/>
          </a:prstGeom>
          <a:noFill/>
        </p:spPr>
        <p:txBody>
          <a:bodyPr wrap="none" rtlCol="0">
            <a:spAutoFit/>
          </a:bodyPr>
          <a:lstStyle/>
          <a:p>
            <a:r>
              <a:rPr kumimoji="1" lang="en-US" altLang="ja-JP" dirty="0"/>
              <a:t>≠</a:t>
            </a:r>
            <a:endParaRPr kumimoji="1" lang="ja-JP" altLang="en-US"/>
          </a:p>
        </p:txBody>
      </p:sp>
      <p:grpSp>
        <p:nvGrpSpPr>
          <p:cNvPr id="70" name="グループ化 69">
            <a:extLst>
              <a:ext uri="{FF2B5EF4-FFF2-40B4-BE49-F238E27FC236}">
                <a16:creationId xmlns:a16="http://schemas.microsoft.com/office/drawing/2014/main" id="{673CE9CF-9021-04C8-62C3-4DA19498F128}"/>
              </a:ext>
            </a:extLst>
          </p:cNvPr>
          <p:cNvGrpSpPr/>
          <p:nvPr/>
        </p:nvGrpSpPr>
        <p:grpSpPr>
          <a:xfrm>
            <a:off x="3298736" y="5846524"/>
            <a:ext cx="491092" cy="555148"/>
            <a:chOff x="3980964" y="3583025"/>
            <a:chExt cx="828092" cy="936104"/>
          </a:xfrm>
        </p:grpSpPr>
        <p:sp>
          <p:nvSpPr>
            <p:cNvPr id="71" name="正方形/長方形 70">
              <a:extLst>
                <a:ext uri="{FF2B5EF4-FFF2-40B4-BE49-F238E27FC236}">
                  <a16:creationId xmlns:a16="http://schemas.microsoft.com/office/drawing/2014/main" id="{0961A4F9-A234-EF0D-B8C5-FC5690C6E5B5}"/>
                </a:ext>
              </a:extLst>
            </p:cNvPr>
            <p:cNvSpPr/>
            <p:nvPr/>
          </p:nvSpPr>
          <p:spPr>
            <a:xfrm>
              <a:off x="4232992" y="3583025"/>
              <a:ext cx="576064" cy="93610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三角形 71">
              <a:extLst>
                <a:ext uri="{FF2B5EF4-FFF2-40B4-BE49-F238E27FC236}">
                  <a16:creationId xmlns:a16="http://schemas.microsoft.com/office/drawing/2014/main" id="{0552A2CD-57E1-0C6C-CB1B-0CD9F0A46FD2}"/>
                </a:ext>
              </a:extLst>
            </p:cNvPr>
            <p:cNvSpPr/>
            <p:nvPr/>
          </p:nvSpPr>
          <p:spPr>
            <a:xfrm rot="5400000">
              <a:off x="4016968" y="3799049"/>
              <a:ext cx="432048" cy="504056"/>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12783652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F513A30D-837B-05C9-7C01-7760780EDEBE}"/>
              </a:ext>
            </a:extLst>
          </p:cNvPr>
          <p:cNvSpPr>
            <a:spLocks noGrp="1"/>
          </p:cNvSpPr>
          <p:nvPr>
            <p:ph type="body" sz="quarter" idx="10"/>
          </p:nvPr>
        </p:nvSpPr>
        <p:spPr/>
        <p:txBody>
          <a:bodyPr/>
          <a:lstStyle/>
          <a:p>
            <a:r>
              <a:rPr lang="ja-JP" altLang="en-US"/>
              <a:t>公開鍵認証のまとめ</a:t>
            </a:r>
            <a:endParaRPr kumimoji="1" lang="ja-JP" altLang="en-US"/>
          </a:p>
        </p:txBody>
      </p:sp>
      <p:sp>
        <p:nvSpPr>
          <p:cNvPr id="3" name="テキスト ボックス 2">
            <a:extLst>
              <a:ext uri="{FF2B5EF4-FFF2-40B4-BE49-F238E27FC236}">
                <a16:creationId xmlns:a16="http://schemas.microsoft.com/office/drawing/2014/main" id="{FCB8D91F-28E1-6CB2-B2B8-7691E2DA0019}"/>
              </a:ext>
            </a:extLst>
          </p:cNvPr>
          <p:cNvSpPr txBox="1"/>
          <p:nvPr/>
        </p:nvSpPr>
        <p:spPr>
          <a:xfrm>
            <a:off x="551208" y="1558603"/>
            <a:ext cx="8352928" cy="2677656"/>
          </a:xfrm>
          <a:prstGeom prst="rect">
            <a:avLst/>
          </a:prstGeom>
          <a:noFill/>
        </p:spPr>
        <p:txBody>
          <a:bodyPr wrap="square" rtlCol="0">
            <a:spAutoFit/>
          </a:bodyPr>
          <a:lstStyle/>
          <a:p>
            <a:pPr marL="342900" indent="-342900">
              <a:buFont typeface="Arial" panose="020B0604020202020204" pitchFamily="34" charset="0"/>
              <a:buChar char="•"/>
            </a:pPr>
            <a:r>
              <a:rPr kumimoji="1" lang="ja-JP" altLang="en-US" sz="2400"/>
              <a:t>公開鍵認証には、署名に使う秘密鍵と、検証に使う公開鍵のペアを使う</a:t>
            </a:r>
            <a:endParaRPr kumimoji="1" lang="en-US" altLang="ja-JP" sz="2400" dirty="0"/>
          </a:p>
          <a:p>
            <a:pPr marL="342900" indent="-342900">
              <a:buFont typeface="Arial" panose="020B0604020202020204" pitchFamily="34" charset="0"/>
              <a:buChar char="•"/>
            </a:pPr>
            <a:r>
              <a:rPr kumimoji="1" lang="ja-JP" altLang="en-US" sz="2400"/>
              <a:t>検証側は、あらかじめ相手の公開鍵を保持しておく</a:t>
            </a:r>
            <a:endParaRPr kumimoji="1" lang="en-US" altLang="ja-JP" sz="2400" dirty="0"/>
          </a:p>
          <a:p>
            <a:pPr marL="342900" indent="-342900">
              <a:buFont typeface="Arial" panose="020B0604020202020204" pitchFamily="34" charset="0"/>
              <a:buChar char="•"/>
            </a:pPr>
            <a:r>
              <a:rPr kumimoji="1" lang="ja-JP" altLang="en-US" sz="2400"/>
              <a:t>公開鍵で検証できる形で署名が可能なのは、秘密鍵の所持者のみ</a:t>
            </a:r>
            <a:endParaRPr kumimoji="1" lang="en-US" altLang="ja-JP" sz="2400" dirty="0"/>
          </a:p>
          <a:p>
            <a:pPr marL="342900" indent="-342900">
              <a:buFont typeface="Arial" panose="020B0604020202020204" pitchFamily="34" charset="0"/>
              <a:buChar char="•"/>
            </a:pPr>
            <a:r>
              <a:rPr lang="ja-JP" altLang="en-US" sz="2400"/>
              <a:t>正しく署名できた人を「公開鍵に対応する秘密鍵の所持者である」と認証できる</a:t>
            </a:r>
            <a:endParaRPr lang="en-US" altLang="ja-JP" sz="2400" dirty="0"/>
          </a:p>
        </p:txBody>
      </p:sp>
      <p:sp>
        <p:nvSpPr>
          <p:cNvPr id="4" name="テキスト ボックス 3">
            <a:extLst>
              <a:ext uri="{FF2B5EF4-FFF2-40B4-BE49-F238E27FC236}">
                <a16:creationId xmlns:a16="http://schemas.microsoft.com/office/drawing/2014/main" id="{B665F790-1A0F-AD3C-BCF5-1FD443BD7482}"/>
              </a:ext>
            </a:extLst>
          </p:cNvPr>
          <p:cNvSpPr txBox="1"/>
          <p:nvPr/>
        </p:nvSpPr>
        <p:spPr>
          <a:xfrm>
            <a:off x="179512" y="1091669"/>
            <a:ext cx="1723549" cy="461665"/>
          </a:xfrm>
          <a:prstGeom prst="rect">
            <a:avLst/>
          </a:prstGeom>
          <a:noFill/>
        </p:spPr>
        <p:txBody>
          <a:bodyPr wrap="none" rtlCol="0">
            <a:spAutoFit/>
          </a:bodyPr>
          <a:lstStyle/>
          <a:p>
            <a:r>
              <a:rPr kumimoji="1" lang="ja-JP" altLang="en-US" sz="2400">
                <a:solidFill>
                  <a:srgbClr val="011893"/>
                </a:solidFill>
              </a:rPr>
              <a:t>ユーザ認証</a:t>
            </a:r>
          </a:p>
        </p:txBody>
      </p:sp>
      <p:sp>
        <p:nvSpPr>
          <p:cNvPr id="5" name="テキスト ボックス 4">
            <a:extLst>
              <a:ext uri="{FF2B5EF4-FFF2-40B4-BE49-F238E27FC236}">
                <a16:creationId xmlns:a16="http://schemas.microsoft.com/office/drawing/2014/main" id="{21310A5C-E848-B8C3-B70C-7E8320890CCA}"/>
              </a:ext>
            </a:extLst>
          </p:cNvPr>
          <p:cNvSpPr txBox="1"/>
          <p:nvPr/>
        </p:nvSpPr>
        <p:spPr>
          <a:xfrm>
            <a:off x="179512" y="4352499"/>
            <a:ext cx="1723549" cy="461665"/>
          </a:xfrm>
          <a:prstGeom prst="rect">
            <a:avLst/>
          </a:prstGeom>
          <a:noFill/>
        </p:spPr>
        <p:txBody>
          <a:bodyPr wrap="none" rtlCol="0">
            <a:spAutoFit/>
          </a:bodyPr>
          <a:lstStyle/>
          <a:p>
            <a:r>
              <a:rPr kumimoji="1" lang="ja-JP" altLang="en-US" sz="2400">
                <a:solidFill>
                  <a:srgbClr val="011893"/>
                </a:solidFill>
              </a:rPr>
              <a:t>ホスト認証</a:t>
            </a:r>
          </a:p>
        </p:txBody>
      </p:sp>
      <p:sp>
        <p:nvSpPr>
          <p:cNvPr id="6" name="テキスト ボックス 5">
            <a:extLst>
              <a:ext uri="{FF2B5EF4-FFF2-40B4-BE49-F238E27FC236}">
                <a16:creationId xmlns:a16="http://schemas.microsoft.com/office/drawing/2014/main" id="{A24BBF06-CAD6-9B12-153A-78D3CDC702DC}"/>
              </a:ext>
            </a:extLst>
          </p:cNvPr>
          <p:cNvSpPr txBox="1"/>
          <p:nvPr/>
        </p:nvSpPr>
        <p:spPr>
          <a:xfrm>
            <a:off x="539552" y="4804609"/>
            <a:ext cx="8352928" cy="1569660"/>
          </a:xfrm>
          <a:prstGeom prst="rect">
            <a:avLst/>
          </a:prstGeom>
          <a:noFill/>
        </p:spPr>
        <p:txBody>
          <a:bodyPr wrap="square" rtlCol="0">
            <a:spAutoFit/>
          </a:bodyPr>
          <a:lstStyle/>
          <a:p>
            <a:pPr marL="342900" indent="-342900">
              <a:buFont typeface="Arial" panose="020B0604020202020204" pitchFamily="34" charset="0"/>
              <a:buChar char="•"/>
            </a:pPr>
            <a:r>
              <a:rPr kumimoji="1" lang="ja-JP" altLang="en-US" sz="2400"/>
              <a:t>ホスト認証でも、あらかじめ相手の公開鍵を登録しておくことが望ましい</a:t>
            </a:r>
            <a:endParaRPr kumimoji="1" lang="en-US" altLang="ja-JP" sz="2400" dirty="0"/>
          </a:p>
          <a:p>
            <a:pPr marL="342900" indent="-342900">
              <a:buFont typeface="Arial" panose="020B0604020202020204" pitchFamily="34" charset="0"/>
              <a:buChar char="•"/>
            </a:pPr>
            <a:r>
              <a:rPr lang="ja-JP" altLang="en-US" sz="2400"/>
              <a:t>しかし、初回接続時に公開鍵のフィンガープリントを確認し、問題なければ登録する、という運用が多い</a:t>
            </a:r>
            <a:endParaRPr kumimoji="1" lang="en-US" altLang="ja-JP" sz="2400" dirty="0"/>
          </a:p>
        </p:txBody>
      </p:sp>
    </p:spTree>
    <p:extLst>
      <p:ext uri="{BB962C8B-B14F-4D97-AF65-F5344CB8AC3E}">
        <p14:creationId xmlns:p14="http://schemas.microsoft.com/office/powerpoint/2010/main" val="9699571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雲 21">
            <a:extLst>
              <a:ext uri="{FF2B5EF4-FFF2-40B4-BE49-F238E27FC236}">
                <a16:creationId xmlns:a16="http://schemas.microsoft.com/office/drawing/2014/main" id="{1BF7C766-0BC7-7586-3964-FEF7CF4ECE12}"/>
              </a:ext>
            </a:extLst>
          </p:cNvPr>
          <p:cNvSpPr/>
          <p:nvPr/>
        </p:nvSpPr>
        <p:spPr>
          <a:xfrm>
            <a:off x="3208241" y="4034666"/>
            <a:ext cx="1080120" cy="978375"/>
          </a:xfrm>
          <a:prstGeom prst="cloud">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テキスト プレースホルダー 1">
            <a:extLst>
              <a:ext uri="{FF2B5EF4-FFF2-40B4-BE49-F238E27FC236}">
                <a16:creationId xmlns:a16="http://schemas.microsoft.com/office/drawing/2014/main" id="{122080EE-B04B-EC9A-AB25-B1FBFC32473D}"/>
              </a:ext>
            </a:extLst>
          </p:cNvPr>
          <p:cNvSpPr>
            <a:spLocks noGrp="1"/>
          </p:cNvSpPr>
          <p:nvPr>
            <p:ph type="body" sz="quarter" idx="10"/>
          </p:nvPr>
        </p:nvSpPr>
        <p:spPr/>
        <p:txBody>
          <a:bodyPr/>
          <a:lstStyle/>
          <a:p>
            <a:r>
              <a:rPr kumimoji="1" lang="en-US" altLang="ja-JP" dirty="0"/>
              <a:t>SSH</a:t>
            </a:r>
            <a:r>
              <a:rPr kumimoji="1" lang="ja-JP" altLang="en-US"/>
              <a:t>エージェント</a:t>
            </a:r>
          </a:p>
        </p:txBody>
      </p:sp>
      <p:sp>
        <p:nvSpPr>
          <p:cNvPr id="3" name="テキスト ボックス 2">
            <a:extLst>
              <a:ext uri="{FF2B5EF4-FFF2-40B4-BE49-F238E27FC236}">
                <a16:creationId xmlns:a16="http://schemas.microsoft.com/office/drawing/2014/main" id="{BEEC50E1-0964-F6C2-2892-9189BD241E7B}"/>
              </a:ext>
            </a:extLst>
          </p:cNvPr>
          <p:cNvSpPr txBox="1"/>
          <p:nvPr/>
        </p:nvSpPr>
        <p:spPr>
          <a:xfrm>
            <a:off x="334456" y="943720"/>
            <a:ext cx="5570756" cy="707886"/>
          </a:xfrm>
          <a:prstGeom prst="rect">
            <a:avLst/>
          </a:prstGeom>
          <a:noFill/>
        </p:spPr>
        <p:txBody>
          <a:bodyPr wrap="none" rtlCol="0">
            <a:spAutoFit/>
          </a:bodyPr>
          <a:lstStyle/>
          <a:p>
            <a:r>
              <a:rPr kumimoji="1" lang="ja-JP" altLang="en-US" sz="2000"/>
              <a:t>接続のたびにパスフレーズを入力するのは面倒</a:t>
            </a:r>
            <a:endParaRPr kumimoji="1" lang="en-US" altLang="ja-JP" sz="2000" dirty="0"/>
          </a:p>
          <a:p>
            <a:r>
              <a:rPr lang="ja-JP" altLang="en-US" sz="2000"/>
              <a:t>→</a:t>
            </a:r>
            <a:r>
              <a:rPr lang="en-US" altLang="ja-JP" sz="2000" dirty="0"/>
              <a:t> SSH</a:t>
            </a:r>
            <a:r>
              <a:rPr lang="ja-JP" altLang="en-US" sz="2000"/>
              <a:t>エージェント</a:t>
            </a:r>
            <a:endParaRPr kumimoji="1" lang="ja-JP" altLang="en-US" sz="2000"/>
          </a:p>
        </p:txBody>
      </p:sp>
      <p:pic>
        <p:nvPicPr>
          <p:cNvPr id="7172" name="Picture 4" descr="ホテルのフロントのイラスト（女性）">
            <a:extLst>
              <a:ext uri="{FF2B5EF4-FFF2-40B4-BE49-F238E27FC236}">
                <a16:creationId xmlns:a16="http://schemas.microsoft.com/office/drawing/2014/main" id="{3E087851-416F-CF14-BD33-21182C55574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65873" y="4136943"/>
            <a:ext cx="1026057" cy="1026057"/>
          </a:xfrm>
          <a:prstGeom prst="rect">
            <a:avLst/>
          </a:prstGeom>
          <a:noFill/>
          <a:extLst>
            <a:ext uri="{909E8E84-426E-40DD-AFC4-6F175D3DCCD1}">
              <a14:hiddenFill xmlns:a14="http://schemas.microsoft.com/office/drawing/2010/main">
                <a:solidFill>
                  <a:srgbClr val="FFFFFF"/>
                </a:solidFill>
              </a14:hiddenFill>
            </a:ext>
          </a:extLst>
        </p:spPr>
      </p:pic>
      <p:sp>
        <p:nvSpPr>
          <p:cNvPr id="4" name="テキスト ボックス 3">
            <a:extLst>
              <a:ext uri="{FF2B5EF4-FFF2-40B4-BE49-F238E27FC236}">
                <a16:creationId xmlns:a16="http://schemas.microsoft.com/office/drawing/2014/main" id="{84D0E9F9-798A-23BF-1CBE-4E452C24BA1B}"/>
              </a:ext>
            </a:extLst>
          </p:cNvPr>
          <p:cNvSpPr txBox="1"/>
          <p:nvPr/>
        </p:nvSpPr>
        <p:spPr>
          <a:xfrm>
            <a:off x="294960" y="1709671"/>
            <a:ext cx="3993401" cy="369332"/>
          </a:xfrm>
          <a:prstGeom prst="rect">
            <a:avLst/>
          </a:prstGeom>
          <a:noFill/>
        </p:spPr>
        <p:txBody>
          <a:bodyPr wrap="none" rtlCol="0">
            <a:spAutoFit/>
          </a:bodyPr>
          <a:lstStyle/>
          <a:p>
            <a:r>
              <a:rPr lang="en-US" altLang="ja-JP" dirty="0"/>
              <a:t>(1) </a:t>
            </a:r>
            <a:r>
              <a:rPr lang="ja-JP" altLang="en-US"/>
              <a:t>パスフレーズにより秘密鍵を復号</a:t>
            </a:r>
            <a:endParaRPr kumimoji="1" lang="ja-JP" altLang="en-US"/>
          </a:p>
        </p:txBody>
      </p:sp>
      <p:grpSp>
        <p:nvGrpSpPr>
          <p:cNvPr id="6" name="グループ化 5">
            <a:extLst>
              <a:ext uri="{FF2B5EF4-FFF2-40B4-BE49-F238E27FC236}">
                <a16:creationId xmlns:a16="http://schemas.microsoft.com/office/drawing/2014/main" id="{3ABFD72B-AEC8-F343-E41B-906ECC439144}"/>
              </a:ext>
            </a:extLst>
          </p:cNvPr>
          <p:cNvGrpSpPr/>
          <p:nvPr/>
        </p:nvGrpSpPr>
        <p:grpSpPr>
          <a:xfrm>
            <a:off x="2493795" y="2480325"/>
            <a:ext cx="614363" cy="819152"/>
            <a:chOff x="971600" y="980729"/>
            <a:chExt cx="756083" cy="1008112"/>
          </a:xfrm>
        </p:grpSpPr>
        <p:sp>
          <p:nvSpPr>
            <p:cNvPr id="13" name="正方形/長方形 12">
              <a:extLst>
                <a:ext uri="{FF2B5EF4-FFF2-40B4-BE49-F238E27FC236}">
                  <a16:creationId xmlns:a16="http://schemas.microsoft.com/office/drawing/2014/main" id="{A6294361-22E9-96DA-4D79-321D7B28A79B}"/>
                </a:ext>
              </a:extLst>
            </p:cNvPr>
            <p:cNvSpPr/>
            <p:nvPr/>
          </p:nvSpPr>
          <p:spPr>
            <a:xfrm>
              <a:off x="971600" y="980729"/>
              <a:ext cx="504056" cy="1008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三角形 13">
              <a:extLst>
                <a:ext uri="{FF2B5EF4-FFF2-40B4-BE49-F238E27FC236}">
                  <a16:creationId xmlns:a16="http://schemas.microsoft.com/office/drawing/2014/main" id="{742C4DBB-2565-9ABD-C733-C7FD64AB80E5}"/>
                </a:ext>
              </a:extLst>
            </p:cNvPr>
            <p:cNvSpPr/>
            <p:nvPr/>
          </p:nvSpPr>
          <p:spPr>
            <a:xfrm rot="5400000">
              <a:off x="1191348" y="1236482"/>
              <a:ext cx="576064" cy="49660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7" name="Picture 2" descr="シンプルな南京錠のイラスト（鎖つき）">
            <a:extLst>
              <a:ext uri="{FF2B5EF4-FFF2-40B4-BE49-F238E27FC236}">
                <a16:creationId xmlns:a16="http://schemas.microsoft.com/office/drawing/2014/main" id="{DA697B8A-A52C-A3B9-C5DF-2A6C6442754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89529" y="2695370"/>
            <a:ext cx="1229734" cy="675235"/>
          </a:xfrm>
          <a:prstGeom prst="rect">
            <a:avLst/>
          </a:prstGeom>
          <a:noFill/>
          <a:extLst>
            <a:ext uri="{909E8E84-426E-40DD-AFC4-6F175D3DCCD1}">
              <a14:hiddenFill xmlns:a14="http://schemas.microsoft.com/office/drawing/2010/main">
                <a:solidFill>
                  <a:srgbClr val="FFFFFF"/>
                </a:solidFill>
              </a14:hiddenFill>
            </a:ext>
          </a:extLst>
        </p:spPr>
      </p:pic>
      <p:sp>
        <p:nvSpPr>
          <p:cNvPr id="8" name="角丸四角形 7">
            <a:extLst>
              <a:ext uri="{FF2B5EF4-FFF2-40B4-BE49-F238E27FC236}">
                <a16:creationId xmlns:a16="http://schemas.microsoft.com/office/drawing/2014/main" id="{438806FA-FB35-EADB-59C8-55CF434686D8}"/>
              </a:ext>
            </a:extLst>
          </p:cNvPr>
          <p:cNvSpPr/>
          <p:nvPr/>
        </p:nvSpPr>
        <p:spPr>
          <a:xfrm>
            <a:off x="2151282" y="2331318"/>
            <a:ext cx="1106228" cy="1117165"/>
          </a:xfrm>
          <a:prstGeom prst="roundRect">
            <a:avLst/>
          </a:prstGeom>
          <a:noFill/>
          <a:ln w="381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右矢印 8">
            <a:extLst>
              <a:ext uri="{FF2B5EF4-FFF2-40B4-BE49-F238E27FC236}">
                <a16:creationId xmlns:a16="http://schemas.microsoft.com/office/drawing/2014/main" id="{96F92E2D-0C94-F7BC-871C-8195626E9DAD}"/>
              </a:ext>
            </a:extLst>
          </p:cNvPr>
          <p:cNvSpPr/>
          <p:nvPr/>
        </p:nvSpPr>
        <p:spPr>
          <a:xfrm>
            <a:off x="3402682" y="2676095"/>
            <a:ext cx="597472" cy="353058"/>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0" name="グループ化 9">
            <a:extLst>
              <a:ext uri="{FF2B5EF4-FFF2-40B4-BE49-F238E27FC236}">
                <a16:creationId xmlns:a16="http://schemas.microsoft.com/office/drawing/2014/main" id="{64A2D7E7-0914-F936-38BD-A4B5FEF4EC2D}"/>
              </a:ext>
            </a:extLst>
          </p:cNvPr>
          <p:cNvGrpSpPr/>
          <p:nvPr/>
        </p:nvGrpSpPr>
        <p:grpSpPr>
          <a:xfrm>
            <a:off x="4083573" y="2443048"/>
            <a:ext cx="614363" cy="819152"/>
            <a:chOff x="971600" y="980729"/>
            <a:chExt cx="756083" cy="1008112"/>
          </a:xfrm>
        </p:grpSpPr>
        <p:sp>
          <p:nvSpPr>
            <p:cNvPr id="11" name="正方形/長方形 10">
              <a:extLst>
                <a:ext uri="{FF2B5EF4-FFF2-40B4-BE49-F238E27FC236}">
                  <a16:creationId xmlns:a16="http://schemas.microsoft.com/office/drawing/2014/main" id="{6D58CA04-1A3F-4044-FFE6-13DC10F07758}"/>
                </a:ext>
              </a:extLst>
            </p:cNvPr>
            <p:cNvSpPr/>
            <p:nvPr/>
          </p:nvSpPr>
          <p:spPr>
            <a:xfrm>
              <a:off x="971600" y="980729"/>
              <a:ext cx="504056" cy="1008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三角形 11">
              <a:extLst>
                <a:ext uri="{FF2B5EF4-FFF2-40B4-BE49-F238E27FC236}">
                  <a16:creationId xmlns:a16="http://schemas.microsoft.com/office/drawing/2014/main" id="{53AF2A71-B6C1-326D-CD5C-125352B2CB3B}"/>
                </a:ext>
              </a:extLst>
            </p:cNvPr>
            <p:cNvSpPr/>
            <p:nvPr/>
          </p:nvSpPr>
          <p:spPr>
            <a:xfrm rot="5400000">
              <a:off x="1191348" y="1236482"/>
              <a:ext cx="576064" cy="49660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5" name="テキスト ボックス 14">
            <a:extLst>
              <a:ext uri="{FF2B5EF4-FFF2-40B4-BE49-F238E27FC236}">
                <a16:creationId xmlns:a16="http://schemas.microsoft.com/office/drawing/2014/main" id="{5BB8A7FE-5E60-D7E0-2783-C72CF2865460}"/>
              </a:ext>
            </a:extLst>
          </p:cNvPr>
          <p:cNvSpPr txBox="1"/>
          <p:nvPr/>
        </p:nvSpPr>
        <p:spPr>
          <a:xfrm>
            <a:off x="303544" y="3736089"/>
            <a:ext cx="6083717" cy="369332"/>
          </a:xfrm>
          <a:prstGeom prst="rect">
            <a:avLst/>
          </a:prstGeom>
          <a:noFill/>
        </p:spPr>
        <p:txBody>
          <a:bodyPr wrap="none" rtlCol="0">
            <a:spAutoFit/>
          </a:bodyPr>
          <a:lstStyle/>
          <a:p>
            <a:r>
              <a:rPr lang="en-US" altLang="ja-JP" dirty="0"/>
              <a:t>(2) </a:t>
            </a:r>
            <a:r>
              <a:rPr lang="ja-JP" altLang="en-US"/>
              <a:t>復号した秘密鍵を</a:t>
            </a:r>
            <a:r>
              <a:rPr lang="en-US" altLang="ja-JP" dirty="0"/>
              <a:t>SSH</a:t>
            </a:r>
            <a:r>
              <a:rPr lang="ja-JP" altLang="en-US"/>
              <a:t>エージェントに記憶してもらう</a:t>
            </a:r>
            <a:endParaRPr kumimoji="1" lang="ja-JP" altLang="en-US"/>
          </a:p>
        </p:txBody>
      </p:sp>
      <p:grpSp>
        <p:nvGrpSpPr>
          <p:cNvPr id="19" name="グループ化 18">
            <a:extLst>
              <a:ext uri="{FF2B5EF4-FFF2-40B4-BE49-F238E27FC236}">
                <a16:creationId xmlns:a16="http://schemas.microsoft.com/office/drawing/2014/main" id="{EE355A22-F03B-188E-0C4A-FC13E20DA152}"/>
              </a:ext>
            </a:extLst>
          </p:cNvPr>
          <p:cNvGrpSpPr/>
          <p:nvPr/>
        </p:nvGrpSpPr>
        <p:grpSpPr>
          <a:xfrm>
            <a:off x="3537805" y="4232453"/>
            <a:ext cx="420991" cy="561322"/>
            <a:chOff x="971600" y="980729"/>
            <a:chExt cx="756083" cy="1008112"/>
          </a:xfrm>
        </p:grpSpPr>
        <p:sp>
          <p:nvSpPr>
            <p:cNvPr id="20" name="正方形/長方形 19">
              <a:extLst>
                <a:ext uri="{FF2B5EF4-FFF2-40B4-BE49-F238E27FC236}">
                  <a16:creationId xmlns:a16="http://schemas.microsoft.com/office/drawing/2014/main" id="{03CE7A97-D9EE-46E6-F2AF-3462218AAA03}"/>
                </a:ext>
              </a:extLst>
            </p:cNvPr>
            <p:cNvSpPr/>
            <p:nvPr/>
          </p:nvSpPr>
          <p:spPr>
            <a:xfrm>
              <a:off x="971600" y="980729"/>
              <a:ext cx="504056" cy="1008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三角形 20">
              <a:extLst>
                <a:ext uri="{FF2B5EF4-FFF2-40B4-BE49-F238E27FC236}">
                  <a16:creationId xmlns:a16="http://schemas.microsoft.com/office/drawing/2014/main" id="{1550AACA-06B3-5724-F6BE-00549CF60992}"/>
                </a:ext>
              </a:extLst>
            </p:cNvPr>
            <p:cNvSpPr/>
            <p:nvPr/>
          </p:nvSpPr>
          <p:spPr>
            <a:xfrm rot="5400000">
              <a:off x="1191348" y="1236483"/>
              <a:ext cx="576063" cy="496606"/>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3" name="テキスト ボックス 22">
            <a:extLst>
              <a:ext uri="{FF2B5EF4-FFF2-40B4-BE49-F238E27FC236}">
                <a16:creationId xmlns:a16="http://schemas.microsoft.com/office/drawing/2014/main" id="{BE26D21F-ED25-B872-CF4D-4BD1C8119227}"/>
              </a:ext>
            </a:extLst>
          </p:cNvPr>
          <p:cNvSpPr txBox="1"/>
          <p:nvPr/>
        </p:nvSpPr>
        <p:spPr>
          <a:xfrm>
            <a:off x="347767" y="5282117"/>
            <a:ext cx="6917278" cy="369332"/>
          </a:xfrm>
          <a:prstGeom prst="rect">
            <a:avLst/>
          </a:prstGeom>
          <a:noFill/>
        </p:spPr>
        <p:txBody>
          <a:bodyPr wrap="none" rtlCol="0">
            <a:spAutoFit/>
          </a:bodyPr>
          <a:lstStyle/>
          <a:p>
            <a:r>
              <a:rPr lang="en-US" altLang="ja-JP" dirty="0"/>
              <a:t>(3) </a:t>
            </a:r>
            <a:r>
              <a:rPr lang="ja-JP" altLang="en-US"/>
              <a:t>次回接続から記憶した秘密鍵を使う</a:t>
            </a:r>
            <a:r>
              <a:rPr lang="en-US" altLang="ja-JP" dirty="0"/>
              <a:t>(</a:t>
            </a:r>
            <a:r>
              <a:rPr lang="ja-JP" altLang="en-US"/>
              <a:t>パスフレーズ入力を省略</a:t>
            </a:r>
            <a:r>
              <a:rPr lang="en-US" altLang="ja-JP" dirty="0"/>
              <a:t>)</a:t>
            </a:r>
            <a:endParaRPr kumimoji="1" lang="ja-JP" altLang="en-US"/>
          </a:p>
        </p:txBody>
      </p:sp>
      <p:pic>
        <p:nvPicPr>
          <p:cNvPr id="24" name="Picture 4" descr="ホテルのフロントのイラスト（女性）">
            <a:extLst>
              <a:ext uri="{FF2B5EF4-FFF2-40B4-BE49-F238E27FC236}">
                <a16:creationId xmlns:a16="http://schemas.microsoft.com/office/drawing/2014/main" id="{3BD61B1C-592A-707A-6C40-DDEB4FA2210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94111" y="5687914"/>
            <a:ext cx="949437" cy="949437"/>
          </a:xfrm>
          <a:prstGeom prst="rect">
            <a:avLst/>
          </a:prstGeom>
          <a:noFill/>
          <a:extLst>
            <a:ext uri="{909E8E84-426E-40DD-AFC4-6F175D3DCCD1}">
              <a14:hiddenFill xmlns:a14="http://schemas.microsoft.com/office/drawing/2010/main">
                <a:solidFill>
                  <a:srgbClr val="FFFFFF"/>
                </a:solidFill>
              </a14:hiddenFill>
            </a:ext>
          </a:extLst>
        </p:spPr>
      </p:pic>
      <p:grpSp>
        <p:nvGrpSpPr>
          <p:cNvPr id="26" name="グループ化 25">
            <a:extLst>
              <a:ext uri="{FF2B5EF4-FFF2-40B4-BE49-F238E27FC236}">
                <a16:creationId xmlns:a16="http://schemas.microsoft.com/office/drawing/2014/main" id="{5FB834EB-7DF8-2FDA-91AF-1629B16C626F}"/>
              </a:ext>
            </a:extLst>
          </p:cNvPr>
          <p:cNvGrpSpPr/>
          <p:nvPr/>
        </p:nvGrpSpPr>
        <p:grpSpPr>
          <a:xfrm>
            <a:off x="2151282" y="5722042"/>
            <a:ext cx="4008532" cy="945825"/>
            <a:chOff x="1943082" y="4953593"/>
            <a:chExt cx="6356026" cy="1499724"/>
          </a:xfrm>
        </p:grpSpPr>
        <p:grpSp>
          <p:nvGrpSpPr>
            <p:cNvPr id="27" name="グループ化 26">
              <a:extLst>
                <a:ext uri="{FF2B5EF4-FFF2-40B4-BE49-F238E27FC236}">
                  <a16:creationId xmlns:a16="http://schemas.microsoft.com/office/drawing/2014/main" id="{F81AD2C7-49DF-C0F4-2545-F7AACF856A8D}"/>
                </a:ext>
              </a:extLst>
            </p:cNvPr>
            <p:cNvGrpSpPr/>
            <p:nvPr/>
          </p:nvGrpSpPr>
          <p:grpSpPr>
            <a:xfrm>
              <a:off x="5155051" y="5208350"/>
              <a:ext cx="752361" cy="1008112"/>
              <a:chOff x="3963655" y="1196752"/>
              <a:chExt cx="752361" cy="1008112"/>
            </a:xfrm>
          </p:grpSpPr>
          <p:sp>
            <p:nvSpPr>
              <p:cNvPr id="37" name="正方形/長方形 36">
                <a:extLst>
                  <a:ext uri="{FF2B5EF4-FFF2-40B4-BE49-F238E27FC236}">
                    <a16:creationId xmlns:a16="http://schemas.microsoft.com/office/drawing/2014/main" id="{96C0ABA8-54CF-56C5-7A46-C15FCF480AEA}"/>
                  </a:ext>
                </a:extLst>
              </p:cNvPr>
              <p:cNvSpPr/>
              <p:nvPr/>
            </p:nvSpPr>
            <p:spPr>
              <a:xfrm>
                <a:off x="4211960" y="1196752"/>
                <a:ext cx="504056" cy="1008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三角形 37">
                <a:extLst>
                  <a:ext uri="{FF2B5EF4-FFF2-40B4-BE49-F238E27FC236}">
                    <a16:creationId xmlns:a16="http://schemas.microsoft.com/office/drawing/2014/main" id="{2D960068-BBCB-0DBF-4D81-A90E650BAF1C}"/>
                  </a:ext>
                </a:extLst>
              </p:cNvPr>
              <p:cNvSpPr/>
              <p:nvPr/>
            </p:nvSpPr>
            <p:spPr>
              <a:xfrm rot="5400000">
                <a:off x="3923927" y="1452505"/>
                <a:ext cx="576064" cy="496607"/>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8" name="グループ化 27">
              <a:extLst>
                <a:ext uri="{FF2B5EF4-FFF2-40B4-BE49-F238E27FC236}">
                  <a16:creationId xmlns:a16="http://schemas.microsoft.com/office/drawing/2014/main" id="{E6DB69B0-A581-E6DD-1045-CEFD903606D0}"/>
                </a:ext>
              </a:extLst>
            </p:cNvPr>
            <p:cNvGrpSpPr/>
            <p:nvPr/>
          </p:nvGrpSpPr>
          <p:grpSpPr>
            <a:xfrm>
              <a:off x="6876191" y="4989390"/>
              <a:ext cx="1422917" cy="1347882"/>
              <a:chOff x="6140761" y="2760383"/>
              <a:chExt cx="2118829" cy="2007096"/>
            </a:xfrm>
          </p:grpSpPr>
          <p:pic>
            <p:nvPicPr>
              <p:cNvPr id="35" name="図 34">
                <a:extLst>
                  <a:ext uri="{FF2B5EF4-FFF2-40B4-BE49-F238E27FC236}">
                    <a16:creationId xmlns:a16="http://schemas.microsoft.com/office/drawing/2014/main" id="{3E138380-A635-F941-70D4-17B3264EB2F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644817" y="3624479"/>
                <a:ext cx="1143000" cy="1143000"/>
              </a:xfrm>
              <a:prstGeom prst="rect">
                <a:avLst/>
              </a:prstGeom>
            </p:spPr>
          </p:pic>
          <p:pic>
            <p:nvPicPr>
              <p:cNvPr id="36" name="図 35">
                <a:extLst>
                  <a:ext uri="{FF2B5EF4-FFF2-40B4-BE49-F238E27FC236}">
                    <a16:creationId xmlns:a16="http://schemas.microsoft.com/office/drawing/2014/main" id="{F0F6687E-7DAB-E5A0-B462-3C75ED4F0DE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140761" y="2760383"/>
                <a:ext cx="2118829" cy="868720"/>
              </a:xfrm>
              <a:prstGeom prst="rect">
                <a:avLst/>
              </a:prstGeom>
            </p:spPr>
          </p:pic>
        </p:grpSp>
        <p:sp>
          <p:nvSpPr>
            <p:cNvPr id="29" name="角丸四角形 28">
              <a:extLst>
                <a:ext uri="{FF2B5EF4-FFF2-40B4-BE49-F238E27FC236}">
                  <a16:creationId xmlns:a16="http://schemas.microsoft.com/office/drawing/2014/main" id="{8A7776C9-7DC2-0176-1D93-53EA2D7107DD}"/>
                </a:ext>
              </a:extLst>
            </p:cNvPr>
            <p:cNvSpPr/>
            <p:nvPr/>
          </p:nvSpPr>
          <p:spPr>
            <a:xfrm>
              <a:off x="5261399" y="4953593"/>
              <a:ext cx="1505451" cy="1499724"/>
            </a:xfrm>
            <a:prstGeom prst="roundRect">
              <a:avLst/>
            </a:prstGeom>
            <a:noFill/>
            <a:ln w="381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フローチャート: 磁気ディスク 29">
              <a:extLst>
                <a:ext uri="{FF2B5EF4-FFF2-40B4-BE49-F238E27FC236}">
                  <a16:creationId xmlns:a16="http://schemas.microsoft.com/office/drawing/2014/main" id="{E496C0A3-80E5-2C9F-D74C-56259112BE29}"/>
                </a:ext>
              </a:extLst>
            </p:cNvPr>
            <p:cNvSpPr/>
            <p:nvPr/>
          </p:nvSpPr>
          <p:spPr>
            <a:xfrm>
              <a:off x="6049369" y="5278893"/>
              <a:ext cx="563225" cy="849124"/>
            </a:xfrm>
            <a:prstGeom prst="flowChartMagneticDisk">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dirty="0">
                <a:solidFill>
                  <a:schemeClr val="tx1"/>
                </a:solidFill>
                <a:latin typeface="Consolas" panose="020B0609020204030204" pitchFamily="49" charset="0"/>
              </a:endParaRPr>
            </a:p>
          </p:txBody>
        </p:sp>
        <p:grpSp>
          <p:nvGrpSpPr>
            <p:cNvPr id="31" name="グループ化 30">
              <a:extLst>
                <a:ext uri="{FF2B5EF4-FFF2-40B4-BE49-F238E27FC236}">
                  <a16:creationId xmlns:a16="http://schemas.microsoft.com/office/drawing/2014/main" id="{EBFEF39F-F6A9-4F71-FA41-146E596384F4}"/>
                </a:ext>
              </a:extLst>
            </p:cNvPr>
            <p:cNvGrpSpPr/>
            <p:nvPr/>
          </p:nvGrpSpPr>
          <p:grpSpPr>
            <a:xfrm>
              <a:off x="1943082" y="5208350"/>
              <a:ext cx="756083" cy="1008112"/>
              <a:chOff x="971600" y="980729"/>
              <a:chExt cx="756083" cy="1008112"/>
            </a:xfrm>
          </p:grpSpPr>
          <p:sp>
            <p:nvSpPr>
              <p:cNvPr id="33" name="正方形/長方形 32">
                <a:extLst>
                  <a:ext uri="{FF2B5EF4-FFF2-40B4-BE49-F238E27FC236}">
                    <a16:creationId xmlns:a16="http://schemas.microsoft.com/office/drawing/2014/main" id="{6C247EA0-71D7-B8DE-0997-B4E950C05207}"/>
                  </a:ext>
                </a:extLst>
              </p:cNvPr>
              <p:cNvSpPr/>
              <p:nvPr/>
            </p:nvSpPr>
            <p:spPr>
              <a:xfrm>
                <a:off x="971600" y="980729"/>
                <a:ext cx="504056" cy="1008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三角形 33">
                <a:extLst>
                  <a:ext uri="{FF2B5EF4-FFF2-40B4-BE49-F238E27FC236}">
                    <a16:creationId xmlns:a16="http://schemas.microsoft.com/office/drawing/2014/main" id="{AB783E84-F7BD-1A04-29E1-2DD281F0109B}"/>
                  </a:ext>
                </a:extLst>
              </p:cNvPr>
              <p:cNvSpPr/>
              <p:nvPr/>
            </p:nvSpPr>
            <p:spPr>
              <a:xfrm rot="5400000">
                <a:off x="1191348" y="1236482"/>
                <a:ext cx="576064" cy="49660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2" name="右矢印 31">
              <a:extLst>
                <a:ext uri="{FF2B5EF4-FFF2-40B4-BE49-F238E27FC236}">
                  <a16:creationId xmlns:a16="http://schemas.microsoft.com/office/drawing/2014/main" id="{465EB636-DB58-D11B-CD72-94E42584DFC2}"/>
                </a:ext>
              </a:extLst>
            </p:cNvPr>
            <p:cNvSpPr/>
            <p:nvPr/>
          </p:nvSpPr>
          <p:spPr>
            <a:xfrm>
              <a:off x="3105914" y="5418117"/>
              <a:ext cx="1697397" cy="468175"/>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15371074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864E41DF-0114-7B5B-E541-E0BD2278C38C}"/>
              </a:ext>
            </a:extLst>
          </p:cNvPr>
          <p:cNvSpPr>
            <a:spLocks noGrp="1"/>
          </p:cNvSpPr>
          <p:nvPr>
            <p:ph type="body" sz="quarter" idx="10"/>
          </p:nvPr>
        </p:nvSpPr>
        <p:spPr/>
        <p:txBody>
          <a:bodyPr/>
          <a:lstStyle/>
          <a:p>
            <a:r>
              <a:rPr kumimoji="1" lang="ja-JP" altLang="en-US"/>
              <a:t>多段</a:t>
            </a:r>
            <a:r>
              <a:rPr kumimoji="1" lang="en-US" altLang="ja-JP" dirty="0"/>
              <a:t>SSH</a:t>
            </a:r>
          </a:p>
        </p:txBody>
      </p:sp>
      <p:pic>
        <p:nvPicPr>
          <p:cNvPr id="3" name="Picture 8" descr="パソコンを使う女性のイラスト">
            <a:extLst>
              <a:ext uri="{FF2B5EF4-FFF2-40B4-BE49-F238E27FC236}">
                <a16:creationId xmlns:a16="http://schemas.microsoft.com/office/drawing/2014/main" id="{7BE32CB3-C536-1042-81D7-086949F71F4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1600" y="2486017"/>
            <a:ext cx="1154648" cy="1160451"/>
          </a:xfrm>
          <a:prstGeom prst="rect">
            <a:avLst/>
          </a:prstGeom>
          <a:noFill/>
          <a:extLst>
            <a:ext uri="{909E8E84-426E-40DD-AFC4-6F175D3DCCD1}">
              <a14:hiddenFill xmlns:a14="http://schemas.microsoft.com/office/drawing/2010/main">
                <a:solidFill>
                  <a:srgbClr val="FFFFFF"/>
                </a:solidFill>
              </a14:hiddenFill>
            </a:ext>
          </a:extLst>
        </p:spPr>
      </p:pic>
      <p:sp>
        <p:nvSpPr>
          <p:cNvPr id="4" name="テキスト ボックス 3">
            <a:extLst>
              <a:ext uri="{FF2B5EF4-FFF2-40B4-BE49-F238E27FC236}">
                <a16:creationId xmlns:a16="http://schemas.microsoft.com/office/drawing/2014/main" id="{0B2BB3EA-6099-97C6-204C-77D0B27EBD1E}"/>
              </a:ext>
            </a:extLst>
          </p:cNvPr>
          <p:cNvSpPr txBox="1"/>
          <p:nvPr/>
        </p:nvSpPr>
        <p:spPr>
          <a:xfrm>
            <a:off x="971600" y="3646468"/>
            <a:ext cx="1085554" cy="461665"/>
          </a:xfrm>
          <a:prstGeom prst="rect">
            <a:avLst/>
          </a:prstGeom>
          <a:noFill/>
        </p:spPr>
        <p:txBody>
          <a:bodyPr wrap="none" rtlCol="0">
            <a:spAutoFit/>
          </a:bodyPr>
          <a:lstStyle/>
          <a:p>
            <a:r>
              <a:rPr lang="ja-JP" altLang="en-US" sz="2400" dirty="0"/>
              <a:t>ユーザ</a:t>
            </a:r>
            <a:endParaRPr kumimoji="1" lang="ja-JP" altLang="en-US" sz="2400" dirty="0"/>
          </a:p>
        </p:txBody>
      </p:sp>
      <p:pic>
        <p:nvPicPr>
          <p:cNvPr id="5" name="Picture 6" descr="サーバのイラスト（グレー）">
            <a:extLst>
              <a:ext uri="{FF2B5EF4-FFF2-40B4-BE49-F238E27FC236}">
                <a16:creationId xmlns:a16="http://schemas.microsoft.com/office/drawing/2014/main" id="{3EF0C4FD-191D-6069-5300-4CEDE793A2C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43490" y="2564904"/>
            <a:ext cx="762029" cy="1160451"/>
          </a:xfrm>
          <a:prstGeom prst="rect">
            <a:avLst/>
          </a:prstGeom>
          <a:noFill/>
          <a:extLst>
            <a:ext uri="{909E8E84-426E-40DD-AFC4-6F175D3DCCD1}">
              <a14:hiddenFill xmlns:a14="http://schemas.microsoft.com/office/drawing/2010/main">
                <a:solidFill>
                  <a:srgbClr val="FFFFFF"/>
                </a:solidFill>
              </a14:hiddenFill>
            </a:ext>
          </a:extLst>
        </p:spPr>
      </p:pic>
      <p:sp>
        <p:nvSpPr>
          <p:cNvPr id="6" name="テキスト ボックス 5">
            <a:extLst>
              <a:ext uri="{FF2B5EF4-FFF2-40B4-BE49-F238E27FC236}">
                <a16:creationId xmlns:a16="http://schemas.microsoft.com/office/drawing/2014/main" id="{8B1C5B59-3B93-1405-ACD4-EE42FD823B73}"/>
              </a:ext>
            </a:extLst>
          </p:cNvPr>
          <p:cNvSpPr txBox="1"/>
          <p:nvPr/>
        </p:nvSpPr>
        <p:spPr>
          <a:xfrm>
            <a:off x="3670506" y="3830599"/>
            <a:ext cx="1107996" cy="461665"/>
          </a:xfrm>
          <a:prstGeom prst="rect">
            <a:avLst/>
          </a:prstGeom>
          <a:noFill/>
        </p:spPr>
        <p:txBody>
          <a:bodyPr wrap="none" rtlCol="0">
            <a:spAutoFit/>
          </a:bodyPr>
          <a:lstStyle/>
          <a:p>
            <a:r>
              <a:rPr lang="ja-JP" altLang="en-US" sz="2400"/>
              <a:t>サーバ</a:t>
            </a:r>
            <a:endParaRPr kumimoji="1" lang="ja-JP" altLang="en-US" sz="2400" dirty="0"/>
          </a:p>
        </p:txBody>
      </p:sp>
      <p:pic>
        <p:nvPicPr>
          <p:cNvPr id="8" name="図 7">
            <a:extLst>
              <a:ext uri="{FF2B5EF4-FFF2-40B4-BE49-F238E27FC236}">
                <a16:creationId xmlns:a16="http://schemas.microsoft.com/office/drawing/2014/main" id="{39BEFE46-6171-A6B0-8793-0D0B40C0B4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66320" y="3109812"/>
            <a:ext cx="720787" cy="720787"/>
          </a:xfrm>
          <a:prstGeom prst="rect">
            <a:avLst/>
          </a:prstGeom>
        </p:spPr>
      </p:pic>
      <p:pic>
        <p:nvPicPr>
          <p:cNvPr id="9" name="図 8">
            <a:extLst>
              <a:ext uri="{FF2B5EF4-FFF2-40B4-BE49-F238E27FC236}">
                <a16:creationId xmlns:a16="http://schemas.microsoft.com/office/drawing/2014/main" id="{FA883302-2AE9-61AA-B2FD-9837128B9CB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48457" y="2564904"/>
            <a:ext cx="1336154" cy="547824"/>
          </a:xfrm>
          <a:prstGeom prst="rect">
            <a:avLst/>
          </a:prstGeom>
        </p:spPr>
      </p:pic>
      <p:sp>
        <p:nvSpPr>
          <p:cNvPr id="10" name="左右矢印 9">
            <a:extLst>
              <a:ext uri="{FF2B5EF4-FFF2-40B4-BE49-F238E27FC236}">
                <a16:creationId xmlns:a16="http://schemas.microsoft.com/office/drawing/2014/main" id="{BE3F9009-C33F-8DE3-1A4D-217172650585}"/>
              </a:ext>
            </a:extLst>
          </p:cNvPr>
          <p:cNvSpPr/>
          <p:nvPr/>
        </p:nvSpPr>
        <p:spPr>
          <a:xfrm>
            <a:off x="2411760" y="2990073"/>
            <a:ext cx="936104" cy="373034"/>
          </a:xfrm>
          <a:prstGeom prst="lef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左右矢印 10">
            <a:extLst>
              <a:ext uri="{FF2B5EF4-FFF2-40B4-BE49-F238E27FC236}">
                <a16:creationId xmlns:a16="http://schemas.microsoft.com/office/drawing/2014/main" id="{6A704F7B-C0E4-1987-7F2E-2B598C4DF082}"/>
              </a:ext>
            </a:extLst>
          </p:cNvPr>
          <p:cNvSpPr/>
          <p:nvPr/>
        </p:nvSpPr>
        <p:spPr>
          <a:xfrm>
            <a:off x="5013151" y="2990073"/>
            <a:ext cx="936104" cy="373034"/>
          </a:xfrm>
          <a:prstGeom prst="lef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CF792587-426B-6E69-F17D-1EDACEB3967A}"/>
              </a:ext>
            </a:extLst>
          </p:cNvPr>
          <p:cNvSpPr txBox="1"/>
          <p:nvPr/>
        </p:nvSpPr>
        <p:spPr>
          <a:xfrm>
            <a:off x="827584" y="1576784"/>
            <a:ext cx="7135287" cy="369332"/>
          </a:xfrm>
          <a:prstGeom prst="rect">
            <a:avLst/>
          </a:prstGeom>
          <a:noFill/>
        </p:spPr>
        <p:txBody>
          <a:bodyPr wrap="none" rtlCol="0">
            <a:spAutoFit/>
          </a:bodyPr>
          <a:lstStyle/>
          <a:p>
            <a:r>
              <a:rPr kumimoji="1" lang="ja-JP" altLang="en-US"/>
              <a:t>まずサーバにログインし、そのサーバから</a:t>
            </a:r>
            <a:r>
              <a:rPr kumimoji="1" lang="en-US" altLang="ja-JP" dirty="0"/>
              <a:t>GitHub</a:t>
            </a:r>
            <a:r>
              <a:rPr lang="ja-JP" altLang="en-US"/>
              <a:t>にアクセスしたい</a:t>
            </a:r>
            <a:endParaRPr kumimoji="1" lang="ja-JP" altLang="en-US"/>
          </a:p>
        </p:txBody>
      </p:sp>
      <p:sp>
        <p:nvSpPr>
          <p:cNvPr id="13" name="テキスト ボックス 12">
            <a:extLst>
              <a:ext uri="{FF2B5EF4-FFF2-40B4-BE49-F238E27FC236}">
                <a16:creationId xmlns:a16="http://schemas.microsoft.com/office/drawing/2014/main" id="{AAEF7A22-987A-2F68-0940-717A4F52B430}"/>
              </a:ext>
            </a:extLst>
          </p:cNvPr>
          <p:cNvSpPr txBox="1"/>
          <p:nvPr/>
        </p:nvSpPr>
        <p:spPr>
          <a:xfrm>
            <a:off x="391263" y="5075238"/>
            <a:ext cx="6904454" cy="646331"/>
          </a:xfrm>
          <a:prstGeom prst="rect">
            <a:avLst/>
          </a:prstGeom>
          <a:noFill/>
        </p:spPr>
        <p:txBody>
          <a:bodyPr wrap="none" rtlCol="0">
            <a:spAutoFit/>
          </a:bodyPr>
          <a:lstStyle/>
          <a:p>
            <a:r>
              <a:rPr lang="en-US" altLang="ja-JP" dirty="0"/>
              <a:t>GitHub</a:t>
            </a:r>
            <a:r>
              <a:rPr lang="ja-JP" altLang="en-US"/>
              <a:t>から見たらサーバが接続元なので、そこに秘密鍵が欲しい</a:t>
            </a:r>
            <a:endParaRPr lang="en-US" altLang="ja-JP" dirty="0"/>
          </a:p>
          <a:p>
            <a:r>
              <a:rPr kumimoji="1" lang="ja-JP" altLang="en-US"/>
              <a:t>しかし、サーバに秘密鍵を置きたくない→</a:t>
            </a:r>
            <a:r>
              <a:rPr kumimoji="1" lang="en-US" altLang="ja-JP" dirty="0"/>
              <a:t>SSH</a:t>
            </a:r>
            <a:r>
              <a:rPr kumimoji="1" lang="ja-JP" altLang="en-US"/>
              <a:t>エージェント転送</a:t>
            </a:r>
          </a:p>
        </p:txBody>
      </p:sp>
    </p:spTree>
    <p:extLst>
      <p:ext uri="{BB962C8B-B14F-4D97-AF65-F5344CB8AC3E}">
        <p14:creationId xmlns:p14="http://schemas.microsoft.com/office/powerpoint/2010/main" val="19943676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D45874B3-4B6B-30EB-73EC-6171500410C0}"/>
              </a:ext>
            </a:extLst>
          </p:cNvPr>
          <p:cNvSpPr>
            <a:spLocks noGrp="1"/>
          </p:cNvSpPr>
          <p:nvPr>
            <p:ph type="body" sz="quarter" idx="10"/>
          </p:nvPr>
        </p:nvSpPr>
        <p:spPr/>
        <p:txBody>
          <a:bodyPr/>
          <a:lstStyle/>
          <a:p>
            <a:r>
              <a:rPr kumimoji="1" lang="en-US" altLang="ja-JP" dirty="0"/>
              <a:t>SSH</a:t>
            </a:r>
            <a:r>
              <a:rPr kumimoji="1" lang="ja-JP" altLang="en-US"/>
              <a:t>エージェント転送</a:t>
            </a:r>
          </a:p>
        </p:txBody>
      </p:sp>
      <p:pic>
        <p:nvPicPr>
          <p:cNvPr id="3" name="Picture 8" descr="パソコンを使う女性のイラスト">
            <a:extLst>
              <a:ext uri="{FF2B5EF4-FFF2-40B4-BE49-F238E27FC236}">
                <a16:creationId xmlns:a16="http://schemas.microsoft.com/office/drawing/2014/main" id="{3DE45D33-6175-5DCE-13A6-C81AE015B97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7886" y="1464732"/>
            <a:ext cx="1154648" cy="1160451"/>
          </a:xfrm>
          <a:prstGeom prst="rect">
            <a:avLst/>
          </a:prstGeom>
          <a:noFill/>
          <a:extLst>
            <a:ext uri="{909E8E84-426E-40DD-AFC4-6F175D3DCCD1}">
              <a14:hiddenFill xmlns:a14="http://schemas.microsoft.com/office/drawing/2010/main">
                <a:solidFill>
                  <a:srgbClr val="FFFFFF"/>
                </a:solidFill>
              </a14:hiddenFill>
            </a:ext>
          </a:extLst>
        </p:spPr>
      </p:pic>
      <p:sp>
        <p:nvSpPr>
          <p:cNvPr id="4" name="テキスト ボックス 3">
            <a:extLst>
              <a:ext uri="{FF2B5EF4-FFF2-40B4-BE49-F238E27FC236}">
                <a16:creationId xmlns:a16="http://schemas.microsoft.com/office/drawing/2014/main" id="{18AF8586-527A-77FC-56C2-A1A21AFB6C7D}"/>
              </a:ext>
            </a:extLst>
          </p:cNvPr>
          <p:cNvSpPr txBox="1"/>
          <p:nvPr/>
        </p:nvSpPr>
        <p:spPr>
          <a:xfrm>
            <a:off x="877886" y="2625183"/>
            <a:ext cx="1085554" cy="461665"/>
          </a:xfrm>
          <a:prstGeom prst="rect">
            <a:avLst/>
          </a:prstGeom>
          <a:noFill/>
        </p:spPr>
        <p:txBody>
          <a:bodyPr wrap="none" rtlCol="0">
            <a:spAutoFit/>
          </a:bodyPr>
          <a:lstStyle/>
          <a:p>
            <a:r>
              <a:rPr lang="ja-JP" altLang="en-US" sz="2400" dirty="0"/>
              <a:t>ユーザ</a:t>
            </a:r>
            <a:endParaRPr kumimoji="1" lang="ja-JP" altLang="en-US" sz="2400" dirty="0"/>
          </a:p>
        </p:txBody>
      </p:sp>
      <p:grpSp>
        <p:nvGrpSpPr>
          <p:cNvPr id="5" name="グループ化 4">
            <a:extLst>
              <a:ext uri="{FF2B5EF4-FFF2-40B4-BE49-F238E27FC236}">
                <a16:creationId xmlns:a16="http://schemas.microsoft.com/office/drawing/2014/main" id="{0C11D945-E8B6-2B7C-F2B2-45D97F867FCA}"/>
              </a:ext>
            </a:extLst>
          </p:cNvPr>
          <p:cNvGrpSpPr/>
          <p:nvPr/>
        </p:nvGrpSpPr>
        <p:grpSpPr>
          <a:xfrm>
            <a:off x="2377198" y="4431719"/>
            <a:ext cx="420991" cy="561322"/>
            <a:chOff x="971600" y="980729"/>
            <a:chExt cx="756083" cy="1008112"/>
          </a:xfrm>
        </p:grpSpPr>
        <p:sp>
          <p:nvSpPr>
            <p:cNvPr id="6" name="正方形/長方形 5">
              <a:extLst>
                <a:ext uri="{FF2B5EF4-FFF2-40B4-BE49-F238E27FC236}">
                  <a16:creationId xmlns:a16="http://schemas.microsoft.com/office/drawing/2014/main" id="{78AE654B-1B2D-9A95-3BF3-247A86D4E772}"/>
                </a:ext>
              </a:extLst>
            </p:cNvPr>
            <p:cNvSpPr/>
            <p:nvPr/>
          </p:nvSpPr>
          <p:spPr>
            <a:xfrm>
              <a:off x="971600" y="980729"/>
              <a:ext cx="504056" cy="1008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三角形 6">
              <a:extLst>
                <a:ext uri="{FF2B5EF4-FFF2-40B4-BE49-F238E27FC236}">
                  <a16:creationId xmlns:a16="http://schemas.microsoft.com/office/drawing/2014/main" id="{2F70151C-C469-129A-7682-BF943D6133F5}"/>
                </a:ext>
              </a:extLst>
            </p:cNvPr>
            <p:cNvSpPr/>
            <p:nvPr/>
          </p:nvSpPr>
          <p:spPr>
            <a:xfrm rot="5400000">
              <a:off x="1191348" y="1236483"/>
              <a:ext cx="576063" cy="496606"/>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8" name="Picture 4" descr="ホテルのフロントのイラスト（女性）">
            <a:extLst>
              <a:ext uri="{FF2B5EF4-FFF2-40B4-BE49-F238E27FC236}">
                <a16:creationId xmlns:a16="http://schemas.microsoft.com/office/drawing/2014/main" id="{E3EDFC80-AAE8-E1FF-5790-39ABBC29AAF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5587" y="3512118"/>
            <a:ext cx="949437" cy="949437"/>
          </a:xfrm>
          <a:prstGeom prst="rect">
            <a:avLst/>
          </a:prstGeom>
          <a:noFill/>
          <a:extLst>
            <a:ext uri="{909E8E84-426E-40DD-AFC4-6F175D3DCCD1}">
              <a14:hiddenFill xmlns:a14="http://schemas.microsoft.com/office/drawing/2010/main">
                <a:solidFill>
                  <a:srgbClr val="FFFFFF"/>
                </a:solidFill>
              </a14:hiddenFill>
            </a:ext>
          </a:extLst>
        </p:spPr>
      </p:pic>
      <p:pic>
        <p:nvPicPr>
          <p:cNvPr id="8194" name="Picture 2" descr="ホテルのフロントのイラスト">
            <a:extLst>
              <a:ext uri="{FF2B5EF4-FFF2-40B4-BE49-F238E27FC236}">
                <a16:creationId xmlns:a16="http://schemas.microsoft.com/office/drawing/2014/main" id="{AE40D239-2359-8993-4360-FDC828E4F0B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72000" y="3396310"/>
            <a:ext cx="949437" cy="94943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サーバのイラスト（グレー）">
            <a:extLst>
              <a:ext uri="{FF2B5EF4-FFF2-40B4-BE49-F238E27FC236}">
                <a16:creationId xmlns:a16="http://schemas.microsoft.com/office/drawing/2014/main" id="{B6B87ED8-4279-C746-F106-D065C2F60C6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572000" y="1441211"/>
            <a:ext cx="762029" cy="1160451"/>
          </a:xfrm>
          <a:prstGeom prst="rect">
            <a:avLst/>
          </a:prstGeom>
          <a:noFill/>
          <a:extLst>
            <a:ext uri="{909E8E84-426E-40DD-AFC4-6F175D3DCCD1}">
              <a14:hiddenFill xmlns:a14="http://schemas.microsoft.com/office/drawing/2010/main">
                <a:solidFill>
                  <a:srgbClr val="FFFFFF"/>
                </a:solidFill>
              </a14:hiddenFill>
            </a:ext>
          </a:extLst>
        </p:spPr>
      </p:pic>
      <p:sp>
        <p:nvSpPr>
          <p:cNvPr id="10" name="テキスト ボックス 9">
            <a:extLst>
              <a:ext uri="{FF2B5EF4-FFF2-40B4-BE49-F238E27FC236}">
                <a16:creationId xmlns:a16="http://schemas.microsoft.com/office/drawing/2014/main" id="{8FA7B8DA-267A-5359-BB19-1D64C9E0A654}"/>
              </a:ext>
            </a:extLst>
          </p:cNvPr>
          <p:cNvSpPr txBox="1"/>
          <p:nvPr/>
        </p:nvSpPr>
        <p:spPr>
          <a:xfrm>
            <a:off x="4399016" y="2706906"/>
            <a:ext cx="1107996" cy="461665"/>
          </a:xfrm>
          <a:prstGeom prst="rect">
            <a:avLst/>
          </a:prstGeom>
          <a:noFill/>
        </p:spPr>
        <p:txBody>
          <a:bodyPr wrap="none" rtlCol="0">
            <a:spAutoFit/>
          </a:bodyPr>
          <a:lstStyle/>
          <a:p>
            <a:r>
              <a:rPr lang="ja-JP" altLang="en-US" sz="2400"/>
              <a:t>サーバ</a:t>
            </a:r>
            <a:endParaRPr kumimoji="1" lang="ja-JP" altLang="en-US" sz="2400" dirty="0"/>
          </a:p>
        </p:txBody>
      </p:sp>
      <p:sp>
        <p:nvSpPr>
          <p:cNvPr id="11" name="テキスト ボックス 10">
            <a:extLst>
              <a:ext uri="{FF2B5EF4-FFF2-40B4-BE49-F238E27FC236}">
                <a16:creationId xmlns:a16="http://schemas.microsoft.com/office/drawing/2014/main" id="{8FBAB7C3-BFD4-F970-0121-CA85C0F86930}"/>
              </a:ext>
            </a:extLst>
          </p:cNvPr>
          <p:cNvSpPr txBox="1"/>
          <p:nvPr/>
        </p:nvSpPr>
        <p:spPr>
          <a:xfrm>
            <a:off x="640570" y="4572168"/>
            <a:ext cx="1569660" cy="646331"/>
          </a:xfrm>
          <a:prstGeom prst="rect">
            <a:avLst/>
          </a:prstGeom>
          <a:noFill/>
        </p:spPr>
        <p:txBody>
          <a:bodyPr wrap="none" rtlCol="0">
            <a:spAutoFit/>
          </a:bodyPr>
          <a:lstStyle/>
          <a:p>
            <a:r>
              <a:rPr lang="ja-JP" altLang="en-US"/>
              <a:t>ユーザ</a:t>
            </a:r>
            <a:r>
              <a:rPr lang="en-US" altLang="ja-JP" dirty="0"/>
              <a:t>PC</a:t>
            </a:r>
            <a:r>
              <a:rPr lang="ja-JP" altLang="en-US"/>
              <a:t>の</a:t>
            </a:r>
            <a:endParaRPr lang="en-US" altLang="ja-JP" dirty="0"/>
          </a:p>
          <a:p>
            <a:r>
              <a:rPr kumimoji="1" lang="ja-JP" altLang="en-US"/>
              <a:t>エージェント</a:t>
            </a:r>
            <a:endParaRPr kumimoji="1" lang="ja-JP" altLang="en-US" dirty="0"/>
          </a:p>
        </p:txBody>
      </p:sp>
      <p:sp>
        <p:nvSpPr>
          <p:cNvPr id="12" name="テキスト ボックス 11">
            <a:extLst>
              <a:ext uri="{FF2B5EF4-FFF2-40B4-BE49-F238E27FC236}">
                <a16:creationId xmlns:a16="http://schemas.microsoft.com/office/drawing/2014/main" id="{A4ED8F4A-82CA-C9F6-2225-9EC96F173FB6}"/>
              </a:ext>
            </a:extLst>
          </p:cNvPr>
          <p:cNvSpPr txBox="1"/>
          <p:nvPr/>
        </p:nvSpPr>
        <p:spPr>
          <a:xfrm>
            <a:off x="4373817" y="4512652"/>
            <a:ext cx="1569660" cy="646331"/>
          </a:xfrm>
          <a:prstGeom prst="rect">
            <a:avLst/>
          </a:prstGeom>
          <a:noFill/>
        </p:spPr>
        <p:txBody>
          <a:bodyPr wrap="none" rtlCol="0">
            <a:spAutoFit/>
          </a:bodyPr>
          <a:lstStyle/>
          <a:p>
            <a:r>
              <a:rPr lang="ja-JP" altLang="en-US"/>
              <a:t>サーバの</a:t>
            </a:r>
            <a:endParaRPr lang="en-US" altLang="ja-JP" dirty="0"/>
          </a:p>
          <a:p>
            <a:r>
              <a:rPr kumimoji="1" lang="ja-JP" altLang="en-US"/>
              <a:t>エージェント</a:t>
            </a:r>
            <a:endParaRPr kumimoji="1" lang="ja-JP" altLang="en-US" dirty="0"/>
          </a:p>
        </p:txBody>
      </p:sp>
      <p:sp>
        <p:nvSpPr>
          <p:cNvPr id="13" name="左右矢印 12">
            <a:extLst>
              <a:ext uri="{FF2B5EF4-FFF2-40B4-BE49-F238E27FC236}">
                <a16:creationId xmlns:a16="http://schemas.microsoft.com/office/drawing/2014/main" id="{AB84E30F-8242-093D-BA87-98D217E6F7D9}"/>
              </a:ext>
            </a:extLst>
          </p:cNvPr>
          <p:cNvSpPr/>
          <p:nvPr/>
        </p:nvSpPr>
        <p:spPr>
          <a:xfrm>
            <a:off x="2810448" y="2020623"/>
            <a:ext cx="936104" cy="373034"/>
          </a:xfrm>
          <a:prstGeom prst="lef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4" name="図 13">
            <a:extLst>
              <a:ext uri="{FF2B5EF4-FFF2-40B4-BE49-F238E27FC236}">
                <a16:creationId xmlns:a16="http://schemas.microsoft.com/office/drawing/2014/main" id="{B271FB25-61EA-760E-763F-BDBC319095E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433758" y="2028798"/>
            <a:ext cx="720787" cy="720787"/>
          </a:xfrm>
          <a:prstGeom prst="rect">
            <a:avLst/>
          </a:prstGeom>
        </p:spPr>
      </p:pic>
      <p:pic>
        <p:nvPicPr>
          <p:cNvPr id="15" name="図 14">
            <a:extLst>
              <a:ext uri="{FF2B5EF4-FFF2-40B4-BE49-F238E27FC236}">
                <a16:creationId xmlns:a16="http://schemas.microsoft.com/office/drawing/2014/main" id="{491C1CEF-896E-FD03-ED83-47C5A6BBB28D}"/>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115895" y="1483890"/>
            <a:ext cx="1336154" cy="547824"/>
          </a:xfrm>
          <a:prstGeom prst="rect">
            <a:avLst/>
          </a:prstGeom>
        </p:spPr>
      </p:pic>
      <p:sp>
        <p:nvSpPr>
          <p:cNvPr id="16" name="左右矢印 15">
            <a:extLst>
              <a:ext uri="{FF2B5EF4-FFF2-40B4-BE49-F238E27FC236}">
                <a16:creationId xmlns:a16="http://schemas.microsoft.com/office/drawing/2014/main" id="{3B4A6DAF-53D9-8ECD-AAD4-B74CC0CFAD6D}"/>
              </a:ext>
            </a:extLst>
          </p:cNvPr>
          <p:cNvSpPr/>
          <p:nvPr/>
        </p:nvSpPr>
        <p:spPr>
          <a:xfrm>
            <a:off x="5780589" y="1909059"/>
            <a:ext cx="936104" cy="373034"/>
          </a:xfrm>
          <a:prstGeom prst="lef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右矢印 19">
            <a:extLst>
              <a:ext uri="{FF2B5EF4-FFF2-40B4-BE49-F238E27FC236}">
                <a16:creationId xmlns:a16="http://schemas.microsoft.com/office/drawing/2014/main" id="{FFB124EF-5393-1A15-9E0D-5769562B2E46}"/>
              </a:ext>
            </a:extLst>
          </p:cNvPr>
          <p:cNvSpPr/>
          <p:nvPr/>
        </p:nvSpPr>
        <p:spPr>
          <a:xfrm>
            <a:off x="2920963" y="4521417"/>
            <a:ext cx="648072" cy="379724"/>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6" name="グループ化 25">
            <a:extLst>
              <a:ext uri="{FF2B5EF4-FFF2-40B4-BE49-F238E27FC236}">
                <a16:creationId xmlns:a16="http://schemas.microsoft.com/office/drawing/2014/main" id="{DE222CC3-901E-F871-BF3D-9D525B3D868A}"/>
              </a:ext>
            </a:extLst>
          </p:cNvPr>
          <p:cNvGrpSpPr/>
          <p:nvPr/>
        </p:nvGrpSpPr>
        <p:grpSpPr>
          <a:xfrm>
            <a:off x="7890728" y="4426014"/>
            <a:ext cx="424166" cy="561322"/>
            <a:chOff x="3963655" y="1196752"/>
            <a:chExt cx="752361" cy="1008112"/>
          </a:xfrm>
        </p:grpSpPr>
        <p:sp>
          <p:nvSpPr>
            <p:cNvPr id="27" name="正方形/長方形 26">
              <a:extLst>
                <a:ext uri="{FF2B5EF4-FFF2-40B4-BE49-F238E27FC236}">
                  <a16:creationId xmlns:a16="http://schemas.microsoft.com/office/drawing/2014/main" id="{2E28D80F-215D-8256-ED97-8ED6C0A7BE64}"/>
                </a:ext>
              </a:extLst>
            </p:cNvPr>
            <p:cNvSpPr/>
            <p:nvPr/>
          </p:nvSpPr>
          <p:spPr>
            <a:xfrm>
              <a:off x="4211960" y="1196752"/>
              <a:ext cx="504056" cy="1008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三角形 27">
              <a:extLst>
                <a:ext uri="{FF2B5EF4-FFF2-40B4-BE49-F238E27FC236}">
                  <a16:creationId xmlns:a16="http://schemas.microsoft.com/office/drawing/2014/main" id="{F122AC2D-D795-FAA2-12CA-73C3734C8000}"/>
                </a:ext>
              </a:extLst>
            </p:cNvPr>
            <p:cNvSpPr/>
            <p:nvPr/>
          </p:nvSpPr>
          <p:spPr>
            <a:xfrm rot="5400000">
              <a:off x="3923927" y="1452505"/>
              <a:ext cx="576064" cy="496607"/>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9" name="テキスト ボックス 28">
            <a:extLst>
              <a:ext uri="{FF2B5EF4-FFF2-40B4-BE49-F238E27FC236}">
                <a16:creationId xmlns:a16="http://schemas.microsoft.com/office/drawing/2014/main" id="{F433CE9F-AD2F-0C81-B347-626F900456BF}"/>
              </a:ext>
            </a:extLst>
          </p:cNvPr>
          <p:cNvSpPr txBox="1"/>
          <p:nvPr/>
        </p:nvSpPr>
        <p:spPr>
          <a:xfrm>
            <a:off x="377508" y="5865622"/>
            <a:ext cx="7632848" cy="646331"/>
          </a:xfrm>
          <a:prstGeom prst="rect">
            <a:avLst/>
          </a:prstGeom>
          <a:noFill/>
        </p:spPr>
        <p:txBody>
          <a:bodyPr wrap="square" rtlCol="0">
            <a:spAutoFit/>
          </a:bodyPr>
          <a:lstStyle/>
          <a:p>
            <a:r>
              <a:rPr kumimoji="1" lang="en-US" altLang="ja-JP" dirty="0"/>
              <a:t>SSH</a:t>
            </a:r>
            <a:r>
              <a:rPr kumimoji="1" lang="ja-JP" altLang="en-US"/>
              <a:t>エージェントが署名情報を転送することで、</a:t>
            </a:r>
            <a:r>
              <a:rPr kumimoji="1" lang="en-US" altLang="ja-JP" dirty="0"/>
              <a:t>GitHub</a:t>
            </a:r>
            <a:r>
              <a:rPr kumimoji="1" lang="ja-JP" altLang="en-US"/>
              <a:t>は接続したクライアントが登録済みの公開鍵の所持者であるとわかる</a:t>
            </a:r>
          </a:p>
        </p:txBody>
      </p:sp>
      <p:sp>
        <p:nvSpPr>
          <p:cNvPr id="30" name="テキスト ボックス 29">
            <a:extLst>
              <a:ext uri="{FF2B5EF4-FFF2-40B4-BE49-F238E27FC236}">
                <a16:creationId xmlns:a16="http://schemas.microsoft.com/office/drawing/2014/main" id="{6C96F780-056F-93F6-F4A5-BC78C314F080}"/>
              </a:ext>
            </a:extLst>
          </p:cNvPr>
          <p:cNvSpPr txBox="1"/>
          <p:nvPr/>
        </p:nvSpPr>
        <p:spPr>
          <a:xfrm>
            <a:off x="7319340" y="5136867"/>
            <a:ext cx="1107996" cy="369332"/>
          </a:xfrm>
          <a:prstGeom prst="rect">
            <a:avLst/>
          </a:prstGeom>
          <a:noFill/>
        </p:spPr>
        <p:txBody>
          <a:bodyPr wrap="none" rtlCol="0">
            <a:spAutoFit/>
          </a:bodyPr>
          <a:lstStyle/>
          <a:p>
            <a:r>
              <a:rPr lang="ja-JP" altLang="en-US"/>
              <a:t>認証成功</a:t>
            </a:r>
            <a:endParaRPr kumimoji="1" lang="ja-JP" altLang="en-US" dirty="0"/>
          </a:p>
        </p:txBody>
      </p:sp>
      <p:grpSp>
        <p:nvGrpSpPr>
          <p:cNvPr id="25" name="グループ化 24">
            <a:extLst>
              <a:ext uri="{FF2B5EF4-FFF2-40B4-BE49-F238E27FC236}">
                <a16:creationId xmlns:a16="http://schemas.microsoft.com/office/drawing/2014/main" id="{D406EFB2-31A7-90B8-3D37-1A3665EE8279}"/>
              </a:ext>
            </a:extLst>
          </p:cNvPr>
          <p:cNvGrpSpPr/>
          <p:nvPr/>
        </p:nvGrpSpPr>
        <p:grpSpPr>
          <a:xfrm>
            <a:off x="3645473" y="4421019"/>
            <a:ext cx="703773" cy="566537"/>
            <a:chOff x="1193558" y="4261389"/>
            <a:chExt cx="703773" cy="566537"/>
          </a:xfrm>
        </p:grpSpPr>
        <p:pic>
          <p:nvPicPr>
            <p:cNvPr id="31" name="Picture 2" descr="掲示板に貼られた紙のイラスト（メモ）">
              <a:extLst>
                <a:ext uri="{FF2B5EF4-FFF2-40B4-BE49-F238E27FC236}">
                  <a16:creationId xmlns:a16="http://schemas.microsoft.com/office/drawing/2014/main" id="{FD71D362-945A-C43C-52AE-25A887A1BDC3}"/>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193558" y="4261389"/>
              <a:ext cx="703773" cy="566537"/>
            </a:xfrm>
            <a:prstGeom prst="rect">
              <a:avLst/>
            </a:prstGeom>
            <a:noFill/>
            <a:extLst>
              <a:ext uri="{909E8E84-426E-40DD-AFC4-6F175D3DCCD1}">
                <a14:hiddenFill xmlns:a14="http://schemas.microsoft.com/office/drawing/2010/main">
                  <a:solidFill>
                    <a:srgbClr val="FFFFFF"/>
                  </a:solidFill>
                </a14:hiddenFill>
              </a:ext>
            </a:extLst>
          </p:spPr>
        </p:pic>
        <p:grpSp>
          <p:nvGrpSpPr>
            <p:cNvPr id="32" name="グループ化 31">
              <a:extLst>
                <a:ext uri="{FF2B5EF4-FFF2-40B4-BE49-F238E27FC236}">
                  <a16:creationId xmlns:a16="http://schemas.microsoft.com/office/drawing/2014/main" id="{23E050D0-B5A4-C578-ED68-C4528A3720BA}"/>
                </a:ext>
              </a:extLst>
            </p:cNvPr>
            <p:cNvGrpSpPr/>
            <p:nvPr/>
          </p:nvGrpSpPr>
          <p:grpSpPr>
            <a:xfrm>
              <a:off x="1468290" y="4442527"/>
              <a:ext cx="236787" cy="267673"/>
              <a:chOff x="2339752" y="3645024"/>
              <a:chExt cx="828092" cy="936104"/>
            </a:xfrm>
            <a:solidFill>
              <a:srgbClr val="FF0000"/>
            </a:solidFill>
          </p:grpSpPr>
          <p:sp>
            <p:nvSpPr>
              <p:cNvPr id="33" name="正方形/長方形 32">
                <a:extLst>
                  <a:ext uri="{FF2B5EF4-FFF2-40B4-BE49-F238E27FC236}">
                    <a16:creationId xmlns:a16="http://schemas.microsoft.com/office/drawing/2014/main" id="{81F11906-7D7C-C649-96D3-80FA7B28E9EC}"/>
                  </a:ext>
                </a:extLst>
              </p:cNvPr>
              <p:cNvSpPr/>
              <p:nvPr/>
            </p:nvSpPr>
            <p:spPr>
              <a:xfrm>
                <a:off x="2339752" y="3645024"/>
                <a:ext cx="576064" cy="936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三角形 33">
                <a:extLst>
                  <a:ext uri="{FF2B5EF4-FFF2-40B4-BE49-F238E27FC236}">
                    <a16:creationId xmlns:a16="http://schemas.microsoft.com/office/drawing/2014/main" id="{84CB244E-5939-F560-5865-2F62C069CD73}"/>
                  </a:ext>
                </a:extLst>
              </p:cNvPr>
              <p:cNvSpPr/>
              <p:nvPr/>
            </p:nvSpPr>
            <p:spPr>
              <a:xfrm rot="5400000">
                <a:off x="2699792" y="3861048"/>
                <a:ext cx="432048" cy="504056"/>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grpSp>
        <p:nvGrpSpPr>
          <p:cNvPr id="35" name="グループ化 34">
            <a:extLst>
              <a:ext uri="{FF2B5EF4-FFF2-40B4-BE49-F238E27FC236}">
                <a16:creationId xmlns:a16="http://schemas.microsoft.com/office/drawing/2014/main" id="{C9EB4E8F-B6A9-04F1-E5C4-B06E39A5D6AD}"/>
              </a:ext>
            </a:extLst>
          </p:cNvPr>
          <p:cNvGrpSpPr/>
          <p:nvPr/>
        </p:nvGrpSpPr>
        <p:grpSpPr>
          <a:xfrm>
            <a:off x="7156215" y="4426014"/>
            <a:ext cx="703773" cy="566537"/>
            <a:chOff x="1193558" y="4261389"/>
            <a:chExt cx="703773" cy="566537"/>
          </a:xfrm>
        </p:grpSpPr>
        <p:pic>
          <p:nvPicPr>
            <p:cNvPr id="36" name="Picture 2" descr="掲示板に貼られた紙のイラスト（メモ）">
              <a:extLst>
                <a:ext uri="{FF2B5EF4-FFF2-40B4-BE49-F238E27FC236}">
                  <a16:creationId xmlns:a16="http://schemas.microsoft.com/office/drawing/2014/main" id="{CCF56ADC-F98F-AD79-6E84-C7EC08C41BFC}"/>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193558" y="4261389"/>
              <a:ext cx="703773" cy="566537"/>
            </a:xfrm>
            <a:prstGeom prst="rect">
              <a:avLst/>
            </a:prstGeom>
            <a:noFill/>
            <a:extLst>
              <a:ext uri="{909E8E84-426E-40DD-AFC4-6F175D3DCCD1}">
                <a14:hiddenFill xmlns:a14="http://schemas.microsoft.com/office/drawing/2010/main">
                  <a:solidFill>
                    <a:srgbClr val="FFFFFF"/>
                  </a:solidFill>
                </a14:hiddenFill>
              </a:ext>
            </a:extLst>
          </p:spPr>
        </p:pic>
        <p:grpSp>
          <p:nvGrpSpPr>
            <p:cNvPr id="37" name="グループ化 36">
              <a:extLst>
                <a:ext uri="{FF2B5EF4-FFF2-40B4-BE49-F238E27FC236}">
                  <a16:creationId xmlns:a16="http://schemas.microsoft.com/office/drawing/2014/main" id="{2CB6F662-E711-6792-C481-C3551888315A}"/>
                </a:ext>
              </a:extLst>
            </p:cNvPr>
            <p:cNvGrpSpPr/>
            <p:nvPr/>
          </p:nvGrpSpPr>
          <p:grpSpPr>
            <a:xfrm>
              <a:off x="1468290" y="4442527"/>
              <a:ext cx="236787" cy="267673"/>
              <a:chOff x="2339752" y="3645024"/>
              <a:chExt cx="828092" cy="936104"/>
            </a:xfrm>
            <a:solidFill>
              <a:srgbClr val="FF0000"/>
            </a:solidFill>
          </p:grpSpPr>
          <p:sp>
            <p:nvSpPr>
              <p:cNvPr id="38" name="正方形/長方形 37">
                <a:extLst>
                  <a:ext uri="{FF2B5EF4-FFF2-40B4-BE49-F238E27FC236}">
                    <a16:creationId xmlns:a16="http://schemas.microsoft.com/office/drawing/2014/main" id="{357E318B-A48F-BF10-5573-A8BA6D8839D5}"/>
                  </a:ext>
                </a:extLst>
              </p:cNvPr>
              <p:cNvSpPr/>
              <p:nvPr/>
            </p:nvSpPr>
            <p:spPr>
              <a:xfrm>
                <a:off x="2339752" y="3645024"/>
                <a:ext cx="576064" cy="936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三角形 38">
                <a:extLst>
                  <a:ext uri="{FF2B5EF4-FFF2-40B4-BE49-F238E27FC236}">
                    <a16:creationId xmlns:a16="http://schemas.microsoft.com/office/drawing/2014/main" id="{82D35A56-AD34-1341-354E-7AE5CF8B739D}"/>
                  </a:ext>
                </a:extLst>
              </p:cNvPr>
              <p:cNvSpPr/>
              <p:nvPr/>
            </p:nvSpPr>
            <p:spPr>
              <a:xfrm rot="5400000">
                <a:off x="2699792" y="3861048"/>
                <a:ext cx="432048" cy="504056"/>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pic>
        <p:nvPicPr>
          <p:cNvPr id="40" name="Picture 2" descr="掲示板に貼られた紙のイラスト（メモ）">
            <a:extLst>
              <a:ext uri="{FF2B5EF4-FFF2-40B4-BE49-F238E27FC236}">
                <a16:creationId xmlns:a16="http://schemas.microsoft.com/office/drawing/2014/main" id="{BF0696F7-F40B-A333-6D03-A4EB719DEDAE}"/>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891895" y="3446229"/>
            <a:ext cx="703773" cy="566537"/>
          </a:xfrm>
          <a:prstGeom prst="rect">
            <a:avLst/>
          </a:prstGeom>
          <a:noFill/>
          <a:extLst>
            <a:ext uri="{909E8E84-426E-40DD-AFC4-6F175D3DCCD1}">
              <a14:hiddenFill xmlns:a14="http://schemas.microsoft.com/office/drawing/2010/main">
                <a:solidFill>
                  <a:srgbClr val="FFFFFF"/>
                </a:solidFill>
              </a14:hiddenFill>
            </a:ext>
          </a:extLst>
        </p:spPr>
      </p:pic>
      <p:sp>
        <p:nvSpPr>
          <p:cNvPr id="41" name="右矢印 40">
            <a:extLst>
              <a:ext uri="{FF2B5EF4-FFF2-40B4-BE49-F238E27FC236}">
                <a16:creationId xmlns:a16="http://schemas.microsoft.com/office/drawing/2014/main" id="{A5082390-AFC0-DBC5-6674-F7A62EAF3AE9}"/>
              </a:ext>
            </a:extLst>
          </p:cNvPr>
          <p:cNvSpPr/>
          <p:nvPr/>
        </p:nvSpPr>
        <p:spPr>
          <a:xfrm rot="10800000">
            <a:off x="6044781" y="3619573"/>
            <a:ext cx="648072" cy="379724"/>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テキスト ボックス 41">
            <a:extLst>
              <a:ext uri="{FF2B5EF4-FFF2-40B4-BE49-F238E27FC236}">
                <a16:creationId xmlns:a16="http://schemas.microsoft.com/office/drawing/2014/main" id="{51262C36-7D80-8859-1012-271D0F33DBAA}"/>
              </a:ext>
            </a:extLst>
          </p:cNvPr>
          <p:cNvSpPr txBox="1"/>
          <p:nvPr/>
        </p:nvSpPr>
        <p:spPr>
          <a:xfrm>
            <a:off x="6044780" y="4031045"/>
            <a:ext cx="1800493" cy="369332"/>
          </a:xfrm>
          <a:prstGeom prst="rect">
            <a:avLst/>
          </a:prstGeom>
          <a:noFill/>
        </p:spPr>
        <p:txBody>
          <a:bodyPr wrap="none" rtlCol="0">
            <a:spAutoFit/>
          </a:bodyPr>
          <a:lstStyle/>
          <a:p>
            <a:r>
              <a:rPr lang="ja-JP" altLang="en-US"/>
              <a:t>署名リクエスト</a:t>
            </a:r>
            <a:endParaRPr kumimoji="1" lang="ja-JP" altLang="en-US"/>
          </a:p>
        </p:txBody>
      </p:sp>
      <p:pic>
        <p:nvPicPr>
          <p:cNvPr id="43" name="Picture 2" descr="掲示板に貼られた紙のイラスト（メモ）">
            <a:extLst>
              <a:ext uri="{FF2B5EF4-FFF2-40B4-BE49-F238E27FC236}">
                <a16:creationId xmlns:a16="http://schemas.microsoft.com/office/drawing/2014/main" id="{7BB397F9-456E-7343-B2B9-F498EE5999D9}"/>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410082" y="3428074"/>
            <a:ext cx="703773" cy="566537"/>
          </a:xfrm>
          <a:prstGeom prst="rect">
            <a:avLst/>
          </a:prstGeom>
          <a:noFill/>
          <a:extLst>
            <a:ext uri="{909E8E84-426E-40DD-AFC4-6F175D3DCCD1}">
              <a14:hiddenFill xmlns:a14="http://schemas.microsoft.com/office/drawing/2010/main">
                <a:solidFill>
                  <a:srgbClr val="FFFFFF"/>
                </a:solidFill>
              </a14:hiddenFill>
            </a:ext>
          </a:extLst>
        </p:spPr>
      </p:pic>
      <p:sp>
        <p:nvSpPr>
          <p:cNvPr id="44" name="右矢印 43">
            <a:extLst>
              <a:ext uri="{FF2B5EF4-FFF2-40B4-BE49-F238E27FC236}">
                <a16:creationId xmlns:a16="http://schemas.microsoft.com/office/drawing/2014/main" id="{80F32F7F-5D90-DB0B-C5BE-72AA9F3EF0EA}"/>
              </a:ext>
            </a:extLst>
          </p:cNvPr>
          <p:cNvSpPr/>
          <p:nvPr/>
        </p:nvSpPr>
        <p:spPr>
          <a:xfrm rot="10800000">
            <a:off x="2562968" y="3601418"/>
            <a:ext cx="648072" cy="379724"/>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テキスト ボックス 44">
            <a:extLst>
              <a:ext uri="{FF2B5EF4-FFF2-40B4-BE49-F238E27FC236}">
                <a16:creationId xmlns:a16="http://schemas.microsoft.com/office/drawing/2014/main" id="{01E546F7-D95B-4B9F-3BB2-5038931137C3}"/>
              </a:ext>
            </a:extLst>
          </p:cNvPr>
          <p:cNvSpPr txBox="1"/>
          <p:nvPr/>
        </p:nvSpPr>
        <p:spPr>
          <a:xfrm>
            <a:off x="2562967" y="4012890"/>
            <a:ext cx="1800493" cy="369332"/>
          </a:xfrm>
          <a:prstGeom prst="rect">
            <a:avLst/>
          </a:prstGeom>
          <a:noFill/>
        </p:spPr>
        <p:txBody>
          <a:bodyPr wrap="none" rtlCol="0">
            <a:spAutoFit/>
          </a:bodyPr>
          <a:lstStyle/>
          <a:p>
            <a:r>
              <a:rPr lang="ja-JP" altLang="en-US"/>
              <a:t>署名リクエスト</a:t>
            </a:r>
            <a:endParaRPr kumimoji="1" lang="ja-JP" altLang="en-US"/>
          </a:p>
        </p:txBody>
      </p:sp>
      <p:sp>
        <p:nvSpPr>
          <p:cNvPr id="46" name="テキスト ボックス 45">
            <a:extLst>
              <a:ext uri="{FF2B5EF4-FFF2-40B4-BE49-F238E27FC236}">
                <a16:creationId xmlns:a16="http://schemas.microsoft.com/office/drawing/2014/main" id="{68CDA2E7-01FF-3046-D2EE-0EA5B6A07896}"/>
              </a:ext>
            </a:extLst>
          </p:cNvPr>
          <p:cNvSpPr txBox="1"/>
          <p:nvPr/>
        </p:nvSpPr>
        <p:spPr>
          <a:xfrm>
            <a:off x="2675973" y="5108679"/>
            <a:ext cx="1107996" cy="369332"/>
          </a:xfrm>
          <a:prstGeom prst="rect">
            <a:avLst/>
          </a:prstGeom>
          <a:noFill/>
        </p:spPr>
        <p:txBody>
          <a:bodyPr wrap="none" rtlCol="0">
            <a:spAutoFit/>
          </a:bodyPr>
          <a:lstStyle/>
          <a:p>
            <a:r>
              <a:rPr lang="ja-JP" altLang="en-US"/>
              <a:t>署名応答</a:t>
            </a:r>
            <a:endParaRPr kumimoji="1" lang="ja-JP" altLang="en-US"/>
          </a:p>
        </p:txBody>
      </p:sp>
      <p:sp>
        <p:nvSpPr>
          <p:cNvPr id="47" name="右矢印 46">
            <a:extLst>
              <a:ext uri="{FF2B5EF4-FFF2-40B4-BE49-F238E27FC236}">
                <a16:creationId xmlns:a16="http://schemas.microsoft.com/office/drawing/2014/main" id="{B083501F-BA55-4755-291D-D28FF3AB8F1F}"/>
              </a:ext>
            </a:extLst>
          </p:cNvPr>
          <p:cNvSpPr/>
          <p:nvPr/>
        </p:nvSpPr>
        <p:spPr>
          <a:xfrm>
            <a:off x="6063218" y="4563413"/>
            <a:ext cx="648072" cy="379724"/>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テキスト ボックス 48">
            <a:extLst>
              <a:ext uri="{FF2B5EF4-FFF2-40B4-BE49-F238E27FC236}">
                <a16:creationId xmlns:a16="http://schemas.microsoft.com/office/drawing/2014/main" id="{45271D18-E003-6ED2-0A9C-F8C81D977243}"/>
              </a:ext>
            </a:extLst>
          </p:cNvPr>
          <p:cNvSpPr txBox="1"/>
          <p:nvPr/>
        </p:nvSpPr>
        <p:spPr>
          <a:xfrm>
            <a:off x="5833256" y="5126834"/>
            <a:ext cx="1107996" cy="369332"/>
          </a:xfrm>
          <a:prstGeom prst="rect">
            <a:avLst/>
          </a:prstGeom>
          <a:noFill/>
        </p:spPr>
        <p:txBody>
          <a:bodyPr wrap="none" rtlCol="0">
            <a:spAutoFit/>
          </a:bodyPr>
          <a:lstStyle/>
          <a:p>
            <a:r>
              <a:rPr lang="ja-JP" altLang="en-US"/>
              <a:t>署名応答</a:t>
            </a:r>
            <a:endParaRPr kumimoji="1" lang="ja-JP" altLang="en-US"/>
          </a:p>
        </p:txBody>
      </p:sp>
    </p:spTree>
    <p:extLst>
      <p:ext uri="{BB962C8B-B14F-4D97-AF65-F5344CB8AC3E}">
        <p14:creationId xmlns:p14="http://schemas.microsoft.com/office/powerpoint/2010/main" val="34344913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B9A3F23F-16F9-8C1E-D672-B19E717DD6D5}"/>
              </a:ext>
            </a:extLst>
          </p:cNvPr>
          <p:cNvSpPr>
            <a:spLocks noGrp="1"/>
          </p:cNvSpPr>
          <p:nvPr>
            <p:ph type="body" sz="quarter" idx="10"/>
          </p:nvPr>
        </p:nvSpPr>
        <p:spPr/>
        <p:txBody>
          <a:bodyPr/>
          <a:lstStyle/>
          <a:p>
            <a:r>
              <a:rPr kumimoji="1" lang="en-US" altLang="ja-JP" dirty="0"/>
              <a:t>SSH</a:t>
            </a:r>
            <a:r>
              <a:rPr kumimoji="1" lang="ja-JP" altLang="en-US"/>
              <a:t>エージェントのまとめ</a:t>
            </a:r>
          </a:p>
        </p:txBody>
      </p:sp>
      <p:sp>
        <p:nvSpPr>
          <p:cNvPr id="3" name="テキスト ボックス 2">
            <a:extLst>
              <a:ext uri="{FF2B5EF4-FFF2-40B4-BE49-F238E27FC236}">
                <a16:creationId xmlns:a16="http://schemas.microsoft.com/office/drawing/2014/main" id="{0286F93C-0DF9-D94D-96DD-364750FB5434}"/>
              </a:ext>
            </a:extLst>
          </p:cNvPr>
          <p:cNvSpPr txBox="1"/>
          <p:nvPr/>
        </p:nvSpPr>
        <p:spPr>
          <a:xfrm>
            <a:off x="251520" y="1268760"/>
            <a:ext cx="6149440" cy="523220"/>
          </a:xfrm>
          <a:prstGeom prst="rect">
            <a:avLst/>
          </a:prstGeom>
          <a:noFill/>
        </p:spPr>
        <p:txBody>
          <a:bodyPr wrap="none" rtlCol="0">
            <a:spAutoFit/>
          </a:bodyPr>
          <a:lstStyle/>
          <a:p>
            <a:r>
              <a:rPr kumimoji="1" lang="en-US" altLang="ja-JP" sz="2800" dirty="0"/>
              <a:t>SSH</a:t>
            </a:r>
            <a:r>
              <a:rPr kumimoji="1" lang="ja-JP" altLang="en-US" sz="2800"/>
              <a:t>エージェントの役割は以下の</a:t>
            </a:r>
            <a:r>
              <a:rPr kumimoji="1" lang="en-US" altLang="ja-JP" sz="2800" dirty="0"/>
              <a:t>2</a:t>
            </a:r>
            <a:r>
              <a:rPr kumimoji="1" lang="ja-JP" altLang="en-US" sz="2800"/>
              <a:t>つ</a:t>
            </a:r>
          </a:p>
        </p:txBody>
      </p:sp>
      <p:sp>
        <p:nvSpPr>
          <p:cNvPr id="4" name="テキスト ボックス 3">
            <a:extLst>
              <a:ext uri="{FF2B5EF4-FFF2-40B4-BE49-F238E27FC236}">
                <a16:creationId xmlns:a16="http://schemas.microsoft.com/office/drawing/2014/main" id="{5E11E759-BAD2-8233-847A-63546F603B7D}"/>
              </a:ext>
            </a:extLst>
          </p:cNvPr>
          <p:cNvSpPr txBox="1"/>
          <p:nvPr/>
        </p:nvSpPr>
        <p:spPr>
          <a:xfrm>
            <a:off x="611560" y="1916832"/>
            <a:ext cx="4647426" cy="830997"/>
          </a:xfrm>
          <a:prstGeom prst="rect">
            <a:avLst/>
          </a:prstGeom>
          <a:noFill/>
        </p:spPr>
        <p:txBody>
          <a:bodyPr wrap="none" rtlCol="0">
            <a:spAutoFit/>
          </a:bodyPr>
          <a:lstStyle/>
          <a:p>
            <a:pPr marL="457200" indent="-457200">
              <a:buAutoNum type="arabicPeriod"/>
            </a:pPr>
            <a:r>
              <a:rPr kumimoji="1" lang="ja-JP" altLang="en-US" sz="2400"/>
              <a:t>復号済みの秘密鍵を記憶する</a:t>
            </a:r>
            <a:endParaRPr kumimoji="1" lang="en-US" altLang="ja-JP" sz="2400" dirty="0"/>
          </a:p>
          <a:p>
            <a:pPr marL="457200" indent="-457200">
              <a:buAutoNum type="arabicPeriod"/>
            </a:pPr>
            <a:r>
              <a:rPr kumimoji="1" lang="ja-JP" altLang="en-US" sz="2400"/>
              <a:t>別の接続先に署名を転送する</a:t>
            </a:r>
          </a:p>
        </p:txBody>
      </p:sp>
      <p:sp>
        <p:nvSpPr>
          <p:cNvPr id="5" name="テキスト ボックス 4">
            <a:extLst>
              <a:ext uri="{FF2B5EF4-FFF2-40B4-BE49-F238E27FC236}">
                <a16:creationId xmlns:a16="http://schemas.microsoft.com/office/drawing/2014/main" id="{9D4DF36D-DF8E-BB27-1E46-074B3E5BCE87}"/>
              </a:ext>
            </a:extLst>
          </p:cNvPr>
          <p:cNvSpPr txBox="1"/>
          <p:nvPr/>
        </p:nvSpPr>
        <p:spPr>
          <a:xfrm>
            <a:off x="134973" y="3140816"/>
            <a:ext cx="8874053" cy="830997"/>
          </a:xfrm>
          <a:prstGeom prst="rect">
            <a:avLst/>
          </a:prstGeom>
          <a:noFill/>
        </p:spPr>
        <p:txBody>
          <a:bodyPr wrap="square" rtlCol="0">
            <a:spAutoFit/>
          </a:bodyPr>
          <a:lstStyle/>
          <a:p>
            <a:r>
              <a:rPr kumimoji="1" lang="en-US" altLang="ja-JP" sz="2400" dirty="0"/>
              <a:t>SSH</a:t>
            </a:r>
            <a:r>
              <a:rPr kumimoji="1" lang="ja-JP" altLang="en-US" sz="2400"/>
              <a:t>エージェントを使うためには、</a:t>
            </a:r>
            <a:r>
              <a:rPr kumimoji="1" lang="en-US" altLang="ja-JP" sz="2400" dirty="0"/>
              <a:t>SSH</a:t>
            </a:r>
            <a:r>
              <a:rPr kumimoji="1" lang="ja-JP" altLang="en-US" sz="2400"/>
              <a:t>エージェントが起動し、常駐している必要がある</a:t>
            </a:r>
          </a:p>
        </p:txBody>
      </p:sp>
      <p:sp>
        <p:nvSpPr>
          <p:cNvPr id="6" name="テキスト ボックス 5">
            <a:extLst>
              <a:ext uri="{FF2B5EF4-FFF2-40B4-BE49-F238E27FC236}">
                <a16:creationId xmlns:a16="http://schemas.microsoft.com/office/drawing/2014/main" id="{6C224D0F-E929-3A7D-972D-B47C590E7624}"/>
              </a:ext>
            </a:extLst>
          </p:cNvPr>
          <p:cNvSpPr txBox="1"/>
          <p:nvPr/>
        </p:nvSpPr>
        <p:spPr>
          <a:xfrm>
            <a:off x="628224" y="4102423"/>
            <a:ext cx="6699270" cy="646331"/>
          </a:xfrm>
          <a:prstGeom prst="rect">
            <a:avLst/>
          </a:prstGeom>
          <a:noFill/>
        </p:spPr>
        <p:txBody>
          <a:bodyPr wrap="none" rtlCol="0">
            <a:spAutoFit/>
          </a:bodyPr>
          <a:lstStyle/>
          <a:p>
            <a:r>
              <a:rPr kumimoji="1" lang="en-US" altLang="ja-JP" dirty="0"/>
              <a:t>Mac</a:t>
            </a:r>
            <a:r>
              <a:rPr kumimoji="1" lang="ja-JP" altLang="en-US"/>
              <a:t>は</a:t>
            </a:r>
            <a:r>
              <a:rPr kumimoji="1" lang="en-US" altLang="ja-JP" dirty="0"/>
              <a:t>KeyChain</a:t>
            </a:r>
            <a:r>
              <a:rPr kumimoji="1" lang="ja-JP" altLang="en-US"/>
              <a:t>が</a:t>
            </a:r>
            <a:r>
              <a:rPr kumimoji="1" lang="en-US" altLang="ja-JP" dirty="0"/>
              <a:t>SSH</a:t>
            </a:r>
            <a:r>
              <a:rPr kumimoji="1" lang="ja-JP" altLang="en-US"/>
              <a:t>エージェントを兼ねる</a:t>
            </a:r>
            <a:endParaRPr kumimoji="1" lang="en-US" altLang="ja-JP" dirty="0"/>
          </a:p>
          <a:p>
            <a:r>
              <a:rPr lang="en-US" altLang="ja-JP" dirty="0"/>
              <a:t>Windows (WSL)</a:t>
            </a:r>
            <a:r>
              <a:rPr lang="ja-JP" altLang="en-US"/>
              <a:t>は別途</a:t>
            </a:r>
            <a:r>
              <a:rPr lang="en-US" altLang="ja-JP" dirty="0"/>
              <a:t>SSH</a:t>
            </a:r>
            <a:r>
              <a:rPr lang="ja-JP" altLang="en-US"/>
              <a:t>エージェントを起動する必要がある</a:t>
            </a:r>
            <a:endParaRPr kumimoji="1" lang="ja-JP" altLang="en-US"/>
          </a:p>
        </p:txBody>
      </p:sp>
      <p:sp>
        <p:nvSpPr>
          <p:cNvPr id="7" name="テキスト ボックス 6">
            <a:extLst>
              <a:ext uri="{FF2B5EF4-FFF2-40B4-BE49-F238E27FC236}">
                <a16:creationId xmlns:a16="http://schemas.microsoft.com/office/drawing/2014/main" id="{F70143F2-D750-C663-99E6-E7BDDACBF434}"/>
              </a:ext>
            </a:extLst>
          </p:cNvPr>
          <p:cNvSpPr txBox="1"/>
          <p:nvPr/>
        </p:nvSpPr>
        <p:spPr>
          <a:xfrm>
            <a:off x="108229" y="4989998"/>
            <a:ext cx="4008256" cy="461665"/>
          </a:xfrm>
          <a:prstGeom prst="rect">
            <a:avLst/>
          </a:prstGeom>
          <a:noFill/>
        </p:spPr>
        <p:txBody>
          <a:bodyPr wrap="square" rtlCol="0">
            <a:spAutoFit/>
          </a:bodyPr>
          <a:lstStyle/>
          <a:p>
            <a:r>
              <a:rPr kumimoji="1" lang="en-US" altLang="ja-JP" sz="2400" dirty="0"/>
              <a:t>SSH</a:t>
            </a:r>
            <a:r>
              <a:rPr kumimoji="1" lang="ja-JP" altLang="en-US" sz="2400"/>
              <a:t>エージェントの使い方</a:t>
            </a:r>
          </a:p>
        </p:txBody>
      </p:sp>
      <p:sp>
        <p:nvSpPr>
          <p:cNvPr id="8" name="テキスト ボックス 7">
            <a:extLst>
              <a:ext uri="{FF2B5EF4-FFF2-40B4-BE49-F238E27FC236}">
                <a16:creationId xmlns:a16="http://schemas.microsoft.com/office/drawing/2014/main" id="{9FC1A4F7-4D86-F49B-DC20-586A4002A949}"/>
              </a:ext>
            </a:extLst>
          </p:cNvPr>
          <p:cNvSpPr txBox="1"/>
          <p:nvPr/>
        </p:nvSpPr>
        <p:spPr>
          <a:xfrm>
            <a:off x="611560" y="5500752"/>
            <a:ext cx="5814412" cy="923330"/>
          </a:xfrm>
          <a:prstGeom prst="rect">
            <a:avLst/>
          </a:prstGeom>
          <a:noFill/>
        </p:spPr>
        <p:txBody>
          <a:bodyPr wrap="none" rtlCol="0">
            <a:spAutoFit/>
          </a:bodyPr>
          <a:lstStyle/>
          <a:p>
            <a:r>
              <a:rPr kumimoji="1" lang="ja-JP" altLang="en-US"/>
              <a:t>復号した秘密鍵の記憶には</a:t>
            </a:r>
            <a:r>
              <a:rPr kumimoji="1" lang="en-US" altLang="ja-JP" dirty="0"/>
              <a:t> ssh-add</a:t>
            </a:r>
          </a:p>
          <a:p>
            <a:r>
              <a:rPr lang="en-US" altLang="ja-JP" dirty="0"/>
              <a:t>SSH</a:t>
            </a:r>
            <a:r>
              <a:rPr lang="ja-JP" altLang="en-US"/>
              <a:t>エージェント転送をする場合は</a:t>
            </a:r>
            <a:r>
              <a:rPr lang="en-US" altLang="ja-JP" dirty="0"/>
              <a:t> ssh –A</a:t>
            </a:r>
            <a:r>
              <a:rPr lang="ja-JP" altLang="en-US"/>
              <a:t>オプション</a:t>
            </a:r>
            <a:endParaRPr lang="en-US" altLang="ja-JP" dirty="0"/>
          </a:p>
          <a:p>
            <a:r>
              <a:rPr kumimoji="1" lang="ja-JP" altLang="en-US"/>
              <a:t>ログアウトしたら秘密鍵の情報は消える</a:t>
            </a:r>
          </a:p>
        </p:txBody>
      </p:sp>
    </p:spTree>
    <p:extLst>
      <p:ext uri="{BB962C8B-B14F-4D97-AF65-F5344CB8AC3E}">
        <p14:creationId xmlns:p14="http://schemas.microsoft.com/office/powerpoint/2010/main" val="20914241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3B616160-3D17-AE04-8577-50DC393CF454}"/>
              </a:ext>
            </a:extLst>
          </p:cNvPr>
          <p:cNvSpPr>
            <a:spLocks noGrp="1"/>
          </p:cNvSpPr>
          <p:nvPr>
            <p:ph type="body" sz="quarter" idx="10"/>
          </p:nvPr>
        </p:nvSpPr>
        <p:spPr/>
        <p:txBody>
          <a:bodyPr/>
          <a:lstStyle/>
          <a:p>
            <a:r>
              <a:rPr lang="en-US" altLang="ja-JP" dirty="0"/>
              <a:t>GitHub</a:t>
            </a:r>
            <a:r>
              <a:rPr lang="ja-JP" altLang="en-US"/>
              <a:t>における認証</a:t>
            </a:r>
            <a:endParaRPr lang="en-US" altLang="ja-JP" dirty="0"/>
          </a:p>
        </p:txBody>
      </p:sp>
      <p:pic>
        <p:nvPicPr>
          <p:cNvPr id="3" name="Picture 4" descr="笑う男性のイラスト（段階2）">
            <a:extLst>
              <a:ext uri="{FF2B5EF4-FFF2-40B4-BE49-F238E27FC236}">
                <a16:creationId xmlns:a16="http://schemas.microsoft.com/office/drawing/2014/main" id="{F3B420DF-C4D2-0AFB-6A43-B88782CBCA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5546" y="3429000"/>
            <a:ext cx="864096" cy="1161420"/>
          </a:xfrm>
          <a:prstGeom prst="rect">
            <a:avLst/>
          </a:prstGeom>
          <a:noFill/>
          <a:extLst>
            <a:ext uri="{909E8E84-426E-40DD-AFC4-6F175D3DCCD1}">
              <a14:hiddenFill xmlns:a14="http://schemas.microsoft.com/office/drawing/2010/main">
                <a:solidFill>
                  <a:srgbClr val="FFFFFF"/>
                </a:solidFill>
              </a14:hiddenFill>
            </a:ext>
          </a:extLst>
        </p:spPr>
      </p:pic>
      <p:pic>
        <p:nvPicPr>
          <p:cNvPr id="4" name="図 3">
            <a:extLst>
              <a:ext uri="{FF2B5EF4-FFF2-40B4-BE49-F238E27FC236}">
                <a16:creationId xmlns:a16="http://schemas.microsoft.com/office/drawing/2014/main" id="{75959BAF-D83D-006B-11B3-D250FDB292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20069" y="3302023"/>
            <a:ext cx="1143000" cy="1143000"/>
          </a:xfrm>
          <a:prstGeom prst="rect">
            <a:avLst/>
          </a:prstGeom>
        </p:spPr>
      </p:pic>
      <p:pic>
        <p:nvPicPr>
          <p:cNvPr id="5" name="図 4">
            <a:extLst>
              <a:ext uri="{FF2B5EF4-FFF2-40B4-BE49-F238E27FC236}">
                <a16:creationId xmlns:a16="http://schemas.microsoft.com/office/drawing/2014/main" id="{9216D07D-DE43-75CD-0DE8-52157496809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916013" y="2437927"/>
            <a:ext cx="2118829" cy="868720"/>
          </a:xfrm>
          <a:prstGeom prst="rect">
            <a:avLst/>
          </a:prstGeom>
        </p:spPr>
      </p:pic>
      <p:grpSp>
        <p:nvGrpSpPr>
          <p:cNvPr id="6" name="グループ化 5">
            <a:extLst>
              <a:ext uri="{FF2B5EF4-FFF2-40B4-BE49-F238E27FC236}">
                <a16:creationId xmlns:a16="http://schemas.microsoft.com/office/drawing/2014/main" id="{648B2399-8C75-835E-910F-DADB73CA07F3}"/>
              </a:ext>
            </a:extLst>
          </p:cNvPr>
          <p:cNvGrpSpPr/>
          <p:nvPr/>
        </p:nvGrpSpPr>
        <p:grpSpPr>
          <a:xfrm>
            <a:off x="3048270" y="1864702"/>
            <a:ext cx="1584176" cy="1307180"/>
            <a:chOff x="2339752" y="1844824"/>
            <a:chExt cx="1584176" cy="1307180"/>
          </a:xfrm>
        </p:grpSpPr>
        <p:sp>
          <p:nvSpPr>
            <p:cNvPr id="7" name="角丸四角形 6">
              <a:extLst>
                <a:ext uri="{FF2B5EF4-FFF2-40B4-BE49-F238E27FC236}">
                  <a16:creationId xmlns:a16="http://schemas.microsoft.com/office/drawing/2014/main" id="{E281C8D2-E7E2-77E3-2894-628F96DEB506}"/>
                </a:ext>
              </a:extLst>
            </p:cNvPr>
            <p:cNvSpPr/>
            <p:nvPr/>
          </p:nvSpPr>
          <p:spPr>
            <a:xfrm>
              <a:off x="2339752" y="1844824"/>
              <a:ext cx="1584176" cy="1307180"/>
            </a:xfrm>
            <a:prstGeom prst="roundRect">
              <a:avLst>
                <a:gd name="adj" fmla="val 3521"/>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8" name="図 7">
              <a:extLst>
                <a:ext uri="{FF2B5EF4-FFF2-40B4-BE49-F238E27FC236}">
                  <a16:creationId xmlns:a16="http://schemas.microsoft.com/office/drawing/2014/main" id="{2628E169-34D5-0873-AF6B-D5B8D73178EA}"/>
                </a:ext>
              </a:extLst>
            </p:cNvPr>
            <p:cNvPicPr>
              <a:picLocks noChangeAspect="1"/>
            </p:cNvPicPr>
            <p:nvPr/>
          </p:nvPicPr>
          <p:blipFill>
            <a:blip r:embed="rId5"/>
            <a:stretch>
              <a:fillRect/>
            </a:stretch>
          </p:blipFill>
          <p:spPr>
            <a:xfrm>
              <a:off x="2339752" y="2042581"/>
              <a:ext cx="1584176" cy="1109423"/>
            </a:xfrm>
            <a:prstGeom prst="rect">
              <a:avLst/>
            </a:prstGeom>
          </p:spPr>
        </p:pic>
        <p:grpSp>
          <p:nvGrpSpPr>
            <p:cNvPr id="9" name="グループ化 8">
              <a:extLst>
                <a:ext uri="{FF2B5EF4-FFF2-40B4-BE49-F238E27FC236}">
                  <a16:creationId xmlns:a16="http://schemas.microsoft.com/office/drawing/2014/main" id="{687DCD98-6FB0-9C10-0DF6-D5A957A34CD3}"/>
                </a:ext>
              </a:extLst>
            </p:cNvPr>
            <p:cNvGrpSpPr/>
            <p:nvPr/>
          </p:nvGrpSpPr>
          <p:grpSpPr>
            <a:xfrm>
              <a:off x="2395364" y="1865787"/>
              <a:ext cx="130075" cy="155833"/>
              <a:chOff x="3347864" y="3273606"/>
              <a:chExt cx="432048" cy="517602"/>
            </a:xfrm>
          </p:grpSpPr>
          <p:sp>
            <p:nvSpPr>
              <p:cNvPr id="20" name="角丸四角形 19">
                <a:extLst>
                  <a:ext uri="{FF2B5EF4-FFF2-40B4-BE49-F238E27FC236}">
                    <a16:creationId xmlns:a16="http://schemas.microsoft.com/office/drawing/2014/main" id="{B9656007-4568-47AF-B32F-946B4840F126}"/>
                  </a:ext>
                </a:extLst>
              </p:cNvPr>
              <p:cNvSpPr/>
              <p:nvPr/>
            </p:nvSpPr>
            <p:spPr>
              <a:xfrm>
                <a:off x="3347864" y="3490866"/>
                <a:ext cx="432048" cy="82150"/>
              </a:xfrm>
              <a:prstGeom prst="roundRect">
                <a:avLst>
                  <a:gd name="adj" fmla="val 47586"/>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角丸四角形 20">
                <a:extLst>
                  <a:ext uri="{FF2B5EF4-FFF2-40B4-BE49-F238E27FC236}">
                    <a16:creationId xmlns:a16="http://schemas.microsoft.com/office/drawing/2014/main" id="{D56263C3-2BFA-C2C1-D0A9-F36DD86D4508}"/>
                  </a:ext>
                </a:extLst>
              </p:cNvPr>
              <p:cNvSpPr/>
              <p:nvPr/>
            </p:nvSpPr>
            <p:spPr>
              <a:xfrm rot="18741476">
                <a:off x="3308924" y="3394673"/>
                <a:ext cx="340156" cy="98021"/>
              </a:xfrm>
              <a:prstGeom prst="roundRect">
                <a:avLst>
                  <a:gd name="adj" fmla="val 47586"/>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角丸四角形 21">
                <a:extLst>
                  <a:ext uri="{FF2B5EF4-FFF2-40B4-BE49-F238E27FC236}">
                    <a16:creationId xmlns:a16="http://schemas.microsoft.com/office/drawing/2014/main" id="{761282FF-FA42-B278-C841-172E24F7CD61}"/>
                  </a:ext>
                </a:extLst>
              </p:cNvPr>
              <p:cNvSpPr/>
              <p:nvPr/>
            </p:nvSpPr>
            <p:spPr>
              <a:xfrm rot="2700000">
                <a:off x="3313035" y="3567218"/>
                <a:ext cx="340156" cy="107824"/>
              </a:xfrm>
              <a:prstGeom prst="roundRect">
                <a:avLst>
                  <a:gd name="adj" fmla="val 47586"/>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0" name="グループ化 9">
              <a:extLst>
                <a:ext uri="{FF2B5EF4-FFF2-40B4-BE49-F238E27FC236}">
                  <a16:creationId xmlns:a16="http://schemas.microsoft.com/office/drawing/2014/main" id="{0548893B-19EF-C88C-4DA6-EC94B60AF1BC}"/>
                </a:ext>
              </a:extLst>
            </p:cNvPr>
            <p:cNvGrpSpPr/>
            <p:nvPr/>
          </p:nvGrpSpPr>
          <p:grpSpPr>
            <a:xfrm rot="10800000">
              <a:off x="2572283" y="1865786"/>
              <a:ext cx="130075" cy="155833"/>
              <a:chOff x="3347864" y="3273606"/>
              <a:chExt cx="432048" cy="517602"/>
            </a:xfrm>
          </p:grpSpPr>
          <p:sp>
            <p:nvSpPr>
              <p:cNvPr id="17" name="角丸四角形 16">
                <a:extLst>
                  <a:ext uri="{FF2B5EF4-FFF2-40B4-BE49-F238E27FC236}">
                    <a16:creationId xmlns:a16="http://schemas.microsoft.com/office/drawing/2014/main" id="{8BF501BF-CB76-6257-75D9-F4F7D4A3D5DC}"/>
                  </a:ext>
                </a:extLst>
              </p:cNvPr>
              <p:cNvSpPr/>
              <p:nvPr/>
            </p:nvSpPr>
            <p:spPr>
              <a:xfrm>
                <a:off x="3347864" y="3490866"/>
                <a:ext cx="432048" cy="82150"/>
              </a:xfrm>
              <a:prstGeom prst="roundRect">
                <a:avLst>
                  <a:gd name="adj" fmla="val 47586"/>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角丸四角形 17">
                <a:extLst>
                  <a:ext uri="{FF2B5EF4-FFF2-40B4-BE49-F238E27FC236}">
                    <a16:creationId xmlns:a16="http://schemas.microsoft.com/office/drawing/2014/main" id="{FD1A02C0-DEDE-566D-4D13-87912A014B52}"/>
                  </a:ext>
                </a:extLst>
              </p:cNvPr>
              <p:cNvSpPr/>
              <p:nvPr/>
            </p:nvSpPr>
            <p:spPr>
              <a:xfrm rot="18741476">
                <a:off x="3308924" y="3394673"/>
                <a:ext cx="340156" cy="98021"/>
              </a:xfrm>
              <a:prstGeom prst="roundRect">
                <a:avLst>
                  <a:gd name="adj" fmla="val 47586"/>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角丸四角形 18">
                <a:extLst>
                  <a:ext uri="{FF2B5EF4-FFF2-40B4-BE49-F238E27FC236}">
                    <a16:creationId xmlns:a16="http://schemas.microsoft.com/office/drawing/2014/main" id="{D7E3A28B-B5FC-96F5-F6B3-27D49D572727}"/>
                  </a:ext>
                </a:extLst>
              </p:cNvPr>
              <p:cNvSpPr/>
              <p:nvPr/>
            </p:nvSpPr>
            <p:spPr>
              <a:xfrm rot="2700000">
                <a:off x="3313035" y="3567218"/>
                <a:ext cx="340156" cy="107824"/>
              </a:xfrm>
              <a:prstGeom prst="roundRect">
                <a:avLst>
                  <a:gd name="adj" fmla="val 47586"/>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1" name="グループ化 10">
              <a:extLst>
                <a:ext uri="{FF2B5EF4-FFF2-40B4-BE49-F238E27FC236}">
                  <a16:creationId xmlns:a16="http://schemas.microsoft.com/office/drawing/2014/main" id="{10E20F3A-D17C-A38D-B711-4A353DBF2566}"/>
                </a:ext>
              </a:extLst>
            </p:cNvPr>
            <p:cNvGrpSpPr/>
            <p:nvPr/>
          </p:nvGrpSpPr>
          <p:grpSpPr>
            <a:xfrm>
              <a:off x="2953029" y="1891600"/>
              <a:ext cx="134522" cy="104206"/>
              <a:chOff x="4352925" y="1717675"/>
              <a:chExt cx="225427" cy="174625"/>
            </a:xfrm>
          </p:grpSpPr>
          <p:sp>
            <p:nvSpPr>
              <p:cNvPr id="15" name="三角形 14">
                <a:extLst>
                  <a:ext uri="{FF2B5EF4-FFF2-40B4-BE49-F238E27FC236}">
                    <a16:creationId xmlns:a16="http://schemas.microsoft.com/office/drawing/2014/main" id="{39DC764B-236C-8289-E318-43A3D3016DC4}"/>
                  </a:ext>
                </a:extLst>
              </p:cNvPr>
              <p:cNvSpPr/>
              <p:nvPr/>
            </p:nvSpPr>
            <p:spPr>
              <a:xfrm>
                <a:off x="4352925" y="1717675"/>
                <a:ext cx="225427" cy="73025"/>
              </a:xfrm>
              <a:prstGeom prst="triangle">
                <a:avLst/>
              </a:prstGeom>
              <a:solidFill>
                <a:schemeClr val="tx1">
                  <a:lumMod val="50000"/>
                  <a:lumOff val="50000"/>
                </a:schemeClr>
              </a:solidFill>
              <a:ln w="381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75CC2B18-4C40-CEA9-860A-4A3F9ED11824}"/>
                  </a:ext>
                </a:extLst>
              </p:cNvPr>
              <p:cNvSpPr/>
              <p:nvPr/>
            </p:nvSpPr>
            <p:spPr>
              <a:xfrm>
                <a:off x="4402138" y="1785772"/>
                <a:ext cx="127000" cy="106528"/>
              </a:xfrm>
              <a:prstGeom prst="rect">
                <a:avLst/>
              </a:prstGeom>
              <a:solidFill>
                <a:schemeClr val="tx1">
                  <a:lumMod val="50000"/>
                  <a:lumOff val="50000"/>
                </a:schemeClr>
              </a:solidFill>
              <a:ln w="381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2" name="グループ化 11">
              <a:extLst>
                <a:ext uri="{FF2B5EF4-FFF2-40B4-BE49-F238E27FC236}">
                  <a16:creationId xmlns:a16="http://schemas.microsoft.com/office/drawing/2014/main" id="{969BC0E6-814A-46B0-D005-57CEB120D0E9}"/>
                </a:ext>
              </a:extLst>
            </p:cNvPr>
            <p:cNvGrpSpPr/>
            <p:nvPr/>
          </p:nvGrpSpPr>
          <p:grpSpPr>
            <a:xfrm>
              <a:off x="2749747" y="1869650"/>
              <a:ext cx="154664" cy="148107"/>
              <a:chOff x="5605835" y="1892500"/>
              <a:chExt cx="354766" cy="339725"/>
            </a:xfrm>
          </p:grpSpPr>
          <p:sp>
            <p:nvSpPr>
              <p:cNvPr id="13" name="円弧 12">
                <a:extLst>
                  <a:ext uri="{FF2B5EF4-FFF2-40B4-BE49-F238E27FC236}">
                    <a16:creationId xmlns:a16="http://schemas.microsoft.com/office/drawing/2014/main" id="{C217C77D-77E0-1962-CD99-D1C60826641A}"/>
                  </a:ext>
                </a:extLst>
              </p:cNvPr>
              <p:cNvSpPr/>
              <p:nvPr/>
            </p:nvSpPr>
            <p:spPr>
              <a:xfrm>
                <a:off x="5605835" y="1892500"/>
                <a:ext cx="339725" cy="339725"/>
              </a:xfrm>
              <a:prstGeom prst="arc">
                <a:avLst>
                  <a:gd name="adj1" fmla="val 21525816"/>
                  <a:gd name="adj2" fmla="val 19316914"/>
                </a:avLst>
              </a:prstGeom>
              <a:ln w="190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4" name="三角形 13">
                <a:extLst>
                  <a:ext uri="{FF2B5EF4-FFF2-40B4-BE49-F238E27FC236}">
                    <a16:creationId xmlns:a16="http://schemas.microsoft.com/office/drawing/2014/main" id="{968700FD-4270-D63B-BEB0-99A8CAAAEFF0}"/>
                  </a:ext>
                </a:extLst>
              </p:cNvPr>
              <p:cNvSpPr/>
              <p:nvPr/>
            </p:nvSpPr>
            <p:spPr>
              <a:xfrm rot="8100000">
                <a:off x="5854991" y="1912282"/>
                <a:ext cx="105610" cy="91043"/>
              </a:xfrm>
              <a:prstGeom prst="triangl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
        <p:nvSpPr>
          <p:cNvPr id="23" name="右矢印 22">
            <a:extLst>
              <a:ext uri="{FF2B5EF4-FFF2-40B4-BE49-F238E27FC236}">
                <a16:creationId xmlns:a16="http://schemas.microsoft.com/office/drawing/2014/main" id="{E5B53046-3241-79B8-9C58-9F93FF4A01C6}"/>
              </a:ext>
            </a:extLst>
          </p:cNvPr>
          <p:cNvSpPr/>
          <p:nvPr/>
        </p:nvSpPr>
        <p:spPr>
          <a:xfrm rot="1493898">
            <a:off x="4917780" y="2772088"/>
            <a:ext cx="1712899" cy="568329"/>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4" name="グループ化 23">
            <a:extLst>
              <a:ext uri="{FF2B5EF4-FFF2-40B4-BE49-F238E27FC236}">
                <a16:creationId xmlns:a16="http://schemas.microsoft.com/office/drawing/2014/main" id="{F1F77826-8723-2C7D-979F-9D7201812D57}"/>
              </a:ext>
            </a:extLst>
          </p:cNvPr>
          <p:cNvGrpSpPr/>
          <p:nvPr/>
        </p:nvGrpSpPr>
        <p:grpSpPr>
          <a:xfrm>
            <a:off x="3003289" y="4445023"/>
            <a:ext cx="1623376" cy="1307180"/>
            <a:chOff x="3003289" y="4445023"/>
            <a:chExt cx="1623376" cy="1307180"/>
          </a:xfrm>
        </p:grpSpPr>
        <p:sp>
          <p:nvSpPr>
            <p:cNvPr id="25" name="角丸四角形 24">
              <a:extLst>
                <a:ext uri="{FF2B5EF4-FFF2-40B4-BE49-F238E27FC236}">
                  <a16:creationId xmlns:a16="http://schemas.microsoft.com/office/drawing/2014/main" id="{4CD920CE-BEAE-F49C-7C00-CCA05FA0B622}"/>
                </a:ext>
              </a:extLst>
            </p:cNvPr>
            <p:cNvSpPr/>
            <p:nvPr/>
          </p:nvSpPr>
          <p:spPr>
            <a:xfrm>
              <a:off x="3042489" y="4445023"/>
              <a:ext cx="1584176" cy="1307180"/>
            </a:xfrm>
            <a:prstGeom prst="roundRect">
              <a:avLst>
                <a:gd name="adj" fmla="val 3521"/>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8BD133D1-6942-8230-25AE-8BE1A2AD159C}"/>
                </a:ext>
              </a:extLst>
            </p:cNvPr>
            <p:cNvSpPr/>
            <p:nvPr/>
          </p:nvSpPr>
          <p:spPr>
            <a:xfrm>
              <a:off x="3042489" y="4683707"/>
              <a:ext cx="1584176" cy="106849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円/楕円 26">
              <a:extLst>
                <a:ext uri="{FF2B5EF4-FFF2-40B4-BE49-F238E27FC236}">
                  <a16:creationId xmlns:a16="http://schemas.microsoft.com/office/drawing/2014/main" id="{D7F627F9-5761-0335-7632-A8D9FE56E110}"/>
                </a:ext>
              </a:extLst>
            </p:cNvPr>
            <p:cNvSpPr/>
            <p:nvPr/>
          </p:nvSpPr>
          <p:spPr>
            <a:xfrm>
              <a:off x="3091957" y="4496522"/>
              <a:ext cx="116893" cy="11689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円/楕円 27">
              <a:extLst>
                <a:ext uri="{FF2B5EF4-FFF2-40B4-BE49-F238E27FC236}">
                  <a16:creationId xmlns:a16="http://schemas.microsoft.com/office/drawing/2014/main" id="{779204CB-7C8C-5281-F408-EF71804E7B3D}"/>
                </a:ext>
              </a:extLst>
            </p:cNvPr>
            <p:cNvSpPr/>
            <p:nvPr/>
          </p:nvSpPr>
          <p:spPr>
            <a:xfrm>
              <a:off x="3272517" y="4496522"/>
              <a:ext cx="116893" cy="116893"/>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円/楕円 28">
              <a:extLst>
                <a:ext uri="{FF2B5EF4-FFF2-40B4-BE49-F238E27FC236}">
                  <a16:creationId xmlns:a16="http://schemas.microsoft.com/office/drawing/2014/main" id="{F6BD5B70-B7A4-FD7A-3B4E-E9BC168C5882}"/>
                </a:ext>
              </a:extLst>
            </p:cNvPr>
            <p:cNvSpPr/>
            <p:nvPr/>
          </p:nvSpPr>
          <p:spPr>
            <a:xfrm>
              <a:off x="3453076" y="4496522"/>
              <a:ext cx="116893" cy="116893"/>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A1B42269-C93B-4A90-8D61-4EEF77E2FBBB}"/>
                </a:ext>
              </a:extLst>
            </p:cNvPr>
            <p:cNvSpPr txBox="1"/>
            <p:nvPr/>
          </p:nvSpPr>
          <p:spPr>
            <a:xfrm>
              <a:off x="3003289" y="4683707"/>
              <a:ext cx="1451038" cy="369332"/>
            </a:xfrm>
            <a:prstGeom prst="rect">
              <a:avLst/>
            </a:prstGeom>
            <a:noFill/>
          </p:spPr>
          <p:txBody>
            <a:bodyPr wrap="none" rtlCol="0">
              <a:spAutoFit/>
            </a:bodyPr>
            <a:lstStyle/>
            <a:p>
              <a:r>
                <a:rPr lang="en-US" altLang="ja-JP" dirty="0">
                  <a:solidFill>
                    <a:schemeClr val="bg1"/>
                  </a:solidFill>
                  <a:latin typeface="Consolas" panose="020B0609020204030204" pitchFamily="49" charset="0"/>
                  <a:cs typeface="Consolas" panose="020B0609020204030204" pitchFamily="49" charset="0"/>
                </a:rPr>
                <a:t>$ git push</a:t>
              </a:r>
              <a:endParaRPr kumimoji="1" lang="ja-JP" altLang="en-US">
                <a:solidFill>
                  <a:schemeClr val="bg1"/>
                </a:solidFill>
                <a:latin typeface="Consolas" panose="020B0609020204030204" pitchFamily="49" charset="0"/>
                <a:cs typeface="Consolas" panose="020B0609020204030204" pitchFamily="49" charset="0"/>
              </a:endParaRPr>
            </a:p>
          </p:txBody>
        </p:sp>
      </p:grpSp>
      <p:sp>
        <p:nvSpPr>
          <p:cNvPr id="31" name="右矢印 30">
            <a:extLst>
              <a:ext uri="{FF2B5EF4-FFF2-40B4-BE49-F238E27FC236}">
                <a16:creationId xmlns:a16="http://schemas.microsoft.com/office/drawing/2014/main" id="{F71FF614-8C91-2869-98D2-830C23583292}"/>
              </a:ext>
            </a:extLst>
          </p:cNvPr>
          <p:cNvSpPr/>
          <p:nvPr/>
        </p:nvSpPr>
        <p:spPr>
          <a:xfrm rot="19831544">
            <a:off x="4807105" y="4399542"/>
            <a:ext cx="1712899" cy="568329"/>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右矢印 31">
            <a:extLst>
              <a:ext uri="{FF2B5EF4-FFF2-40B4-BE49-F238E27FC236}">
                <a16:creationId xmlns:a16="http://schemas.microsoft.com/office/drawing/2014/main" id="{22EEC9B6-9E94-CC78-5915-95A00C7A9128}"/>
              </a:ext>
            </a:extLst>
          </p:cNvPr>
          <p:cNvSpPr/>
          <p:nvPr/>
        </p:nvSpPr>
        <p:spPr>
          <a:xfrm rot="1493898">
            <a:off x="1194283" y="4388568"/>
            <a:ext cx="1712899" cy="568329"/>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右矢印 32">
            <a:extLst>
              <a:ext uri="{FF2B5EF4-FFF2-40B4-BE49-F238E27FC236}">
                <a16:creationId xmlns:a16="http://schemas.microsoft.com/office/drawing/2014/main" id="{58AE270D-0637-C67A-D465-602F0B8974FF}"/>
              </a:ext>
            </a:extLst>
          </p:cNvPr>
          <p:cNvSpPr/>
          <p:nvPr/>
        </p:nvSpPr>
        <p:spPr>
          <a:xfrm rot="19831544">
            <a:off x="1237014" y="2822550"/>
            <a:ext cx="1712899" cy="568329"/>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ボックス 33">
            <a:extLst>
              <a:ext uri="{FF2B5EF4-FFF2-40B4-BE49-F238E27FC236}">
                <a16:creationId xmlns:a16="http://schemas.microsoft.com/office/drawing/2014/main" id="{6927EED0-8C47-A491-032F-4A71F6D8FF59}"/>
              </a:ext>
            </a:extLst>
          </p:cNvPr>
          <p:cNvSpPr txBox="1"/>
          <p:nvPr/>
        </p:nvSpPr>
        <p:spPr>
          <a:xfrm>
            <a:off x="5041807" y="5168310"/>
            <a:ext cx="1415772" cy="461665"/>
          </a:xfrm>
          <a:prstGeom prst="rect">
            <a:avLst/>
          </a:prstGeom>
          <a:noFill/>
        </p:spPr>
        <p:txBody>
          <a:bodyPr wrap="none" rtlCol="0">
            <a:spAutoFit/>
          </a:bodyPr>
          <a:lstStyle/>
          <a:p>
            <a:r>
              <a:rPr kumimoji="1" lang="ja-JP" altLang="en-US" sz="2400">
                <a:solidFill>
                  <a:srgbClr val="011893"/>
                </a:solidFill>
              </a:rPr>
              <a:t>所持認証</a:t>
            </a:r>
          </a:p>
        </p:txBody>
      </p:sp>
      <p:sp>
        <p:nvSpPr>
          <p:cNvPr id="35" name="テキスト ボックス 34">
            <a:extLst>
              <a:ext uri="{FF2B5EF4-FFF2-40B4-BE49-F238E27FC236}">
                <a16:creationId xmlns:a16="http://schemas.microsoft.com/office/drawing/2014/main" id="{23011667-5543-9974-69F1-BE0F607DAE90}"/>
              </a:ext>
            </a:extLst>
          </p:cNvPr>
          <p:cNvSpPr txBox="1"/>
          <p:nvPr/>
        </p:nvSpPr>
        <p:spPr>
          <a:xfrm>
            <a:off x="5066343" y="2114386"/>
            <a:ext cx="1415772" cy="461665"/>
          </a:xfrm>
          <a:prstGeom prst="rect">
            <a:avLst/>
          </a:prstGeom>
          <a:noFill/>
        </p:spPr>
        <p:txBody>
          <a:bodyPr wrap="none" rtlCol="0">
            <a:spAutoFit/>
          </a:bodyPr>
          <a:lstStyle/>
          <a:p>
            <a:r>
              <a:rPr kumimoji="1" lang="ja-JP" altLang="en-US" sz="2400">
                <a:solidFill>
                  <a:srgbClr val="011893"/>
                </a:solidFill>
              </a:rPr>
              <a:t>知識認証</a:t>
            </a:r>
          </a:p>
        </p:txBody>
      </p:sp>
      <p:sp>
        <p:nvSpPr>
          <p:cNvPr id="36" name="テキスト ボックス 35">
            <a:extLst>
              <a:ext uri="{FF2B5EF4-FFF2-40B4-BE49-F238E27FC236}">
                <a16:creationId xmlns:a16="http://schemas.microsoft.com/office/drawing/2014/main" id="{37ADF63D-B323-3BB6-D326-BA162712FFA6}"/>
              </a:ext>
            </a:extLst>
          </p:cNvPr>
          <p:cNvSpPr txBox="1"/>
          <p:nvPr/>
        </p:nvSpPr>
        <p:spPr>
          <a:xfrm>
            <a:off x="2118556" y="1223098"/>
            <a:ext cx="3570208" cy="461665"/>
          </a:xfrm>
          <a:prstGeom prst="rect">
            <a:avLst/>
          </a:prstGeom>
          <a:noFill/>
        </p:spPr>
        <p:txBody>
          <a:bodyPr wrap="none" rtlCol="0">
            <a:spAutoFit/>
          </a:bodyPr>
          <a:lstStyle/>
          <a:p>
            <a:r>
              <a:rPr kumimoji="1" lang="ja-JP" altLang="en-US" sz="2400"/>
              <a:t>ブラウザからのアクセス</a:t>
            </a:r>
          </a:p>
        </p:txBody>
      </p:sp>
      <p:sp>
        <p:nvSpPr>
          <p:cNvPr id="37" name="テキスト ボックス 36">
            <a:extLst>
              <a:ext uri="{FF2B5EF4-FFF2-40B4-BE49-F238E27FC236}">
                <a16:creationId xmlns:a16="http://schemas.microsoft.com/office/drawing/2014/main" id="{B631D1B4-0CAB-18DB-3C12-05BAA4DF5B4A}"/>
              </a:ext>
            </a:extLst>
          </p:cNvPr>
          <p:cNvSpPr txBox="1"/>
          <p:nvPr/>
        </p:nvSpPr>
        <p:spPr>
          <a:xfrm>
            <a:off x="1921963" y="5894407"/>
            <a:ext cx="3877985" cy="461665"/>
          </a:xfrm>
          <a:prstGeom prst="rect">
            <a:avLst/>
          </a:prstGeom>
          <a:noFill/>
        </p:spPr>
        <p:txBody>
          <a:bodyPr wrap="none" rtlCol="0">
            <a:spAutoFit/>
          </a:bodyPr>
          <a:lstStyle/>
          <a:p>
            <a:r>
              <a:rPr kumimoji="1" lang="ja-JP" altLang="en-US" sz="2400"/>
              <a:t>ターミナルからのアクセス</a:t>
            </a:r>
          </a:p>
        </p:txBody>
      </p:sp>
    </p:spTree>
    <p:extLst>
      <p:ext uri="{BB962C8B-B14F-4D97-AF65-F5344CB8AC3E}">
        <p14:creationId xmlns:p14="http://schemas.microsoft.com/office/powerpoint/2010/main" val="2748007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6CB5FDF7-92EE-7F8A-CF4A-13183A89DB82}"/>
              </a:ext>
            </a:extLst>
          </p:cNvPr>
          <p:cNvSpPr>
            <a:spLocks noGrp="1"/>
          </p:cNvSpPr>
          <p:nvPr>
            <p:ph type="body" sz="quarter" idx="10"/>
          </p:nvPr>
        </p:nvSpPr>
        <p:spPr/>
        <p:txBody>
          <a:bodyPr/>
          <a:lstStyle/>
          <a:p>
            <a:r>
              <a:rPr lang="en-US" altLang="ja-JP" dirty="0"/>
              <a:t>GitHub</a:t>
            </a:r>
            <a:r>
              <a:rPr lang="ja-JP" altLang="en-US"/>
              <a:t>へのユーザ認証</a:t>
            </a:r>
          </a:p>
        </p:txBody>
      </p:sp>
      <p:pic>
        <p:nvPicPr>
          <p:cNvPr id="3" name="図 2">
            <a:extLst>
              <a:ext uri="{FF2B5EF4-FFF2-40B4-BE49-F238E27FC236}">
                <a16:creationId xmlns:a16="http://schemas.microsoft.com/office/drawing/2014/main" id="{89411B50-2076-2778-D040-9A3E06B466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2200" y="3284984"/>
            <a:ext cx="1143000" cy="1143000"/>
          </a:xfrm>
          <a:prstGeom prst="rect">
            <a:avLst/>
          </a:prstGeom>
        </p:spPr>
      </p:pic>
      <p:pic>
        <p:nvPicPr>
          <p:cNvPr id="4" name="図 3">
            <a:extLst>
              <a:ext uri="{FF2B5EF4-FFF2-40B4-BE49-F238E27FC236}">
                <a16:creationId xmlns:a16="http://schemas.microsoft.com/office/drawing/2014/main" id="{278C0ED3-5457-A0D5-0F1A-2ABA71CAEB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68144" y="2420888"/>
            <a:ext cx="2118829" cy="868720"/>
          </a:xfrm>
          <a:prstGeom prst="rect">
            <a:avLst/>
          </a:prstGeom>
        </p:spPr>
      </p:pic>
      <p:sp>
        <p:nvSpPr>
          <p:cNvPr id="5" name="テキスト ボックス 4">
            <a:extLst>
              <a:ext uri="{FF2B5EF4-FFF2-40B4-BE49-F238E27FC236}">
                <a16:creationId xmlns:a16="http://schemas.microsoft.com/office/drawing/2014/main" id="{8CA968DD-6CA8-F5F0-3720-E47D8D225F3C}"/>
              </a:ext>
            </a:extLst>
          </p:cNvPr>
          <p:cNvSpPr txBox="1"/>
          <p:nvPr/>
        </p:nvSpPr>
        <p:spPr>
          <a:xfrm>
            <a:off x="611560" y="980728"/>
            <a:ext cx="6067687" cy="830997"/>
          </a:xfrm>
          <a:prstGeom prst="rect">
            <a:avLst/>
          </a:prstGeom>
          <a:noFill/>
        </p:spPr>
        <p:txBody>
          <a:bodyPr wrap="none" rtlCol="0">
            <a:spAutoFit/>
          </a:bodyPr>
          <a:lstStyle/>
          <a:p>
            <a:r>
              <a:rPr kumimoji="1" lang="ja-JP" altLang="en-US" sz="2400" dirty="0"/>
              <a:t>ターミナルから</a:t>
            </a:r>
            <a:r>
              <a:rPr kumimoji="1" lang="en-US" altLang="ja-JP" sz="2400" dirty="0"/>
              <a:t>GitHub</a:t>
            </a:r>
            <a:r>
              <a:rPr kumimoji="1" lang="ja-JP" altLang="en-US" sz="2400" dirty="0"/>
              <a:t>にアクセスしたい</a:t>
            </a:r>
            <a:r>
              <a:rPr lang="ja-JP" altLang="en-US" sz="2400" dirty="0"/>
              <a:t>が</a:t>
            </a:r>
            <a:endParaRPr kumimoji="1" lang="en-US" altLang="ja-JP" sz="2400" dirty="0"/>
          </a:p>
          <a:p>
            <a:r>
              <a:rPr kumimoji="1" lang="ja-JP" altLang="en-US" sz="2400" dirty="0"/>
              <a:t>他の人に勝手にアクセスされては困る</a:t>
            </a:r>
            <a:endParaRPr kumimoji="1" lang="en-US" altLang="ja-JP" sz="2400" dirty="0"/>
          </a:p>
        </p:txBody>
      </p:sp>
      <p:pic>
        <p:nvPicPr>
          <p:cNvPr id="6" name="Picture 2" descr="ハッカーのイラスト（笑顔）">
            <a:extLst>
              <a:ext uri="{FF2B5EF4-FFF2-40B4-BE49-F238E27FC236}">
                <a16:creationId xmlns:a16="http://schemas.microsoft.com/office/drawing/2014/main" id="{04B737E0-05DB-C04B-4953-7376F81CB3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696" y="4149080"/>
            <a:ext cx="1186631" cy="156135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パソコンを使う人のイラスト（男性・笑顔）">
            <a:extLst>
              <a:ext uri="{FF2B5EF4-FFF2-40B4-BE49-F238E27FC236}">
                <a16:creationId xmlns:a16="http://schemas.microsoft.com/office/drawing/2014/main" id="{0E7BA481-34E4-314C-CCB5-53CFE4B505B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35696" y="1988840"/>
            <a:ext cx="1147763" cy="1666875"/>
          </a:xfrm>
          <a:prstGeom prst="rect">
            <a:avLst/>
          </a:prstGeom>
          <a:noFill/>
          <a:extLst>
            <a:ext uri="{909E8E84-426E-40DD-AFC4-6F175D3DCCD1}">
              <a14:hiddenFill xmlns:a14="http://schemas.microsoft.com/office/drawing/2010/main">
                <a:solidFill>
                  <a:srgbClr val="FFFFFF"/>
                </a:solidFill>
              </a14:hiddenFill>
            </a:ext>
          </a:extLst>
        </p:spPr>
      </p:pic>
      <p:sp>
        <p:nvSpPr>
          <p:cNvPr id="8" name="矢印: 左右 7">
            <a:extLst>
              <a:ext uri="{FF2B5EF4-FFF2-40B4-BE49-F238E27FC236}">
                <a16:creationId xmlns:a16="http://schemas.microsoft.com/office/drawing/2014/main" id="{F3F61E9A-341D-B3E3-5BA7-4BA462E59634}"/>
              </a:ext>
            </a:extLst>
          </p:cNvPr>
          <p:cNvSpPr/>
          <p:nvPr/>
        </p:nvSpPr>
        <p:spPr>
          <a:xfrm rot="900000">
            <a:off x="3292015" y="3073074"/>
            <a:ext cx="2880320" cy="504056"/>
          </a:xfrm>
          <a:prstGeom prst="lef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矢印: 左右 10">
            <a:extLst>
              <a:ext uri="{FF2B5EF4-FFF2-40B4-BE49-F238E27FC236}">
                <a16:creationId xmlns:a16="http://schemas.microsoft.com/office/drawing/2014/main" id="{57F8E5FC-E13E-56C6-038E-168180BAF1B9}"/>
              </a:ext>
            </a:extLst>
          </p:cNvPr>
          <p:cNvSpPr/>
          <p:nvPr/>
        </p:nvSpPr>
        <p:spPr>
          <a:xfrm rot="20700000">
            <a:off x="3292013" y="4441225"/>
            <a:ext cx="2880320" cy="504056"/>
          </a:xfrm>
          <a:prstGeom prst="lef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 name="Picture 6" descr="丸のマークのイラスト「○」">
            <a:extLst>
              <a:ext uri="{FF2B5EF4-FFF2-40B4-BE49-F238E27FC236}">
                <a16:creationId xmlns:a16="http://schemas.microsoft.com/office/drawing/2014/main" id="{DE0412D9-3A19-95D3-0BAC-8377AAC630C0}"/>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205114" y="2774082"/>
            <a:ext cx="936104" cy="936104"/>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8" descr="バツのマークのイラスト「×」">
            <a:extLst>
              <a:ext uri="{FF2B5EF4-FFF2-40B4-BE49-F238E27FC236}">
                <a16:creationId xmlns:a16="http://schemas.microsoft.com/office/drawing/2014/main" id="{CD976F1B-C7CE-5FEC-B516-E13297D9472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67944" y="4077072"/>
            <a:ext cx="1282452" cy="1282452"/>
          </a:xfrm>
          <a:prstGeom prst="rect">
            <a:avLst/>
          </a:prstGeom>
          <a:noFill/>
          <a:extLst>
            <a:ext uri="{909E8E84-426E-40DD-AFC4-6F175D3DCCD1}">
              <a14:hiddenFill xmlns:a14="http://schemas.microsoft.com/office/drawing/2010/main">
                <a:solidFill>
                  <a:srgbClr val="FFFFFF"/>
                </a:solidFill>
              </a14:hiddenFill>
            </a:ext>
          </a:extLst>
        </p:spPr>
      </p:pic>
      <p:sp>
        <p:nvSpPr>
          <p:cNvPr id="12" name="テキスト ボックス 11">
            <a:extLst>
              <a:ext uri="{FF2B5EF4-FFF2-40B4-BE49-F238E27FC236}">
                <a16:creationId xmlns:a16="http://schemas.microsoft.com/office/drawing/2014/main" id="{DAB0C48D-936F-5D26-5ABF-AFD0D05B9D7E}"/>
              </a:ext>
            </a:extLst>
          </p:cNvPr>
          <p:cNvSpPr txBox="1"/>
          <p:nvPr/>
        </p:nvSpPr>
        <p:spPr>
          <a:xfrm>
            <a:off x="467544" y="5805264"/>
            <a:ext cx="7879080" cy="830997"/>
          </a:xfrm>
          <a:prstGeom prst="rect">
            <a:avLst/>
          </a:prstGeom>
          <a:noFill/>
        </p:spPr>
        <p:txBody>
          <a:bodyPr wrap="none" rtlCol="0">
            <a:spAutoFit/>
          </a:bodyPr>
          <a:lstStyle/>
          <a:p>
            <a:r>
              <a:rPr lang="ja-JP" altLang="en-US" sz="2400" dirty="0"/>
              <a:t>正当な権利を持つ人だけがアクセスできるようにしたい</a:t>
            </a:r>
            <a:endParaRPr lang="en-US" altLang="ja-JP" sz="2400" dirty="0"/>
          </a:p>
          <a:p>
            <a:r>
              <a:rPr lang="ja-JP" altLang="en-US" sz="2400" dirty="0"/>
              <a:t>→</a:t>
            </a:r>
            <a:r>
              <a:rPr lang="en-US" altLang="ja-JP" sz="2400" dirty="0"/>
              <a:t>SSH</a:t>
            </a:r>
            <a:r>
              <a:rPr lang="ja-JP" altLang="en-US" sz="2400" dirty="0"/>
              <a:t>公開鍵認証</a:t>
            </a:r>
            <a:endParaRPr kumimoji="1" lang="en-US" altLang="ja-JP" sz="2400" dirty="0"/>
          </a:p>
        </p:txBody>
      </p:sp>
    </p:spTree>
    <p:extLst>
      <p:ext uri="{BB962C8B-B14F-4D97-AF65-F5344CB8AC3E}">
        <p14:creationId xmlns:p14="http://schemas.microsoft.com/office/powerpoint/2010/main" val="26892444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929DC6DE-5D12-388F-5CCF-4EA249FDC849}"/>
              </a:ext>
            </a:extLst>
          </p:cNvPr>
          <p:cNvSpPr>
            <a:spLocks noGrp="1"/>
          </p:cNvSpPr>
          <p:nvPr>
            <p:ph type="body" sz="quarter" idx="10"/>
          </p:nvPr>
        </p:nvSpPr>
        <p:spPr/>
        <p:txBody>
          <a:bodyPr/>
          <a:lstStyle/>
          <a:p>
            <a:r>
              <a:rPr lang="en-US" altLang="ja-JP" dirty="0"/>
              <a:t>GitHub</a:t>
            </a:r>
            <a:r>
              <a:rPr lang="ja-JP" altLang="en-US"/>
              <a:t>へのユーザ認証</a:t>
            </a:r>
          </a:p>
        </p:txBody>
      </p:sp>
      <p:grpSp>
        <p:nvGrpSpPr>
          <p:cNvPr id="3" name="グループ化 2">
            <a:extLst>
              <a:ext uri="{FF2B5EF4-FFF2-40B4-BE49-F238E27FC236}">
                <a16:creationId xmlns:a16="http://schemas.microsoft.com/office/drawing/2014/main" id="{ED969A08-12FF-AB0B-D207-F8B3CDD9BC23}"/>
              </a:ext>
            </a:extLst>
          </p:cNvPr>
          <p:cNvGrpSpPr/>
          <p:nvPr/>
        </p:nvGrpSpPr>
        <p:grpSpPr>
          <a:xfrm>
            <a:off x="5314294" y="5471147"/>
            <a:ext cx="752361" cy="1008112"/>
            <a:chOff x="3963655" y="1196752"/>
            <a:chExt cx="752361" cy="1008112"/>
          </a:xfrm>
          <a:solidFill>
            <a:srgbClr val="FFC000"/>
          </a:solidFill>
        </p:grpSpPr>
        <p:sp>
          <p:nvSpPr>
            <p:cNvPr id="4" name="正方形/長方形 3">
              <a:extLst>
                <a:ext uri="{FF2B5EF4-FFF2-40B4-BE49-F238E27FC236}">
                  <a16:creationId xmlns:a16="http://schemas.microsoft.com/office/drawing/2014/main" id="{E67AC954-005C-4902-0D7B-C498DEECE7B5}"/>
                </a:ext>
              </a:extLst>
            </p:cNvPr>
            <p:cNvSpPr/>
            <p:nvPr/>
          </p:nvSpPr>
          <p:spPr>
            <a:xfrm>
              <a:off x="4211960" y="1196752"/>
              <a:ext cx="504056" cy="100811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三角形 4">
              <a:extLst>
                <a:ext uri="{FF2B5EF4-FFF2-40B4-BE49-F238E27FC236}">
                  <a16:creationId xmlns:a16="http://schemas.microsoft.com/office/drawing/2014/main" id="{0A17A9B2-AB99-9F26-4F15-C2B1A95CF3BD}"/>
                </a:ext>
              </a:extLst>
            </p:cNvPr>
            <p:cNvSpPr/>
            <p:nvPr/>
          </p:nvSpPr>
          <p:spPr>
            <a:xfrm rot="5400000">
              <a:off x="3923927" y="1452505"/>
              <a:ext cx="576064" cy="49660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6" name="グループ化 5">
            <a:extLst>
              <a:ext uri="{FF2B5EF4-FFF2-40B4-BE49-F238E27FC236}">
                <a16:creationId xmlns:a16="http://schemas.microsoft.com/office/drawing/2014/main" id="{DCD0C57A-1A61-9C7B-C230-8F5D14F2620F}"/>
              </a:ext>
            </a:extLst>
          </p:cNvPr>
          <p:cNvGrpSpPr/>
          <p:nvPr/>
        </p:nvGrpSpPr>
        <p:grpSpPr>
          <a:xfrm>
            <a:off x="2710832" y="1567280"/>
            <a:ext cx="1817160" cy="1140590"/>
            <a:chOff x="2428830" y="1527212"/>
            <a:chExt cx="2309293" cy="1449491"/>
          </a:xfrm>
        </p:grpSpPr>
        <p:grpSp>
          <p:nvGrpSpPr>
            <p:cNvPr id="7" name="グループ化 6">
              <a:extLst>
                <a:ext uri="{FF2B5EF4-FFF2-40B4-BE49-F238E27FC236}">
                  <a16:creationId xmlns:a16="http://schemas.microsoft.com/office/drawing/2014/main" id="{748D9258-6839-2184-F6C4-40B4FF4AA148}"/>
                </a:ext>
              </a:extLst>
            </p:cNvPr>
            <p:cNvGrpSpPr/>
            <p:nvPr/>
          </p:nvGrpSpPr>
          <p:grpSpPr>
            <a:xfrm>
              <a:off x="2600841" y="1548306"/>
              <a:ext cx="756083" cy="1008112"/>
              <a:chOff x="971600" y="980729"/>
              <a:chExt cx="756083" cy="1008112"/>
            </a:xfrm>
          </p:grpSpPr>
          <p:sp>
            <p:nvSpPr>
              <p:cNvPr id="13" name="正方形/長方形 12">
                <a:extLst>
                  <a:ext uri="{FF2B5EF4-FFF2-40B4-BE49-F238E27FC236}">
                    <a16:creationId xmlns:a16="http://schemas.microsoft.com/office/drawing/2014/main" id="{9271E626-C59B-9DE0-E09E-386AC8EAE9C9}"/>
                  </a:ext>
                </a:extLst>
              </p:cNvPr>
              <p:cNvSpPr/>
              <p:nvPr/>
            </p:nvSpPr>
            <p:spPr>
              <a:xfrm>
                <a:off x="971600" y="980729"/>
                <a:ext cx="504056" cy="100811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三角形 13">
                <a:extLst>
                  <a:ext uri="{FF2B5EF4-FFF2-40B4-BE49-F238E27FC236}">
                    <a16:creationId xmlns:a16="http://schemas.microsoft.com/office/drawing/2014/main" id="{15353699-2BB2-FE45-C786-ADDBAC1B5AEE}"/>
                  </a:ext>
                </a:extLst>
              </p:cNvPr>
              <p:cNvSpPr/>
              <p:nvPr/>
            </p:nvSpPr>
            <p:spPr>
              <a:xfrm rot="5400000">
                <a:off x="1191348" y="1236482"/>
                <a:ext cx="576064" cy="496607"/>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8" name="グループ化 7">
              <a:extLst>
                <a:ext uri="{FF2B5EF4-FFF2-40B4-BE49-F238E27FC236}">
                  <a16:creationId xmlns:a16="http://schemas.microsoft.com/office/drawing/2014/main" id="{D41FCCEB-B8EA-D9D2-68D5-17DBAB5AEDBC}"/>
                </a:ext>
              </a:extLst>
            </p:cNvPr>
            <p:cNvGrpSpPr/>
            <p:nvPr/>
          </p:nvGrpSpPr>
          <p:grpSpPr>
            <a:xfrm>
              <a:off x="3860960" y="1527212"/>
              <a:ext cx="752361" cy="1008112"/>
              <a:chOff x="3963655" y="1196752"/>
              <a:chExt cx="752361" cy="1008112"/>
            </a:xfrm>
          </p:grpSpPr>
          <p:sp>
            <p:nvSpPr>
              <p:cNvPr id="11" name="正方形/長方形 10">
                <a:extLst>
                  <a:ext uri="{FF2B5EF4-FFF2-40B4-BE49-F238E27FC236}">
                    <a16:creationId xmlns:a16="http://schemas.microsoft.com/office/drawing/2014/main" id="{BCFB4A4F-6783-7781-D66F-E748DF0FAA76}"/>
                  </a:ext>
                </a:extLst>
              </p:cNvPr>
              <p:cNvSpPr/>
              <p:nvPr/>
            </p:nvSpPr>
            <p:spPr>
              <a:xfrm>
                <a:off x="4211960" y="1196752"/>
                <a:ext cx="504056" cy="100811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三角形 11">
                <a:extLst>
                  <a:ext uri="{FF2B5EF4-FFF2-40B4-BE49-F238E27FC236}">
                    <a16:creationId xmlns:a16="http://schemas.microsoft.com/office/drawing/2014/main" id="{6C2DE4DB-753D-12E1-7FD7-7A7F79FDF003}"/>
                  </a:ext>
                </a:extLst>
              </p:cNvPr>
              <p:cNvSpPr/>
              <p:nvPr/>
            </p:nvSpPr>
            <p:spPr>
              <a:xfrm rot="5400000">
                <a:off x="3923927" y="1452505"/>
                <a:ext cx="576064" cy="496607"/>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9" name="テキスト ボックス 8">
              <a:extLst>
                <a:ext uri="{FF2B5EF4-FFF2-40B4-BE49-F238E27FC236}">
                  <a16:creationId xmlns:a16="http://schemas.microsoft.com/office/drawing/2014/main" id="{70BA7E8F-C6B8-B4A6-DFEE-E9E2D77617F9}"/>
                </a:ext>
              </a:extLst>
            </p:cNvPr>
            <p:cNvSpPr txBox="1"/>
            <p:nvPr/>
          </p:nvSpPr>
          <p:spPr>
            <a:xfrm>
              <a:off x="2428830" y="2607371"/>
              <a:ext cx="877163" cy="369332"/>
            </a:xfrm>
            <a:prstGeom prst="rect">
              <a:avLst/>
            </a:prstGeom>
            <a:noFill/>
          </p:spPr>
          <p:txBody>
            <a:bodyPr wrap="none" rtlCol="0">
              <a:spAutoFit/>
            </a:bodyPr>
            <a:lstStyle/>
            <a:p>
              <a:r>
                <a:rPr kumimoji="1" lang="ja-JP" altLang="en-US"/>
                <a:t>秘密鍵</a:t>
              </a:r>
            </a:p>
          </p:txBody>
        </p:sp>
        <p:sp>
          <p:nvSpPr>
            <p:cNvPr id="10" name="テキスト ボックス 9">
              <a:extLst>
                <a:ext uri="{FF2B5EF4-FFF2-40B4-BE49-F238E27FC236}">
                  <a16:creationId xmlns:a16="http://schemas.microsoft.com/office/drawing/2014/main" id="{AF8D92AC-0277-58C7-AF0E-40584BDE81F5}"/>
                </a:ext>
              </a:extLst>
            </p:cNvPr>
            <p:cNvSpPr txBox="1"/>
            <p:nvPr/>
          </p:nvSpPr>
          <p:spPr>
            <a:xfrm>
              <a:off x="3860960" y="2607371"/>
              <a:ext cx="877163" cy="369332"/>
            </a:xfrm>
            <a:prstGeom prst="rect">
              <a:avLst/>
            </a:prstGeom>
            <a:noFill/>
          </p:spPr>
          <p:txBody>
            <a:bodyPr wrap="none" rtlCol="0">
              <a:spAutoFit/>
            </a:bodyPr>
            <a:lstStyle/>
            <a:p>
              <a:r>
                <a:rPr kumimoji="1" lang="ja-JP" altLang="en-US"/>
                <a:t>公開鍵</a:t>
              </a:r>
            </a:p>
          </p:txBody>
        </p:sp>
      </p:grpSp>
      <p:sp>
        <p:nvSpPr>
          <p:cNvPr id="15" name="テキスト ボックス 14">
            <a:extLst>
              <a:ext uri="{FF2B5EF4-FFF2-40B4-BE49-F238E27FC236}">
                <a16:creationId xmlns:a16="http://schemas.microsoft.com/office/drawing/2014/main" id="{5B486462-F42B-A87F-3167-C3E8FA003E1A}"/>
              </a:ext>
            </a:extLst>
          </p:cNvPr>
          <p:cNvSpPr txBox="1"/>
          <p:nvPr/>
        </p:nvSpPr>
        <p:spPr>
          <a:xfrm>
            <a:off x="114865" y="1057298"/>
            <a:ext cx="3531736" cy="369332"/>
          </a:xfrm>
          <a:prstGeom prst="rect">
            <a:avLst/>
          </a:prstGeom>
          <a:noFill/>
        </p:spPr>
        <p:txBody>
          <a:bodyPr wrap="none" rtlCol="0">
            <a:spAutoFit/>
          </a:bodyPr>
          <a:lstStyle/>
          <a:p>
            <a:r>
              <a:rPr lang="en-US" altLang="ja-JP" dirty="0"/>
              <a:t>(1) </a:t>
            </a:r>
            <a:r>
              <a:rPr kumimoji="1" lang="ja-JP" altLang="en-US"/>
              <a:t>秘密鍵と公開鍵のペアを作成</a:t>
            </a:r>
          </a:p>
        </p:txBody>
      </p:sp>
      <p:sp>
        <p:nvSpPr>
          <p:cNvPr id="16" name="テキスト ボックス 15">
            <a:extLst>
              <a:ext uri="{FF2B5EF4-FFF2-40B4-BE49-F238E27FC236}">
                <a16:creationId xmlns:a16="http://schemas.microsoft.com/office/drawing/2014/main" id="{C393F397-36FC-B032-5FCE-B8C0B0C4E3D3}"/>
              </a:ext>
            </a:extLst>
          </p:cNvPr>
          <p:cNvSpPr txBox="1"/>
          <p:nvPr/>
        </p:nvSpPr>
        <p:spPr>
          <a:xfrm>
            <a:off x="162946" y="2795062"/>
            <a:ext cx="4378122" cy="369332"/>
          </a:xfrm>
          <a:prstGeom prst="rect">
            <a:avLst/>
          </a:prstGeom>
          <a:noFill/>
        </p:spPr>
        <p:txBody>
          <a:bodyPr wrap="none" rtlCol="0">
            <a:spAutoFit/>
          </a:bodyPr>
          <a:lstStyle/>
          <a:p>
            <a:r>
              <a:rPr lang="en-US" altLang="ja-JP" dirty="0"/>
              <a:t>(2) </a:t>
            </a:r>
            <a:r>
              <a:rPr kumimoji="1" lang="ja-JP" altLang="en-US"/>
              <a:t>ブラウザから公開鍵を登録</a:t>
            </a:r>
            <a:r>
              <a:rPr kumimoji="1" lang="en-US" altLang="ja-JP" dirty="0"/>
              <a:t>(</a:t>
            </a:r>
            <a:r>
              <a:rPr kumimoji="1" lang="ja-JP" altLang="en-US">
                <a:solidFill>
                  <a:srgbClr val="FF0000"/>
                </a:solidFill>
              </a:rPr>
              <a:t>知識認証</a:t>
            </a:r>
            <a:r>
              <a:rPr kumimoji="1" lang="en-US" altLang="ja-JP" dirty="0"/>
              <a:t>)</a:t>
            </a:r>
            <a:endParaRPr kumimoji="1" lang="ja-JP" altLang="en-US"/>
          </a:p>
        </p:txBody>
      </p:sp>
      <p:grpSp>
        <p:nvGrpSpPr>
          <p:cNvPr id="17" name="グループ化 16">
            <a:extLst>
              <a:ext uri="{FF2B5EF4-FFF2-40B4-BE49-F238E27FC236}">
                <a16:creationId xmlns:a16="http://schemas.microsoft.com/office/drawing/2014/main" id="{115AAD11-C8CB-AB1D-3222-A88C5E746A9B}"/>
              </a:ext>
            </a:extLst>
          </p:cNvPr>
          <p:cNvGrpSpPr/>
          <p:nvPr/>
        </p:nvGrpSpPr>
        <p:grpSpPr>
          <a:xfrm>
            <a:off x="6896886" y="3351169"/>
            <a:ext cx="1422917" cy="1347882"/>
            <a:chOff x="6140761" y="2760383"/>
            <a:chExt cx="2118829" cy="2007096"/>
          </a:xfrm>
        </p:grpSpPr>
        <p:pic>
          <p:nvPicPr>
            <p:cNvPr id="18" name="図 17">
              <a:extLst>
                <a:ext uri="{FF2B5EF4-FFF2-40B4-BE49-F238E27FC236}">
                  <a16:creationId xmlns:a16="http://schemas.microsoft.com/office/drawing/2014/main" id="{FC537AAB-F2B9-B77E-04E5-387B7138BA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44817" y="3624479"/>
              <a:ext cx="1143000" cy="1143000"/>
            </a:xfrm>
            <a:prstGeom prst="rect">
              <a:avLst/>
            </a:prstGeom>
          </p:spPr>
        </p:pic>
        <p:pic>
          <p:nvPicPr>
            <p:cNvPr id="19" name="図 18">
              <a:extLst>
                <a:ext uri="{FF2B5EF4-FFF2-40B4-BE49-F238E27FC236}">
                  <a16:creationId xmlns:a16="http://schemas.microsoft.com/office/drawing/2014/main" id="{C4319C6B-D91B-8020-953F-5FDC65B84FA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40761" y="2760383"/>
              <a:ext cx="2118829" cy="868720"/>
            </a:xfrm>
            <a:prstGeom prst="rect">
              <a:avLst/>
            </a:prstGeom>
          </p:spPr>
        </p:pic>
      </p:grpSp>
      <p:grpSp>
        <p:nvGrpSpPr>
          <p:cNvPr id="20" name="グループ化 19">
            <a:extLst>
              <a:ext uri="{FF2B5EF4-FFF2-40B4-BE49-F238E27FC236}">
                <a16:creationId xmlns:a16="http://schemas.microsoft.com/office/drawing/2014/main" id="{068207F6-A4DD-4B36-3F27-B4347A2161BA}"/>
              </a:ext>
            </a:extLst>
          </p:cNvPr>
          <p:cNvGrpSpPr/>
          <p:nvPr/>
        </p:nvGrpSpPr>
        <p:grpSpPr>
          <a:xfrm>
            <a:off x="2626839" y="3391871"/>
            <a:ext cx="1584176" cy="1307180"/>
            <a:chOff x="2339752" y="1844824"/>
            <a:chExt cx="1584176" cy="1307180"/>
          </a:xfrm>
        </p:grpSpPr>
        <p:sp>
          <p:nvSpPr>
            <p:cNvPr id="21" name="角丸四角形 20">
              <a:extLst>
                <a:ext uri="{FF2B5EF4-FFF2-40B4-BE49-F238E27FC236}">
                  <a16:creationId xmlns:a16="http://schemas.microsoft.com/office/drawing/2014/main" id="{5D2B203C-07D7-2E7D-D8E8-6FB0DB2C46EF}"/>
                </a:ext>
              </a:extLst>
            </p:cNvPr>
            <p:cNvSpPr/>
            <p:nvPr/>
          </p:nvSpPr>
          <p:spPr>
            <a:xfrm>
              <a:off x="2339752" y="1844824"/>
              <a:ext cx="1584176" cy="1307180"/>
            </a:xfrm>
            <a:prstGeom prst="roundRect">
              <a:avLst>
                <a:gd name="adj" fmla="val 3521"/>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2" name="図 21">
              <a:extLst>
                <a:ext uri="{FF2B5EF4-FFF2-40B4-BE49-F238E27FC236}">
                  <a16:creationId xmlns:a16="http://schemas.microsoft.com/office/drawing/2014/main" id="{C769398E-6AE7-04B0-4AD1-FDCA532C03EB}"/>
                </a:ext>
              </a:extLst>
            </p:cNvPr>
            <p:cNvPicPr>
              <a:picLocks noChangeAspect="1"/>
            </p:cNvPicPr>
            <p:nvPr/>
          </p:nvPicPr>
          <p:blipFill>
            <a:blip r:embed="rId4"/>
            <a:stretch>
              <a:fillRect/>
            </a:stretch>
          </p:blipFill>
          <p:spPr>
            <a:xfrm>
              <a:off x="2339752" y="2042581"/>
              <a:ext cx="1584176" cy="1109423"/>
            </a:xfrm>
            <a:prstGeom prst="rect">
              <a:avLst/>
            </a:prstGeom>
          </p:spPr>
        </p:pic>
        <p:grpSp>
          <p:nvGrpSpPr>
            <p:cNvPr id="23" name="グループ化 22">
              <a:extLst>
                <a:ext uri="{FF2B5EF4-FFF2-40B4-BE49-F238E27FC236}">
                  <a16:creationId xmlns:a16="http://schemas.microsoft.com/office/drawing/2014/main" id="{84FB6D8E-DB94-4DF6-7011-ACBD0FE65BF0}"/>
                </a:ext>
              </a:extLst>
            </p:cNvPr>
            <p:cNvGrpSpPr/>
            <p:nvPr/>
          </p:nvGrpSpPr>
          <p:grpSpPr>
            <a:xfrm>
              <a:off x="2395364" y="1865787"/>
              <a:ext cx="130075" cy="155833"/>
              <a:chOff x="3347864" y="3273606"/>
              <a:chExt cx="432048" cy="517602"/>
            </a:xfrm>
          </p:grpSpPr>
          <p:sp>
            <p:nvSpPr>
              <p:cNvPr id="34" name="角丸四角形 33">
                <a:extLst>
                  <a:ext uri="{FF2B5EF4-FFF2-40B4-BE49-F238E27FC236}">
                    <a16:creationId xmlns:a16="http://schemas.microsoft.com/office/drawing/2014/main" id="{0879649A-0570-FC38-ABCF-60B3014B8AC9}"/>
                  </a:ext>
                </a:extLst>
              </p:cNvPr>
              <p:cNvSpPr/>
              <p:nvPr/>
            </p:nvSpPr>
            <p:spPr>
              <a:xfrm>
                <a:off x="3347864" y="3490866"/>
                <a:ext cx="432048" cy="82150"/>
              </a:xfrm>
              <a:prstGeom prst="roundRect">
                <a:avLst>
                  <a:gd name="adj" fmla="val 47586"/>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角丸四角形 34">
                <a:extLst>
                  <a:ext uri="{FF2B5EF4-FFF2-40B4-BE49-F238E27FC236}">
                    <a16:creationId xmlns:a16="http://schemas.microsoft.com/office/drawing/2014/main" id="{DE2D4B85-16C5-FB32-FC3C-22C1179DF064}"/>
                  </a:ext>
                </a:extLst>
              </p:cNvPr>
              <p:cNvSpPr/>
              <p:nvPr/>
            </p:nvSpPr>
            <p:spPr>
              <a:xfrm rot="18741476">
                <a:off x="3308924" y="3394673"/>
                <a:ext cx="340156" cy="98021"/>
              </a:xfrm>
              <a:prstGeom prst="roundRect">
                <a:avLst>
                  <a:gd name="adj" fmla="val 47586"/>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角丸四角形 35">
                <a:extLst>
                  <a:ext uri="{FF2B5EF4-FFF2-40B4-BE49-F238E27FC236}">
                    <a16:creationId xmlns:a16="http://schemas.microsoft.com/office/drawing/2014/main" id="{8C68371A-1D77-7D4B-C89A-1CD6EBA95500}"/>
                  </a:ext>
                </a:extLst>
              </p:cNvPr>
              <p:cNvSpPr/>
              <p:nvPr/>
            </p:nvSpPr>
            <p:spPr>
              <a:xfrm rot="2700000">
                <a:off x="3313035" y="3567218"/>
                <a:ext cx="340156" cy="107824"/>
              </a:xfrm>
              <a:prstGeom prst="roundRect">
                <a:avLst>
                  <a:gd name="adj" fmla="val 47586"/>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4" name="グループ化 23">
              <a:extLst>
                <a:ext uri="{FF2B5EF4-FFF2-40B4-BE49-F238E27FC236}">
                  <a16:creationId xmlns:a16="http://schemas.microsoft.com/office/drawing/2014/main" id="{92F13E17-BD8A-C6A4-AD63-41D7AA709AB3}"/>
                </a:ext>
              </a:extLst>
            </p:cNvPr>
            <p:cNvGrpSpPr/>
            <p:nvPr/>
          </p:nvGrpSpPr>
          <p:grpSpPr>
            <a:xfrm rot="10800000">
              <a:off x="2572283" y="1865786"/>
              <a:ext cx="130075" cy="155833"/>
              <a:chOff x="3347864" y="3273606"/>
              <a:chExt cx="432048" cy="517602"/>
            </a:xfrm>
          </p:grpSpPr>
          <p:sp>
            <p:nvSpPr>
              <p:cNvPr id="31" name="角丸四角形 30">
                <a:extLst>
                  <a:ext uri="{FF2B5EF4-FFF2-40B4-BE49-F238E27FC236}">
                    <a16:creationId xmlns:a16="http://schemas.microsoft.com/office/drawing/2014/main" id="{FA80BF4A-2288-025E-5FEC-2C42ABC0E434}"/>
                  </a:ext>
                </a:extLst>
              </p:cNvPr>
              <p:cNvSpPr/>
              <p:nvPr/>
            </p:nvSpPr>
            <p:spPr>
              <a:xfrm>
                <a:off x="3347864" y="3490866"/>
                <a:ext cx="432048" cy="82150"/>
              </a:xfrm>
              <a:prstGeom prst="roundRect">
                <a:avLst>
                  <a:gd name="adj" fmla="val 47586"/>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角丸四角形 31">
                <a:extLst>
                  <a:ext uri="{FF2B5EF4-FFF2-40B4-BE49-F238E27FC236}">
                    <a16:creationId xmlns:a16="http://schemas.microsoft.com/office/drawing/2014/main" id="{DF1BD298-D172-4A74-0B8C-979F2E332D4F}"/>
                  </a:ext>
                </a:extLst>
              </p:cNvPr>
              <p:cNvSpPr/>
              <p:nvPr/>
            </p:nvSpPr>
            <p:spPr>
              <a:xfrm rot="18741476">
                <a:off x="3308924" y="3394673"/>
                <a:ext cx="340156" cy="98021"/>
              </a:xfrm>
              <a:prstGeom prst="roundRect">
                <a:avLst>
                  <a:gd name="adj" fmla="val 47586"/>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角丸四角形 32">
                <a:extLst>
                  <a:ext uri="{FF2B5EF4-FFF2-40B4-BE49-F238E27FC236}">
                    <a16:creationId xmlns:a16="http://schemas.microsoft.com/office/drawing/2014/main" id="{FC70E45E-9293-AB57-014F-1E90A28DA2D9}"/>
                  </a:ext>
                </a:extLst>
              </p:cNvPr>
              <p:cNvSpPr/>
              <p:nvPr/>
            </p:nvSpPr>
            <p:spPr>
              <a:xfrm rot="2700000">
                <a:off x="3313035" y="3567218"/>
                <a:ext cx="340156" cy="107824"/>
              </a:xfrm>
              <a:prstGeom prst="roundRect">
                <a:avLst>
                  <a:gd name="adj" fmla="val 47586"/>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5" name="グループ化 24">
              <a:extLst>
                <a:ext uri="{FF2B5EF4-FFF2-40B4-BE49-F238E27FC236}">
                  <a16:creationId xmlns:a16="http://schemas.microsoft.com/office/drawing/2014/main" id="{7D3D5AB0-B1DD-F4E5-2F4C-6E62B76CB985}"/>
                </a:ext>
              </a:extLst>
            </p:cNvPr>
            <p:cNvGrpSpPr/>
            <p:nvPr/>
          </p:nvGrpSpPr>
          <p:grpSpPr>
            <a:xfrm>
              <a:off x="2953029" y="1891600"/>
              <a:ext cx="134522" cy="104206"/>
              <a:chOff x="4352925" y="1717675"/>
              <a:chExt cx="225427" cy="174625"/>
            </a:xfrm>
          </p:grpSpPr>
          <p:sp>
            <p:nvSpPr>
              <p:cNvPr id="29" name="三角形 28">
                <a:extLst>
                  <a:ext uri="{FF2B5EF4-FFF2-40B4-BE49-F238E27FC236}">
                    <a16:creationId xmlns:a16="http://schemas.microsoft.com/office/drawing/2014/main" id="{93BB8C6C-EE17-8679-4900-A4D9DD0645CF}"/>
                  </a:ext>
                </a:extLst>
              </p:cNvPr>
              <p:cNvSpPr/>
              <p:nvPr/>
            </p:nvSpPr>
            <p:spPr>
              <a:xfrm>
                <a:off x="4352925" y="1717675"/>
                <a:ext cx="225427" cy="73025"/>
              </a:xfrm>
              <a:prstGeom prst="triangle">
                <a:avLst/>
              </a:prstGeom>
              <a:solidFill>
                <a:schemeClr val="tx1">
                  <a:lumMod val="50000"/>
                  <a:lumOff val="50000"/>
                </a:schemeClr>
              </a:solidFill>
              <a:ln w="381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正方形/長方形 29">
                <a:extLst>
                  <a:ext uri="{FF2B5EF4-FFF2-40B4-BE49-F238E27FC236}">
                    <a16:creationId xmlns:a16="http://schemas.microsoft.com/office/drawing/2014/main" id="{BC6E13B0-6BE2-10D0-EF8A-6A5322331CB5}"/>
                  </a:ext>
                </a:extLst>
              </p:cNvPr>
              <p:cNvSpPr/>
              <p:nvPr/>
            </p:nvSpPr>
            <p:spPr>
              <a:xfrm>
                <a:off x="4402138" y="1785772"/>
                <a:ext cx="127000" cy="106528"/>
              </a:xfrm>
              <a:prstGeom prst="rect">
                <a:avLst/>
              </a:prstGeom>
              <a:solidFill>
                <a:schemeClr val="tx1">
                  <a:lumMod val="50000"/>
                  <a:lumOff val="50000"/>
                </a:schemeClr>
              </a:solidFill>
              <a:ln w="381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6" name="グループ化 25">
              <a:extLst>
                <a:ext uri="{FF2B5EF4-FFF2-40B4-BE49-F238E27FC236}">
                  <a16:creationId xmlns:a16="http://schemas.microsoft.com/office/drawing/2014/main" id="{4A575E8E-7399-7F5C-CDAF-E8BCA523395C}"/>
                </a:ext>
              </a:extLst>
            </p:cNvPr>
            <p:cNvGrpSpPr/>
            <p:nvPr/>
          </p:nvGrpSpPr>
          <p:grpSpPr>
            <a:xfrm>
              <a:off x="2749747" y="1869650"/>
              <a:ext cx="154664" cy="148107"/>
              <a:chOff x="5605835" y="1892500"/>
              <a:chExt cx="354766" cy="339725"/>
            </a:xfrm>
          </p:grpSpPr>
          <p:sp>
            <p:nvSpPr>
              <p:cNvPr id="27" name="円弧 26">
                <a:extLst>
                  <a:ext uri="{FF2B5EF4-FFF2-40B4-BE49-F238E27FC236}">
                    <a16:creationId xmlns:a16="http://schemas.microsoft.com/office/drawing/2014/main" id="{DDF2F043-1D71-D53C-17ED-3886BE88B62B}"/>
                  </a:ext>
                </a:extLst>
              </p:cNvPr>
              <p:cNvSpPr/>
              <p:nvPr/>
            </p:nvSpPr>
            <p:spPr>
              <a:xfrm>
                <a:off x="5605835" y="1892500"/>
                <a:ext cx="339725" cy="339725"/>
              </a:xfrm>
              <a:prstGeom prst="arc">
                <a:avLst>
                  <a:gd name="adj1" fmla="val 21525816"/>
                  <a:gd name="adj2" fmla="val 19316914"/>
                </a:avLst>
              </a:prstGeom>
              <a:ln w="190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8" name="三角形 27">
                <a:extLst>
                  <a:ext uri="{FF2B5EF4-FFF2-40B4-BE49-F238E27FC236}">
                    <a16:creationId xmlns:a16="http://schemas.microsoft.com/office/drawing/2014/main" id="{3BB9C01E-213D-3B16-7E7C-13A644D368A8}"/>
                  </a:ext>
                </a:extLst>
              </p:cNvPr>
              <p:cNvSpPr/>
              <p:nvPr/>
            </p:nvSpPr>
            <p:spPr>
              <a:xfrm rot="8100000">
                <a:off x="5854991" y="1912282"/>
                <a:ext cx="105610" cy="91043"/>
              </a:xfrm>
              <a:prstGeom prst="triangl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
        <p:nvSpPr>
          <p:cNvPr id="37" name="三角形 36">
            <a:extLst>
              <a:ext uri="{FF2B5EF4-FFF2-40B4-BE49-F238E27FC236}">
                <a16:creationId xmlns:a16="http://schemas.microsoft.com/office/drawing/2014/main" id="{9B84CE3B-391C-C6EA-A9B5-6CF283EB5BFE}"/>
              </a:ext>
            </a:extLst>
          </p:cNvPr>
          <p:cNvSpPr/>
          <p:nvPr/>
        </p:nvSpPr>
        <p:spPr>
          <a:xfrm rot="5400000">
            <a:off x="5371845" y="3858232"/>
            <a:ext cx="576064" cy="496607"/>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角丸四角形 37">
            <a:extLst>
              <a:ext uri="{FF2B5EF4-FFF2-40B4-BE49-F238E27FC236}">
                <a16:creationId xmlns:a16="http://schemas.microsoft.com/office/drawing/2014/main" id="{82CBA9B3-925B-98C4-A22E-4803D43753C1}"/>
              </a:ext>
            </a:extLst>
          </p:cNvPr>
          <p:cNvSpPr/>
          <p:nvPr/>
        </p:nvSpPr>
        <p:spPr>
          <a:xfrm>
            <a:off x="5357912" y="3346216"/>
            <a:ext cx="1505451" cy="1499724"/>
          </a:xfrm>
          <a:prstGeom prst="roundRect">
            <a:avLst/>
          </a:prstGeom>
          <a:noFill/>
          <a:ln w="381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9" name="グループ化 38">
            <a:extLst>
              <a:ext uri="{FF2B5EF4-FFF2-40B4-BE49-F238E27FC236}">
                <a16:creationId xmlns:a16="http://schemas.microsoft.com/office/drawing/2014/main" id="{8724126F-1863-93F4-594A-AFEFB01A6DA3}"/>
              </a:ext>
            </a:extLst>
          </p:cNvPr>
          <p:cNvGrpSpPr/>
          <p:nvPr/>
        </p:nvGrpSpPr>
        <p:grpSpPr>
          <a:xfrm>
            <a:off x="697609" y="3578335"/>
            <a:ext cx="752361" cy="1008112"/>
            <a:chOff x="3963655" y="1196752"/>
            <a:chExt cx="752361" cy="1008112"/>
          </a:xfrm>
        </p:grpSpPr>
        <p:sp>
          <p:nvSpPr>
            <p:cNvPr id="40" name="正方形/長方形 39">
              <a:extLst>
                <a:ext uri="{FF2B5EF4-FFF2-40B4-BE49-F238E27FC236}">
                  <a16:creationId xmlns:a16="http://schemas.microsoft.com/office/drawing/2014/main" id="{C69EDE32-A8B1-067E-FFFE-3795CD0F6D28}"/>
                </a:ext>
              </a:extLst>
            </p:cNvPr>
            <p:cNvSpPr/>
            <p:nvPr/>
          </p:nvSpPr>
          <p:spPr>
            <a:xfrm>
              <a:off x="4211960" y="1196752"/>
              <a:ext cx="504056" cy="100811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三角形 40">
              <a:extLst>
                <a:ext uri="{FF2B5EF4-FFF2-40B4-BE49-F238E27FC236}">
                  <a16:creationId xmlns:a16="http://schemas.microsoft.com/office/drawing/2014/main" id="{B7A1E54A-0569-B199-74AE-C76C721573D6}"/>
                </a:ext>
              </a:extLst>
            </p:cNvPr>
            <p:cNvSpPr/>
            <p:nvPr/>
          </p:nvSpPr>
          <p:spPr>
            <a:xfrm rot="5400000">
              <a:off x="3923927" y="1452505"/>
              <a:ext cx="576064" cy="496607"/>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42" name="テキスト ボックス 41">
            <a:extLst>
              <a:ext uri="{FF2B5EF4-FFF2-40B4-BE49-F238E27FC236}">
                <a16:creationId xmlns:a16="http://schemas.microsoft.com/office/drawing/2014/main" id="{153F8E1B-DF27-0010-6165-47CC275A45DF}"/>
              </a:ext>
            </a:extLst>
          </p:cNvPr>
          <p:cNvSpPr txBox="1"/>
          <p:nvPr/>
        </p:nvSpPr>
        <p:spPr>
          <a:xfrm>
            <a:off x="162946" y="4983672"/>
            <a:ext cx="5070619" cy="369332"/>
          </a:xfrm>
          <a:prstGeom prst="rect">
            <a:avLst/>
          </a:prstGeom>
          <a:noFill/>
        </p:spPr>
        <p:txBody>
          <a:bodyPr wrap="none" rtlCol="0">
            <a:spAutoFit/>
          </a:bodyPr>
          <a:lstStyle/>
          <a:p>
            <a:r>
              <a:rPr lang="en-US" altLang="ja-JP" dirty="0"/>
              <a:t>(3) </a:t>
            </a:r>
            <a:r>
              <a:rPr kumimoji="1" lang="ja-JP" altLang="en-US"/>
              <a:t>ターミナルから秘密鍵でアクセス</a:t>
            </a:r>
            <a:r>
              <a:rPr kumimoji="1" lang="en-US" altLang="ja-JP" dirty="0"/>
              <a:t>(</a:t>
            </a:r>
            <a:r>
              <a:rPr lang="ja-JP" altLang="en-US">
                <a:solidFill>
                  <a:srgbClr val="FF0000"/>
                </a:solidFill>
              </a:rPr>
              <a:t>所持認証</a:t>
            </a:r>
            <a:r>
              <a:rPr kumimoji="1" lang="en-US" altLang="ja-JP" dirty="0"/>
              <a:t>)</a:t>
            </a:r>
            <a:endParaRPr kumimoji="1" lang="ja-JP" altLang="en-US"/>
          </a:p>
        </p:txBody>
      </p:sp>
      <p:sp>
        <p:nvSpPr>
          <p:cNvPr id="43" name="右矢印 42">
            <a:extLst>
              <a:ext uri="{FF2B5EF4-FFF2-40B4-BE49-F238E27FC236}">
                <a16:creationId xmlns:a16="http://schemas.microsoft.com/office/drawing/2014/main" id="{D441C383-45B9-11A7-2B85-A8FEB502D3CC}"/>
              </a:ext>
            </a:extLst>
          </p:cNvPr>
          <p:cNvSpPr/>
          <p:nvPr/>
        </p:nvSpPr>
        <p:spPr>
          <a:xfrm>
            <a:off x="1769494" y="3838313"/>
            <a:ext cx="706773" cy="474151"/>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右矢印 43">
            <a:extLst>
              <a:ext uri="{FF2B5EF4-FFF2-40B4-BE49-F238E27FC236}">
                <a16:creationId xmlns:a16="http://schemas.microsoft.com/office/drawing/2014/main" id="{C80CF651-0B0A-F450-426C-1107F66BACAB}"/>
              </a:ext>
            </a:extLst>
          </p:cNvPr>
          <p:cNvSpPr/>
          <p:nvPr/>
        </p:nvSpPr>
        <p:spPr>
          <a:xfrm>
            <a:off x="4437595" y="3832159"/>
            <a:ext cx="795970" cy="474151"/>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5" name="グループ化 44">
            <a:extLst>
              <a:ext uri="{FF2B5EF4-FFF2-40B4-BE49-F238E27FC236}">
                <a16:creationId xmlns:a16="http://schemas.microsoft.com/office/drawing/2014/main" id="{B08A64EF-E58F-1B48-BACF-F8A76B044123}"/>
              </a:ext>
            </a:extLst>
          </p:cNvPr>
          <p:cNvGrpSpPr/>
          <p:nvPr/>
        </p:nvGrpSpPr>
        <p:grpSpPr>
          <a:xfrm>
            <a:off x="1041792" y="5620681"/>
            <a:ext cx="756083" cy="1008112"/>
            <a:chOff x="971600" y="980729"/>
            <a:chExt cx="756083" cy="1008112"/>
          </a:xfrm>
          <a:solidFill>
            <a:srgbClr val="FFC000"/>
          </a:solidFill>
        </p:grpSpPr>
        <p:sp>
          <p:nvSpPr>
            <p:cNvPr id="46" name="正方形/長方形 45">
              <a:extLst>
                <a:ext uri="{FF2B5EF4-FFF2-40B4-BE49-F238E27FC236}">
                  <a16:creationId xmlns:a16="http://schemas.microsoft.com/office/drawing/2014/main" id="{3465358E-47A9-9884-E1C6-E697364825B2}"/>
                </a:ext>
              </a:extLst>
            </p:cNvPr>
            <p:cNvSpPr/>
            <p:nvPr/>
          </p:nvSpPr>
          <p:spPr>
            <a:xfrm>
              <a:off x="971600" y="980729"/>
              <a:ext cx="504056" cy="100811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三角形 46">
              <a:extLst>
                <a:ext uri="{FF2B5EF4-FFF2-40B4-BE49-F238E27FC236}">
                  <a16:creationId xmlns:a16="http://schemas.microsoft.com/office/drawing/2014/main" id="{94F36F27-D66F-71BA-5D1C-EE403DB8B914}"/>
                </a:ext>
              </a:extLst>
            </p:cNvPr>
            <p:cNvSpPr/>
            <p:nvPr/>
          </p:nvSpPr>
          <p:spPr>
            <a:xfrm rot="5400000">
              <a:off x="1191348" y="1236482"/>
              <a:ext cx="576064" cy="49660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48" name="Picture 4" descr="笑う男性のイラスト（段階2）">
            <a:extLst>
              <a:ext uri="{FF2B5EF4-FFF2-40B4-BE49-F238E27FC236}">
                <a16:creationId xmlns:a16="http://schemas.microsoft.com/office/drawing/2014/main" id="{9F1783B5-A720-889D-3547-A6131ED5AA7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83721" y="5627755"/>
            <a:ext cx="672081" cy="903335"/>
          </a:xfrm>
          <a:prstGeom prst="rect">
            <a:avLst/>
          </a:prstGeom>
          <a:noFill/>
          <a:extLst>
            <a:ext uri="{909E8E84-426E-40DD-AFC4-6F175D3DCCD1}">
              <a14:hiddenFill xmlns:a14="http://schemas.microsoft.com/office/drawing/2010/main">
                <a:solidFill>
                  <a:srgbClr val="FFFFFF"/>
                </a:solidFill>
              </a14:hiddenFill>
            </a:ext>
          </a:extLst>
        </p:spPr>
      </p:pic>
      <p:grpSp>
        <p:nvGrpSpPr>
          <p:cNvPr id="49" name="グループ化 48">
            <a:extLst>
              <a:ext uri="{FF2B5EF4-FFF2-40B4-BE49-F238E27FC236}">
                <a16:creationId xmlns:a16="http://schemas.microsoft.com/office/drawing/2014/main" id="{03B2AF0C-BAAE-D273-CADA-CFF475BF6BCC}"/>
              </a:ext>
            </a:extLst>
          </p:cNvPr>
          <p:cNvGrpSpPr/>
          <p:nvPr/>
        </p:nvGrpSpPr>
        <p:grpSpPr>
          <a:xfrm>
            <a:off x="2655220" y="5471147"/>
            <a:ext cx="1623376" cy="1307180"/>
            <a:chOff x="3003289" y="4445023"/>
            <a:chExt cx="1623376" cy="1307180"/>
          </a:xfrm>
        </p:grpSpPr>
        <p:sp>
          <p:nvSpPr>
            <p:cNvPr id="50" name="角丸四角形 49">
              <a:extLst>
                <a:ext uri="{FF2B5EF4-FFF2-40B4-BE49-F238E27FC236}">
                  <a16:creationId xmlns:a16="http://schemas.microsoft.com/office/drawing/2014/main" id="{9DDE63DB-730F-DA3A-E0E4-A6734D0EDC85}"/>
                </a:ext>
              </a:extLst>
            </p:cNvPr>
            <p:cNvSpPr/>
            <p:nvPr/>
          </p:nvSpPr>
          <p:spPr>
            <a:xfrm>
              <a:off x="3042489" y="4445023"/>
              <a:ext cx="1584176" cy="1307180"/>
            </a:xfrm>
            <a:prstGeom prst="roundRect">
              <a:avLst>
                <a:gd name="adj" fmla="val 3521"/>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正方形/長方形 50">
              <a:extLst>
                <a:ext uri="{FF2B5EF4-FFF2-40B4-BE49-F238E27FC236}">
                  <a16:creationId xmlns:a16="http://schemas.microsoft.com/office/drawing/2014/main" id="{E13AD6AC-ED77-CB21-8EB3-9A18F9BD4EEC}"/>
                </a:ext>
              </a:extLst>
            </p:cNvPr>
            <p:cNvSpPr/>
            <p:nvPr/>
          </p:nvSpPr>
          <p:spPr>
            <a:xfrm>
              <a:off x="3042489" y="4683707"/>
              <a:ext cx="1584176" cy="106849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円/楕円 51">
              <a:extLst>
                <a:ext uri="{FF2B5EF4-FFF2-40B4-BE49-F238E27FC236}">
                  <a16:creationId xmlns:a16="http://schemas.microsoft.com/office/drawing/2014/main" id="{28CD9880-6FD4-9A9F-3808-3BB0C49AF479}"/>
                </a:ext>
              </a:extLst>
            </p:cNvPr>
            <p:cNvSpPr/>
            <p:nvPr/>
          </p:nvSpPr>
          <p:spPr>
            <a:xfrm>
              <a:off x="3091957" y="4496522"/>
              <a:ext cx="116893" cy="11689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円/楕円 52">
              <a:extLst>
                <a:ext uri="{FF2B5EF4-FFF2-40B4-BE49-F238E27FC236}">
                  <a16:creationId xmlns:a16="http://schemas.microsoft.com/office/drawing/2014/main" id="{47E6600A-79A8-886C-A128-E9C6FDDB60A8}"/>
                </a:ext>
              </a:extLst>
            </p:cNvPr>
            <p:cNvSpPr/>
            <p:nvPr/>
          </p:nvSpPr>
          <p:spPr>
            <a:xfrm>
              <a:off x="3272517" y="4496522"/>
              <a:ext cx="116893" cy="116893"/>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円/楕円 53">
              <a:extLst>
                <a:ext uri="{FF2B5EF4-FFF2-40B4-BE49-F238E27FC236}">
                  <a16:creationId xmlns:a16="http://schemas.microsoft.com/office/drawing/2014/main" id="{3340FEB3-FB77-CBC6-A119-C70F9646B6F7}"/>
                </a:ext>
              </a:extLst>
            </p:cNvPr>
            <p:cNvSpPr/>
            <p:nvPr/>
          </p:nvSpPr>
          <p:spPr>
            <a:xfrm>
              <a:off x="3453076" y="4496522"/>
              <a:ext cx="116893" cy="116893"/>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テキスト ボックス 54">
              <a:extLst>
                <a:ext uri="{FF2B5EF4-FFF2-40B4-BE49-F238E27FC236}">
                  <a16:creationId xmlns:a16="http://schemas.microsoft.com/office/drawing/2014/main" id="{BF6D2DAD-7A44-54AA-E306-6CE46040107E}"/>
                </a:ext>
              </a:extLst>
            </p:cNvPr>
            <p:cNvSpPr txBox="1"/>
            <p:nvPr/>
          </p:nvSpPr>
          <p:spPr>
            <a:xfrm>
              <a:off x="3003289" y="4683707"/>
              <a:ext cx="1451038" cy="369332"/>
            </a:xfrm>
            <a:prstGeom prst="rect">
              <a:avLst/>
            </a:prstGeom>
            <a:noFill/>
          </p:spPr>
          <p:txBody>
            <a:bodyPr wrap="none" rtlCol="0">
              <a:spAutoFit/>
            </a:bodyPr>
            <a:lstStyle/>
            <a:p>
              <a:r>
                <a:rPr lang="en-US" altLang="ja-JP" dirty="0">
                  <a:solidFill>
                    <a:schemeClr val="bg1"/>
                  </a:solidFill>
                  <a:latin typeface="Consolas" panose="020B0609020204030204" pitchFamily="49" charset="0"/>
                  <a:cs typeface="Consolas" panose="020B0609020204030204" pitchFamily="49" charset="0"/>
                </a:rPr>
                <a:t>$ git push</a:t>
              </a:r>
              <a:endParaRPr kumimoji="1" lang="ja-JP" altLang="en-US">
                <a:solidFill>
                  <a:schemeClr val="bg1"/>
                </a:solidFill>
                <a:latin typeface="Consolas" panose="020B0609020204030204" pitchFamily="49" charset="0"/>
                <a:cs typeface="Consolas" panose="020B0609020204030204" pitchFamily="49" charset="0"/>
              </a:endParaRPr>
            </a:p>
          </p:txBody>
        </p:sp>
      </p:grpSp>
      <p:sp>
        <p:nvSpPr>
          <p:cNvPr id="56" name="右矢印 55">
            <a:extLst>
              <a:ext uri="{FF2B5EF4-FFF2-40B4-BE49-F238E27FC236}">
                <a16:creationId xmlns:a16="http://schemas.microsoft.com/office/drawing/2014/main" id="{FB572DF7-06B8-FAFB-1223-B36E9172A2B5}"/>
              </a:ext>
            </a:extLst>
          </p:cNvPr>
          <p:cNvSpPr/>
          <p:nvPr/>
        </p:nvSpPr>
        <p:spPr>
          <a:xfrm>
            <a:off x="1892761" y="5842087"/>
            <a:ext cx="706773" cy="474151"/>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57" name="グループ化 56">
            <a:extLst>
              <a:ext uri="{FF2B5EF4-FFF2-40B4-BE49-F238E27FC236}">
                <a16:creationId xmlns:a16="http://schemas.microsoft.com/office/drawing/2014/main" id="{56FCF2BE-0474-312C-14F9-F08BBBCC2B6B}"/>
              </a:ext>
            </a:extLst>
          </p:cNvPr>
          <p:cNvGrpSpPr/>
          <p:nvPr/>
        </p:nvGrpSpPr>
        <p:grpSpPr>
          <a:xfrm>
            <a:off x="7035434" y="5252187"/>
            <a:ext cx="1422917" cy="1347882"/>
            <a:chOff x="6140761" y="2760383"/>
            <a:chExt cx="2118829" cy="2007096"/>
          </a:xfrm>
        </p:grpSpPr>
        <p:pic>
          <p:nvPicPr>
            <p:cNvPr id="58" name="図 57">
              <a:extLst>
                <a:ext uri="{FF2B5EF4-FFF2-40B4-BE49-F238E27FC236}">
                  <a16:creationId xmlns:a16="http://schemas.microsoft.com/office/drawing/2014/main" id="{B589E695-0AD1-0589-6790-4EE51190A0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44817" y="3624479"/>
              <a:ext cx="1143000" cy="1143000"/>
            </a:xfrm>
            <a:prstGeom prst="rect">
              <a:avLst/>
            </a:prstGeom>
          </p:spPr>
        </p:pic>
        <p:pic>
          <p:nvPicPr>
            <p:cNvPr id="59" name="図 58">
              <a:extLst>
                <a:ext uri="{FF2B5EF4-FFF2-40B4-BE49-F238E27FC236}">
                  <a16:creationId xmlns:a16="http://schemas.microsoft.com/office/drawing/2014/main" id="{7AA9C658-FD01-6C59-DE98-A8E1F2BB4FE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40761" y="2760383"/>
              <a:ext cx="2118829" cy="868720"/>
            </a:xfrm>
            <a:prstGeom prst="rect">
              <a:avLst/>
            </a:prstGeom>
          </p:spPr>
        </p:pic>
      </p:grpSp>
      <p:sp>
        <p:nvSpPr>
          <p:cNvPr id="60" name="角丸四角形 59">
            <a:extLst>
              <a:ext uri="{FF2B5EF4-FFF2-40B4-BE49-F238E27FC236}">
                <a16:creationId xmlns:a16="http://schemas.microsoft.com/office/drawing/2014/main" id="{60FEFD80-40CD-E74F-E899-9B39986BCA45}"/>
              </a:ext>
            </a:extLst>
          </p:cNvPr>
          <p:cNvSpPr/>
          <p:nvPr/>
        </p:nvSpPr>
        <p:spPr>
          <a:xfrm>
            <a:off x="5420642" y="5216390"/>
            <a:ext cx="1505451" cy="1499724"/>
          </a:xfrm>
          <a:prstGeom prst="roundRect">
            <a:avLst/>
          </a:prstGeom>
          <a:noFill/>
          <a:ln w="381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右矢印 60">
            <a:extLst>
              <a:ext uri="{FF2B5EF4-FFF2-40B4-BE49-F238E27FC236}">
                <a16:creationId xmlns:a16="http://schemas.microsoft.com/office/drawing/2014/main" id="{E9C38E4D-CF8A-6A52-ABA9-E477292AA048}"/>
              </a:ext>
            </a:extLst>
          </p:cNvPr>
          <p:cNvSpPr/>
          <p:nvPr/>
        </p:nvSpPr>
        <p:spPr>
          <a:xfrm>
            <a:off x="4379170" y="5787136"/>
            <a:ext cx="795970" cy="474151"/>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フローチャート: 磁気ディスク 61">
            <a:extLst>
              <a:ext uri="{FF2B5EF4-FFF2-40B4-BE49-F238E27FC236}">
                <a16:creationId xmlns:a16="http://schemas.microsoft.com/office/drawing/2014/main" id="{BFDD3D5A-B7CD-C8CB-D060-3CAA795B0AB1}"/>
              </a:ext>
            </a:extLst>
          </p:cNvPr>
          <p:cNvSpPr/>
          <p:nvPr/>
        </p:nvSpPr>
        <p:spPr>
          <a:xfrm>
            <a:off x="6208612" y="5541690"/>
            <a:ext cx="563225" cy="849124"/>
          </a:xfrm>
          <a:prstGeom prst="flowChartMagneticDisk">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dirty="0">
              <a:solidFill>
                <a:schemeClr val="tx1"/>
              </a:solidFill>
              <a:latin typeface="Consolas" panose="020B0609020204030204" pitchFamily="49" charset="0"/>
            </a:endParaRPr>
          </a:p>
        </p:txBody>
      </p:sp>
    </p:spTree>
    <p:extLst>
      <p:ext uri="{BB962C8B-B14F-4D97-AF65-F5344CB8AC3E}">
        <p14:creationId xmlns:p14="http://schemas.microsoft.com/office/powerpoint/2010/main" val="20864414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9FDF87C0-169A-8BFE-A28D-3A923F1A162E}"/>
              </a:ext>
            </a:extLst>
          </p:cNvPr>
          <p:cNvSpPr>
            <a:spLocks noGrp="1"/>
          </p:cNvSpPr>
          <p:nvPr>
            <p:ph type="body" sz="quarter" idx="10"/>
          </p:nvPr>
        </p:nvSpPr>
        <p:spPr/>
        <p:txBody>
          <a:bodyPr/>
          <a:lstStyle/>
          <a:p>
            <a:r>
              <a:rPr lang="en-US" altLang="ja-JP" dirty="0"/>
              <a:t>GitHub</a:t>
            </a:r>
            <a:r>
              <a:rPr lang="ja-JP" altLang="en-US"/>
              <a:t>へのユーザ認証</a:t>
            </a:r>
          </a:p>
        </p:txBody>
      </p:sp>
      <p:grpSp>
        <p:nvGrpSpPr>
          <p:cNvPr id="3" name="グループ化 2">
            <a:extLst>
              <a:ext uri="{FF2B5EF4-FFF2-40B4-BE49-F238E27FC236}">
                <a16:creationId xmlns:a16="http://schemas.microsoft.com/office/drawing/2014/main" id="{E1430FB7-1C87-7643-9B3F-377CF8BDF350}"/>
              </a:ext>
            </a:extLst>
          </p:cNvPr>
          <p:cNvGrpSpPr/>
          <p:nvPr/>
        </p:nvGrpSpPr>
        <p:grpSpPr>
          <a:xfrm>
            <a:off x="4837215" y="2658374"/>
            <a:ext cx="752361" cy="1008112"/>
            <a:chOff x="3963655" y="1196752"/>
            <a:chExt cx="752361" cy="1008112"/>
          </a:xfrm>
        </p:grpSpPr>
        <p:sp>
          <p:nvSpPr>
            <p:cNvPr id="4" name="正方形/長方形 3">
              <a:extLst>
                <a:ext uri="{FF2B5EF4-FFF2-40B4-BE49-F238E27FC236}">
                  <a16:creationId xmlns:a16="http://schemas.microsoft.com/office/drawing/2014/main" id="{FA82EFE1-9702-3267-AA7E-14D54ECCD534}"/>
                </a:ext>
              </a:extLst>
            </p:cNvPr>
            <p:cNvSpPr/>
            <p:nvPr/>
          </p:nvSpPr>
          <p:spPr>
            <a:xfrm>
              <a:off x="4211960" y="1196752"/>
              <a:ext cx="504056" cy="1008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三角形 4">
              <a:extLst>
                <a:ext uri="{FF2B5EF4-FFF2-40B4-BE49-F238E27FC236}">
                  <a16:creationId xmlns:a16="http://schemas.microsoft.com/office/drawing/2014/main" id="{13F80BDB-DA5F-E626-A32A-4FD7CC72C752}"/>
                </a:ext>
              </a:extLst>
            </p:cNvPr>
            <p:cNvSpPr/>
            <p:nvPr/>
          </p:nvSpPr>
          <p:spPr>
            <a:xfrm rot="5400000">
              <a:off x="3923927" y="1452505"/>
              <a:ext cx="576064" cy="496607"/>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6" name="グループ化 5">
            <a:extLst>
              <a:ext uri="{FF2B5EF4-FFF2-40B4-BE49-F238E27FC236}">
                <a16:creationId xmlns:a16="http://schemas.microsoft.com/office/drawing/2014/main" id="{8941303F-1B7B-E92D-7C16-DEDFF2F6D68A}"/>
              </a:ext>
            </a:extLst>
          </p:cNvPr>
          <p:cNvGrpSpPr/>
          <p:nvPr/>
        </p:nvGrpSpPr>
        <p:grpSpPr>
          <a:xfrm>
            <a:off x="1931792" y="1654579"/>
            <a:ext cx="756083" cy="1008112"/>
            <a:chOff x="971600" y="980729"/>
            <a:chExt cx="756083" cy="1008112"/>
          </a:xfrm>
        </p:grpSpPr>
        <p:sp>
          <p:nvSpPr>
            <p:cNvPr id="7" name="正方形/長方形 6">
              <a:extLst>
                <a:ext uri="{FF2B5EF4-FFF2-40B4-BE49-F238E27FC236}">
                  <a16:creationId xmlns:a16="http://schemas.microsoft.com/office/drawing/2014/main" id="{A3907C2D-A537-4FAA-68EA-33B908575762}"/>
                </a:ext>
              </a:extLst>
            </p:cNvPr>
            <p:cNvSpPr/>
            <p:nvPr/>
          </p:nvSpPr>
          <p:spPr>
            <a:xfrm>
              <a:off x="971600" y="980729"/>
              <a:ext cx="504056" cy="1008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三角形 7">
              <a:extLst>
                <a:ext uri="{FF2B5EF4-FFF2-40B4-BE49-F238E27FC236}">
                  <a16:creationId xmlns:a16="http://schemas.microsoft.com/office/drawing/2014/main" id="{04EBFD47-4D17-D8D8-874F-787C84E73917}"/>
                </a:ext>
              </a:extLst>
            </p:cNvPr>
            <p:cNvSpPr/>
            <p:nvPr/>
          </p:nvSpPr>
          <p:spPr>
            <a:xfrm rot="5400000">
              <a:off x="1191348" y="1236482"/>
              <a:ext cx="576064" cy="49660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9" name="Picture 4" descr="笑う男性のイラスト（段階2）">
            <a:extLst>
              <a:ext uri="{FF2B5EF4-FFF2-40B4-BE49-F238E27FC236}">
                <a16:creationId xmlns:a16="http://schemas.microsoft.com/office/drawing/2014/main" id="{00B4798E-8F12-ACD4-ED23-8E5509C546D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73721" y="1661653"/>
            <a:ext cx="672081" cy="903335"/>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グループ化 9">
            <a:extLst>
              <a:ext uri="{FF2B5EF4-FFF2-40B4-BE49-F238E27FC236}">
                <a16:creationId xmlns:a16="http://schemas.microsoft.com/office/drawing/2014/main" id="{D59B8358-782F-BE77-6B3B-4ACD8EFDCE48}"/>
              </a:ext>
            </a:extLst>
          </p:cNvPr>
          <p:cNvGrpSpPr/>
          <p:nvPr/>
        </p:nvGrpSpPr>
        <p:grpSpPr>
          <a:xfrm>
            <a:off x="6558355" y="2439414"/>
            <a:ext cx="1422917" cy="1347882"/>
            <a:chOff x="6140761" y="2760383"/>
            <a:chExt cx="2118829" cy="2007096"/>
          </a:xfrm>
        </p:grpSpPr>
        <p:pic>
          <p:nvPicPr>
            <p:cNvPr id="11" name="図 10">
              <a:extLst>
                <a:ext uri="{FF2B5EF4-FFF2-40B4-BE49-F238E27FC236}">
                  <a16:creationId xmlns:a16="http://schemas.microsoft.com/office/drawing/2014/main" id="{9AAACA4F-A2E0-C79F-1651-9C97309A20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44817" y="3624479"/>
              <a:ext cx="1143000" cy="1143000"/>
            </a:xfrm>
            <a:prstGeom prst="rect">
              <a:avLst/>
            </a:prstGeom>
          </p:spPr>
        </p:pic>
        <p:pic>
          <p:nvPicPr>
            <p:cNvPr id="12" name="図 11">
              <a:extLst>
                <a:ext uri="{FF2B5EF4-FFF2-40B4-BE49-F238E27FC236}">
                  <a16:creationId xmlns:a16="http://schemas.microsoft.com/office/drawing/2014/main" id="{0779166F-C141-4021-4D57-763438633F1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40761" y="2760383"/>
              <a:ext cx="2118829" cy="868720"/>
            </a:xfrm>
            <a:prstGeom prst="rect">
              <a:avLst/>
            </a:prstGeom>
          </p:spPr>
        </p:pic>
      </p:grpSp>
      <p:sp>
        <p:nvSpPr>
          <p:cNvPr id="13" name="角丸四角形 12">
            <a:extLst>
              <a:ext uri="{FF2B5EF4-FFF2-40B4-BE49-F238E27FC236}">
                <a16:creationId xmlns:a16="http://schemas.microsoft.com/office/drawing/2014/main" id="{ABA722FD-7A7A-EB12-B3EA-A8179D8190DB}"/>
              </a:ext>
            </a:extLst>
          </p:cNvPr>
          <p:cNvSpPr/>
          <p:nvPr/>
        </p:nvSpPr>
        <p:spPr>
          <a:xfrm>
            <a:off x="4943563" y="2403617"/>
            <a:ext cx="1505451" cy="1499724"/>
          </a:xfrm>
          <a:prstGeom prst="roundRect">
            <a:avLst/>
          </a:prstGeom>
          <a:noFill/>
          <a:ln w="381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右矢印 13">
            <a:extLst>
              <a:ext uri="{FF2B5EF4-FFF2-40B4-BE49-F238E27FC236}">
                <a16:creationId xmlns:a16="http://schemas.microsoft.com/office/drawing/2014/main" id="{9FC08C74-945B-4197-7B52-BD85C498D0FB}"/>
              </a:ext>
            </a:extLst>
          </p:cNvPr>
          <p:cNvSpPr/>
          <p:nvPr/>
        </p:nvSpPr>
        <p:spPr>
          <a:xfrm rot="1697823">
            <a:off x="3201080" y="2501187"/>
            <a:ext cx="1348574" cy="474151"/>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フローチャート: 磁気ディスク 14">
            <a:extLst>
              <a:ext uri="{FF2B5EF4-FFF2-40B4-BE49-F238E27FC236}">
                <a16:creationId xmlns:a16="http://schemas.microsoft.com/office/drawing/2014/main" id="{9C9F6F36-8627-8EEC-739E-C8CF853915D7}"/>
              </a:ext>
            </a:extLst>
          </p:cNvPr>
          <p:cNvSpPr/>
          <p:nvPr/>
        </p:nvSpPr>
        <p:spPr>
          <a:xfrm>
            <a:off x="5731533" y="2728917"/>
            <a:ext cx="563225" cy="849124"/>
          </a:xfrm>
          <a:prstGeom prst="flowChartMagneticDisk">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dirty="0">
              <a:solidFill>
                <a:schemeClr val="tx1"/>
              </a:solidFill>
              <a:latin typeface="Consolas" panose="020B0609020204030204" pitchFamily="49" charset="0"/>
            </a:endParaRPr>
          </a:p>
        </p:txBody>
      </p:sp>
      <p:sp>
        <p:nvSpPr>
          <p:cNvPr id="16" name="正方形/長方形 15">
            <a:extLst>
              <a:ext uri="{FF2B5EF4-FFF2-40B4-BE49-F238E27FC236}">
                <a16:creationId xmlns:a16="http://schemas.microsoft.com/office/drawing/2014/main" id="{88C9A00C-985E-E84E-EA95-3E6CB804E1A3}"/>
              </a:ext>
            </a:extLst>
          </p:cNvPr>
          <p:cNvSpPr/>
          <p:nvPr/>
        </p:nvSpPr>
        <p:spPr>
          <a:xfrm>
            <a:off x="1963442" y="4271620"/>
            <a:ext cx="504056" cy="1008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円/楕円 16">
            <a:extLst>
              <a:ext uri="{FF2B5EF4-FFF2-40B4-BE49-F238E27FC236}">
                <a16:creationId xmlns:a16="http://schemas.microsoft.com/office/drawing/2014/main" id="{BE001480-BFD0-50EB-39E8-4014CB8E096F}"/>
              </a:ext>
            </a:extLst>
          </p:cNvPr>
          <p:cNvSpPr/>
          <p:nvPr/>
        </p:nvSpPr>
        <p:spPr>
          <a:xfrm>
            <a:off x="2254436" y="4563403"/>
            <a:ext cx="425963" cy="4259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8" name="Picture 2" descr="ハッカーのイラスト（笑顔）">
            <a:extLst>
              <a:ext uri="{FF2B5EF4-FFF2-40B4-BE49-F238E27FC236}">
                <a16:creationId xmlns:a16="http://schemas.microsoft.com/office/drawing/2014/main" id="{2308A539-86D8-1834-8C16-2D468FD35355}"/>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87967" y="4271620"/>
            <a:ext cx="766165" cy="1008112"/>
          </a:xfrm>
          <a:prstGeom prst="rect">
            <a:avLst/>
          </a:prstGeom>
          <a:noFill/>
          <a:extLst>
            <a:ext uri="{909E8E84-426E-40DD-AFC4-6F175D3DCCD1}">
              <a14:hiddenFill xmlns:a14="http://schemas.microsoft.com/office/drawing/2010/main">
                <a:solidFill>
                  <a:srgbClr val="FFFFFF"/>
                </a:solidFill>
              </a14:hiddenFill>
            </a:ext>
          </a:extLst>
        </p:spPr>
      </p:pic>
      <p:sp>
        <p:nvSpPr>
          <p:cNvPr id="19" name="右矢印 18">
            <a:extLst>
              <a:ext uri="{FF2B5EF4-FFF2-40B4-BE49-F238E27FC236}">
                <a16:creationId xmlns:a16="http://schemas.microsoft.com/office/drawing/2014/main" id="{292C547F-81D4-BEFA-2440-A84E28ED9A56}"/>
              </a:ext>
            </a:extLst>
          </p:cNvPr>
          <p:cNvSpPr/>
          <p:nvPr/>
        </p:nvSpPr>
        <p:spPr>
          <a:xfrm rot="19577691">
            <a:off x="3162609" y="3912434"/>
            <a:ext cx="1348574" cy="474151"/>
          </a:xfrm>
          <a:prstGeom prst="rightArrow">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十字形 19">
            <a:extLst>
              <a:ext uri="{FF2B5EF4-FFF2-40B4-BE49-F238E27FC236}">
                <a16:creationId xmlns:a16="http://schemas.microsoft.com/office/drawing/2014/main" id="{12B6E829-EC31-0977-4D73-E19F9AA6AEDB}"/>
              </a:ext>
            </a:extLst>
          </p:cNvPr>
          <p:cNvSpPr/>
          <p:nvPr/>
        </p:nvSpPr>
        <p:spPr>
          <a:xfrm rot="2700000">
            <a:off x="3625870" y="4449074"/>
            <a:ext cx="543673" cy="543673"/>
          </a:xfrm>
          <a:prstGeom prst="plus">
            <a:avLst>
              <a:gd name="adj" fmla="val 45153"/>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ドーナツ 20">
            <a:extLst>
              <a:ext uri="{FF2B5EF4-FFF2-40B4-BE49-F238E27FC236}">
                <a16:creationId xmlns:a16="http://schemas.microsoft.com/office/drawing/2014/main" id="{DF220975-9531-08DE-4C0D-3EBDCD43454E}"/>
              </a:ext>
            </a:extLst>
          </p:cNvPr>
          <p:cNvSpPr/>
          <p:nvPr/>
        </p:nvSpPr>
        <p:spPr>
          <a:xfrm>
            <a:off x="3731833" y="1938130"/>
            <a:ext cx="502106" cy="502106"/>
          </a:xfrm>
          <a:prstGeom prst="donut">
            <a:avLst>
              <a:gd name="adj" fmla="val 11208"/>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2" name="テキスト ボックス 21">
            <a:extLst>
              <a:ext uri="{FF2B5EF4-FFF2-40B4-BE49-F238E27FC236}">
                <a16:creationId xmlns:a16="http://schemas.microsoft.com/office/drawing/2014/main" id="{8CD9A82B-B50B-C8DB-5DD5-1B0142990F75}"/>
              </a:ext>
            </a:extLst>
          </p:cNvPr>
          <p:cNvSpPr txBox="1"/>
          <p:nvPr/>
        </p:nvSpPr>
        <p:spPr>
          <a:xfrm>
            <a:off x="333375" y="5491438"/>
            <a:ext cx="8392041" cy="707886"/>
          </a:xfrm>
          <a:prstGeom prst="rect">
            <a:avLst/>
          </a:prstGeom>
          <a:noFill/>
        </p:spPr>
        <p:txBody>
          <a:bodyPr wrap="none" rtlCol="0">
            <a:spAutoFit/>
          </a:bodyPr>
          <a:lstStyle/>
          <a:p>
            <a:r>
              <a:rPr kumimoji="1" lang="ja-JP" altLang="en-US" sz="2000"/>
              <a:t>登録済みの公開鍵に対応する秘密鍵を所持する人だけがアクセスできる</a:t>
            </a:r>
            <a:endParaRPr kumimoji="1" lang="en-US" altLang="ja-JP" sz="2000" dirty="0"/>
          </a:p>
          <a:p>
            <a:r>
              <a:rPr lang="ja-JP" altLang="en-US" sz="2000"/>
              <a:t>→</a:t>
            </a:r>
            <a:r>
              <a:rPr lang="en-US" altLang="ja-JP" sz="2000" dirty="0"/>
              <a:t> </a:t>
            </a:r>
            <a:r>
              <a:rPr lang="ja-JP" altLang="en-US" sz="2000"/>
              <a:t>所持認証</a:t>
            </a:r>
            <a:endParaRPr kumimoji="1" lang="ja-JP" altLang="en-US" sz="2000"/>
          </a:p>
        </p:txBody>
      </p:sp>
    </p:spTree>
    <p:extLst>
      <p:ext uri="{BB962C8B-B14F-4D97-AF65-F5344CB8AC3E}">
        <p14:creationId xmlns:p14="http://schemas.microsoft.com/office/powerpoint/2010/main" val="4311449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DE05B80A-0F97-332B-0984-33A39814ADA1}"/>
              </a:ext>
            </a:extLst>
          </p:cNvPr>
          <p:cNvSpPr>
            <a:spLocks noGrp="1"/>
          </p:cNvSpPr>
          <p:nvPr>
            <p:ph type="body" sz="quarter" idx="10"/>
          </p:nvPr>
        </p:nvSpPr>
        <p:spPr/>
        <p:txBody>
          <a:bodyPr/>
          <a:lstStyle/>
          <a:p>
            <a:r>
              <a:rPr kumimoji="1" lang="ja-JP" altLang="en-US"/>
              <a:t>秘密鍵の暗号化</a:t>
            </a:r>
          </a:p>
        </p:txBody>
      </p:sp>
      <p:grpSp>
        <p:nvGrpSpPr>
          <p:cNvPr id="37" name="グループ化 36">
            <a:extLst>
              <a:ext uri="{FF2B5EF4-FFF2-40B4-BE49-F238E27FC236}">
                <a16:creationId xmlns:a16="http://schemas.microsoft.com/office/drawing/2014/main" id="{8885BCE6-B8FA-A9D9-E5AE-BF4166D0776B}"/>
              </a:ext>
            </a:extLst>
          </p:cNvPr>
          <p:cNvGrpSpPr/>
          <p:nvPr/>
        </p:nvGrpSpPr>
        <p:grpSpPr>
          <a:xfrm>
            <a:off x="2700578" y="4022490"/>
            <a:ext cx="756083" cy="1008112"/>
            <a:chOff x="971600" y="980729"/>
            <a:chExt cx="756083" cy="1008112"/>
          </a:xfrm>
          <a:solidFill>
            <a:srgbClr val="FFC000"/>
          </a:solidFill>
        </p:grpSpPr>
        <p:sp>
          <p:nvSpPr>
            <p:cNvPr id="38" name="正方形/長方形 37">
              <a:extLst>
                <a:ext uri="{FF2B5EF4-FFF2-40B4-BE49-F238E27FC236}">
                  <a16:creationId xmlns:a16="http://schemas.microsoft.com/office/drawing/2014/main" id="{0755CC97-3D12-8C68-A069-40E553B6A8B8}"/>
                </a:ext>
              </a:extLst>
            </p:cNvPr>
            <p:cNvSpPr/>
            <p:nvPr/>
          </p:nvSpPr>
          <p:spPr>
            <a:xfrm>
              <a:off x="971600" y="980729"/>
              <a:ext cx="504056" cy="100811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三角形 38">
              <a:extLst>
                <a:ext uri="{FF2B5EF4-FFF2-40B4-BE49-F238E27FC236}">
                  <a16:creationId xmlns:a16="http://schemas.microsoft.com/office/drawing/2014/main" id="{53B247EE-92BF-F174-4FA0-98626D221714}"/>
                </a:ext>
              </a:extLst>
            </p:cNvPr>
            <p:cNvSpPr/>
            <p:nvPr/>
          </p:nvSpPr>
          <p:spPr>
            <a:xfrm rot="5400000">
              <a:off x="1191348" y="1236482"/>
              <a:ext cx="576064" cy="49660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40" name="テキスト ボックス 39">
            <a:extLst>
              <a:ext uri="{FF2B5EF4-FFF2-40B4-BE49-F238E27FC236}">
                <a16:creationId xmlns:a16="http://schemas.microsoft.com/office/drawing/2014/main" id="{D3571191-518B-7333-5A8C-90428950EE5F}"/>
              </a:ext>
            </a:extLst>
          </p:cNvPr>
          <p:cNvSpPr txBox="1"/>
          <p:nvPr/>
        </p:nvSpPr>
        <p:spPr>
          <a:xfrm>
            <a:off x="804884" y="1248777"/>
            <a:ext cx="8186857" cy="830997"/>
          </a:xfrm>
          <a:prstGeom prst="rect">
            <a:avLst/>
          </a:prstGeom>
          <a:noFill/>
        </p:spPr>
        <p:txBody>
          <a:bodyPr wrap="none" rtlCol="0">
            <a:spAutoFit/>
          </a:bodyPr>
          <a:lstStyle/>
          <a:p>
            <a:r>
              <a:rPr kumimoji="1" lang="ja-JP" altLang="en-US" sz="2400"/>
              <a:t>秘密鍵は電子ファイルなので、容易にコピーされてしまう</a:t>
            </a:r>
            <a:endParaRPr kumimoji="1" lang="en-US" altLang="ja-JP" sz="2400" dirty="0"/>
          </a:p>
          <a:p>
            <a:r>
              <a:rPr lang="ja-JP" altLang="en-US" sz="2400"/>
              <a:t>→</a:t>
            </a:r>
            <a:r>
              <a:rPr lang="en-US" altLang="ja-JP" sz="2400" dirty="0"/>
              <a:t> </a:t>
            </a:r>
            <a:r>
              <a:rPr lang="ja-JP" altLang="en-US" sz="2400"/>
              <a:t>暗号化により守る</a:t>
            </a:r>
            <a:endParaRPr kumimoji="1" lang="ja-JP" altLang="en-US" sz="2400"/>
          </a:p>
        </p:txBody>
      </p:sp>
      <p:pic>
        <p:nvPicPr>
          <p:cNvPr id="41" name="Picture 2" descr="シンプルな南京錠のイラスト（鎖つき）">
            <a:extLst>
              <a:ext uri="{FF2B5EF4-FFF2-40B4-BE49-F238E27FC236}">
                <a16:creationId xmlns:a16="http://schemas.microsoft.com/office/drawing/2014/main" id="{A9517A73-B2EA-8637-491E-E9471F029AD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67006" y="4295446"/>
            <a:ext cx="1513405" cy="830997"/>
          </a:xfrm>
          <a:prstGeom prst="rect">
            <a:avLst/>
          </a:prstGeom>
          <a:noFill/>
          <a:extLst>
            <a:ext uri="{909E8E84-426E-40DD-AFC4-6F175D3DCCD1}">
              <a14:hiddenFill xmlns:a14="http://schemas.microsoft.com/office/drawing/2010/main">
                <a:solidFill>
                  <a:srgbClr val="FFFFFF"/>
                </a:solidFill>
              </a14:hiddenFill>
            </a:ext>
          </a:extLst>
        </p:spPr>
      </p:pic>
      <p:sp>
        <p:nvSpPr>
          <p:cNvPr id="42" name="角丸四角形 41">
            <a:extLst>
              <a:ext uri="{FF2B5EF4-FFF2-40B4-BE49-F238E27FC236}">
                <a16:creationId xmlns:a16="http://schemas.microsoft.com/office/drawing/2014/main" id="{C7D3BD9E-A5CA-8E1E-BAD9-F95D855BA486}"/>
              </a:ext>
            </a:extLst>
          </p:cNvPr>
          <p:cNvSpPr/>
          <p:nvPr/>
        </p:nvSpPr>
        <p:spPr>
          <a:xfrm>
            <a:off x="2243004" y="3847415"/>
            <a:ext cx="1361410" cy="1374870"/>
          </a:xfrm>
          <a:prstGeom prst="roundRect">
            <a:avLst/>
          </a:prstGeom>
          <a:noFill/>
          <a:ln w="381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3" name="Picture 4" descr="笑う男性のイラスト（段階2）">
            <a:extLst>
              <a:ext uri="{FF2B5EF4-FFF2-40B4-BE49-F238E27FC236}">
                <a16:creationId xmlns:a16="http://schemas.microsoft.com/office/drawing/2014/main" id="{C972656F-0208-3C00-CB21-1FBC4B2B25F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35959" y="3215669"/>
            <a:ext cx="672081" cy="903335"/>
          </a:xfrm>
          <a:prstGeom prst="rect">
            <a:avLst/>
          </a:prstGeom>
          <a:noFill/>
          <a:extLst>
            <a:ext uri="{909E8E84-426E-40DD-AFC4-6F175D3DCCD1}">
              <a14:hiddenFill xmlns:a14="http://schemas.microsoft.com/office/drawing/2010/main">
                <a:solidFill>
                  <a:srgbClr val="FFFFFF"/>
                </a:solidFill>
              </a14:hiddenFill>
            </a:ext>
          </a:extLst>
        </p:spPr>
      </p:pic>
      <p:sp>
        <p:nvSpPr>
          <p:cNvPr id="44" name="雲 43">
            <a:extLst>
              <a:ext uri="{FF2B5EF4-FFF2-40B4-BE49-F238E27FC236}">
                <a16:creationId xmlns:a16="http://schemas.microsoft.com/office/drawing/2014/main" id="{29B70805-EDED-5510-A0BF-7A8221C62B1A}"/>
              </a:ext>
            </a:extLst>
          </p:cNvPr>
          <p:cNvSpPr/>
          <p:nvPr/>
        </p:nvSpPr>
        <p:spPr>
          <a:xfrm>
            <a:off x="4711736" y="2578982"/>
            <a:ext cx="1697397" cy="780338"/>
          </a:xfrm>
          <a:prstGeom prst="clou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テキスト ボックス 44">
            <a:extLst>
              <a:ext uri="{FF2B5EF4-FFF2-40B4-BE49-F238E27FC236}">
                <a16:creationId xmlns:a16="http://schemas.microsoft.com/office/drawing/2014/main" id="{D7D84B11-4E54-2DC4-EF96-80431F233ED6}"/>
              </a:ext>
            </a:extLst>
          </p:cNvPr>
          <p:cNvSpPr txBox="1"/>
          <p:nvPr/>
        </p:nvSpPr>
        <p:spPr>
          <a:xfrm>
            <a:off x="4925326" y="2778872"/>
            <a:ext cx="1483807" cy="369332"/>
          </a:xfrm>
          <a:prstGeom prst="rect">
            <a:avLst/>
          </a:prstGeom>
          <a:noFill/>
        </p:spPr>
        <p:txBody>
          <a:bodyPr wrap="square" rtlCol="0">
            <a:spAutoFit/>
          </a:bodyPr>
          <a:lstStyle/>
          <a:p>
            <a:r>
              <a:rPr lang="en" altLang="ja-JP" b="0" i="0" dirty="0">
                <a:solidFill>
                  <a:srgbClr val="202124"/>
                </a:solidFill>
                <a:effectLst/>
                <a:latin typeface="Google Sans"/>
              </a:rPr>
              <a:t>Abracadabra</a:t>
            </a:r>
            <a:endParaRPr kumimoji="1" lang="ja-JP" altLang="en-US"/>
          </a:p>
        </p:txBody>
      </p:sp>
      <p:sp>
        <p:nvSpPr>
          <p:cNvPr id="46" name="テキスト ボックス 45">
            <a:extLst>
              <a:ext uri="{FF2B5EF4-FFF2-40B4-BE49-F238E27FC236}">
                <a16:creationId xmlns:a16="http://schemas.microsoft.com/office/drawing/2014/main" id="{018F9A34-A7D1-8B5E-D529-A29AE141BFD0}"/>
              </a:ext>
            </a:extLst>
          </p:cNvPr>
          <p:cNvSpPr txBox="1"/>
          <p:nvPr/>
        </p:nvSpPr>
        <p:spPr>
          <a:xfrm>
            <a:off x="4839473" y="2183200"/>
            <a:ext cx="1569660" cy="369332"/>
          </a:xfrm>
          <a:prstGeom prst="rect">
            <a:avLst/>
          </a:prstGeom>
          <a:noFill/>
        </p:spPr>
        <p:txBody>
          <a:bodyPr wrap="none" rtlCol="0">
            <a:spAutoFit/>
          </a:bodyPr>
          <a:lstStyle/>
          <a:p>
            <a:r>
              <a:rPr kumimoji="1" lang="ja-JP" altLang="en-US">
                <a:solidFill>
                  <a:srgbClr val="011893"/>
                </a:solidFill>
              </a:rPr>
              <a:t>パスフレーズ</a:t>
            </a:r>
          </a:p>
        </p:txBody>
      </p:sp>
      <p:sp>
        <p:nvSpPr>
          <p:cNvPr id="47" name="右矢印 46">
            <a:extLst>
              <a:ext uri="{FF2B5EF4-FFF2-40B4-BE49-F238E27FC236}">
                <a16:creationId xmlns:a16="http://schemas.microsoft.com/office/drawing/2014/main" id="{45839021-8978-213C-20E5-0CFBC0BB7003}"/>
              </a:ext>
            </a:extLst>
          </p:cNvPr>
          <p:cNvSpPr/>
          <p:nvPr/>
        </p:nvSpPr>
        <p:spPr>
          <a:xfrm>
            <a:off x="3866911" y="4121733"/>
            <a:ext cx="1697397" cy="468175"/>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8" name="グループ化 47">
            <a:extLst>
              <a:ext uri="{FF2B5EF4-FFF2-40B4-BE49-F238E27FC236}">
                <a16:creationId xmlns:a16="http://schemas.microsoft.com/office/drawing/2014/main" id="{3923F0AD-C5FD-483E-5C57-298D0D055D8D}"/>
              </a:ext>
            </a:extLst>
          </p:cNvPr>
          <p:cNvGrpSpPr/>
          <p:nvPr/>
        </p:nvGrpSpPr>
        <p:grpSpPr>
          <a:xfrm>
            <a:off x="6132871" y="3880925"/>
            <a:ext cx="756083" cy="1008112"/>
            <a:chOff x="971600" y="980729"/>
            <a:chExt cx="756083" cy="1008112"/>
          </a:xfrm>
          <a:solidFill>
            <a:srgbClr val="FFC000"/>
          </a:solidFill>
        </p:grpSpPr>
        <p:sp>
          <p:nvSpPr>
            <p:cNvPr id="49" name="正方形/長方形 48">
              <a:extLst>
                <a:ext uri="{FF2B5EF4-FFF2-40B4-BE49-F238E27FC236}">
                  <a16:creationId xmlns:a16="http://schemas.microsoft.com/office/drawing/2014/main" id="{8D7D8DB0-E9F2-E2EF-61DA-0CA721DB7225}"/>
                </a:ext>
              </a:extLst>
            </p:cNvPr>
            <p:cNvSpPr/>
            <p:nvPr/>
          </p:nvSpPr>
          <p:spPr>
            <a:xfrm>
              <a:off x="971600" y="980729"/>
              <a:ext cx="504056" cy="100811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三角形 49">
              <a:extLst>
                <a:ext uri="{FF2B5EF4-FFF2-40B4-BE49-F238E27FC236}">
                  <a16:creationId xmlns:a16="http://schemas.microsoft.com/office/drawing/2014/main" id="{B17F1B64-6CF3-8D92-B214-6B67EDFF460E}"/>
                </a:ext>
              </a:extLst>
            </p:cNvPr>
            <p:cNvSpPr/>
            <p:nvPr/>
          </p:nvSpPr>
          <p:spPr>
            <a:xfrm rot="5400000">
              <a:off x="1191348" y="1236482"/>
              <a:ext cx="576064" cy="49660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51" name="テキスト ボックス 50">
            <a:extLst>
              <a:ext uri="{FF2B5EF4-FFF2-40B4-BE49-F238E27FC236}">
                <a16:creationId xmlns:a16="http://schemas.microsoft.com/office/drawing/2014/main" id="{5BCA3ECC-02FE-AA88-32AF-96D1B9E6C9C1}"/>
              </a:ext>
            </a:extLst>
          </p:cNvPr>
          <p:cNvSpPr txBox="1"/>
          <p:nvPr/>
        </p:nvSpPr>
        <p:spPr>
          <a:xfrm>
            <a:off x="881074" y="5518904"/>
            <a:ext cx="7661324" cy="707886"/>
          </a:xfrm>
          <a:prstGeom prst="rect">
            <a:avLst/>
          </a:prstGeom>
          <a:noFill/>
        </p:spPr>
        <p:txBody>
          <a:bodyPr wrap="square" rtlCol="0">
            <a:spAutoFit/>
          </a:bodyPr>
          <a:lstStyle/>
          <a:p>
            <a:r>
              <a:rPr kumimoji="1" lang="ja-JP" altLang="en-US" sz="2000"/>
              <a:t>もし秘密鍵が流出したとしても、暗号化に用いたパスフレーズがわからなければ</a:t>
            </a:r>
            <a:r>
              <a:rPr lang="ja-JP" altLang="en-US" sz="2000"/>
              <a:t>秘密鍵が使えない</a:t>
            </a:r>
            <a:r>
              <a:rPr lang="en-US" altLang="ja-JP" sz="2000" dirty="0"/>
              <a:t>(</a:t>
            </a:r>
            <a:r>
              <a:rPr lang="ja-JP" altLang="en-US" sz="2000">
                <a:solidFill>
                  <a:srgbClr val="FF0000"/>
                </a:solidFill>
              </a:rPr>
              <a:t>知識認証</a:t>
            </a:r>
            <a:r>
              <a:rPr lang="en-US" altLang="ja-JP" sz="2000" dirty="0"/>
              <a:t>)</a:t>
            </a:r>
            <a:endParaRPr kumimoji="1" lang="ja-JP" altLang="en-US" sz="2000"/>
          </a:p>
        </p:txBody>
      </p:sp>
    </p:spTree>
    <p:extLst>
      <p:ext uri="{BB962C8B-B14F-4D97-AF65-F5344CB8AC3E}">
        <p14:creationId xmlns:p14="http://schemas.microsoft.com/office/powerpoint/2010/main" val="2329598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32C17EAA-FC16-49B1-38B3-DC313708EE29}"/>
              </a:ext>
            </a:extLst>
          </p:cNvPr>
          <p:cNvSpPr>
            <a:spLocks noGrp="1"/>
          </p:cNvSpPr>
          <p:nvPr>
            <p:ph type="body" sz="quarter" idx="10"/>
          </p:nvPr>
        </p:nvSpPr>
        <p:spPr/>
        <p:txBody>
          <a:bodyPr/>
          <a:lstStyle/>
          <a:p>
            <a:r>
              <a:rPr kumimoji="1" lang="ja-JP" altLang="en-US"/>
              <a:t>秘密鍵の暗号化</a:t>
            </a:r>
          </a:p>
        </p:txBody>
      </p:sp>
      <p:sp>
        <p:nvSpPr>
          <p:cNvPr id="3" name="テキスト ボックス 2">
            <a:extLst>
              <a:ext uri="{FF2B5EF4-FFF2-40B4-BE49-F238E27FC236}">
                <a16:creationId xmlns:a16="http://schemas.microsoft.com/office/drawing/2014/main" id="{8AF44DE9-62E0-55B5-7F80-5863CE879BBD}"/>
              </a:ext>
            </a:extLst>
          </p:cNvPr>
          <p:cNvSpPr txBox="1"/>
          <p:nvPr/>
        </p:nvSpPr>
        <p:spPr>
          <a:xfrm>
            <a:off x="79513" y="1033648"/>
            <a:ext cx="5404043" cy="369332"/>
          </a:xfrm>
          <a:prstGeom prst="rect">
            <a:avLst/>
          </a:prstGeom>
          <a:noFill/>
        </p:spPr>
        <p:txBody>
          <a:bodyPr wrap="none" rtlCol="0">
            <a:spAutoFit/>
          </a:bodyPr>
          <a:lstStyle/>
          <a:p>
            <a:r>
              <a:rPr lang="en-US" altLang="ja-JP" dirty="0"/>
              <a:t>(1) </a:t>
            </a:r>
            <a:r>
              <a:rPr kumimoji="1" lang="ja-JP" altLang="en-US"/>
              <a:t>ターミナルから</a:t>
            </a:r>
            <a:r>
              <a:rPr kumimoji="1" lang="en-US" altLang="ja-JP" dirty="0"/>
              <a:t>GitHub</a:t>
            </a:r>
            <a:r>
              <a:rPr kumimoji="1" lang="ja-JP" altLang="en-US"/>
              <a:t>にアクセスしようとする</a:t>
            </a:r>
          </a:p>
        </p:txBody>
      </p:sp>
      <p:grpSp>
        <p:nvGrpSpPr>
          <p:cNvPr id="4" name="グループ化 3">
            <a:extLst>
              <a:ext uri="{FF2B5EF4-FFF2-40B4-BE49-F238E27FC236}">
                <a16:creationId xmlns:a16="http://schemas.microsoft.com/office/drawing/2014/main" id="{91DD0C3A-D8AA-ADC2-97A0-BD3D634D7E89}"/>
              </a:ext>
            </a:extLst>
          </p:cNvPr>
          <p:cNvGrpSpPr/>
          <p:nvPr/>
        </p:nvGrpSpPr>
        <p:grpSpPr>
          <a:xfrm>
            <a:off x="2950773" y="1492433"/>
            <a:ext cx="1399083" cy="1126574"/>
            <a:chOff x="3003289" y="4445023"/>
            <a:chExt cx="1623376" cy="1307180"/>
          </a:xfrm>
        </p:grpSpPr>
        <p:sp>
          <p:nvSpPr>
            <p:cNvPr id="5" name="角丸四角形 4">
              <a:extLst>
                <a:ext uri="{FF2B5EF4-FFF2-40B4-BE49-F238E27FC236}">
                  <a16:creationId xmlns:a16="http://schemas.microsoft.com/office/drawing/2014/main" id="{1CC12AA5-617E-8030-66BE-438BA500FB53}"/>
                </a:ext>
              </a:extLst>
            </p:cNvPr>
            <p:cNvSpPr/>
            <p:nvPr/>
          </p:nvSpPr>
          <p:spPr>
            <a:xfrm>
              <a:off x="3042489" y="4445023"/>
              <a:ext cx="1584176" cy="1307180"/>
            </a:xfrm>
            <a:prstGeom prst="roundRect">
              <a:avLst>
                <a:gd name="adj" fmla="val 3521"/>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3845A462-FF07-CBD3-4AB6-A73976A2F1ED}"/>
                </a:ext>
              </a:extLst>
            </p:cNvPr>
            <p:cNvSpPr/>
            <p:nvPr/>
          </p:nvSpPr>
          <p:spPr>
            <a:xfrm>
              <a:off x="3042489" y="4683707"/>
              <a:ext cx="1584176" cy="106849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円/楕円 6">
              <a:extLst>
                <a:ext uri="{FF2B5EF4-FFF2-40B4-BE49-F238E27FC236}">
                  <a16:creationId xmlns:a16="http://schemas.microsoft.com/office/drawing/2014/main" id="{B96BEA2D-82C6-0C77-A005-5B5FF7CB144E}"/>
                </a:ext>
              </a:extLst>
            </p:cNvPr>
            <p:cNvSpPr/>
            <p:nvPr/>
          </p:nvSpPr>
          <p:spPr>
            <a:xfrm>
              <a:off x="3091957" y="4496522"/>
              <a:ext cx="116893" cy="11689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円/楕円 7">
              <a:extLst>
                <a:ext uri="{FF2B5EF4-FFF2-40B4-BE49-F238E27FC236}">
                  <a16:creationId xmlns:a16="http://schemas.microsoft.com/office/drawing/2014/main" id="{69B137F5-63EE-969A-1CFD-F6FBA23DB017}"/>
                </a:ext>
              </a:extLst>
            </p:cNvPr>
            <p:cNvSpPr/>
            <p:nvPr/>
          </p:nvSpPr>
          <p:spPr>
            <a:xfrm>
              <a:off x="3272517" y="4496522"/>
              <a:ext cx="116893" cy="116893"/>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円/楕円 8">
              <a:extLst>
                <a:ext uri="{FF2B5EF4-FFF2-40B4-BE49-F238E27FC236}">
                  <a16:creationId xmlns:a16="http://schemas.microsoft.com/office/drawing/2014/main" id="{EE2F8BC2-FC8F-7D8D-08EA-5E01AFCE7CE6}"/>
                </a:ext>
              </a:extLst>
            </p:cNvPr>
            <p:cNvSpPr/>
            <p:nvPr/>
          </p:nvSpPr>
          <p:spPr>
            <a:xfrm>
              <a:off x="3453076" y="4496522"/>
              <a:ext cx="116893" cy="116893"/>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40D3B199-0B12-C36B-BDB9-FD4740ABD529}"/>
                </a:ext>
              </a:extLst>
            </p:cNvPr>
            <p:cNvSpPr txBox="1"/>
            <p:nvPr/>
          </p:nvSpPr>
          <p:spPr>
            <a:xfrm>
              <a:off x="3003289" y="4683707"/>
              <a:ext cx="1451038" cy="369332"/>
            </a:xfrm>
            <a:prstGeom prst="rect">
              <a:avLst/>
            </a:prstGeom>
            <a:noFill/>
          </p:spPr>
          <p:txBody>
            <a:bodyPr wrap="none" rtlCol="0">
              <a:spAutoFit/>
            </a:bodyPr>
            <a:lstStyle/>
            <a:p>
              <a:r>
                <a:rPr lang="en-US" altLang="ja-JP" dirty="0">
                  <a:solidFill>
                    <a:schemeClr val="bg1"/>
                  </a:solidFill>
                  <a:latin typeface="Consolas" panose="020B0609020204030204" pitchFamily="49" charset="0"/>
                  <a:cs typeface="Consolas" panose="020B0609020204030204" pitchFamily="49" charset="0"/>
                </a:rPr>
                <a:t>$ git push</a:t>
              </a:r>
              <a:endParaRPr kumimoji="1" lang="ja-JP" altLang="en-US">
                <a:solidFill>
                  <a:schemeClr val="bg1"/>
                </a:solidFill>
                <a:latin typeface="Consolas" panose="020B0609020204030204" pitchFamily="49" charset="0"/>
                <a:cs typeface="Consolas" panose="020B0609020204030204" pitchFamily="49" charset="0"/>
              </a:endParaRPr>
            </a:p>
          </p:txBody>
        </p:sp>
      </p:grpSp>
      <p:sp>
        <p:nvSpPr>
          <p:cNvPr id="11" name="テキスト ボックス 10">
            <a:extLst>
              <a:ext uri="{FF2B5EF4-FFF2-40B4-BE49-F238E27FC236}">
                <a16:creationId xmlns:a16="http://schemas.microsoft.com/office/drawing/2014/main" id="{60A57677-6D40-9644-7D5B-5390FA96090B}"/>
              </a:ext>
            </a:extLst>
          </p:cNvPr>
          <p:cNvSpPr txBox="1"/>
          <p:nvPr/>
        </p:nvSpPr>
        <p:spPr>
          <a:xfrm>
            <a:off x="79513" y="2746499"/>
            <a:ext cx="3993401" cy="369332"/>
          </a:xfrm>
          <a:prstGeom prst="rect">
            <a:avLst/>
          </a:prstGeom>
          <a:noFill/>
        </p:spPr>
        <p:txBody>
          <a:bodyPr wrap="none" rtlCol="0">
            <a:spAutoFit/>
          </a:bodyPr>
          <a:lstStyle/>
          <a:p>
            <a:r>
              <a:rPr lang="en-US" altLang="ja-JP" dirty="0"/>
              <a:t>(2) </a:t>
            </a:r>
            <a:r>
              <a:rPr lang="ja-JP" altLang="en-US"/>
              <a:t>パスフレーズにより秘密鍵を復号</a:t>
            </a:r>
            <a:endParaRPr kumimoji="1" lang="ja-JP" altLang="en-US"/>
          </a:p>
        </p:txBody>
      </p:sp>
      <p:grpSp>
        <p:nvGrpSpPr>
          <p:cNvPr id="12" name="グループ化 11">
            <a:extLst>
              <a:ext uri="{FF2B5EF4-FFF2-40B4-BE49-F238E27FC236}">
                <a16:creationId xmlns:a16="http://schemas.microsoft.com/office/drawing/2014/main" id="{F0C98587-0AFC-CBAC-60AC-5BEAA3229F94}"/>
              </a:ext>
            </a:extLst>
          </p:cNvPr>
          <p:cNvGrpSpPr/>
          <p:nvPr/>
        </p:nvGrpSpPr>
        <p:grpSpPr>
          <a:xfrm>
            <a:off x="2699166" y="3234711"/>
            <a:ext cx="2608407" cy="1117165"/>
            <a:chOff x="2321124" y="3325447"/>
            <a:chExt cx="3210107" cy="1374870"/>
          </a:xfrm>
        </p:grpSpPr>
        <p:grpSp>
          <p:nvGrpSpPr>
            <p:cNvPr id="13" name="グループ化 12">
              <a:extLst>
                <a:ext uri="{FF2B5EF4-FFF2-40B4-BE49-F238E27FC236}">
                  <a16:creationId xmlns:a16="http://schemas.microsoft.com/office/drawing/2014/main" id="{431078C2-3B85-B32A-4BB6-48634FA76505}"/>
                </a:ext>
              </a:extLst>
            </p:cNvPr>
            <p:cNvGrpSpPr/>
            <p:nvPr/>
          </p:nvGrpSpPr>
          <p:grpSpPr>
            <a:xfrm>
              <a:off x="2818645" y="3508826"/>
              <a:ext cx="756083" cy="1008112"/>
              <a:chOff x="971600" y="980729"/>
              <a:chExt cx="756083" cy="1008112"/>
            </a:xfrm>
          </p:grpSpPr>
          <p:sp>
            <p:nvSpPr>
              <p:cNvPr id="20" name="正方形/長方形 19">
                <a:extLst>
                  <a:ext uri="{FF2B5EF4-FFF2-40B4-BE49-F238E27FC236}">
                    <a16:creationId xmlns:a16="http://schemas.microsoft.com/office/drawing/2014/main" id="{4C76C97B-FFA3-F20E-4E4F-25B89F0289C0}"/>
                  </a:ext>
                </a:extLst>
              </p:cNvPr>
              <p:cNvSpPr/>
              <p:nvPr/>
            </p:nvSpPr>
            <p:spPr>
              <a:xfrm>
                <a:off x="971600" y="980729"/>
                <a:ext cx="504056" cy="1008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三角形 20">
                <a:extLst>
                  <a:ext uri="{FF2B5EF4-FFF2-40B4-BE49-F238E27FC236}">
                    <a16:creationId xmlns:a16="http://schemas.microsoft.com/office/drawing/2014/main" id="{3A8D96BE-8D0D-C095-2982-0DCA70A85471}"/>
                  </a:ext>
                </a:extLst>
              </p:cNvPr>
              <p:cNvSpPr/>
              <p:nvPr/>
            </p:nvSpPr>
            <p:spPr>
              <a:xfrm rot="5400000">
                <a:off x="1191348" y="1236482"/>
                <a:ext cx="576064" cy="49660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14" name="Picture 2" descr="シンプルな南京錠のイラスト（鎖つき）">
              <a:extLst>
                <a:ext uri="{FF2B5EF4-FFF2-40B4-BE49-F238E27FC236}">
                  <a16:creationId xmlns:a16="http://schemas.microsoft.com/office/drawing/2014/main" id="{3487DBA5-823B-72C4-0D6C-2DB84A47A46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21124" y="3773478"/>
              <a:ext cx="1513405" cy="830997"/>
            </a:xfrm>
            <a:prstGeom prst="rect">
              <a:avLst/>
            </a:prstGeom>
            <a:noFill/>
            <a:extLst>
              <a:ext uri="{909E8E84-426E-40DD-AFC4-6F175D3DCCD1}">
                <a14:hiddenFill xmlns:a14="http://schemas.microsoft.com/office/drawing/2010/main">
                  <a:solidFill>
                    <a:srgbClr val="FFFFFF"/>
                  </a:solidFill>
                </a14:hiddenFill>
              </a:ext>
            </a:extLst>
          </p:spPr>
        </p:pic>
        <p:sp>
          <p:nvSpPr>
            <p:cNvPr id="15" name="角丸四角形 14">
              <a:extLst>
                <a:ext uri="{FF2B5EF4-FFF2-40B4-BE49-F238E27FC236}">
                  <a16:creationId xmlns:a16="http://schemas.microsoft.com/office/drawing/2014/main" id="{56D0CD66-DF54-4F60-5CDB-D5F266A889A7}"/>
                </a:ext>
              </a:extLst>
            </p:cNvPr>
            <p:cNvSpPr/>
            <p:nvPr/>
          </p:nvSpPr>
          <p:spPr>
            <a:xfrm>
              <a:off x="2397122" y="3325447"/>
              <a:ext cx="1361410" cy="1374870"/>
            </a:xfrm>
            <a:prstGeom prst="roundRect">
              <a:avLst/>
            </a:prstGeom>
            <a:noFill/>
            <a:ln w="381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右矢印 15">
              <a:extLst>
                <a:ext uri="{FF2B5EF4-FFF2-40B4-BE49-F238E27FC236}">
                  <a16:creationId xmlns:a16="http://schemas.microsoft.com/office/drawing/2014/main" id="{4E6501BF-31E3-BC46-6CAD-1798A14E2516}"/>
                </a:ext>
              </a:extLst>
            </p:cNvPr>
            <p:cNvSpPr/>
            <p:nvPr/>
          </p:nvSpPr>
          <p:spPr>
            <a:xfrm>
              <a:off x="3937191" y="3749756"/>
              <a:ext cx="735295" cy="43450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7" name="グループ化 16">
              <a:extLst>
                <a:ext uri="{FF2B5EF4-FFF2-40B4-BE49-F238E27FC236}">
                  <a16:creationId xmlns:a16="http://schemas.microsoft.com/office/drawing/2014/main" id="{7387CE7E-C8B4-3CEB-3F5A-57B0EAB58755}"/>
                </a:ext>
              </a:extLst>
            </p:cNvPr>
            <p:cNvGrpSpPr/>
            <p:nvPr/>
          </p:nvGrpSpPr>
          <p:grpSpPr>
            <a:xfrm>
              <a:off x="4775148" y="3462950"/>
              <a:ext cx="756083" cy="1008112"/>
              <a:chOff x="971600" y="980729"/>
              <a:chExt cx="756083" cy="1008112"/>
            </a:xfrm>
          </p:grpSpPr>
          <p:sp>
            <p:nvSpPr>
              <p:cNvPr id="18" name="正方形/長方形 17">
                <a:extLst>
                  <a:ext uri="{FF2B5EF4-FFF2-40B4-BE49-F238E27FC236}">
                    <a16:creationId xmlns:a16="http://schemas.microsoft.com/office/drawing/2014/main" id="{AD03CA07-FC49-8EEC-4B37-FB1CBFC1BB46}"/>
                  </a:ext>
                </a:extLst>
              </p:cNvPr>
              <p:cNvSpPr/>
              <p:nvPr/>
            </p:nvSpPr>
            <p:spPr>
              <a:xfrm>
                <a:off x="971600" y="980729"/>
                <a:ext cx="504056" cy="1008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三角形 18">
                <a:extLst>
                  <a:ext uri="{FF2B5EF4-FFF2-40B4-BE49-F238E27FC236}">
                    <a16:creationId xmlns:a16="http://schemas.microsoft.com/office/drawing/2014/main" id="{F5B3C183-9942-B3C3-05EB-F392F2E4C39A}"/>
                  </a:ext>
                </a:extLst>
              </p:cNvPr>
              <p:cNvSpPr/>
              <p:nvPr/>
            </p:nvSpPr>
            <p:spPr>
              <a:xfrm rot="5400000">
                <a:off x="1191348" y="1236482"/>
                <a:ext cx="576064" cy="49660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
        <p:nvSpPr>
          <p:cNvPr id="22" name="テキスト ボックス 21">
            <a:extLst>
              <a:ext uri="{FF2B5EF4-FFF2-40B4-BE49-F238E27FC236}">
                <a16:creationId xmlns:a16="http://schemas.microsoft.com/office/drawing/2014/main" id="{792DCCD1-36C5-436E-0C25-B9E6B7860E7E}"/>
              </a:ext>
            </a:extLst>
          </p:cNvPr>
          <p:cNvSpPr txBox="1"/>
          <p:nvPr/>
        </p:nvSpPr>
        <p:spPr>
          <a:xfrm>
            <a:off x="90760" y="4476725"/>
            <a:ext cx="2608406" cy="369332"/>
          </a:xfrm>
          <a:prstGeom prst="rect">
            <a:avLst/>
          </a:prstGeom>
          <a:noFill/>
        </p:spPr>
        <p:txBody>
          <a:bodyPr wrap="none" rtlCol="0">
            <a:spAutoFit/>
          </a:bodyPr>
          <a:lstStyle/>
          <a:p>
            <a:r>
              <a:rPr lang="en-US" altLang="ja-JP" dirty="0"/>
              <a:t>(3) </a:t>
            </a:r>
            <a:r>
              <a:rPr lang="ja-JP" altLang="en-US"/>
              <a:t>秘密鍵を使って認証</a:t>
            </a:r>
            <a:endParaRPr kumimoji="1" lang="ja-JP" altLang="en-US"/>
          </a:p>
        </p:txBody>
      </p:sp>
      <p:grpSp>
        <p:nvGrpSpPr>
          <p:cNvPr id="24" name="グループ化 23">
            <a:extLst>
              <a:ext uri="{FF2B5EF4-FFF2-40B4-BE49-F238E27FC236}">
                <a16:creationId xmlns:a16="http://schemas.microsoft.com/office/drawing/2014/main" id="{EF7E6CFD-8EEE-302B-099F-96C35BB2C98D}"/>
              </a:ext>
            </a:extLst>
          </p:cNvPr>
          <p:cNvGrpSpPr/>
          <p:nvPr/>
        </p:nvGrpSpPr>
        <p:grpSpPr>
          <a:xfrm>
            <a:off x="4929884" y="4977224"/>
            <a:ext cx="706486" cy="946642"/>
            <a:chOff x="3963655" y="1196752"/>
            <a:chExt cx="752361" cy="1008112"/>
          </a:xfrm>
        </p:grpSpPr>
        <p:sp>
          <p:nvSpPr>
            <p:cNvPr id="34" name="正方形/長方形 33">
              <a:extLst>
                <a:ext uri="{FF2B5EF4-FFF2-40B4-BE49-F238E27FC236}">
                  <a16:creationId xmlns:a16="http://schemas.microsoft.com/office/drawing/2014/main" id="{C73DB2D2-7550-C40D-334B-60263DDB7963}"/>
                </a:ext>
              </a:extLst>
            </p:cNvPr>
            <p:cNvSpPr/>
            <p:nvPr/>
          </p:nvSpPr>
          <p:spPr>
            <a:xfrm>
              <a:off x="4211960" y="1196752"/>
              <a:ext cx="504056" cy="1008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三角形 34">
              <a:extLst>
                <a:ext uri="{FF2B5EF4-FFF2-40B4-BE49-F238E27FC236}">
                  <a16:creationId xmlns:a16="http://schemas.microsoft.com/office/drawing/2014/main" id="{92ABF49E-1DF7-404C-DB23-3DCC49A2185C}"/>
                </a:ext>
              </a:extLst>
            </p:cNvPr>
            <p:cNvSpPr/>
            <p:nvPr/>
          </p:nvSpPr>
          <p:spPr>
            <a:xfrm rot="5400000">
              <a:off x="3923927" y="1452505"/>
              <a:ext cx="576064" cy="496607"/>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5" name="グループ化 24">
            <a:extLst>
              <a:ext uri="{FF2B5EF4-FFF2-40B4-BE49-F238E27FC236}">
                <a16:creationId xmlns:a16="http://schemas.microsoft.com/office/drawing/2014/main" id="{D8312649-2D7D-28CC-87D0-1C15E1877709}"/>
              </a:ext>
            </a:extLst>
          </p:cNvPr>
          <p:cNvGrpSpPr/>
          <p:nvPr/>
        </p:nvGrpSpPr>
        <p:grpSpPr>
          <a:xfrm>
            <a:off x="6546077" y="4771615"/>
            <a:ext cx="1336154" cy="1265695"/>
            <a:chOff x="6140761" y="2760383"/>
            <a:chExt cx="2118829" cy="2007096"/>
          </a:xfrm>
        </p:grpSpPr>
        <p:pic>
          <p:nvPicPr>
            <p:cNvPr id="32" name="図 31">
              <a:extLst>
                <a:ext uri="{FF2B5EF4-FFF2-40B4-BE49-F238E27FC236}">
                  <a16:creationId xmlns:a16="http://schemas.microsoft.com/office/drawing/2014/main" id="{096FA8EC-3154-BF73-37E2-1AE9541331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44817" y="3624479"/>
              <a:ext cx="1143000" cy="1143000"/>
            </a:xfrm>
            <a:prstGeom prst="rect">
              <a:avLst/>
            </a:prstGeom>
          </p:spPr>
        </p:pic>
        <p:pic>
          <p:nvPicPr>
            <p:cNvPr id="33" name="図 32">
              <a:extLst>
                <a:ext uri="{FF2B5EF4-FFF2-40B4-BE49-F238E27FC236}">
                  <a16:creationId xmlns:a16="http://schemas.microsoft.com/office/drawing/2014/main" id="{C6846F67-EAC6-2779-F5EE-827BEEAB6D2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40761" y="2760383"/>
              <a:ext cx="2118829" cy="868720"/>
            </a:xfrm>
            <a:prstGeom prst="rect">
              <a:avLst/>
            </a:prstGeom>
          </p:spPr>
        </p:pic>
      </p:grpSp>
      <p:sp>
        <p:nvSpPr>
          <p:cNvPr id="26" name="角丸四角形 25">
            <a:extLst>
              <a:ext uri="{FF2B5EF4-FFF2-40B4-BE49-F238E27FC236}">
                <a16:creationId xmlns:a16="http://schemas.microsoft.com/office/drawing/2014/main" id="{C8D2C1AC-5607-17B3-FEEF-EF5D6EF0D618}"/>
              </a:ext>
            </a:extLst>
          </p:cNvPr>
          <p:cNvSpPr/>
          <p:nvPr/>
        </p:nvSpPr>
        <p:spPr>
          <a:xfrm>
            <a:off x="5029747" y="4738001"/>
            <a:ext cx="1413656" cy="1408278"/>
          </a:xfrm>
          <a:prstGeom prst="roundRect">
            <a:avLst/>
          </a:prstGeom>
          <a:noFill/>
          <a:ln w="381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フローチャート: 磁気ディスク 26">
            <a:extLst>
              <a:ext uri="{FF2B5EF4-FFF2-40B4-BE49-F238E27FC236}">
                <a16:creationId xmlns:a16="http://schemas.microsoft.com/office/drawing/2014/main" id="{990E28D7-BE7F-C978-BBF8-47A8A24A3E49}"/>
              </a:ext>
            </a:extLst>
          </p:cNvPr>
          <p:cNvSpPr/>
          <p:nvPr/>
        </p:nvSpPr>
        <p:spPr>
          <a:xfrm>
            <a:off x="5769670" y="5043466"/>
            <a:ext cx="528882" cy="797348"/>
          </a:xfrm>
          <a:prstGeom prst="flowChartMagneticDisk">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dirty="0">
              <a:solidFill>
                <a:schemeClr val="tx1"/>
              </a:solidFill>
              <a:latin typeface="Consolas" panose="020B0609020204030204" pitchFamily="49" charset="0"/>
            </a:endParaRPr>
          </a:p>
        </p:txBody>
      </p:sp>
      <p:grpSp>
        <p:nvGrpSpPr>
          <p:cNvPr id="28" name="グループ化 27">
            <a:extLst>
              <a:ext uri="{FF2B5EF4-FFF2-40B4-BE49-F238E27FC236}">
                <a16:creationId xmlns:a16="http://schemas.microsoft.com/office/drawing/2014/main" id="{0BBEA7FC-FF1F-67B1-75D1-6FAF575ED73A}"/>
              </a:ext>
            </a:extLst>
          </p:cNvPr>
          <p:cNvGrpSpPr/>
          <p:nvPr/>
        </p:nvGrpSpPr>
        <p:grpSpPr>
          <a:xfrm>
            <a:off x="1913765" y="4977224"/>
            <a:ext cx="709981" cy="946642"/>
            <a:chOff x="971600" y="980729"/>
            <a:chExt cx="756083" cy="1008112"/>
          </a:xfrm>
        </p:grpSpPr>
        <p:sp>
          <p:nvSpPr>
            <p:cNvPr id="30" name="正方形/長方形 29">
              <a:extLst>
                <a:ext uri="{FF2B5EF4-FFF2-40B4-BE49-F238E27FC236}">
                  <a16:creationId xmlns:a16="http://schemas.microsoft.com/office/drawing/2014/main" id="{47CEFCDC-ED78-A18C-0DF0-B805E7A2DE57}"/>
                </a:ext>
              </a:extLst>
            </p:cNvPr>
            <p:cNvSpPr/>
            <p:nvPr/>
          </p:nvSpPr>
          <p:spPr>
            <a:xfrm>
              <a:off x="971600" y="980729"/>
              <a:ext cx="504056" cy="1008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三角形 30">
              <a:extLst>
                <a:ext uri="{FF2B5EF4-FFF2-40B4-BE49-F238E27FC236}">
                  <a16:creationId xmlns:a16="http://schemas.microsoft.com/office/drawing/2014/main" id="{3B56E216-E68D-2437-8605-7F2CAA2361CE}"/>
                </a:ext>
              </a:extLst>
            </p:cNvPr>
            <p:cNvSpPr/>
            <p:nvPr/>
          </p:nvSpPr>
          <p:spPr>
            <a:xfrm rot="5400000">
              <a:off x="1191348" y="1236482"/>
              <a:ext cx="576064" cy="49660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9" name="右矢印 28">
            <a:extLst>
              <a:ext uri="{FF2B5EF4-FFF2-40B4-BE49-F238E27FC236}">
                <a16:creationId xmlns:a16="http://schemas.microsoft.com/office/drawing/2014/main" id="{770E8A67-37AF-A779-7FA4-8C86E19EB414}"/>
              </a:ext>
            </a:extLst>
          </p:cNvPr>
          <p:cNvSpPr/>
          <p:nvPr/>
        </p:nvSpPr>
        <p:spPr>
          <a:xfrm>
            <a:off x="3005693" y="5174201"/>
            <a:ext cx="1593898" cy="439628"/>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ボックス 35">
            <a:extLst>
              <a:ext uri="{FF2B5EF4-FFF2-40B4-BE49-F238E27FC236}">
                <a16:creationId xmlns:a16="http://schemas.microsoft.com/office/drawing/2014/main" id="{61062BC0-F79B-DC2C-DEB9-3AA35476CBDD}"/>
              </a:ext>
            </a:extLst>
          </p:cNvPr>
          <p:cNvSpPr txBox="1"/>
          <p:nvPr/>
        </p:nvSpPr>
        <p:spPr>
          <a:xfrm>
            <a:off x="849049" y="6177738"/>
            <a:ext cx="6159701" cy="646331"/>
          </a:xfrm>
          <a:prstGeom prst="rect">
            <a:avLst/>
          </a:prstGeom>
          <a:noFill/>
        </p:spPr>
        <p:txBody>
          <a:bodyPr wrap="square" rtlCol="0">
            <a:spAutoFit/>
          </a:bodyPr>
          <a:lstStyle/>
          <a:p>
            <a:r>
              <a:rPr kumimoji="1" lang="ja-JP" altLang="en-US"/>
              <a:t>パスフレーズによる知識認証で</a:t>
            </a:r>
            <a:r>
              <a:rPr kumimoji="1" lang="en-US" altLang="ja-JP" dirty="0"/>
              <a:t>GitHub</a:t>
            </a:r>
            <a:r>
              <a:rPr kumimoji="1" lang="ja-JP" altLang="en-US"/>
              <a:t>にアクセスしているわけはないことに注意</a:t>
            </a:r>
          </a:p>
        </p:txBody>
      </p:sp>
    </p:spTree>
    <p:extLst>
      <p:ext uri="{BB962C8B-B14F-4D97-AF65-F5344CB8AC3E}">
        <p14:creationId xmlns:p14="http://schemas.microsoft.com/office/powerpoint/2010/main" val="36987871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5926F9BA-A289-085E-68B8-3FDD36009DA6}"/>
              </a:ext>
            </a:extLst>
          </p:cNvPr>
          <p:cNvSpPr>
            <a:spLocks noGrp="1"/>
          </p:cNvSpPr>
          <p:nvPr>
            <p:ph type="body" sz="quarter" idx="10"/>
          </p:nvPr>
        </p:nvSpPr>
        <p:spPr/>
        <p:txBody>
          <a:bodyPr/>
          <a:lstStyle/>
          <a:p>
            <a:r>
              <a:rPr lang="en-US" altLang="ja-JP" dirty="0"/>
              <a:t>GitHub</a:t>
            </a:r>
            <a:r>
              <a:rPr lang="ja-JP" altLang="en-US"/>
              <a:t>における認証のまとめ</a:t>
            </a:r>
            <a:endParaRPr lang="en-US" altLang="ja-JP" dirty="0"/>
          </a:p>
        </p:txBody>
      </p:sp>
      <p:sp>
        <p:nvSpPr>
          <p:cNvPr id="3" name="テキスト ボックス 2">
            <a:extLst>
              <a:ext uri="{FF2B5EF4-FFF2-40B4-BE49-F238E27FC236}">
                <a16:creationId xmlns:a16="http://schemas.microsoft.com/office/drawing/2014/main" id="{513C91CE-DFF9-43F6-7418-1BD3E5432487}"/>
              </a:ext>
            </a:extLst>
          </p:cNvPr>
          <p:cNvSpPr txBox="1"/>
          <p:nvPr/>
        </p:nvSpPr>
        <p:spPr>
          <a:xfrm>
            <a:off x="228600" y="1490008"/>
            <a:ext cx="7412607" cy="1200329"/>
          </a:xfrm>
          <a:prstGeom prst="rect">
            <a:avLst/>
          </a:prstGeom>
          <a:noFill/>
        </p:spPr>
        <p:txBody>
          <a:bodyPr wrap="none" rtlCol="0">
            <a:spAutoFit/>
          </a:bodyPr>
          <a:lstStyle/>
          <a:p>
            <a:pPr marL="342900" indent="-342900">
              <a:buFont typeface="Arial" panose="020B0604020202020204" pitchFamily="34" charset="0"/>
              <a:buChar char="•"/>
            </a:pPr>
            <a:r>
              <a:rPr lang="ja-JP" altLang="en-US" sz="2400"/>
              <a:t>ブラウザから</a:t>
            </a:r>
            <a:r>
              <a:rPr lang="en-US" altLang="ja-JP" sz="2400" dirty="0"/>
              <a:t>GitHub</a:t>
            </a:r>
            <a:r>
              <a:rPr lang="ja-JP" altLang="en-US" sz="2400"/>
              <a:t>へのアクセスは知識認証</a:t>
            </a:r>
            <a:r>
              <a:rPr lang="en-US" altLang="ja-JP" sz="2400" dirty="0"/>
              <a:t>(</a:t>
            </a:r>
            <a:r>
              <a:rPr lang="ja-JP" altLang="en-US" sz="2400"/>
              <a:t>＋</a:t>
            </a:r>
            <a:r>
              <a:rPr lang="en-US" altLang="ja-JP" sz="2400" dirty="0"/>
              <a:t>α)</a:t>
            </a:r>
          </a:p>
          <a:p>
            <a:pPr marL="342900" indent="-342900">
              <a:buFont typeface="Arial" panose="020B0604020202020204" pitchFamily="34" charset="0"/>
              <a:buChar char="•"/>
            </a:pPr>
            <a:r>
              <a:rPr lang="ja-JP" altLang="en-US" sz="2400"/>
              <a:t>ターミナルから</a:t>
            </a:r>
            <a:r>
              <a:rPr lang="en-US" altLang="ja-JP" sz="2400" dirty="0"/>
              <a:t>GitHub</a:t>
            </a:r>
            <a:r>
              <a:rPr lang="ja-JP" altLang="en-US" sz="2400"/>
              <a:t>へのアクセスは所持認証</a:t>
            </a:r>
            <a:endParaRPr lang="en-US" altLang="ja-JP" sz="2400" dirty="0"/>
          </a:p>
          <a:p>
            <a:pPr marL="342900" indent="-342900">
              <a:buFont typeface="Arial" panose="020B0604020202020204" pitchFamily="34" charset="0"/>
              <a:buChar char="•"/>
            </a:pPr>
            <a:r>
              <a:rPr lang="ja-JP" altLang="en-US" sz="2400"/>
              <a:t>秘密鍵はパスフレーズで守られている</a:t>
            </a:r>
            <a:r>
              <a:rPr lang="en-US" altLang="ja-JP" sz="2400" dirty="0"/>
              <a:t>(</a:t>
            </a:r>
            <a:r>
              <a:rPr lang="ja-JP" altLang="en-US" sz="2400"/>
              <a:t>知識認証</a:t>
            </a:r>
            <a:r>
              <a:rPr lang="en-US" altLang="ja-JP" sz="2400" dirty="0"/>
              <a:t>)</a:t>
            </a:r>
          </a:p>
        </p:txBody>
      </p:sp>
    </p:spTree>
    <p:extLst>
      <p:ext uri="{BB962C8B-B14F-4D97-AF65-F5344CB8AC3E}">
        <p14:creationId xmlns:p14="http://schemas.microsoft.com/office/powerpoint/2010/main" val="2178086818"/>
      </p:ext>
    </p:extLst>
  </p:cSld>
  <p:clrMapOvr>
    <a:masterClrMapping/>
  </p:clrMapOvr>
</p:sld>
</file>

<file path=ppt/theme/theme1.xml><?xml version="1.0" encoding="utf-8"?>
<a:theme xmlns:a="http://schemas.openxmlformats.org/drawingml/2006/main" name="パーセル">
  <a:themeElements>
    <a:clrScheme name="パーセル">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日常使う用">
      <a:majorFont>
        <a:latin typeface="Arial"/>
        <a:ea typeface="HGｺﾞｼｯｸE"/>
        <a:cs typeface=""/>
      </a:majorFont>
      <a:minorFont>
        <a:latin typeface="Arial"/>
        <a:ea typeface="HGｺﾞｼｯｸE"/>
        <a:cs typeface=""/>
      </a:minorFont>
    </a:fontScheme>
    <a:fmtScheme name="パーセル">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spDef>
      <a:spPr>
        <a:solidFill>
          <a:srgbClr val="FF0000"/>
        </a:solidFill>
        <a:ln>
          <a:solidFill>
            <a:schemeClr val="tx1"/>
          </a:solid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{11DA09EC-ABC8-2D40-8DBB-00E840906C4E}tf10001120</Template>
  <TotalTime>3899</TotalTime>
  <Words>1795</Words>
  <Application>Microsoft Macintosh PowerPoint</Application>
  <PresentationFormat>画面に合わせる (4:3)</PresentationFormat>
  <Paragraphs>219</Paragraphs>
  <Slides>27</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27</vt:i4>
      </vt:variant>
    </vt:vector>
  </HeadingPairs>
  <TitlesOfParts>
    <vt:vector size="33" baseType="lpstr">
      <vt:lpstr>Google Sans</vt:lpstr>
      <vt:lpstr>游ゴシック</vt:lpstr>
      <vt:lpstr>Arial</vt:lpstr>
      <vt:lpstr>Cambria Math</vt:lpstr>
      <vt:lpstr>Consolas</vt:lpstr>
      <vt:lpstr>パーセル</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watanabe</dc:creator>
  <cp:lastModifiedBy>渡辺 宙志</cp:lastModifiedBy>
  <cp:revision>750</cp:revision>
  <dcterms:created xsi:type="dcterms:W3CDTF">2019-01-02T05:23:01Z</dcterms:created>
  <dcterms:modified xsi:type="dcterms:W3CDTF">2026-03-04T08:52:08Z</dcterms:modified>
</cp:coreProperties>
</file>