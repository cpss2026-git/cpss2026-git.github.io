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4"/>
  </p:notesMasterIdLst>
  <p:sldIdLst>
    <p:sldId id="256" r:id="rId2"/>
    <p:sldId id="297" r:id="rId3"/>
    <p:sldId id="416" r:id="rId4"/>
    <p:sldId id="417" r:id="rId5"/>
    <p:sldId id="414" r:id="rId6"/>
    <p:sldId id="415" r:id="rId7"/>
    <p:sldId id="413" r:id="rId8"/>
    <p:sldId id="395" r:id="rId9"/>
    <p:sldId id="355" r:id="rId10"/>
    <p:sldId id="356" r:id="rId11"/>
    <p:sldId id="409" r:id="rId12"/>
    <p:sldId id="396" r:id="rId13"/>
    <p:sldId id="401" r:id="rId14"/>
    <p:sldId id="412" r:id="rId15"/>
    <p:sldId id="399" r:id="rId16"/>
    <p:sldId id="382" r:id="rId17"/>
    <p:sldId id="406" r:id="rId18"/>
    <p:sldId id="407" r:id="rId19"/>
    <p:sldId id="383" r:id="rId20"/>
    <p:sldId id="410" r:id="rId21"/>
    <p:sldId id="384" r:id="rId22"/>
    <p:sldId id="385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408" r:id="rId32"/>
    <p:sldId id="394" r:id="rId3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5865" autoAdjust="0"/>
  </p:normalViewPr>
  <p:slideViewPr>
    <p:cSldViewPr>
      <p:cViewPr varScale="1">
        <p:scale>
          <a:sx n="63" d="100"/>
          <a:sy n="63" d="100"/>
        </p:scale>
        <p:origin x="153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487F8E9E-2412-46EC-98D7-79D3FF31255F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889554-4F08-4BCC-A76B-18FB5F2766B3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F11AA314-EB24-44EB-A852-674DA52458DB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1D6D61-20B2-4D37-BE12-D11D0A62A47D}"/>
              </a:ext>
            </a:extLst>
          </p:cNvPr>
          <p:cNvSpPr txBox="1"/>
          <p:nvPr userDrawn="1"/>
        </p:nvSpPr>
        <p:spPr>
          <a:xfrm>
            <a:off x="8717317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32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pss2026-git.github.i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11893"/>
                </a:solidFill>
              </a:rPr>
              <a:t>演習：</a:t>
            </a:r>
            <a:r>
              <a:rPr lang="en-US" altLang="ja-JP" sz="4000" dirty="0">
                <a:solidFill>
                  <a:srgbClr val="011893"/>
                </a:solidFill>
              </a:rPr>
              <a:t>Git</a:t>
            </a:r>
            <a:r>
              <a:rPr lang="ja-JP" altLang="en-US" sz="4000">
                <a:solidFill>
                  <a:srgbClr val="011893"/>
                </a:solidFill>
              </a:rPr>
              <a:t>の基本操作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EF19C0-DC59-84E0-3680-3CE7BF10B6DB}"/>
              </a:ext>
            </a:extLst>
          </p:cNvPr>
          <p:cNvSpPr txBox="1"/>
          <p:nvPr/>
        </p:nvSpPr>
        <p:spPr>
          <a:xfrm>
            <a:off x="0" y="645333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 dirty="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 dirty="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 dirty="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 dirty="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 dirty="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 dirty="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3EAC2E-574A-4BF8-8DAE-C46E6B084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BE09DD-BFB2-4A03-AAF8-832DB3A68F0A}"/>
              </a:ext>
            </a:extLst>
          </p:cNvPr>
          <p:cNvSpPr txBox="1"/>
          <p:nvPr/>
        </p:nvSpPr>
        <p:spPr>
          <a:xfrm>
            <a:off x="395536" y="2132856"/>
            <a:ext cx="73885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</a:t>
            </a:r>
            <a:r>
              <a:rPr kumimoji="1" lang="ja-JP" altLang="en-US" sz="2400" dirty="0"/>
              <a:t>の初期設定を行う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コマンドラインで</a:t>
            </a:r>
            <a:r>
              <a:rPr lang="en-US" altLang="ja-JP" sz="2400" dirty="0"/>
              <a:t>Git</a:t>
            </a:r>
            <a:r>
              <a:rPr lang="ja-JP" altLang="en-US" sz="2400" dirty="0"/>
              <a:t>の操作を一通り確認する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VS Code</a:t>
            </a:r>
            <a:r>
              <a:rPr kumimoji="1" lang="ja-JP" altLang="en-US" sz="2400" dirty="0"/>
              <a:t>からも</a:t>
            </a:r>
            <a:r>
              <a:rPr kumimoji="1" lang="en-US" altLang="ja-JP" sz="2400" dirty="0"/>
              <a:t>Git</a:t>
            </a:r>
            <a:r>
              <a:rPr kumimoji="1" lang="ja-JP" altLang="en-US" sz="2400" dirty="0"/>
              <a:t>の操作ができることを確認する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365220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18EF330-C7BF-558C-FBCA-D59A08B3DF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課題の進め方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3C1AA3-54EF-E1D2-1D31-746E192BC1FE}"/>
              </a:ext>
            </a:extLst>
          </p:cNvPr>
          <p:cNvSpPr txBox="1"/>
          <p:nvPr/>
        </p:nvSpPr>
        <p:spPr>
          <a:xfrm>
            <a:off x="467544" y="1256512"/>
            <a:ext cx="331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hlinkClick r:id="rId2"/>
              </a:rPr>
              <a:t>https://cpss2026-git.github.io/</a:t>
            </a:r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E07DA57-F524-C93D-69F3-DD7E5725C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901" y="1625844"/>
            <a:ext cx="6340197" cy="226030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4DD2AF-4320-1184-8932-73DB9507831D}"/>
              </a:ext>
            </a:extLst>
          </p:cNvPr>
          <p:cNvSpPr txBox="1"/>
          <p:nvPr/>
        </p:nvSpPr>
        <p:spPr>
          <a:xfrm>
            <a:off x="251520" y="901486"/>
            <a:ext cx="6340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「計算物理屋のための</a:t>
            </a:r>
            <a:r>
              <a:rPr kumimoji="1" lang="en-US" altLang="ja-JP" dirty="0"/>
              <a:t>Git/GitHub</a:t>
            </a:r>
            <a:r>
              <a:rPr kumimoji="1" lang="ja-JP" altLang="en-US" dirty="0"/>
              <a:t>入門」のサイトにアクセス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A2D3C45-F35C-77A3-EC1F-2E62297A0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567801"/>
            <a:ext cx="6264696" cy="191744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675306-8D03-8F89-2BBB-693CFD9F9D1F}"/>
              </a:ext>
            </a:extLst>
          </p:cNvPr>
          <p:cNvSpPr txBox="1"/>
          <p:nvPr/>
        </p:nvSpPr>
        <p:spPr>
          <a:xfrm>
            <a:off x="467544" y="410307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対応する回にアクセス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E3ABC41C-0453-0AD6-31C2-B54D015B7ED0}"/>
              </a:ext>
            </a:extLst>
          </p:cNvPr>
          <p:cNvSpPr/>
          <p:nvPr/>
        </p:nvSpPr>
        <p:spPr>
          <a:xfrm>
            <a:off x="1187624" y="4567801"/>
            <a:ext cx="1872208" cy="37336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F76459D-9301-7F98-CF69-5F975B1EBBA3}"/>
              </a:ext>
            </a:extLst>
          </p:cNvPr>
          <p:cNvSpPr/>
          <p:nvPr/>
        </p:nvSpPr>
        <p:spPr>
          <a:xfrm>
            <a:off x="1515535" y="5036565"/>
            <a:ext cx="968233" cy="19559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F9C9EE2-C286-6003-44E3-911543CA188C}"/>
              </a:ext>
            </a:extLst>
          </p:cNvPr>
          <p:cNvSpPr txBox="1"/>
          <p:nvPr/>
        </p:nvSpPr>
        <p:spPr>
          <a:xfrm>
            <a:off x="3995936" y="456780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ここにアクセス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27B4424-BF28-A2CA-7675-473784B3B736}"/>
              </a:ext>
            </a:extLst>
          </p:cNvPr>
          <p:cNvSpPr txBox="1"/>
          <p:nvPr/>
        </p:nvSpPr>
        <p:spPr>
          <a:xfrm>
            <a:off x="3995936" y="558718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今見ているスライドはこちら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C576444-15E4-8753-F9AF-86A528984C9B}"/>
              </a:ext>
            </a:extLst>
          </p:cNvPr>
          <p:cNvCxnSpPr>
            <a:stCxn id="11" idx="1"/>
          </p:cNvCxnSpPr>
          <p:nvPr/>
        </p:nvCxnSpPr>
        <p:spPr>
          <a:xfrm flipH="1">
            <a:off x="3059832" y="4752467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カギ線コネクタ 15">
            <a:extLst>
              <a:ext uri="{FF2B5EF4-FFF2-40B4-BE49-F238E27FC236}">
                <a16:creationId xmlns:a16="http://schemas.microsoft.com/office/drawing/2014/main" id="{F3728EC3-DC0F-77E0-922E-5F515ACE0608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2483768" y="5122454"/>
            <a:ext cx="1512168" cy="64939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53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EE3E508-2013-2F52-8ADE-95308E2BD4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課題の進め方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9735927-5FE6-2AC7-5525-6DA1334B2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66804"/>
            <a:ext cx="7772400" cy="2646091"/>
          </a:xfrm>
          <a:prstGeom prst="rect">
            <a:avLst/>
          </a:prstGeom>
        </p:spPr>
      </p:pic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688BB58-9179-B1C8-7F93-B40D2BF3E168}"/>
              </a:ext>
            </a:extLst>
          </p:cNvPr>
          <p:cNvSpPr/>
          <p:nvPr/>
        </p:nvSpPr>
        <p:spPr>
          <a:xfrm>
            <a:off x="611560" y="2420888"/>
            <a:ext cx="7344816" cy="50405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EE6AE6-18AC-DD39-D8BB-5893072C8A4C}"/>
              </a:ext>
            </a:extLst>
          </p:cNvPr>
          <p:cNvSpPr txBox="1"/>
          <p:nvPr/>
        </p:nvSpPr>
        <p:spPr>
          <a:xfrm>
            <a:off x="539552" y="378904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ここをターミナルに入力し、実行していく</a:t>
            </a:r>
          </a:p>
        </p:txBody>
      </p:sp>
      <p:cxnSp>
        <p:nvCxnSpPr>
          <p:cNvPr id="7" name="カギ線コネクタ 6">
            <a:extLst>
              <a:ext uri="{FF2B5EF4-FFF2-40B4-BE49-F238E27FC236}">
                <a16:creationId xmlns:a16="http://schemas.microsoft.com/office/drawing/2014/main" id="{1A7B9F9E-0EA4-A4C2-DC83-DB6C1D8205A7}"/>
              </a:ext>
            </a:extLst>
          </p:cNvPr>
          <p:cNvCxnSpPr>
            <a:stCxn id="5" idx="1"/>
            <a:endCxn id="4" idx="1"/>
          </p:cNvCxnSpPr>
          <p:nvPr/>
        </p:nvCxnSpPr>
        <p:spPr>
          <a:xfrm rot="10800000" flipH="1">
            <a:off x="539552" y="2672916"/>
            <a:ext cx="72008" cy="1300790"/>
          </a:xfrm>
          <a:prstGeom prst="bentConnector3">
            <a:avLst>
              <a:gd name="adj1" fmla="val -317465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4EB1BA-4088-0DA1-6AAB-5E8817346F08}"/>
              </a:ext>
            </a:extLst>
          </p:cNvPr>
          <p:cNvSpPr txBox="1"/>
          <p:nvPr/>
        </p:nvSpPr>
        <p:spPr>
          <a:xfrm>
            <a:off x="222091" y="4848821"/>
            <a:ext cx="8699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コピペも可能だが、手で入力することを強く推奨</a:t>
            </a:r>
            <a:endParaRPr kumimoji="1" lang="en-US" altLang="ja-JP" sz="2400" dirty="0"/>
          </a:p>
          <a:p>
            <a:r>
              <a:rPr lang="ja-JP" altLang="en-US" sz="2400"/>
              <a:t>ヒストリ機能</a:t>
            </a:r>
            <a:r>
              <a:rPr lang="en-US" altLang="ja-JP" sz="2400" dirty="0"/>
              <a:t>(</a:t>
            </a:r>
            <a:r>
              <a:rPr lang="ja-JP" altLang="en-US" sz="2400"/>
              <a:t>カーソルの上下</a:t>
            </a:r>
            <a:r>
              <a:rPr lang="en-US" altLang="ja-JP" sz="2400" dirty="0"/>
              <a:t>)</a:t>
            </a:r>
            <a:r>
              <a:rPr lang="ja-JP" altLang="en-US" sz="2400"/>
              <a:t>やタブ補完機能を活用すること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62202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3905EFC-9447-A424-B76F-3FB7C1DE2F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ターミナルの開き方</a:t>
            </a:r>
            <a:r>
              <a:rPr lang="en-US" altLang="ja-JP" dirty="0"/>
              <a:t> (Mac)</a:t>
            </a:r>
            <a:endParaRPr lang="ja-JP" altLang="en-US"/>
          </a:p>
        </p:txBody>
      </p:sp>
      <p:pic>
        <p:nvPicPr>
          <p:cNvPr id="4" name="図 3" descr="グラフィカル ユーザー インターフェイス, テキスト, アプリケーション, チャットまたはテキスト メッセージ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1168272D-BBD3-F018-179B-E015D7120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400127"/>
            <a:ext cx="7772400" cy="205774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6277AB-9161-B843-D6BF-D9B5F4B5A8F1}"/>
              </a:ext>
            </a:extLst>
          </p:cNvPr>
          <p:cNvSpPr txBox="1"/>
          <p:nvPr/>
        </p:nvSpPr>
        <p:spPr>
          <a:xfrm>
            <a:off x="539552" y="1196752"/>
            <a:ext cx="564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Command + </a:t>
            </a:r>
            <a:r>
              <a:rPr kumimoji="1" lang="ja-JP" altLang="en-US"/>
              <a:t>スペースキーで</a:t>
            </a:r>
            <a:r>
              <a:rPr kumimoji="1" lang="en-US" altLang="ja-JP" dirty="0"/>
              <a:t>Spotlight</a:t>
            </a:r>
            <a:r>
              <a:rPr kumimoji="1" lang="ja-JP" altLang="en-US"/>
              <a:t>検索を呼び出す</a:t>
            </a:r>
            <a:endParaRPr kumimoji="1" lang="en-US" altLang="ja-JP" dirty="0"/>
          </a:p>
          <a:p>
            <a:r>
              <a:rPr lang="ja-JP" altLang="en-US"/>
              <a:t>そこに「</a:t>
            </a:r>
            <a:r>
              <a:rPr lang="en-US" altLang="ja-JP" dirty="0"/>
              <a:t>terminal</a:t>
            </a:r>
            <a:r>
              <a:rPr lang="ja-JP" altLang="en-US"/>
              <a:t>」もしくは「ターミナル」と入力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54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4397C7-9AB9-0CCD-844D-4D7E1F6475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ターミナルの開き方</a:t>
            </a:r>
            <a:r>
              <a:rPr kumimoji="1" lang="en-US" altLang="ja-JP" dirty="0"/>
              <a:t> (Ubuntu)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BEDC4B-239D-D33B-60A1-3FA0EC8DB5D9}"/>
              </a:ext>
            </a:extLst>
          </p:cNvPr>
          <p:cNvSpPr txBox="1"/>
          <p:nvPr/>
        </p:nvSpPr>
        <p:spPr>
          <a:xfrm>
            <a:off x="539552" y="1139119"/>
            <a:ext cx="4968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検索ボックスに</a:t>
            </a:r>
            <a:r>
              <a:rPr lang="en-US" altLang="ja-JP" dirty="0"/>
              <a:t>ubuntu</a:t>
            </a:r>
            <a:r>
              <a:rPr lang="ja-JP" altLang="en-US" dirty="0"/>
              <a:t>と入力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表示された「</a:t>
            </a:r>
            <a:r>
              <a:rPr kumimoji="1" lang="en-US" altLang="ja-JP" dirty="0"/>
              <a:t>Ubuntu</a:t>
            </a:r>
            <a:r>
              <a:rPr kumimoji="1" lang="ja-JP" altLang="en-US" dirty="0"/>
              <a:t>」をクリック</a:t>
            </a:r>
            <a:r>
              <a:rPr lang="ja-JP" altLang="en-US" dirty="0"/>
              <a:t>して起動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FC5C78-5519-82EF-B04E-044AA340F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844824"/>
            <a:ext cx="4659956" cy="4555238"/>
          </a:xfrm>
          <a:prstGeom prst="rect">
            <a:avLst/>
          </a:prstGeom>
        </p:spPr>
      </p:pic>
      <p:sp>
        <p:nvSpPr>
          <p:cNvPr id="8" name="四角形: 角を丸くする 2">
            <a:extLst>
              <a:ext uri="{FF2B5EF4-FFF2-40B4-BE49-F238E27FC236}">
                <a16:creationId xmlns:a16="http://schemas.microsoft.com/office/drawing/2014/main" id="{AD2B8A23-4873-2AA4-C1ED-8F3421EA2788}"/>
              </a:ext>
            </a:extLst>
          </p:cNvPr>
          <p:cNvSpPr/>
          <p:nvPr/>
        </p:nvSpPr>
        <p:spPr>
          <a:xfrm>
            <a:off x="1784464" y="6146458"/>
            <a:ext cx="1347376" cy="25360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sp>
        <p:nvSpPr>
          <p:cNvPr id="9" name="四角形: 角を丸くする 2">
            <a:extLst>
              <a:ext uri="{FF2B5EF4-FFF2-40B4-BE49-F238E27FC236}">
                <a16:creationId xmlns:a16="http://schemas.microsoft.com/office/drawing/2014/main" id="{A0EB7AB7-8244-A4FE-0CD5-0A16C0CE6E5B}"/>
              </a:ext>
            </a:extLst>
          </p:cNvPr>
          <p:cNvSpPr/>
          <p:nvPr/>
        </p:nvSpPr>
        <p:spPr>
          <a:xfrm>
            <a:off x="1907704" y="2432474"/>
            <a:ext cx="1944216" cy="42046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4F7639FB-B961-C18F-CA5F-8D70F506F932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1097765" y="1832766"/>
            <a:ext cx="823732" cy="79614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4A14CE94-3E5C-D919-0143-498C12FA0584}"/>
              </a:ext>
            </a:extLst>
          </p:cNvPr>
          <p:cNvCxnSpPr>
            <a:stCxn id="3" idx="1"/>
            <a:endCxn id="8" idx="1"/>
          </p:cNvCxnSpPr>
          <p:nvPr/>
        </p:nvCxnSpPr>
        <p:spPr>
          <a:xfrm rot="10800000" flipH="1" flipV="1">
            <a:off x="539552" y="1462284"/>
            <a:ext cx="1244912" cy="4810975"/>
          </a:xfrm>
          <a:prstGeom prst="bentConnector3">
            <a:avLst>
              <a:gd name="adj1" fmla="val -18363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47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9036E74-3900-5569-A6AB-F3EA59F074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ターミナルの開き方</a:t>
            </a:r>
            <a:r>
              <a:rPr kumimoji="1" lang="en-US" altLang="ja-JP" dirty="0"/>
              <a:t> (Git Bash)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4351F-A029-31D7-C675-D7323C06D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31207"/>
            <a:ext cx="5184576" cy="427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2">
            <a:extLst>
              <a:ext uri="{FF2B5EF4-FFF2-40B4-BE49-F238E27FC236}">
                <a16:creationId xmlns:a16="http://schemas.microsoft.com/office/drawing/2014/main" id="{3662BAF3-1E82-10C0-8483-59C60402AA33}"/>
              </a:ext>
            </a:extLst>
          </p:cNvPr>
          <p:cNvSpPr/>
          <p:nvPr/>
        </p:nvSpPr>
        <p:spPr>
          <a:xfrm>
            <a:off x="1661691" y="5949280"/>
            <a:ext cx="2165186" cy="25360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sp>
        <p:nvSpPr>
          <p:cNvPr id="5" name="四角形: 角を丸くする 3">
            <a:extLst>
              <a:ext uri="{FF2B5EF4-FFF2-40B4-BE49-F238E27FC236}">
                <a16:creationId xmlns:a16="http://schemas.microsoft.com/office/drawing/2014/main" id="{3CA0B867-F920-F931-3E02-4EF6EF743951}"/>
              </a:ext>
            </a:extLst>
          </p:cNvPr>
          <p:cNvSpPr/>
          <p:nvPr/>
        </p:nvSpPr>
        <p:spPr>
          <a:xfrm>
            <a:off x="1686734" y="2556438"/>
            <a:ext cx="2165186" cy="36850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539EEB-A3CE-4FFB-CE19-32999EB58289}"/>
              </a:ext>
            </a:extLst>
          </p:cNvPr>
          <p:cNvSpPr txBox="1"/>
          <p:nvPr/>
        </p:nvSpPr>
        <p:spPr>
          <a:xfrm>
            <a:off x="539552" y="113911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検索ボックスに</a:t>
            </a:r>
            <a:r>
              <a:rPr lang="en-US" altLang="ja-JP" dirty="0"/>
              <a:t>git bash</a:t>
            </a:r>
            <a:r>
              <a:rPr lang="ja-JP" altLang="en-US" dirty="0"/>
              <a:t>と入力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表示された「</a:t>
            </a:r>
            <a:r>
              <a:rPr kumimoji="1" lang="en-US" altLang="ja-JP" dirty="0"/>
              <a:t>Git Bash</a:t>
            </a:r>
            <a:r>
              <a:rPr kumimoji="1" lang="ja-JP" altLang="en-US" dirty="0"/>
              <a:t>」をクリック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58ACACEF-B14F-B58A-1D7A-2117D105C7C4}"/>
              </a:ext>
            </a:extLst>
          </p:cNvPr>
          <p:cNvCxnSpPr>
            <a:cxnSpLocks/>
            <a:stCxn id="6" idx="1"/>
            <a:endCxn id="4" idx="1"/>
          </p:cNvCxnSpPr>
          <p:nvPr/>
        </p:nvCxnSpPr>
        <p:spPr>
          <a:xfrm rot="10800000" flipH="1" flipV="1">
            <a:off x="539551" y="1462284"/>
            <a:ext cx="1122139" cy="4613797"/>
          </a:xfrm>
          <a:prstGeom prst="bentConnector3">
            <a:avLst>
              <a:gd name="adj1" fmla="val -20372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カギ線 9">
            <a:extLst>
              <a:ext uri="{FF2B5EF4-FFF2-40B4-BE49-F238E27FC236}">
                <a16:creationId xmlns:a16="http://schemas.microsoft.com/office/drawing/2014/main" id="{DE20E759-252F-2C23-973B-C46F7AD00575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766515" y="1820472"/>
            <a:ext cx="1048350" cy="79208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22C48DA-374B-ACCD-5BCB-4D18AF05B47A}"/>
              </a:ext>
            </a:extLst>
          </p:cNvPr>
          <p:cNvSpPr txBox="1"/>
          <p:nvPr/>
        </p:nvSpPr>
        <p:spPr>
          <a:xfrm>
            <a:off x="827584" y="6309320"/>
            <a:ext cx="4501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以下、</a:t>
            </a:r>
            <a:r>
              <a:rPr kumimoji="1" lang="en-US" altLang="ja-JP" sz="2000" dirty="0"/>
              <a:t>Git Bash</a:t>
            </a:r>
            <a:r>
              <a:rPr kumimoji="1" lang="ja-JP" altLang="en-US" sz="2000"/>
              <a:t>を前提に説明を進める</a:t>
            </a:r>
          </a:p>
        </p:txBody>
      </p:sp>
    </p:spTree>
    <p:extLst>
      <p:ext uri="{BB962C8B-B14F-4D97-AF65-F5344CB8AC3E}">
        <p14:creationId xmlns:p14="http://schemas.microsoft.com/office/powerpoint/2010/main" val="4097409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4D83395-DFF7-6972-F903-89A85EF931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とプロンプト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4B46D3-B143-43FD-0325-9285E49608DA}"/>
              </a:ext>
            </a:extLst>
          </p:cNvPr>
          <p:cNvSpPr txBox="1"/>
          <p:nvPr/>
        </p:nvSpPr>
        <p:spPr>
          <a:xfrm>
            <a:off x="179512" y="1196752"/>
            <a:ext cx="6288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Git Bash</a:t>
            </a:r>
            <a:r>
              <a:rPr kumimoji="1" lang="ja-JP" altLang="en-US" sz="2400" dirty="0"/>
              <a:t>を開くと、以下のような画面となる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66393B-FF6C-9707-C180-CA49DB737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44824"/>
            <a:ext cx="7331075" cy="257578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C60A87-578C-2256-C8A4-46FEE654AFA5}"/>
              </a:ext>
            </a:extLst>
          </p:cNvPr>
          <p:cNvSpPr txBox="1"/>
          <p:nvPr/>
        </p:nvSpPr>
        <p:spPr>
          <a:xfrm>
            <a:off x="519455" y="4607014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＄マークの右にカーソルが点滅しており、コマンド入力待ちになる</a:t>
            </a:r>
            <a:endParaRPr kumimoji="1" lang="en-US" altLang="ja-JP" sz="2000" dirty="0"/>
          </a:p>
          <a:p>
            <a:r>
              <a:rPr kumimoji="1" lang="ja-JP" altLang="en-US" sz="2000" dirty="0"/>
              <a:t>このマークを</a:t>
            </a:r>
            <a:r>
              <a:rPr kumimoji="1" lang="ja-JP" altLang="en-US" sz="2000" dirty="0">
                <a:solidFill>
                  <a:srgbClr val="FF0000"/>
                </a:solidFill>
              </a:rPr>
              <a:t>コマンドプロンプト</a:t>
            </a:r>
            <a:r>
              <a:rPr kumimoji="1" lang="en-US" altLang="ja-JP" sz="2000" dirty="0"/>
              <a:t>(</a:t>
            </a:r>
            <a:r>
              <a:rPr kumimoji="1" lang="ja-JP" altLang="en-US" sz="2000" dirty="0"/>
              <a:t>もしくは単に</a:t>
            </a:r>
            <a:r>
              <a:rPr kumimoji="1" lang="ja-JP" altLang="en-US" sz="2000" dirty="0">
                <a:solidFill>
                  <a:srgbClr val="FF0000"/>
                </a:solidFill>
              </a:rPr>
              <a:t>プロンプト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と呼ぶ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15075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B0B2E08-2322-4621-96D8-09F2805817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1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2471D5-BCE5-475E-80D0-D586469A6592}"/>
              </a:ext>
            </a:extLst>
          </p:cNvPr>
          <p:cNvSpPr txBox="1"/>
          <p:nvPr/>
        </p:nvSpPr>
        <p:spPr>
          <a:xfrm>
            <a:off x="323528" y="11247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初期設定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B41CAA-0100-4EA9-A1D1-4CFEBFC3849C}"/>
              </a:ext>
            </a:extLst>
          </p:cNvPr>
          <p:cNvSpPr txBox="1"/>
          <p:nvPr/>
        </p:nvSpPr>
        <p:spPr>
          <a:xfrm>
            <a:off x="539552" y="2204864"/>
            <a:ext cx="597952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git config --global user.name "</a:t>
            </a:r>
            <a:r>
              <a:rPr kumimoji="1" lang="ja-JP" altLang="en-US" dirty="0">
                <a:latin typeface="Consolas" panose="020B0609020204030204" pitchFamily="49" charset="0"/>
              </a:rPr>
              <a:t>ユーザー名</a:t>
            </a:r>
            <a:r>
              <a:rPr kumimoji="1" lang="en-US" altLang="ja-JP" dirty="0">
                <a:latin typeface="Consolas" panose="020B0609020204030204" pitchFamily="49" charset="0"/>
              </a:rPr>
              <a:t>"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user.email</a:t>
            </a:r>
            <a:r>
              <a:rPr kumimoji="1" lang="en-US" altLang="ja-JP" dirty="0">
                <a:latin typeface="Consolas" panose="020B0609020204030204" pitchFamily="49" charset="0"/>
              </a:rPr>
              <a:t> "</a:t>
            </a:r>
            <a:r>
              <a:rPr kumimoji="1" lang="ja-JP" altLang="en-US" dirty="0">
                <a:latin typeface="Consolas" panose="020B0609020204030204" pitchFamily="49" charset="0"/>
              </a:rPr>
              <a:t>メールアドレス</a:t>
            </a:r>
            <a:r>
              <a:rPr kumimoji="1" lang="en-US" altLang="ja-JP" dirty="0">
                <a:latin typeface="Consolas" panose="020B0609020204030204" pitchFamily="49" charset="0"/>
              </a:rPr>
              <a:t>“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core.editor</a:t>
            </a:r>
            <a:r>
              <a:rPr kumimoji="1" lang="en-US" altLang="ja-JP" dirty="0">
                <a:latin typeface="Consolas" panose="020B0609020204030204" pitchFamily="49" charset="0"/>
              </a:rPr>
              <a:t> vim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core.autocrlf</a:t>
            </a:r>
            <a:r>
              <a:rPr kumimoji="1" lang="en-US" altLang="ja-JP" dirty="0">
                <a:latin typeface="Consolas" panose="020B0609020204030204" pitchFamily="49" charset="0"/>
              </a:rPr>
              <a:t> false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init.defaultBranch</a:t>
            </a:r>
            <a:r>
              <a:rPr kumimoji="1" lang="en-US" altLang="ja-JP" dirty="0">
                <a:latin typeface="Consolas" panose="020B0609020204030204" pitchFamily="49" charset="0"/>
              </a:rPr>
              <a:t> main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alias.st "status -s"</a:t>
            </a:r>
          </a:p>
        </p:txBody>
      </p:sp>
      <p:pic>
        <p:nvPicPr>
          <p:cNvPr id="23" name="Picture 2" descr="フォルダのイラスト">
            <a:extLst>
              <a:ext uri="{FF2B5EF4-FFF2-40B4-BE49-F238E27FC236}">
                <a16:creationId xmlns:a16="http://schemas.microsoft.com/office/drawing/2014/main" id="{C30570D5-D05E-4140-BE97-0E32241B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0770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家のイラスト7">
            <a:extLst>
              <a:ext uri="{FF2B5EF4-FFF2-40B4-BE49-F238E27FC236}">
                <a16:creationId xmlns:a16="http://schemas.microsoft.com/office/drawing/2014/main" id="{0E850664-FB0A-43DE-AF7C-94922EADF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22108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ファイルアイコン（テキスト）">
            <a:extLst>
              <a:ext uri="{FF2B5EF4-FFF2-40B4-BE49-F238E27FC236}">
                <a16:creationId xmlns:a16="http://schemas.microsoft.com/office/drawing/2014/main" id="{F5F57010-B496-49C7-8EBE-2053136A0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232" y="4941168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D61EB45-6C88-45FD-AE22-5DD6ED78AC10}"/>
              </a:ext>
            </a:extLst>
          </p:cNvPr>
          <p:cNvCxnSpPr>
            <a:stCxn id="23" idx="2"/>
            <a:endCxn id="36" idx="0"/>
          </p:cNvCxnSpPr>
          <p:nvPr/>
        </p:nvCxnSpPr>
        <p:spPr>
          <a:xfrm flipH="1">
            <a:off x="6074365" y="4665062"/>
            <a:ext cx="802" cy="2761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9F5D442-2F5E-4DB0-A5E2-09FC366A0208}"/>
              </a:ext>
            </a:extLst>
          </p:cNvPr>
          <p:cNvSpPr txBox="1"/>
          <p:nvPr/>
        </p:nvSpPr>
        <p:spPr>
          <a:xfrm>
            <a:off x="6516216" y="41490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ホームディレクトリ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67AEE9D-E23C-4C86-8B7B-448B638FA499}"/>
              </a:ext>
            </a:extLst>
          </p:cNvPr>
          <p:cNvSpPr txBox="1"/>
          <p:nvPr/>
        </p:nvSpPr>
        <p:spPr>
          <a:xfrm>
            <a:off x="5292080" y="55172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.</a:t>
            </a:r>
            <a:r>
              <a:rPr kumimoji="1" lang="en-US" altLang="ja-JP" dirty="0" err="1">
                <a:latin typeface="Consolas" panose="020B0609020204030204" pitchFamily="49" charset="0"/>
              </a:rPr>
              <a:t>gitconfig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26897EA-FF1E-47E9-A4A9-1E1CBE6F05BD}"/>
              </a:ext>
            </a:extLst>
          </p:cNvPr>
          <p:cNvSpPr txBox="1"/>
          <p:nvPr/>
        </p:nvSpPr>
        <p:spPr>
          <a:xfrm>
            <a:off x="611560" y="458112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上記設定は、ホームディレクトリ直下の</a:t>
            </a:r>
            <a:endParaRPr lang="en-US" altLang="ja-JP" dirty="0"/>
          </a:p>
          <a:p>
            <a:r>
              <a:rPr kumimoji="1" lang="en-US" altLang="ja-JP" dirty="0"/>
              <a:t>.</a:t>
            </a:r>
            <a:r>
              <a:rPr kumimoji="1" lang="en-US" altLang="ja-JP" dirty="0" err="1"/>
              <a:t>gitconfig</a:t>
            </a:r>
            <a:r>
              <a:rPr kumimoji="1" lang="ja-JP" altLang="en-US" dirty="0"/>
              <a:t>に書き込まれる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785257-2350-496E-BE8D-B45E915417F1}"/>
              </a:ext>
            </a:extLst>
          </p:cNvPr>
          <p:cNvSpPr txBox="1"/>
          <p:nvPr/>
        </p:nvSpPr>
        <p:spPr>
          <a:xfrm>
            <a:off x="683568" y="1763524"/>
            <a:ext cx="463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</a:t>
            </a:r>
            <a:r>
              <a:rPr lang="ja-JP" altLang="en-US" dirty="0"/>
              <a:t>に名前やアドレス、その他設定を伝える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8065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9FC35D-439B-4D2A-B2EE-13619F77B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A020DB-1700-43A1-8863-48DD090945C5}"/>
              </a:ext>
            </a:extLst>
          </p:cNvPr>
          <p:cNvSpPr txBox="1"/>
          <p:nvPr/>
        </p:nvSpPr>
        <p:spPr>
          <a:xfrm>
            <a:off x="539552" y="2060848"/>
            <a:ext cx="187743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cd</a:t>
            </a:r>
          </a:p>
          <a:p>
            <a:r>
              <a:rPr kumimoji="1" lang="en-US" altLang="ja-JP" sz="2000" dirty="0" err="1">
                <a:latin typeface="Consolas" panose="020B0609020204030204" pitchFamily="49" charset="0"/>
              </a:rPr>
              <a:t>mkdir</a:t>
            </a:r>
            <a:r>
              <a:rPr kumimoji="1" lang="en-US" altLang="ja-JP" sz="2000" dirty="0">
                <a:latin typeface="Consolas" panose="020B0609020204030204" pitchFamily="49" charset="0"/>
              </a:rPr>
              <a:t> github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kumimoji="1" lang="en-US" altLang="ja-JP" sz="2000" dirty="0">
                <a:latin typeface="Consolas" panose="020B0609020204030204" pitchFamily="49" charset="0"/>
              </a:rPr>
              <a:t>cd github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84F612B-D17C-4823-82D6-614DAD7219EE}"/>
              </a:ext>
            </a:extLst>
          </p:cNvPr>
          <p:cNvSpPr txBox="1"/>
          <p:nvPr/>
        </p:nvSpPr>
        <p:spPr>
          <a:xfrm>
            <a:off x="251520" y="12687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ディレクトリの作成</a:t>
            </a:r>
          </a:p>
        </p:txBody>
      </p:sp>
      <p:pic>
        <p:nvPicPr>
          <p:cNvPr id="21" name="Picture 2" descr="フォルダのイラスト">
            <a:extLst>
              <a:ext uri="{FF2B5EF4-FFF2-40B4-BE49-F238E27FC236}">
                <a16:creationId xmlns:a16="http://schemas.microsoft.com/office/drawing/2014/main" id="{D5FB3222-65A1-4AA0-92CE-1B2E62674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13285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4CED145E-4633-4BC9-95C9-3724E4BE8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13285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E57AF4C-CBE6-45D0-A78B-1479F523196D}"/>
              </a:ext>
            </a:extLst>
          </p:cNvPr>
          <p:cNvSpPr txBox="1"/>
          <p:nvPr/>
        </p:nvSpPr>
        <p:spPr>
          <a:xfrm>
            <a:off x="6012160" y="25649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github</a:t>
            </a:r>
            <a:endParaRPr kumimoji="1" lang="ja-JP" altLang="en-US" dirty="0"/>
          </a:p>
        </p:txBody>
      </p:sp>
      <p:pic>
        <p:nvPicPr>
          <p:cNvPr id="27" name="Picture 2" descr="家のイラスト7">
            <a:extLst>
              <a:ext uri="{FF2B5EF4-FFF2-40B4-BE49-F238E27FC236}">
                <a16:creationId xmlns:a16="http://schemas.microsoft.com/office/drawing/2014/main" id="{8EFC7E64-0F23-4A38-8F9E-D9C772BBE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872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6AA4814-C6FC-4E61-B1A5-67434C00CB5C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5562110" y="2426851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251D9D3-D373-49CD-B56F-E1FD520CBD51}"/>
              </a:ext>
            </a:extLst>
          </p:cNvPr>
          <p:cNvSpPr txBox="1"/>
          <p:nvPr/>
        </p:nvSpPr>
        <p:spPr>
          <a:xfrm>
            <a:off x="755576" y="3284984"/>
            <a:ext cx="4121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ホームディレクトリに移動してから</a:t>
            </a:r>
            <a:endParaRPr lang="en-US" altLang="ja-JP" dirty="0"/>
          </a:p>
          <a:p>
            <a:r>
              <a:rPr kumimoji="1" lang="en-US" altLang="ja-JP" dirty="0"/>
              <a:t>git</a:t>
            </a:r>
            <a:r>
              <a:rPr kumimoji="1" lang="ja-JP" altLang="en-US" dirty="0"/>
              <a:t>ディレクトリ</a:t>
            </a:r>
            <a:r>
              <a:rPr kumimoji="1" lang="ja-JP" altLang="en-US"/>
              <a:t>を作成</a:t>
            </a:r>
            <a:r>
              <a:rPr lang="ja-JP" altLang="en-US"/>
              <a:t>し、そこへ移動</a:t>
            </a:r>
            <a:endParaRPr kumimoji="1" lang="ja-JP" altLang="en-US" dirty="0"/>
          </a:p>
        </p:txBody>
      </p:sp>
      <p:pic>
        <p:nvPicPr>
          <p:cNvPr id="31" name="Picture 2" descr="手を上げている男の子のイラスト">
            <a:extLst>
              <a:ext uri="{FF2B5EF4-FFF2-40B4-BE49-F238E27FC236}">
                <a16:creationId xmlns:a16="http://schemas.microsoft.com/office/drawing/2014/main" id="{1A3E7FD9-5330-4433-B2DC-09F1621E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012" y="14847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62DFEEA-286C-496A-9AF0-12927DFD9C26}"/>
              </a:ext>
            </a:extLst>
          </p:cNvPr>
          <p:cNvSpPr txBox="1"/>
          <p:nvPr/>
        </p:nvSpPr>
        <p:spPr>
          <a:xfrm>
            <a:off x="6732240" y="1556792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カレント</a:t>
            </a:r>
            <a:endParaRPr lang="en-US" altLang="ja-JP" dirty="0"/>
          </a:p>
          <a:p>
            <a:r>
              <a:rPr lang="ja-JP" altLang="en-US" dirty="0"/>
              <a:t>ディレクトリ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01D5A89-DD8F-4621-9496-D65A0CAE355D}"/>
              </a:ext>
            </a:extLst>
          </p:cNvPr>
          <p:cNvSpPr txBox="1"/>
          <p:nvPr/>
        </p:nvSpPr>
        <p:spPr>
          <a:xfrm>
            <a:off x="539552" y="4509120"/>
            <a:ext cx="159530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 err="1">
                <a:latin typeface="Consolas" panose="020B0609020204030204" pitchFamily="49" charset="0"/>
              </a:rPr>
              <a:t>mkdir</a:t>
            </a:r>
            <a:r>
              <a:rPr kumimoji="1" lang="en-US" altLang="ja-JP" sz="2000" dirty="0">
                <a:latin typeface="Consolas" panose="020B0609020204030204" pitchFamily="49" charset="0"/>
              </a:rPr>
              <a:t> test</a:t>
            </a:r>
          </a:p>
          <a:p>
            <a:r>
              <a:rPr kumimoji="1" lang="en-US" altLang="ja-JP" sz="2000" dirty="0">
                <a:latin typeface="Consolas" panose="020B0609020204030204" pitchFamily="49" charset="0"/>
              </a:rPr>
              <a:t>cd test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C57A7F4-9FAB-477B-B2AC-3399556274E9}"/>
              </a:ext>
            </a:extLst>
          </p:cNvPr>
          <p:cNvSpPr txBox="1"/>
          <p:nvPr/>
        </p:nvSpPr>
        <p:spPr>
          <a:xfrm>
            <a:off x="755576" y="5373216"/>
            <a:ext cx="3788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さらに</a:t>
            </a:r>
            <a:r>
              <a:rPr kumimoji="1" lang="en-US" altLang="ja-JP" dirty="0"/>
              <a:t>test</a:t>
            </a:r>
            <a:r>
              <a:rPr kumimoji="1" lang="ja-JP" altLang="en-US" dirty="0"/>
              <a:t>ディレクトリを作成して</a:t>
            </a:r>
            <a:endParaRPr kumimoji="1" lang="en-US" altLang="ja-JP" dirty="0"/>
          </a:p>
          <a:p>
            <a:r>
              <a:rPr lang="ja-JP" altLang="en-US" dirty="0"/>
              <a:t>そこへ移動</a:t>
            </a:r>
            <a:endParaRPr kumimoji="1" lang="ja-JP" altLang="en-US" dirty="0"/>
          </a:p>
        </p:txBody>
      </p:sp>
      <p:pic>
        <p:nvPicPr>
          <p:cNvPr id="35" name="Picture 2" descr="フォルダのイラスト">
            <a:extLst>
              <a:ext uri="{FF2B5EF4-FFF2-40B4-BE49-F238E27FC236}">
                <a16:creationId xmlns:a16="http://schemas.microsoft.com/office/drawing/2014/main" id="{BF168D21-995B-4069-A814-84BD3BF10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51571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フォルダのイラスト">
            <a:extLst>
              <a:ext uri="{FF2B5EF4-FFF2-40B4-BE49-F238E27FC236}">
                <a16:creationId xmlns:a16="http://schemas.microsoft.com/office/drawing/2014/main" id="{F5D3659D-A854-45A2-BA9D-4F4D2CE4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51571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EF9FCCA-6BFA-4E02-A703-8517A7458E3A}"/>
              </a:ext>
            </a:extLst>
          </p:cNvPr>
          <p:cNvSpPr txBox="1"/>
          <p:nvPr/>
        </p:nvSpPr>
        <p:spPr>
          <a:xfrm>
            <a:off x="6012160" y="558924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github</a:t>
            </a:r>
            <a:endParaRPr kumimoji="1" lang="ja-JP" altLang="en-US" dirty="0"/>
          </a:p>
        </p:txBody>
      </p:sp>
      <p:pic>
        <p:nvPicPr>
          <p:cNvPr id="38" name="Picture 2" descr="家のイラスト7">
            <a:extLst>
              <a:ext uri="{FF2B5EF4-FFF2-40B4-BE49-F238E27FC236}">
                <a16:creationId xmlns:a16="http://schemas.microsoft.com/office/drawing/2014/main" id="{A7DD775C-2EF4-49AD-8BBA-CB42A18B4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30120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4CE213D7-D7E2-47D6-A11C-5501D1473BE3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5562110" y="5451187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 descr="フォルダのイラスト">
            <a:extLst>
              <a:ext uri="{FF2B5EF4-FFF2-40B4-BE49-F238E27FC236}">
                <a16:creationId xmlns:a16="http://schemas.microsoft.com/office/drawing/2014/main" id="{0D4DCE5E-265F-4131-8C70-145C957F5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51571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021F8FC-BB61-4643-B355-E94A1806EEAB}"/>
              </a:ext>
            </a:extLst>
          </p:cNvPr>
          <p:cNvSpPr txBox="1"/>
          <p:nvPr/>
        </p:nvSpPr>
        <p:spPr>
          <a:xfrm>
            <a:off x="7452320" y="566124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pic>
        <p:nvPicPr>
          <p:cNvPr id="42" name="Picture 2" descr="手を上げている男の子のイラスト">
            <a:extLst>
              <a:ext uri="{FF2B5EF4-FFF2-40B4-BE49-F238E27FC236}">
                <a16:creationId xmlns:a16="http://schemas.microsoft.com/office/drawing/2014/main" id="{79E650B2-C543-4EED-B3C8-171E65868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4509120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ED3C703-CDC9-4077-9CE8-80CB0BE692C1}"/>
              </a:ext>
            </a:extLst>
          </p:cNvPr>
          <p:cNvCxnSpPr>
            <a:cxnSpLocks/>
            <a:stCxn id="40" idx="1"/>
            <a:endCxn id="36" idx="3"/>
          </p:cNvCxnSpPr>
          <p:nvPr/>
        </p:nvCxnSpPr>
        <p:spPr>
          <a:xfrm flipH="1">
            <a:off x="6786246" y="5451187"/>
            <a:ext cx="59406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618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A80F7C2-D7F5-E5E9-4E32-C714966A1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132856"/>
            <a:ext cx="6889077" cy="2697714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BE38C31-5AF7-9060-7714-867B2AC1D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0F3026-5B00-F671-A05D-C8EDF01A17CC}"/>
              </a:ext>
            </a:extLst>
          </p:cNvPr>
          <p:cNvSpPr txBox="1"/>
          <p:nvPr/>
        </p:nvSpPr>
        <p:spPr>
          <a:xfrm>
            <a:off x="179512" y="980728"/>
            <a:ext cx="799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 </a:t>
            </a:r>
            <a:r>
              <a:rPr lang="en-US" altLang="ja-JP" dirty="0"/>
              <a:t>Bash</a:t>
            </a:r>
            <a:r>
              <a:rPr lang="ja-JP" altLang="en-US" dirty="0"/>
              <a:t>を開いた直後は「ホームディレクトリ」がカレントディレクトリに</a:t>
            </a:r>
            <a:endParaRPr lang="en-US" altLang="ja-JP" dirty="0"/>
          </a:p>
          <a:p>
            <a:r>
              <a:rPr kumimoji="1" lang="ja-JP" altLang="en-US" dirty="0"/>
              <a:t>なっている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247A3DFB-B8D4-F0C0-ECAF-EBE1A392AD7D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4645214" y="1158605"/>
            <a:ext cx="504056" cy="1440964"/>
          </a:xfrm>
          <a:prstGeom prst="bentConnector3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B4EC1DF-A5FC-B228-C4F9-78F6422E8053}"/>
              </a:ext>
            </a:extLst>
          </p:cNvPr>
          <p:cNvSpPr/>
          <p:nvPr/>
        </p:nvSpPr>
        <p:spPr>
          <a:xfrm>
            <a:off x="5364088" y="2132856"/>
            <a:ext cx="504056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76A922-5056-6ACA-5064-1E622CD11C9C}"/>
              </a:ext>
            </a:extLst>
          </p:cNvPr>
          <p:cNvSpPr txBox="1"/>
          <p:nvPr/>
        </p:nvSpPr>
        <p:spPr>
          <a:xfrm>
            <a:off x="3563888" y="2492896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ディレクトリを作成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906152E-D81B-7999-9D68-B0CB580D28E5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2843808" y="2564904"/>
            <a:ext cx="720080" cy="11265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A093298-2FC9-BF90-665D-80B83F614E24}"/>
              </a:ext>
            </a:extLst>
          </p:cNvPr>
          <p:cNvSpPr/>
          <p:nvPr/>
        </p:nvSpPr>
        <p:spPr>
          <a:xfrm>
            <a:off x="5436096" y="3645024"/>
            <a:ext cx="1296144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35750E3B-B024-D316-95AB-AC61E38390E9}"/>
              </a:ext>
            </a:extLst>
          </p:cNvPr>
          <p:cNvCxnSpPr>
            <a:cxnSpLocks/>
            <a:endCxn id="13" idx="2"/>
          </p:cNvCxnSpPr>
          <p:nvPr/>
        </p:nvCxnSpPr>
        <p:spPr>
          <a:xfrm rot="5400000" flipH="1" flipV="1">
            <a:off x="4443182" y="3444198"/>
            <a:ext cx="1080120" cy="220185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0ECCCE-9A1B-F751-6CF2-DA878DC0C7BA}"/>
              </a:ext>
            </a:extLst>
          </p:cNvPr>
          <p:cNvSpPr txBox="1"/>
          <p:nvPr/>
        </p:nvSpPr>
        <p:spPr>
          <a:xfrm>
            <a:off x="395536" y="5157192"/>
            <a:ext cx="798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cd github</a:t>
            </a:r>
            <a:r>
              <a:rPr kumimoji="1" lang="ja-JP" altLang="en-US" dirty="0"/>
              <a:t>」コマンドにより、カレントディレクトリを</a:t>
            </a:r>
            <a:r>
              <a:rPr kumimoji="1" lang="en-US" altLang="ja-JP" dirty="0"/>
              <a:t>github</a:t>
            </a:r>
            <a:r>
              <a:rPr kumimoji="1" lang="ja-JP" altLang="en-US" dirty="0"/>
              <a:t>に移動すると</a:t>
            </a:r>
            <a:endParaRPr kumimoji="1" lang="en-US" altLang="ja-JP" dirty="0"/>
          </a:p>
          <a:p>
            <a:r>
              <a:rPr kumimoji="1" lang="ja-JP" altLang="en-US" dirty="0"/>
              <a:t>右の表示が変わる</a:t>
            </a:r>
          </a:p>
        </p:txBody>
      </p:sp>
    </p:spTree>
    <p:extLst>
      <p:ext uri="{BB962C8B-B14F-4D97-AF65-F5344CB8AC3E}">
        <p14:creationId xmlns:p14="http://schemas.microsoft.com/office/powerpoint/2010/main" val="72761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BD201B4-8564-9EEC-7283-7789AB16B4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のプロンプト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677FCC-56E0-B4BA-7C1E-F2C96EDD96FC}"/>
              </a:ext>
            </a:extLst>
          </p:cNvPr>
          <p:cNvSpPr txBox="1"/>
          <p:nvPr/>
        </p:nvSpPr>
        <p:spPr>
          <a:xfrm>
            <a:off x="251520" y="1052736"/>
            <a:ext cx="7848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Git Bash</a:t>
            </a:r>
            <a:r>
              <a:rPr kumimoji="1" lang="ja-JP" altLang="en-US" sz="2000" dirty="0"/>
              <a:t>はカレントディレクトリとカレントブランチを</a:t>
            </a:r>
            <a:r>
              <a:rPr lang="ja-JP" altLang="en-US" sz="2000" dirty="0"/>
              <a:t>表示する</a:t>
            </a:r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E48B141-EED6-E679-6425-6F233CBBA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919560" cy="178323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8D1EE7-CE52-63C0-D93E-0C46FB692823}"/>
              </a:ext>
            </a:extLst>
          </p:cNvPr>
          <p:cNvSpPr txBox="1"/>
          <p:nvPr/>
        </p:nvSpPr>
        <p:spPr>
          <a:xfrm>
            <a:off x="465936" y="1990581"/>
            <a:ext cx="799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 </a:t>
            </a:r>
            <a:r>
              <a:rPr lang="en-US" altLang="ja-JP" dirty="0"/>
              <a:t>Bash</a:t>
            </a:r>
            <a:r>
              <a:rPr lang="ja-JP" altLang="en-US" dirty="0"/>
              <a:t>を開いた直後は「ホームディレクトリ」がカレントディレクトリに</a:t>
            </a:r>
            <a:endParaRPr lang="en-US" altLang="ja-JP" dirty="0"/>
          </a:p>
          <a:p>
            <a:r>
              <a:rPr kumimoji="1" lang="ja-JP" altLang="en-US"/>
              <a:t>なっている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70546C-C6E7-FD5D-61F4-F814FA6EDF47}"/>
              </a:ext>
            </a:extLst>
          </p:cNvPr>
          <p:cNvSpPr txBox="1"/>
          <p:nvPr/>
        </p:nvSpPr>
        <p:spPr>
          <a:xfrm>
            <a:off x="251520" y="5393125"/>
            <a:ext cx="798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cd github</a:t>
            </a:r>
            <a:r>
              <a:rPr kumimoji="1" lang="ja-JP" altLang="en-US" dirty="0"/>
              <a:t>」コマンドにより、カレントディレクトリを</a:t>
            </a:r>
            <a:r>
              <a:rPr kumimoji="1" lang="en-US" altLang="ja-JP" dirty="0"/>
              <a:t>github</a:t>
            </a:r>
            <a:r>
              <a:rPr kumimoji="1" lang="ja-JP" altLang="en-US" dirty="0"/>
              <a:t>に移動すると</a:t>
            </a:r>
            <a:endParaRPr kumimoji="1" lang="en-US" altLang="ja-JP" dirty="0"/>
          </a:p>
          <a:p>
            <a:r>
              <a:rPr kumimoji="1" lang="ja-JP" altLang="en-US" dirty="0"/>
              <a:t>右の表示が変わる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495AE80-03CE-C93E-E8B9-D2CFC05F2275}"/>
              </a:ext>
            </a:extLst>
          </p:cNvPr>
          <p:cNvSpPr/>
          <p:nvPr/>
        </p:nvSpPr>
        <p:spPr>
          <a:xfrm>
            <a:off x="5652120" y="3140968"/>
            <a:ext cx="504056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4B855E2C-7F55-73A8-E767-3B7EDA2E6C0D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16200000" flipH="1">
            <a:off x="4931638" y="2168458"/>
            <a:ext cx="504056" cy="1440964"/>
          </a:xfrm>
          <a:prstGeom prst="bentConnector3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2340EEE-4C99-1D4E-B685-B5BAFDDBBC03}"/>
              </a:ext>
            </a:extLst>
          </p:cNvPr>
          <p:cNvSpPr/>
          <p:nvPr/>
        </p:nvSpPr>
        <p:spPr>
          <a:xfrm>
            <a:off x="5724128" y="3933056"/>
            <a:ext cx="1296144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A6A5DA05-ED9A-1709-EDFB-9BCD749091CF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rot="5400000" flipH="1" flipV="1">
            <a:off x="4757264" y="3778189"/>
            <a:ext cx="1100029" cy="212984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075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012622C-AF18-0A16-A8B4-58B412C1C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VS Code</a:t>
            </a:r>
            <a:r>
              <a:rPr kumimoji="1" lang="ja-JP" altLang="en-US" dirty="0"/>
              <a:t>の起動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DA8D962-C685-9419-E882-642120E99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628800"/>
            <a:ext cx="573405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2A18DF6-AB1C-D82B-7313-6A794BC4F169}"/>
              </a:ext>
            </a:extLst>
          </p:cNvPr>
          <p:cNvSpPr/>
          <p:nvPr/>
        </p:nvSpPr>
        <p:spPr>
          <a:xfrm>
            <a:off x="1835696" y="6021288"/>
            <a:ext cx="2448272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FBE4B02-5423-8BD1-7803-2E7A1354E955}"/>
              </a:ext>
            </a:extLst>
          </p:cNvPr>
          <p:cNvSpPr/>
          <p:nvPr/>
        </p:nvSpPr>
        <p:spPr>
          <a:xfrm>
            <a:off x="1907704" y="2204864"/>
            <a:ext cx="2304256" cy="43204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59D715-C6FD-B111-BD16-EF5CC6BA287D}"/>
              </a:ext>
            </a:extLst>
          </p:cNvPr>
          <p:cNvSpPr txBox="1"/>
          <p:nvPr/>
        </p:nvSpPr>
        <p:spPr>
          <a:xfrm>
            <a:off x="395536" y="836712"/>
            <a:ext cx="5258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検索ボックスに</a:t>
            </a:r>
            <a:r>
              <a:rPr lang="en-US" altLang="ja-JP" dirty="0"/>
              <a:t>vs code</a:t>
            </a:r>
            <a:r>
              <a:rPr lang="ja-JP" altLang="en-US" dirty="0"/>
              <a:t>と入力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表示された「</a:t>
            </a:r>
            <a:r>
              <a:rPr lang="en-US" altLang="ja-JP" dirty="0"/>
              <a:t>Visual Studio Code</a:t>
            </a:r>
            <a:r>
              <a:rPr kumimoji="1" lang="ja-JP" altLang="en-US" dirty="0"/>
              <a:t>」をクリック</a:t>
            </a:r>
          </a:p>
        </p:txBody>
      </p:sp>
      <p:cxnSp>
        <p:nvCxnSpPr>
          <p:cNvPr id="6" name="コネクタ: カギ線 5">
            <a:extLst>
              <a:ext uri="{FF2B5EF4-FFF2-40B4-BE49-F238E27FC236}">
                <a16:creationId xmlns:a16="http://schemas.microsoft.com/office/drawing/2014/main" id="{EF93BD08-CA8B-A402-28B4-E8CCA6E2C190}"/>
              </a:ext>
            </a:extLst>
          </p:cNvPr>
          <p:cNvCxnSpPr>
            <a:cxnSpLocks/>
            <a:stCxn id="5" idx="1"/>
            <a:endCxn id="3" idx="1"/>
          </p:cNvCxnSpPr>
          <p:nvPr/>
        </p:nvCxnSpPr>
        <p:spPr>
          <a:xfrm rot="10800000" flipH="1" flipV="1">
            <a:off x="395536" y="1159878"/>
            <a:ext cx="1440160" cy="5005426"/>
          </a:xfrm>
          <a:prstGeom prst="bentConnector3">
            <a:avLst>
              <a:gd name="adj1" fmla="val -15873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4E5CD875-9AFD-92F0-FFDE-8A4D693C5DED}"/>
              </a:ext>
            </a:extLst>
          </p:cNvPr>
          <p:cNvCxnSpPr>
            <a:endCxn id="4" idx="1"/>
          </p:cNvCxnSpPr>
          <p:nvPr/>
        </p:nvCxnSpPr>
        <p:spPr>
          <a:xfrm rot="16200000" flipH="1">
            <a:off x="971600" y="1484784"/>
            <a:ext cx="1080120" cy="79208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306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85605C-E8FA-2C28-1312-54E33C5FF8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VS Code</a:t>
            </a:r>
            <a:r>
              <a:rPr kumimoji="1" lang="ja-JP" altLang="en-US"/>
              <a:t>の日本語化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7BE1E4-19DB-5F1F-4FCC-7D8590909D67}"/>
              </a:ext>
            </a:extLst>
          </p:cNvPr>
          <p:cNvSpPr txBox="1"/>
          <p:nvPr/>
        </p:nvSpPr>
        <p:spPr>
          <a:xfrm>
            <a:off x="467544" y="5340280"/>
            <a:ext cx="7750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ja-JP" altLang="en-US"/>
              <a:t>左の「拡張機能</a:t>
            </a:r>
            <a:r>
              <a:rPr lang="ja-JP" altLang="en-US"/>
              <a:t>」アイコンをクリック</a:t>
            </a:r>
            <a:endParaRPr lang="en-US" altLang="ja-JP" dirty="0"/>
          </a:p>
          <a:p>
            <a:pPr marL="342900" indent="-342900">
              <a:buAutoNum type="arabicPeriod"/>
            </a:pPr>
            <a:r>
              <a:rPr lang="ja-JP" altLang="en-US"/>
              <a:t>現れた検索窓に「</a:t>
            </a:r>
            <a:r>
              <a:rPr lang="en-US" altLang="ja-JP" dirty="0" err="1"/>
              <a:t>japanese</a:t>
            </a:r>
            <a:r>
              <a:rPr lang="ja-JP" altLang="en-US"/>
              <a:t>」と入力</a:t>
            </a:r>
            <a:endParaRPr lang="en-US" altLang="ja-JP" dirty="0"/>
          </a:p>
          <a:p>
            <a:pPr marL="342900" indent="-342900">
              <a:buAutoNum type="arabicPeriod"/>
            </a:pPr>
            <a:r>
              <a:rPr lang="ja-JP" altLang="en-US"/>
              <a:t>「</a:t>
            </a:r>
            <a:r>
              <a:rPr lang="en-US" altLang="ja-JP" dirty="0"/>
              <a:t>Japanese Language Pack for VS Code</a:t>
            </a:r>
            <a:r>
              <a:rPr lang="ja-JP" altLang="en-US"/>
              <a:t>」をインストールして再起動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14592AC-EE33-80C6-5B7F-ECB678AB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944195"/>
            <a:ext cx="4419600" cy="3886200"/>
          </a:xfrm>
          <a:prstGeom prst="rect">
            <a:avLst/>
          </a:prstGeom>
        </p:spPr>
      </p:pic>
      <p:sp>
        <p:nvSpPr>
          <p:cNvPr id="7" name="四角形: 角を丸くする 3">
            <a:extLst>
              <a:ext uri="{FF2B5EF4-FFF2-40B4-BE49-F238E27FC236}">
                <a16:creationId xmlns:a16="http://schemas.microsoft.com/office/drawing/2014/main" id="{9461783C-2547-629A-889A-01927F1E633F}"/>
              </a:ext>
            </a:extLst>
          </p:cNvPr>
          <p:cNvSpPr/>
          <p:nvPr/>
        </p:nvSpPr>
        <p:spPr>
          <a:xfrm>
            <a:off x="2843808" y="1487567"/>
            <a:ext cx="3384376" cy="3916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3">
            <a:extLst>
              <a:ext uri="{FF2B5EF4-FFF2-40B4-BE49-F238E27FC236}">
                <a16:creationId xmlns:a16="http://schemas.microsoft.com/office/drawing/2014/main" id="{C03A8938-A686-AED0-7A41-E2BC06EE8156}"/>
              </a:ext>
            </a:extLst>
          </p:cNvPr>
          <p:cNvSpPr/>
          <p:nvPr/>
        </p:nvSpPr>
        <p:spPr>
          <a:xfrm>
            <a:off x="5580112" y="2495679"/>
            <a:ext cx="891208" cy="3916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3">
            <a:extLst>
              <a:ext uri="{FF2B5EF4-FFF2-40B4-BE49-F238E27FC236}">
                <a16:creationId xmlns:a16="http://schemas.microsoft.com/office/drawing/2014/main" id="{8F408FCD-B8C9-2170-E5D3-7C7573D53677}"/>
              </a:ext>
            </a:extLst>
          </p:cNvPr>
          <p:cNvSpPr/>
          <p:nvPr/>
        </p:nvSpPr>
        <p:spPr>
          <a:xfrm>
            <a:off x="2046680" y="3487442"/>
            <a:ext cx="558800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5">
            <a:extLst>
              <a:ext uri="{FF2B5EF4-FFF2-40B4-BE49-F238E27FC236}">
                <a16:creationId xmlns:a16="http://schemas.microsoft.com/office/drawing/2014/main" id="{1C2D5466-0AC8-DD15-607C-AA59B997FC87}"/>
              </a:ext>
            </a:extLst>
          </p:cNvPr>
          <p:cNvSpPr/>
          <p:nvPr/>
        </p:nvSpPr>
        <p:spPr>
          <a:xfrm>
            <a:off x="1547664" y="3613266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</a:t>
            </a:r>
          </a:p>
        </p:txBody>
      </p:sp>
      <p:sp>
        <p:nvSpPr>
          <p:cNvPr id="13" name="楕円 5">
            <a:extLst>
              <a:ext uri="{FF2B5EF4-FFF2-40B4-BE49-F238E27FC236}">
                <a16:creationId xmlns:a16="http://schemas.microsoft.com/office/drawing/2014/main" id="{BB3A0F1E-4FFE-75E9-606C-7433FC7AF5DB}"/>
              </a:ext>
            </a:extLst>
          </p:cNvPr>
          <p:cNvSpPr/>
          <p:nvPr/>
        </p:nvSpPr>
        <p:spPr>
          <a:xfrm>
            <a:off x="2430592" y="1503095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楕円 5">
            <a:extLst>
              <a:ext uri="{FF2B5EF4-FFF2-40B4-BE49-F238E27FC236}">
                <a16:creationId xmlns:a16="http://schemas.microsoft.com/office/drawing/2014/main" id="{C623411E-D92E-CC81-3B55-9384E8F11906}"/>
              </a:ext>
            </a:extLst>
          </p:cNvPr>
          <p:cNvSpPr/>
          <p:nvPr/>
        </p:nvSpPr>
        <p:spPr>
          <a:xfrm>
            <a:off x="5166896" y="2518127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453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02927F3-F9A2-6B62-95C8-AA1BBBCBF0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VS Code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DFD70E-B0CF-BB7B-5471-E2A294592AEF}"/>
              </a:ext>
            </a:extLst>
          </p:cNvPr>
          <p:cNvSpPr txBox="1"/>
          <p:nvPr/>
        </p:nvSpPr>
        <p:spPr>
          <a:xfrm>
            <a:off x="0" y="764704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フォルダの開き方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67F5896-6D2B-CFF9-0F3F-F788DC594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4" y="1844824"/>
            <a:ext cx="3779848" cy="3398815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CD3FC9A-0C90-B4A5-B176-B6AA831F9E2C}"/>
              </a:ext>
            </a:extLst>
          </p:cNvPr>
          <p:cNvSpPr/>
          <p:nvPr/>
        </p:nvSpPr>
        <p:spPr>
          <a:xfrm>
            <a:off x="864096" y="1844824"/>
            <a:ext cx="720080" cy="2880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2DF24ED-AAC6-3BD1-DF1E-5C9B79AC7660}"/>
              </a:ext>
            </a:extLst>
          </p:cNvPr>
          <p:cNvSpPr/>
          <p:nvPr/>
        </p:nvSpPr>
        <p:spPr>
          <a:xfrm>
            <a:off x="1080120" y="3429000"/>
            <a:ext cx="3096344" cy="2880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369F8C-022C-7A4F-3EFF-CD297F138D75}"/>
              </a:ext>
            </a:extLst>
          </p:cNvPr>
          <p:cNvSpPr txBox="1"/>
          <p:nvPr/>
        </p:nvSpPr>
        <p:spPr>
          <a:xfrm>
            <a:off x="432048" y="1196752"/>
            <a:ext cx="5570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「ファイル」から「フォルダーを開く」を選択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B3A19F-E345-E637-BE13-2CCEAB5B8013}"/>
              </a:ext>
            </a:extLst>
          </p:cNvPr>
          <p:cNvSpPr txBox="1"/>
          <p:nvPr/>
        </p:nvSpPr>
        <p:spPr>
          <a:xfrm>
            <a:off x="4392488" y="2996952"/>
            <a:ext cx="45704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「このフォルダー内のファイルの作成者を</a:t>
            </a:r>
            <a:endParaRPr lang="en-US" altLang="ja-JP" dirty="0"/>
          </a:p>
          <a:p>
            <a:r>
              <a:rPr kumimoji="1" lang="ja-JP" altLang="en-US" dirty="0"/>
              <a:t>信頼しますか？」という表示が出たら</a:t>
            </a:r>
            <a:endParaRPr kumimoji="1" lang="en-US" altLang="ja-JP" dirty="0"/>
          </a:p>
          <a:p>
            <a:r>
              <a:rPr lang="ja-JP" altLang="en-US" dirty="0"/>
              <a:t>「はい、作成者を信頼します」を選ぶ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C23182-EB3C-2754-75B9-B2E66D7B453B}"/>
              </a:ext>
            </a:extLst>
          </p:cNvPr>
          <p:cNvSpPr txBox="1"/>
          <p:nvPr/>
        </p:nvSpPr>
        <p:spPr>
          <a:xfrm>
            <a:off x="827584" y="6237312"/>
            <a:ext cx="103105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code .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892128-1643-8000-AE53-68B774ECE632}"/>
              </a:ext>
            </a:extLst>
          </p:cNvPr>
          <p:cNvSpPr txBox="1"/>
          <p:nvPr/>
        </p:nvSpPr>
        <p:spPr>
          <a:xfrm>
            <a:off x="251520" y="5373216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もしくは、ターミナルで目的のディレクトリをカレントディレクトリに</a:t>
            </a:r>
            <a:endParaRPr kumimoji="1" lang="en-US" altLang="ja-JP" sz="2000" dirty="0"/>
          </a:p>
          <a:p>
            <a:r>
              <a:rPr lang="ja-JP" altLang="en-US" sz="2000" dirty="0"/>
              <a:t>した状態で以下を実行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25673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BCD38DB-9A8D-4127-8BD3-CC43B5E90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27B384-DCAE-4DA2-A8C1-49923CBAACB1}"/>
              </a:ext>
            </a:extLst>
          </p:cNvPr>
          <p:cNvSpPr txBox="1"/>
          <p:nvPr/>
        </p:nvSpPr>
        <p:spPr>
          <a:xfrm>
            <a:off x="251520" y="1268760"/>
            <a:ext cx="4169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README.md</a:t>
            </a:r>
            <a:r>
              <a:rPr lang="ja-JP" altLang="en-US" sz="2400" dirty="0"/>
              <a:t>ファイルの作成</a:t>
            </a:r>
            <a:endParaRPr kumimoji="1" lang="ja-JP" altLang="en-US" sz="2400" dirty="0"/>
          </a:p>
        </p:txBody>
      </p:sp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BBCDD0F4-DDDF-454E-912D-56EB02BEB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0785ED83-447B-46EB-83E5-9CAC8D56A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137" y="26369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A4294F4-64C7-4A7F-AB4D-3BA2DF5EC8AD}"/>
              </a:ext>
            </a:extLst>
          </p:cNvPr>
          <p:cNvSpPr txBox="1"/>
          <p:nvPr/>
        </p:nvSpPr>
        <p:spPr>
          <a:xfrm>
            <a:off x="5292080" y="278092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github</a:t>
            </a:r>
            <a:endParaRPr kumimoji="1" lang="ja-JP" altLang="en-US" dirty="0"/>
          </a:p>
        </p:txBody>
      </p:sp>
      <p:pic>
        <p:nvPicPr>
          <p:cNvPr id="21" name="Picture 2" descr="家のイラスト7">
            <a:extLst>
              <a:ext uri="{FF2B5EF4-FFF2-40B4-BE49-F238E27FC236}">
                <a16:creationId xmlns:a16="http://schemas.microsoft.com/office/drawing/2014/main" id="{8124289C-1AD8-471E-81AA-025E89973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916832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F3A76664-E40C-4ED5-B723-91C3E463E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57301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79D78D1-0929-43C8-8B0F-8B777F797AF9}"/>
              </a:ext>
            </a:extLst>
          </p:cNvPr>
          <p:cNvSpPr txBox="1"/>
          <p:nvPr/>
        </p:nvSpPr>
        <p:spPr>
          <a:xfrm>
            <a:off x="5432370" y="371703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pic>
        <p:nvPicPr>
          <p:cNvPr id="24" name="Picture 2" descr="手を上げている男の子のイラスト">
            <a:extLst>
              <a:ext uri="{FF2B5EF4-FFF2-40B4-BE49-F238E27FC236}">
                <a16:creationId xmlns:a16="http://schemas.microsoft.com/office/drawing/2014/main" id="{F77F9BD4-C580-4C31-952A-F1F15D84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306" y="3573016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ファイルアイコン（テキスト）">
            <a:extLst>
              <a:ext uri="{FF2B5EF4-FFF2-40B4-BE49-F238E27FC236}">
                <a16:creationId xmlns:a16="http://schemas.microsoft.com/office/drawing/2014/main" id="{457543DA-25CA-4446-92A6-5670E59C9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97" y="450912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E04318-07FB-45C3-8C3A-DFBE8E195A51}"/>
              </a:ext>
            </a:extLst>
          </p:cNvPr>
          <p:cNvSpPr txBox="1"/>
          <p:nvPr/>
        </p:nvSpPr>
        <p:spPr>
          <a:xfrm>
            <a:off x="5040049" y="508518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8B166264-89AF-477D-BD20-F4E172F62D90}"/>
              </a:ext>
            </a:extLst>
          </p:cNvPr>
          <p:cNvSpPr/>
          <p:nvPr/>
        </p:nvSpPr>
        <p:spPr>
          <a:xfrm>
            <a:off x="4211960" y="4581128"/>
            <a:ext cx="64807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743F2F71-633E-4CDF-AA4D-CA36E21A59AE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 flipH="1">
            <a:off x="5714230" y="4161006"/>
            <a:ext cx="897" cy="3481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CDDC8399-3D8A-4B1C-ABBD-AC20F5079AF4}"/>
              </a:ext>
            </a:extLst>
          </p:cNvPr>
          <p:cNvCxnSpPr/>
          <p:nvPr/>
        </p:nvCxnSpPr>
        <p:spPr>
          <a:xfrm flipH="1">
            <a:off x="5724128" y="3212976"/>
            <a:ext cx="897" cy="3481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90737BB5-2959-4592-A67C-495CCA8FA974}"/>
              </a:ext>
            </a:extLst>
          </p:cNvPr>
          <p:cNvCxnSpPr/>
          <p:nvPr/>
        </p:nvCxnSpPr>
        <p:spPr>
          <a:xfrm flipH="1">
            <a:off x="5724128" y="2348880"/>
            <a:ext cx="897" cy="3481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208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F153DA6-5536-84C8-6F4B-062087E600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– Step </a:t>
            </a:r>
            <a:r>
              <a:rPr lang="en-US" altLang="ja-JP"/>
              <a:t>2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0287C8-D1F8-6A67-1D3F-8F8BA695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484784"/>
            <a:ext cx="5278639" cy="3024336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05721CB-BBB1-0F49-F22A-129444404628}"/>
              </a:ext>
            </a:extLst>
          </p:cNvPr>
          <p:cNvSpPr/>
          <p:nvPr/>
        </p:nvSpPr>
        <p:spPr>
          <a:xfrm>
            <a:off x="4067943" y="2420888"/>
            <a:ext cx="216025" cy="2160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10F95BA-DAAF-A5FF-5D50-2045BB8A4206}"/>
              </a:ext>
            </a:extLst>
          </p:cNvPr>
          <p:cNvSpPr/>
          <p:nvPr/>
        </p:nvSpPr>
        <p:spPr>
          <a:xfrm>
            <a:off x="2483768" y="2671748"/>
            <a:ext cx="2664296" cy="25319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2693AED-BAAA-00B5-3B1D-06060A72F7A0}"/>
              </a:ext>
            </a:extLst>
          </p:cNvPr>
          <p:cNvSpPr/>
          <p:nvPr/>
        </p:nvSpPr>
        <p:spPr>
          <a:xfrm>
            <a:off x="4059235" y="206084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49AC3385-A6B0-E515-90DB-C6BD234BC854}"/>
              </a:ext>
            </a:extLst>
          </p:cNvPr>
          <p:cNvSpPr/>
          <p:nvPr/>
        </p:nvSpPr>
        <p:spPr>
          <a:xfrm>
            <a:off x="2051720" y="2636912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E2D32C-F0D9-9B4B-66F2-45EA594BD861}"/>
              </a:ext>
            </a:extLst>
          </p:cNvPr>
          <p:cNvSpPr txBox="1"/>
          <p:nvPr/>
        </p:nvSpPr>
        <p:spPr>
          <a:xfrm>
            <a:off x="1835696" y="4869160"/>
            <a:ext cx="4224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ja-JP" altLang="en-US"/>
              <a:t>ファイルの新規作成ボタンを押して</a:t>
            </a:r>
            <a:endParaRPr kumimoji="1" lang="en-US" altLang="ja-JP"/>
          </a:p>
          <a:p>
            <a:pPr marL="342900" indent="-342900">
              <a:buAutoNum type="arabicPeriod"/>
            </a:pPr>
            <a:r>
              <a:rPr kumimoji="1" lang="ja-JP" altLang="en-US"/>
              <a:t>「</a:t>
            </a:r>
            <a:r>
              <a:rPr kumimoji="1" lang="en-US" altLang="ja-JP"/>
              <a:t>README.md</a:t>
            </a:r>
            <a:r>
              <a:rPr kumimoji="1" lang="ja-JP" altLang="en-US"/>
              <a:t>」と入力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3839228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B94B1F-CF1F-9387-7049-41A06B122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– Step </a:t>
            </a:r>
            <a:r>
              <a:rPr lang="en-US" altLang="ja-JP"/>
              <a:t>2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5EDEBE-C845-64AE-6346-2096859E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334357"/>
            <a:ext cx="5828342" cy="1670707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369BA526-1DED-C4D8-2801-2D10F1F8F612}"/>
              </a:ext>
            </a:extLst>
          </p:cNvPr>
          <p:cNvSpPr/>
          <p:nvPr/>
        </p:nvSpPr>
        <p:spPr>
          <a:xfrm>
            <a:off x="1601268" y="2731636"/>
            <a:ext cx="262508" cy="2625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0779B2-BC07-F6A4-C63E-33EE24312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725144"/>
            <a:ext cx="5723660" cy="1794171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92063AEC-AF84-DD9D-CE0D-FA5703A02C85}"/>
              </a:ext>
            </a:extLst>
          </p:cNvPr>
          <p:cNvSpPr/>
          <p:nvPr/>
        </p:nvSpPr>
        <p:spPr>
          <a:xfrm>
            <a:off x="1722099" y="5122515"/>
            <a:ext cx="262508" cy="2625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C506330-7DCE-7E78-0CCB-D8829BE686B0}"/>
              </a:ext>
            </a:extLst>
          </p:cNvPr>
          <p:cNvSpPr txBox="1"/>
          <p:nvPr/>
        </p:nvSpPr>
        <p:spPr>
          <a:xfrm>
            <a:off x="971600" y="90872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ファイル内容を入力したら保存すること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3BEA8C-8D40-615E-399F-F07FF8DDD208}"/>
              </a:ext>
            </a:extLst>
          </p:cNvPr>
          <p:cNvSpPr txBox="1"/>
          <p:nvPr/>
        </p:nvSpPr>
        <p:spPr>
          <a:xfrm>
            <a:off x="107504" y="1772816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ファイル名のタブの隣のアイコンが「●」だと未保存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2CCCC1-0BFF-305D-5004-E68F9D2FE4FC}"/>
              </a:ext>
            </a:extLst>
          </p:cNvPr>
          <p:cNvSpPr txBox="1"/>
          <p:nvPr/>
        </p:nvSpPr>
        <p:spPr>
          <a:xfrm>
            <a:off x="107504" y="4221088"/>
            <a:ext cx="5878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ファイル名のタブの隣のアイコンが「</a:t>
            </a:r>
            <a:r>
              <a:rPr kumimoji="1" lang="en-US" altLang="ja-JP"/>
              <a:t>X</a:t>
            </a:r>
            <a:r>
              <a:rPr kumimoji="1" lang="ja-JP" altLang="en-US"/>
              <a:t>」だ</a:t>
            </a:r>
            <a:r>
              <a:rPr lang="ja-JP" altLang="en-US"/>
              <a:t>と</a:t>
            </a:r>
            <a:r>
              <a:rPr kumimoji="1" lang="ja-JP" altLang="en-US"/>
              <a:t>保存済み</a:t>
            </a: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86981498-6246-D072-8DF9-D4F7EB2C5927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 flipH="1">
            <a:off x="1732522" y="1957482"/>
            <a:ext cx="4099626" cy="774154"/>
          </a:xfrm>
          <a:prstGeom prst="bentConnector4">
            <a:avLst>
              <a:gd name="adj1" fmla="val -5576"/>
              <a:gd name="adj2" fmla="val 61927"/>
            </a:avLst>
          </a:prstGeom>
          <a:ln w="19050">
            <a:solidFill>
              <a:srgbClr val="FFC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19C41DCD-EC7A-57C0-FF60-084C3F97CFEF}"/>
              </a:ext>
            </a:extLst>
          </p:cNvPr>
          <p:cNvCxnSpPr>
            <a:cxnSpLocks/>
            <a:stCxn id="9" idx="3"/>
            <a:endCxn id="6" idx="0"/>
          </p:cNvCxnSpPr>
          <p:nvPr/>
        </p:nvCxnSpPr>
        <p:spPr>
          <a:xfrm flipH="1">
            <a:off x="1853353" y="4405754"/>
            <a:ext cx="4132683" cy="716761"/>
          </a:xfrm>
          <a:prstGeom prst="bentConnector4">
            <a:avLst>
              <a:gd name="adj1" fmla="val -5532"/>
              <a:gd name="adj2" fmla="val 62882"/>
            </a:avLst>
          </a:prstGeom>
          <a:ln w="19050">
            <a:solidFill>
              <a:srgbClr val="FFC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矢印: 左カーブ 15">
            <a:extLst>
              <a:ext uri="{FF2B5EF4-FFF2-40B4-BE49-F238E27FC236}">
                <a16:creationId xmlns:a16="http://schemas.microsoft.com/office/drawing/2014/main" id="{DAB6DCA9-32A6-CB60-7EE2-F0B96E56135B}"/>
              </a:ext>
            </a:extLst>
          </p:cNvPr>
          <p:cNvSpPr/>
          <p:nvPr/>
        </p:nvSpPr>
        <p:spPr>
          <a:xfrm>
            <a:off x="6228184" y="3140968"/>
            <a:ext cx="504056" cy="2232248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B804D4C-635C-48AD-0C9F-196A6BABB73F}"/>
              </a:ext>
            </a:extLst>
          </p:cNvPr>
          <p:cNvSpPr txBox="1"/>
          <p:nvPr/>
        </p:nvSpPr>
        <p:spPr>
          <a:xfrm>
            <a:off x="6732240" y="3501008"/>
            <a:ext cx="2262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Ctrl+S</a:t>
            </a:r>
          </a:p>
          <a:p>
            <a:r>
              <a:rPr lang="ja-JP" altLang="en-US"/>
              <a:t>もしくは</a:t>
            </a:r>
            <a:endParaRPr lang="en-US" altLang="ja-JP"/>
          </a:p>
          <a:p>
            <a:r>
              <a:rPr kumimoji="1" lang="ja-JP" altLang="en-US"/>
              <a:t>「ファイル」の</a:t>
            </a:r>
            <a:endParaRPr kumimoji="1" lang="en-US" altLang="ja-JP"/>
          </a:p>
          <a:p>
            <a:r>
              <a:rPr lang="ja-JP" altLang="en-US"/>
              <a:t>「保存」をクリック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475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B4E82F7-D8C3-4EF4-9BE5-671029CE4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87E50B-F937-470F-A788-DADB82256C21}"/>
              </a:ext>
            </a:extLst>
          </p:cNvPr>
          <p:cNvSpPr txBox="1"/>
          <p:nvPr/>
        </p:nvSpPr>
        <p:spPr>
          <a:xfrm>
            <a:off x="251520" y="12687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リポジトリの初期化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63A889-7056-4791-9531-03B0E36440CD}"/>
              </a:ext>
            </a:extLst>
          </p:cNvPr>
          <p:cNvSpPr txBox="1"/>
          <p:nvPr/>
        </p:nvSpPr>
        <p:spPr>
          <a:xfrm>
            <a:off x="827584" y="1988840"/>
            <a:ext cx="13131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init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77C3F71E-1B79-4D45-BFD2-EC76A6B7A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4928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15B0C44E-9E01-48D7-BE8F-9649C4DAD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169" y="33569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FE4AB1F-7773-4A51-B51A-075764F71726}"/>
              </a:ext>
            </a:extLst>
          </p:cNvPr>
          <p:cNvSpPr txBox="1"/>
          <p:nvPr/>
        </p:nvSpPr>
        <p:spPr>
          <a:xfrm>
            <a:off x="5631165" y="3491716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github</a:t>
            </a:r>
            <a:endParaRPr kumimoji="1" lang="ja-JP" altLang="en-US" dirty="0"/>
          </a:p>
        </p:txBody>
      </p:sp>
      <p:pic>
        <p:nvPicPr>
          <p:cNvPr id="20" name="Picture 2" descr="家のイラスト7">
            <a:extLst>
              <a:ext uri="{FF2B5EF4-FFF2-40B4-BE49-F238E27FC236}">
                <a16:creationId xmlns:a16="http://schemas.microsoft.com/office/drawing/2014/main" id="{96C92BE0-04C8-484F-A127-C4CB590F4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636912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87237FFD-E698-4ECB-AC79-701CA704C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2930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6EC6AA8-F466-4F88-B288-5D0543BFDEEC}"/>
              </a:ext>
            </a:extLst>
          </p:cNvPr>
          <p:cNvSpPr txBox="1"/>
          <p:nvPr/>
        </p:nvSpPr>
        <p:spPr>
          <a:xfrm>
            <a:off x="5724128" y="443711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pic>
        <p:nvPicPr>
          <p:cNvPr id="24" name="Picture 2" descr="手を上げている男の子のイラスト">
            <a:extLst>
              <a:ext uri="{FF2B5EF4-FFF2-40B4-BE49-F238E27FC236}">
                <a16:creationId xmlns:a16="http://schemas.microsoft.com/office/drawing/2014/main" id="{BFA8CAA8-BE2C-4A11-A5A6-FDC72144C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338" y="4293096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ファイルアイコン（テキスト）">
            <a:extLst>
              <a:ext uri="{FF2B5EF4-FFF2-40B4-BE49-F238E27FC236}">
                <a16:creationId xmlns:a16="http://schemas.microsoft.com/office/drawing/2014/main" id="{D83F88DB-5F15-49EC-9D1E-2F0F7A929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5301208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B814B22-C6E2-4292-AE9A-8D6A9E02089D}"/>
              </a:ext>
            </a:extLst>
          </p:cNvPr>
          <p:cNvSpPr txBox="1"/>
          <p:nvPr/>
        </p:nvSpPr>
        <p:spPr>
          <a:xfrm>
            <a:off x="6372200" y="5877272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D4D6C26-848C-4248-B488-E4C7152D1C03}"/>
              </a:ext>
            </a:extLst>
          </p:cNvPr>
          <p:cNvCxnSpPr>
            <a:cxnSpLocks/>
          </p:cNvCxnSpPr>
          <p:nvPr/>
        </p:nvCxnSpPr>
        <p:spPr>
          <a:xfrm>
            <a:off x="6012160" y="3068960"/>
            <a:ext cx="1" cy="2761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円柱 36">
            <a:extLst>
              <a:ext uri="{FF2B5EF4-FFF2-40B4-BE49-F238E27FC236}">
                <a16:creationId xmlns:a16="http://schemas.microsoft.com/office/drawing/2014/main" id="{FB089477-84E1-465E-A03D-9A8EF23FD339}"/>
              </a:ext>
            </a:extLst>
          </p:cNvPr>
          <p:cNvSpPr/>
          <p:nvPr/>
        </p:nvSpPr>
        <p:spPr>
          <a:xfrm>
            <a:off x="5716379" y="5301208"/>
            <a:ext cx="576064" cy="49607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780D1C17-4B15-4CCD-84D0-A1866F77A685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 rot="16200000" flipH="1">
            <a:off x="6314709" y="4569536"/>
            <a:ext cx="420122" cy="104322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D527BD5F-8994-4FD4-B37E-14972D4A5ECD}"/>
              </a:ext>
            </a:extLst>
          </p:cNvPr>
          <p:cNvCxnSpPr>
            <a:stCxn id="22" idx="2"/>
            <a:endCxn id="37" idx="1"/>
          </p:cNvCxnSpPr>
          <p:nvPr/>
        </p:nvCxnSpPr>
        <p:spPr>
          <a:xfrm>
            <a:off x="6003159" y="4881086"/>
            <a:ext cx="1252" cy="42012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44FBCD8-7A8F-4A5D-B382-3FE27B2EE256}"/>
              </a:ext>
            </a:extLst>
          </p:cNvPr>
          <p:cNvSpPr txBox="1"/>
          <p:nvPr/>
        </p:nvSpPr>
        <p:spPr>
          <a:xfrm>
            <a:off x="1835696" y="5301208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.git</a:t>
            </a:r>
            <a:r>
              <a:rPr kumimoji="1" lang="ja-JP" altLang="en-US" dirty="0"/>
              <a:t>ディレクトリが作られ、</a:t>
            </a:r>
            <a:endParaRPr kumimoji="1" lang="en-US" altLang="ja-JP" dirty="0"/>
          </a:p>
          <a:p>
            <a:r>
              <a:rPr lang="en-US" altLang="ja-JP" dirty="0"/>
              <a:t>test</a:t>
            </a:r>
            <a:r>
              <a:rPr lang="ja-JP" altLang="en-US" dirty="0"/>
              <a:t>が</a:t>
            </a:r>
            <a:r>
              <a:rPr lang="en-US" altLang="ja-JP" dirty="0"/>
              <a:t>git</a:t>
            </a:r>
            <a:r>
              <a:rPr lang="ja-JP" altLang="en-US" dirty="0"/>
              <a:t>管理下に入る</a:t>
            </a:r>
            <a:endParaRPr kumimoji="1" lang="ja-JP" altLang="en-US" dirty="0"/>
          </a:p>
        </p:txBody>
      </p:sp>
      <p:sp>
        <p:nvSpPr>
          <p:cNvPr id="43" name="矢印: 右 42">
            <a:extLst>
              <a:ext uri="{FF2B5EF4-FFF2-40B4-BE49-F238E27FC236}">
                <a16:creationId xmlns:a16="http://schemas.microsoft.com/office/drawing/2014/main" id="{373C243E-6166-44CF-8E1A-E2CD3FA62F7F}"/>
              </a:ext>
            </a:extLst>
          </p:cNvPr>
          <p:cNvSpPr/>
          <p:nvPr/>
        </p:nvSpPr>
        <p:spPr>
          <a:xfrm>
            <a:off x="4860032" y="5373216"/>
            <a:ext cx="64807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621CC2CF-DE5F-4557-8A96-2DA816C1AC6C}"/>
              </a:ext>
            </a:extLst>
          </p:cNvPr>
          <p:cNvCxnSpPr>
            <a:cxnSpLocks/>
          </p:cNvCxnSpPr>
          <p:nvPr/>
        </p:nvCxnSpPr>
        <p:spPr>
          <a:xfrm>
            <a:off x="6012160" y="3933056"/>
            <a:ext cx="1" cy="2761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631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FAC4EF-04F9-BE5D-73B7-33540BAB4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とカレントブランチ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2D7D03B-BAF1-33AF-422B-13AB2DAE0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060848"/>
            <a:ext cx="8280920" cy="197779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5AC089-5716-F288-5693-3796B6FEFE6B}"/>
              </a:ext>
            </a:extLst>
          </p:cNvPr>
          <p:cNvSpPr txBox="1"/>
          <p:nvPr/>
        </p:nvSpPr>
        <p:spPr>
          <a:xfrm>
            <a:off x="107504" y="1196752"/>
            <a:ext cx="6904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は、カレントディレクトリが</a:t>
            </a:r>
            <a:r>
              <a:rPr kumimoji="1" lang="en-US" altLang="ja-JP" dirty="0"/>
              <a:t>Git</a:t>
            </a:r>
            <a:r>
              <a:rPr kumimoji="1" lang="ja-JP" altLang="en-US" dirty="0"/>
              <a:t>リポジトリでない場合は</a:t>
            </a:r>
            <a:endParaRPr kumimoji="1" lang="en-US" altLang="ja-JP" dirty="0"/>
          </a:p>
          <a:p>
            <a:r>
              <a:rPr lang="ja-JP" altLang="en-US" dirty="0"/>
              <a:t>カレントディレクトリしか表示しない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6562265-6F6F-E7A6-9B5F-CCA468041581}"/>
              </a:ext>
            </a:extLst>
          </p:cNvPr>
          <p:cNvSpPr/>
          <p:nvPr/>
        </p:nvSpPr>
        <p:spPr>
          <a:xfrm>
            <a:off x="3995936" y="2132856"/>
            <a:ext cx="1512168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BB585F45-4895-BA56-A7CF-FCEC90341BE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4010989" y="1391824"/>
            <a:ext cx="289773" cy="119228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2C054D1-0E29-6352-4F14-C418F64C0590}"/>
              </a:ext>
            </a:extLst>
          </p:cNvPr>
          <p:cNvSpPr/>
          <p:nvPr/>
        </p:nvSpPr>
        <p:spPr>
          <a:xfrm>
            <a:off x="5580112" y="2924944"/>
            <a:ext cx="720080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63D7A4C3-6FD4-90EC-403A-0F384150FAFC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5400000" flipH="1" flipV="1">
            <a:off x="4608004" y="3104964"/>
            <a:ext cx="1224136" cy="144016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82D92B-3EF4-9222-A286-411804C7EDBE}"/>
              </a:ext>
            </a:extLst>
          </p:cNvPr>
          <p:cNvSpPr txBox="1"/>
          <p:nvPr/>
        </p:nvSpPr>
        <p:spPr>
          <a:xfrm>
            <a:off x="251520" y="4437112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カレントディレクトリが</a:t>
            </a:r>
            <a:r>
              <a:rPr lang="en-US" altLang="ja-JP" dirty="0"/>
              <a:t>Git</a:t>
            </a:r>
            <a:r>
              <a:rPr lang="ja-JP" altLang="en-US" dirty="0"/>
              <a:t>リポジトリの場合は、カレントブランチを</a:t>
            </a:r>
            <a:r>
              <a:rPr kumimoji="1" lang="ja-JP" altLang="en-US" dirty="0"/>
              <a:t>表示する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7365D2-B683-5D7D-FB20-DDC0F9D51698}"/>
              </a:ext>
            </a:extLst>
          </p:cNvPr>
          <p:cNvSpPr txBox="1"/>
          <p:nvPr/>
        </p:nvSpPr>
        <p:spPr>
          <a:xfrm>
            <a:off x="107504" y="5589240"/>
            <a:ext cx="895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プロンプトを見て、カレントディレクトリとカレントブランチを</a:t>
            </a:r>
            <a:r>
              <a:rPr lang="ja-JP" altLang="en-US" dirty="0"/>
              <a:t>常に</a:t>
            </a:r>
            <a:r>
              <a:rPr kumimoji="1" lang="ja-JP" altLang="en-US" dirty="0"/>
              <a:t>確認すること</a:t>
            </a:r>
          </a:p>
        </p:txBody>
      </p:sp>
    </p:spTree>
    <p:extLst>
      <p:ext uri="{BB962C8B-B14F-4D97-AF65-F5344CB8AC3E}">
        <p14:creationId xmlns:p14="http://schemas.microsoft.com/office/powerpoint/2010/main" val="929272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0D6949F-1813-4447-9157-E9ED37781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25AA7E-4BB7-4B61-A922-AD85F3607730}"/>
              </a:ext>
            </a:extLst>
          </p:cNvPr>
          <p:cNvSpPr txBox="1"/>
          <p:nvPr/>
        </p:nvSpPr>
        <p:spPr>
          <a:xfrm>
            <a:off x="251520" y="126876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インデックスへの追加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B33A85-598F-4AE2-A492-6901FCB76B85}"/>
              </a:ext>
            </a:extLst>
          </p:cNvPr>
          <p:cNvSpPr txBox="1"/>
          <p:nvPr/>
        </p:nvSpPr>
        <p:spPr>
          <a:xfrm>
            <a:off x="827584" y="1988840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</a:t>
            </a:r>
            <a:r>
              <a:rPr lang="en-US" altLang="ja-JP" sz="2000" dirty="0">
                <a:latin typeface="Consolas" panose="020B0609020204030204" pitchFamily="49" charset="0"/>
              </a:rPr>
              <a:t>README.md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18D15AF1-F12E-4775-9B54-8D28C7159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8407356-2EEF-475B-BD96-744D38FA28A5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6A0015E-52EB-4515-BE29-BA3C6882C986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2" descr="ファイルアイコン（テキスト）">
            <a:extLst>
              <a:ext uri="{FF2B5EF4-FFF2-40B4-BE49-F238E27FC236}">
                <a16:creationId xmlns:a16="http://schemas.microsoft.com/office/drawing/2014/main" id="{64E6CA5A-13F5-47BA-B83D-5B9015506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439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EC905F6-249C-4A58-AA57-00DBC66FD999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5159C917-48D7-4BAF-AD52-D9DE66C76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0DF17CC-3FE4-49A5-BE69-8BF1AB65E3E3}"/>
              </a:ext>
            </a:extLst>
          </p:cNvPr>
          <p:cNvCxnSpPr>
            <a:stCxn id="19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6607ACB-C4D2-4AEA-AA27-6B16591991E7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Picture 2" descr="ファイルアイコン（テキスト）">
            <a:extLst>
              <a:ext uri="{FF2B5EF4-FFF2-40B4-BE49-F238E27FC236}">
                <a16:creationId xmlns:a16="http://schemas.microsoft.com/office/drawing/2014/main" id="{73743BD5-BD1A-4DD4-BDD2-6DFB06184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27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47AAFE6-BB9E-4885-81F0-9E9231CD98EE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24" name="Picture 2" descr="フォルダのイラスト">
            <a:extLst>
              <a:ext uri="{FF2B5EF4-FFF2-40B4-BE49-F238E27FC236}">
                <a16:creationId xmlns:a16="http://schemas.microsoft.com/office/drawing/2014/main" id="{8B6AEA84-91AE-452E-BC80-4C3815317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944F465-D15F-48A4-96C6-C8FB81148BD2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874424C5-0573-4682-B7EA-E49F5B2D2D60}"/>
              </a:ext>
            </a:extLst>
          </p:cNvPr>
          <p:cNvSpPr/>
          <p:nvPr/>
        </p:nvSpPr>
        <p:spPr>
          <a:xfrm>
            <a:off x="2051720" y="5301208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F82EC86-2977-4C28-BB73-5AF69C541EC4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1AC9E01-679D-441B-B21A-76087C293D98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9495AEB-2F4F-41F2-9635-E3DB7E7A516E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09CB076-973F-48F3-8C7F-C189F563791D}"/>
              </a:ext>
            </a:extLst>
          </p:cNvPr>
          <p:cNvSpPr txBox="1"/>
          <p:nvPr/>
        </p:nvSpPr>
        <p:spPr>
          <a:xfrm>
            <a:off x="1475656" y="2708920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ワーキングツリーからインデックスにファイルをコピー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1488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C044F2A-E9B1-4104-BECB-B0166C9B95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</a:t>
            </a:r>
            <a:r>
              <a:rPr kumimoji="1" lang="en-US" altLang="ja-JP" dirty="0"/>
              <a:t>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7A60BF-4548-4F4F-B14C-6E59F44C5D19}"/>
              </a:ext>
            </a:extLst>
          </p:cNvPr>
          <p:cNvSpPr txBox="1"/>
          <p:nvPr/>
        </p:nvSpPr>
        <p:spPr>
          <a:xfrm>
            <a:off x="251520" y="126876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CB4B13-3307-4ED9-901F-6BA79FBA4F22}"/>
              </a:ext>
            </a:extLst>
          </p:cNvPr>
          <p:cNvSpPr txBox="1"/>
          <p:nvPr/>
        </p:nvSpPr>
        <p:spPr>
          <a:xfrm>
            <a:off x="827584" y="1988840"/>
            <a:ext cx="441659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-m "initial commit"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AFCC4506-6EF1-4C11-886B-1AA798906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C002ECE-D992-48EE-BBFC-26BB431EBDA1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64E9760-6DF0-49F4-BDA6-1B9B3B8F89EE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2" descr="ファイルアイコン（テキスト）">
            <a:extLst>
              <a:ext uri="{FF2B5EF4-FFF2-40B4-BE49-F238E27FC236}">
                <a16:creationId xmlns:a16="http://schemas.microsoft.com/office/drawing/2014/main" id="{9275D18B-91FE-4672-A60A-06C2D528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439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143E6E-CFE1-4DEF-80CC-B611125003DB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7363E7AC-8F23-46D8-8110-D0CCD7EAE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77E327B-683D-4BC0-A824-1214247B3971}"/>
              </a:ext>
            </a:extLst>
          </p:cNvPr>
          <p:cNvCxnSpPr>
            <a:stCxn id="10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AF400B6-519E-4143-BDF6-8C69FFB8F2E1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Picture 2" descr="ファイルアイコン（テキスト）">
            <a:extLst>
              <a:ext uri="{FF2B5EF4-FFF2-40B4-BE49-F238E27FC236}">
                <a16:creationId xmlns:a16="http://schemas.microsoft.com/office/drawing/2014/main" id="{57E67C90-602D-4B8F-AF7D-0C3046A1C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27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1B85D97-F03E-46FF-B069-8638687F9CD9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9F78F5C-4238-4E12-BE00-777DA5E19091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4AC4432E-56B6-4897-B4D7-A6370163854E}"/>
              </a:ext>
            </a:extLst>
          </p:cNvPr>
          <p:cNvSpPr/>
          <p:nvPr/>
        </p:nvSpPr>
        <p:spPr>
          <a:xfrm>
            <a:off x="4716016" y="5229200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DE99E06-1840-4160-B6C7-2A3FC18B3DC5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C624F78-94AE-4131-80CE-44F196FF2749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CEF9DDC-236F-43EF-B304-812529301BDA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21" name="Picture 2" descr="フォルダのイラスト">
            <a:extLst>
              <a:ext uri="{FF2B5EF4-FFF2-40B4-BE49-F238E27FC236}">
                <a16:creationId xmlns:a16="http://schemas.microsoft.com/office/drawing/2014/main" id="{FAC21D74-DDF3-4099-B0CC-9D3006FBF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DD09C60-E1C5-4C67-BB45-7C36ADE5AED3}"/>
              </a:ext>
            </a:extLst>
          </p:cNvPr>
          <p:cNvCxnSpPr>
            <a:stCxn id="21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ファイルアイコン（テキスト）">
            <a:extLst>
              <a:ext uri="{FF2B5EF4-FFF2-40B4-BE49-F238E27FC236}">
                <a16:creationId xmlns:a16="http://schemas.microsoft.com/office/drawing/2014/main" id="{53C6285C-E235-4376-8BA0-DF8A0E388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999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4202957-59C0-4167-AA2C-F689CD356300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801783-29F6-4E43-9D25-422F7511EF06}"/>
              </a:ext>
            </a:extLst>
          </p:cNvPr>
          <p:cNvSpPr txBox="1"/>
          <p:nvPr/>
        </p:nvSpPr>
        <p:spPr>
          <a:xfrm>
            <a:off x="1475656" y="270892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インデックスの状態をそのまま「歴史」としてリポジトリに保存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02926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4C3F404-F3AC-493B-AC7A-900511F1AA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4</a:t>
            </a:r>
            <a:endParaRPr kumimoji="1" lang="ja-JP" altLang="en-US" dirty="0"/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51FEB80B-F806-4E0D-8C23-4120D5F0C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BFB6237-014B-4018-AA52-B07284284A20}"/>
              </a:ext>
            </a:extLst>
          </p:cNvPr>
          <p:cNvCxnSpPr>
            <a:stCxn id="3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615D383-F43B-4ADB-89C7-D08ECF3AF267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98F496-17C7-4AE3-BC45-06EBAA1C1513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334AC403-8E2D-4F59-9398-F4D1B9EA2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144A94F-101E-4D9B-AC52-AEF52F6B93A6}"/>
              </a:ext>
            </a:extLst>
          </p:cNvPr>
          <p:cNvCxnSpPr>
            <a:stCxn id="8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CD64BA5-0D5F-48F6-9A9F-588A19FD9E8B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E731DD-105E-4B00-B649-5E8D727FA9E6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9BEAEDD-4392-4905-9157-2A085C88BC66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A24C0E-C80E-4F7C-90D7-9460CB5D6E64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0790BC2-1EF4-40D8-B8DF-38D1A0786242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45E11AF-1DF4-4E9D-AC23-EAD776E7C702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6EB023BA-1ECD-4DC8-A287-570A08007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2623070-6A44-4CAF-8AA4-B4599A98E99E}"/>
              </a:ext>
            </a:extLst>
          </p:cNvPr>
          <p:cNvCxnSpPr>
            <a:stCxn id="18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DDD8630-9EB2-4D31-ABAA-935C420F4B56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BCBC354-4A44-47E1-B116-52B25779BF41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2" name="四角形: 1 つの角を切り取る 41">
              <a:extLst>
                <a:ext uri="{FF2B5EF4-FFF2-40B4-BE49-F238E27FC236}">
                  <a16:creationId xmlns:a16="http://schemas.microsoft.com/office/drawing/2014/main" id="{A8C90FDC-CAC3-4EE4-A141-6CCA7FCC5341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43" name="二等辺三角形 42">
              <a:extLst>
                <a:ext uri="{FF2B5EF4-FFF2-40B4-BE49-F238E27FC236}">
                  <a16:creationId xmlns:a16="http://schemas.microsoft.com/office/drawing/2014/main" id="{66507B07-B69F-45E7-9D35-05A6B1866E33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C62F4252-7600-4E66-8C0B-18C6CBAF0AF3}"/>
              </a:ext>
            </a:extLst>
          </p:cNvPr>
          <p:cNvGrpSpPr/>
          <p:nvPr/>
        </p:nvGrpSpPr>
        <p:grpSpPr>
          <a:xfrm>
            <a:off x="4139952" y="5229200"/>
            <a:ext cx="360040" cy="504056"/>
            <a:chOff x="6012160" y="533182"/>
            <a:chExt cx="2160240" cy="3255858"/>
          </a:xfrm>
          <a:noFill/>
        </p:grpSpPr>
        <p:sp>
          <p:nvSpPr>
            <p:cNvPr id="45" name="四角形: 1 つの角を切り取る 44">
              <a:extLst>
                <a:ext uri="{FF2B5EF4-FFF2-40B4-BE49-F238E27FC236}">
                  <a16:creationId xmlns:a16="http://schemas.microsoft.com/office/drawing/2014/main" id="{13D99CD7-68B6-48B5-A1B9-0CC68F87BFE7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46" name="二等辺三角形 45">
              <a:extLst>
                <a:ext uri="{FF2B5EF4-FFF2-40B4-BE49-F238E27FC236}">
                  <a16:creationId xmlns:a16="http://schemas.microsoft.com/office/drawing/2014/main" id="{DDBB6479-CC27-4958-98D7-08A0A6095A21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8E69EB61-A6F1-46BC-ADF9-F9841D166EC2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noFill/>
        </p:grpSpPr>
        <p:sp>
          <p:nvSpPr>
            <p:cNvPr id="48" name="四角形: 1 つの角を切り取る 47">
              <a:extLst>
                <a:ext uri="{FF2B5EF4-FFF2-40B4-BE49-F238E27FC236}">
                  <a16:creationId xmlns:a16="http://schemas.microsoft.com/office/drawing/2014/main" id="{C74F4D12-A880-4836-8D3A-91B451C2A1C3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49" name="二等辺三角形 48">
              <a:extLst>
                <a:ext uri="{FF2B5EF4-FFF2-40B4-BE49-F238E27FC236}">
                  <a16:creationId xmlns:a16="http://schemas.microsoft.com/office/drawing/2014/main" id="{B1EB47B4-AD13-4D54-B5A6-CF7BC939087C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B0881D1-07F0-4613-8F1A-98F22A21D067}"/>
              </a:ext>
            </a:extLst>
          </p:cNvPr>
          <p:cNvSpPr txBox="1"/>
          <p:nvPr/>
        </p:nvSpPr>
        <p:spPr>
          <a:xfrm>
            <a:off x="467544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ファイルの修正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DD6C9429-B9D1-499C-B863-0ECFB5D0FA22}"/>
              </a:ext>
            </a:extLst>
          </p:cNvPr>
          <p:cNvSpPr txBox="1"/>
          <p:nvPr/>
        </p:nvSpPr>
        <p:spPr>
          <a:xfrm>
            <a:off x="971600" y="2276872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ワーキングツリーが、インデックス、リポジトリと異なる状態になる</a:t>
            </a:r>
          </a:p>
        </p:txBody>
      </p:sp>
    </p:spTree>
    <p:extLst>
      <p:ext uri="{BB962C8B-B14F-4D97-AF65-F5344CB8AC3E}">
        <p14:creationId xmlns:p14="http://schemas.microsoft.com/office/powerpoint/2010/main" val="3995737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FBEE057-AEEB-4B80-AF1C-6BC19DC4F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</a:t>
            </a:r>
            <a:r>
              <a:rPr kumimoji="1" lang="en-US" altLang="ja-JP" dirty="0"/>
              <a:t>– Step 4</a:t>
            </a:r>
            <a:endParaRPr kumimoji="1" lang="ja-JP" altLang="en-US" dirty="0"/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39598154-8392-49E7-8641-0DCBDE0B3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D326727-0686-4E3A-A795-A2278EE89861}"/>
              </a:ext>
            </a:extLst>
          </p:cNvPr>
          <p:cNvCxnSpPr>
            <a:stCxn id="3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BEC7D3A-8BDD-45DB-8C83-343755D1958D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E48B9C-842E-4D10-8AC7-3AEE24156943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FDD20CA3-EEB0-4CFC-B4E2-DA4F1741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409EC37-6789-4AAD-82C5-06EF7254EC4F}"/>
              </a:ext>
            </a:extLst>
          </p:cNvPr>
          <p:cNvCxnSpPr>
            <a:stCxn id="7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1DFED82-E936-47BB-A332-21F0B4A0CA0A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A12959-6611-48C6-AB32-9F9F43D62903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DC58CE9-C2CE-4AAE-9C83-3E9E3F054CE2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87773C-90C7-4438-AD97-CBD5D72533E9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A5C4E2-4037-4740-8464-2873E0271C51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163FD5A-3686-4479-B419-830B373ECB9E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5" name="Picture 2" descr="フォルダのイラスト">
            <a:extLst>
              <a:ext uri="{FF2B5EF4-FFF2-40B4-BE49-F238E27FC236}">
                <a16:creationId xmlns:a16="http://schemas.microsoft.com/office/drawing/2014/main" id="{667C0838-94BE-45D2-ABB4-A6235EB7E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278C37F-5932-4C9F-AB90-5C37DCC9005A}"/>
              </a:ext>
            </a:extLst>
          </p:cNvPr>
          <p:cNvCxnSpPr>
            <a:stCxn id="15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70CE35-69BF-4B5F-85E6-6B09685AF4AA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4FC1B09-7C15-4D09-84CE-572058F87D46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9" name="四角形: 1 つの角を切り取る 18">
              <a:extLst>
                <a:ext uri="{FF2B5EF4-FFF2-40B4-BE49-F238E27FC236}">
                  <a16:creationId xmlns:a16="http://schemas.microsoft.com/office/drawing/2014/main" id="{0521E33F-8E17-43EA-B15E-95C60098BC31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54EFE38B-BBBF-403B-8BDD-78A264185EA4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063AC19-58DD-4BE1-AAE6-53C9FF5F3C9E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noFill/>
        </p:grpSpPr>
        <p:sp>
          <p:nvSpPr>
            <p:cNvPr id="25" name="四角形: 1 つの角を切り取る 24">
              <a:extLst>
                <a:ext uri="{FF2B5EF4-FFF2-40B4-BE49-F238E27FC236}">
                  <a16:creationId xmlns:a16="http://schemas.microsoft.com/office/drawing/2014/main" id="{AA132918-703B-4901-B9F0-01CF058A4829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D5EAF65B-C907-4AC7-A7E6-623E581E62A4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08483F86-316A-419E-B093-F2FEB5DACFF4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8" name="四角形: 1 つの角を切り取る 27">
              <a:extLst>
                <a:ext uri="{FF2B5EF4-FFF2-40B4-BE49-F238E27FC236}">
                  <a16:creationId xmlns:a16="http://schemas.microsoft.com/office/drawing/2014/main" id="{6A9BD9C6-C4AA-40C0-BEA6-53CEEBEF4238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EB87962B-A0FC-4724-B518-1D8D32602337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矢印: 右 29">
            <a:extLst>
              <a:ext uri="{FF2B5EF4-FFF2-40B4-BE49-F238E27FC236}">
                <a16:creationId xmlns:a16="http://schemas.microsoft.com/office/drawing/2014/main" id="{316B8111-EF31-442C-935E-4BA6D58F378B}"/>
              </a:ext>
            </a:extLst>
          </p:cNvPr>
          <p:cNvSpPr/>
          <p:nvPr/>
        </p:nvSpPr>
        <p:spPr>
          <a:xfrm>
            <a:off x="2195736" y="5229200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4F535AD-4581-4201-8540-874C9A745147}"/>
              </a:ext>
            </a:extLst>
          </p:cNvPr>
          <p:cNvSpPr txBox="1"/>
          <p:nvPr/>
        </p:nvSpPr>
        <p:spPr>
          <a:xfrm>
            <a:off x="251520" y="126876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インデックスへの追加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EF009D9-A024-4640-96AB-33CAA20DFB13}"/>
              </a:ext>
            </a:extLst>
          </p:cNvPr>
          <p:cNvSpPr txBox="1"/>
          <p:nvPr/>
        </p:nvSpPr>
        <p:spPr>
          <a:xfrm>
            <a:off x="827584" y="1988840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</a:t>
            </a:r>
            <a:r>
              <a:rPr lang="en-US" altLang="ja-JP" sz="2000" dirty="0">
                <a:latin typeface="Consolas" panose="020B0609020204030204" pitchFamily="49" charset="0"/>
              </a:rPr>
              <a:t>README.md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359CC58-4C20-4F3A-B0D2-5ADFBEE1F25B}"/>
              </a:ext>
            </a:extLst>
          </p:cNvPr>
          <p:cNvSpPr txBox="1"/>
          <p:nvPr/>
        </p:nvSpPr>
        <p:spPr>
          <a:xfrm>
            <a:off x="1475656" y="2708920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ワーキングツリーからインデックスにファイルをコピー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9041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5875366-09CE-4E74-8ED8-0F2F27B536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156C50-CFE8-4684-80F7-4099CC2B091D}"/>
              </a:ext>
            </a:extLst>
          </p:cNvPr>
          <p:cNvSpPr txBox="1"/>
          <p:nvPr/>
        </p:nvSpPr>
        <p:spPr>
          <a:xfrm>
            <a:off x="251520" y="126876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105CC4-56F5-4DD1-9E07-C044F9B6744A}"/>
              </a:ext>
            </a:extLst>
          </p:cNvPr>
          <p:cNvSpPr txBox="1"/>
          <p:nvPr/>
        </p:nvSpPr>
        <p:spPr>
          <a:xfrm>
            <a:off x="827584" y="1988840"/>
            <a:ext cx="441659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-m "adds new line"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1A9F0A-D033-4EB5-BF43-8E1BD9133F07}"/>
              </a:ext>
            </a:extLst>
          </p:cNvPr>
          <p:cNvSpPr txBox="1"/>
          <p:nvPr/>
        </p:nvSpPr>
        <p:spPr>
          <a:xfrm>
            <a:off x="1475656" y="270892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インデックスの状態をそのまま「歴史」としてリポジトリに保存</a:t>
            </a:r>
            <a:endParaRPr lang="en-US" altLang="ja-JP" dirty="0"/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C18F47EE-A597-42FB-978F-82E762C77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A148E83-F815-4668-B0F5-C4FAF9219967}"/>
              </a:ext>
            </a:extLst>
          </p:cNvPr>
          <p:cNvCxnSpPr>
            <a:stCxn id="6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11A61F2-5131-499E-9613-FEEB766FC6BE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3E3924-AA28-4142-909C-11DF89C5F89C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66807E6D-EB26-42F9-BFBD-99793E3D0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79665DA-2B49-4845-A8E3-ED71F3CA351D}"/>
              </a:ext>
            </a:extLst>
          </p:cNvPr>
          <p:cNvCxnSpPr>
            <a:stCxn id="10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3CEEE2F-89AF-4C8B-9F83-D3AA27F39FDC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1398EF3-0E66-462A-91E9-AD24638ADF5C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F469F5E-14D6-40AB-9A85-DD8169AA58EB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498CD7D-36A5-4958-94D3-235A3273087E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D796AAB-4FC5-42F8-8EF3-1CD68F398886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3A8DF04-1593-4524-8E4D-43ABDE886459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D3932F9B-767F-41ED-B764-1D608DF55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53D18E3-14D4-4947-A846-BB52251A54B4}"/>
              </a:ext>
            </a:extLst>
          </p:cNvPr>
          <p:cNvCxnSpPr>
            <a:stCxn id="18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C71A927-BCCC-454E-B800-117C1BDEDAAE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E196D98-0777-4087-9DB1-8CDEBA1C62AF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2" name="四角形: 1 つの角を切り取る 21">
              <a:extLst>
                <a:ext uri="{FF2B5EF4-FFF2-40B4-BE49-F238E27FC236}">
                  <a16:creationId xmlns:a16="http://schemas.microsoft.com/office/drawing/2014/main" id="{F1BEF2D8-2A01-4ECF-9E0F-39F961FDBBFD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F9F5F4F3-9C3A-4417-8FAD-C7DCF46C17B9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B8E1C798-B221-4A13-938C-758B8FF539CC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8" name="四角形: 1 つの角を切り取る 27">
              <a:extLst>
                <a:ext uri="{FF2B5EF4-FFF2-40B4-BE49-F238E27FC236}">
                  <a16:creationId xmlns:a16="http://schemas.microsoft.com/office/drawing/2014/main" id="{61B092B3-00FF-44F5-85EB-565CC6DDA702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D9D25E43-2612-4D5A-9C38-9E592E76B7BF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矢印: 右 29">
            <a:extLst>
              <a:ext uri="{FF2B5EF4-FFF2-40B4-BE49-F238E27FC236}">
                <a16:creationId xmlns:a16="http://schemas.microsoft.com/office/drawing/2014/main" id="{67267D14-5FB5-49A1-9CC5-0DBAA7321E19}"/>
              </a:ext>
            </a:extLst>
          </p:cNvPr>
          <p:cNvSpPr/>
          <p:nvPr/>
        </p:nvSpPr>
        <p:spPr>
          <a:xfrm>
            <a:off x="4644008" y="5229200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0457704-9F25-48CF-9905-94A48773E8EF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2" name="四角形: 1 つの角を切り取る 31">
              <a:extLst>
                <a:ext uri="{FF2B5EF4-FFF2-40B4-BE49-F238E27FC236}">
                  <a16:creationId xmlns:a16="http://schemas.microsoft.com/office/drawing/2014/main" id="{26C11C34-0967-4FD2-8EA4-4A6EC5F55062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33" name="二等辺三角形 32">
              <a:extLst>
                <a:ext uri="{FF2B5EF4-FFF2-40B4-BE49-F238E27FC236}">
                  <a16:creationId xmlns:a16="http://schemas.microsoft.com/office/drawing/2014/main" id="{29197C46-B8A5-4EC1-A275-0881019DA376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6110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FE0000C-42D2-43BE-BF5B-34490787D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5 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2C1CD3-D998-493F-9F1B-83B064EC74B8}"/>
              </a:ext>
            </a:extLst>
          </p:cNvPr>
          <p:cNvSpPr txBox="1"/>
          <p:nvPr/>
        </p:nvSpPr>
        <p:spPr>
          <a:xfrm>
            <a:off x="467544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ファイルの修正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0362A9-AFB1-4DD1-A680-D7D3F701893B}"/>
              </a:ext>
            </a:extLst>
          </p:cNvPr>
          <p:cNvSpPr txBox="1"/>
          <p:nvPr/>
        </p:nvSpPr>
        <p:spPr>
          <a:xfrm>
            <a:off x="971600" y="2276872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ワーキングツリーが、インデックス、リポジトリと異なる状態になる</a:t>
            </a: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E196D40E-F4D1-4605-9C6A-A927D0259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51CD0D4-EC71-47FC-B31F-DB41FBDC12E0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7A35104-F8E0-44F5-8C0B-9F65D7BC5411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CF5686-4B79-4247-9D6D-21B8330530D2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1E0D3467-DC9E-49CA-A4F0-E0D828BC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0737170-3E36-4FE6-AFA3-9B98EFF18C07}"/>
              </a:ext>
            </a:extLst>
          </p:cNvPr>
          <p:cNvCxnSpPr>
            <a:stCxn id="9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3135FD6-731E-49E1-9448-C00CC0ED6D0F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48BC7F-4574-4B1E-8FCD-62E5B9AB1062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8F5555F-DFBC-4222-AEFF-9F8DCE2A354A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678504A-132A-4E0E-B84B-18F8F53297A2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391C37-28DF-4505-8726-DBEF05DEDFE0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BD4B09D-25A3-423B-8968-4497FF6CD18E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13AC27AA-12D9-4EE0-88B7-82166B2ED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43E6DEA-7700-4F24-A8A4-251686685FE2}"/>
              </a:ext>
            </a:extLst>
          </p:cNvPr>
          <p:cNvCxnSpPr>
            <a:stCxn id="17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181E3E9-FFE2-4161-B272-A2A6100F8BF5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314E9C8-0310-46F6-B21F-45CB0C1F985F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1" name="四角形: 1 つの角を切り取る 20">
              <a:extLst>
                <a:ext uri="{FF2B5EF4-FFF2-40B4-BE49-F238E27FC236}">
                  <a16:creationId xmlns:a16="http://schemas.microsoft.com/office/drawing/2014/main" id="{10884D51-07EA-455B-95D0-E06D3393EB29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2268BAE3-F685-45B9-83CB-8E7A2259447F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9FDCB1BE-600D-451B-B1A4-4394A7E483F7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4" name="四角形: 1 つの角を切り取る 23">
              <a:extLst>
                <a:ext uri="{FF2B5EF4-FFF2-40B4-BE49-F238E27FC236}">
                  <a16:creationId xmlns:a16="http://schemas.microsoft.com/office/drawing/2014/main" id="{A2192155-48EA-42D9-989B-CDDBBAA56581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58FFD82E-9607-4894-B68B-84BD047B33DE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A673B0B-B794-4C3A-85CA-E306678CCA08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8" name="四角形: 1 つの角を切り取る 27">
              <a:extLst>
                <a:ext uri="{FF2B5EF4-FFF2-40B4-BE49-F238E27FC236}">
                  <a16:creationId xmlns:a16="http://schemas.microsoft.com/office/drawing/2014/main" id="{1A54BB5D-4A15-4FCF-8311-955A92B3429C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338963A9-13D2-4E75-9F84-E5C685E03F42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4389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C666343-6A55-43B7-99F0-F1E5BAD76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5 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65477B-9D3D-42EB-906E-B0A5627F9CB2}"/>
              </a:ext>
            </a:extLst>
          </p:cNvPr>
          <p:cNvSpPr txBox="1"/>
          <p:nvPr/>
        </p:nvSpPr>
        <p:spPr>
          <a:xfrm>
            <a:off x="251520" y="1268760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</a:t>
            </a:r>
            <a:r>
              <a:rPr lang="en-US" altLang="ja-JP" sz="2400" dirty="0"/>
              <a:t>(</a:t>
            </a:r>
            <a:r>
              <a:rPr lang="ja-JP" altLang="en-US" sz="2400" dirty="0"/>
              <a:t>自動ステージング</a:t>
            </a:r>
            <a:r>
              <a:rPr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5C71E4-C9C1-450F-8C08-1674349AEA35}"/>
              </a:ext>
            </a:extLst>
          </p:cNvPr>
          <p:cNvSpPr txBox="1"/>
          <p:nvPr/>
        </p:nvSpPr>
        <p:spPr>
          <a:xfrm>
            <a:off x="827584" y="1988840"/>
            <a:ext cx="51219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-am "modifies README.md"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B8A6B9D1-B364-4492-96CD-7146AE7C7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7926F24-078B-4203-A9B1-1835D0AD793A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6341306-9AFD-40E5-A5FE-61945BD7331C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3DFAE34-7FE3-4EA2-B310-439DE583F3AB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0C5F8A3D-60FE-4C9A-8791-E535F5805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8E44E8C-35BF-4D57-A0B6-A7AE8C4A313F}"/>
              </a:ext>
            </a:extLst>
          </p:cNvPr>
          <p:cNvCxnSpPr>
            <a:stCxn id="9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EC5D0D0-AFA6-49A5-AD38-577C7EAF2A23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9A33D7-FFC7-453F-B5B0-5E0E5935C699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517F868-63A3-4256-98DC-58E37CF7B2C7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ED82CE-A575-4F0E-8FC7-FC32E8CAFC33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24810A5-CF4C-4DEE-ABF0-10ACE6C8F78C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610FB58-86A8-4A80-A3A8-8DED800C6521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2E92E19B-E50C-4F55-8876-4EF2BC57C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2983375-959E-4977-A39A-08AEE4090ED5}"/>
              </a:ext>
            </a:extLst>
          </p:cNvPr>
          <p:cNvCxnSpPr>
            <a:stCxn id="17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88E2060-0890-45EF-9D31-CE04C55B9551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822DA4D-BD91-47C2-91CB-66B9A7442063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1" name="四角形: 1 つの角を切り取る 20">
              <a:extLst>
                <a:ext uri="{FF2B5EF4-FFF2-40B4-BE49-F238E27FC236}">
                  <a16:creationId xmlns:a16="http://schemas.microsoft.com/office/drawing/2014/main" id="{88AD1BDD-9F35-4C9E-8E53-314B1A481CCD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D84793A-EB3D-401B-994B-8A0D1C78E903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20EAE57-CCE0-48B3-9EAE-B07B33AFD49B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4" name="四角形: 1 つの角を切り取る 23">
              <a:extLst>
                <a:ext uri="{FF2B5EF4-FFF2-40B4-BE49-F238E27FC236}">
                  <a16:creationId xmlns:a16="http://schemas.microsoft.com/office/drawing/2014/main" id="{F9E92CEC-2455-4220-88A0-B54A02A86C92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13768C68-89A0-467A-8603-3F354E89FE89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FE0F59C5-07A0-457E-B40D-D424417EF6E9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7" name="四角形: 1 つの角を切り取る 26">
              <a:extLst>
                <a:ext uri="{FF2B5EF4-FFF2-40B4-BE49-F238E27FC236}">
                  <a16:creationId xmlns:a16="http://schemas.microsoft.com/office/drawing/2014/main" id="{AA4B7046-3A74-4222-9237-06BE7ED28FBF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8" name="二等辺三角形 27">
              <a:extLst>
                <a:ext uri="{FF2B5EF4-FFF2-40B4-BE49-F238E27FC236}">
                  <a16:creationId xmlns:a16="http://schemas.microsoft.com/office/drawing/2014/main" id="{D662A52A-DFEA-4311-9E8F-EA0ACCC0D238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9" name="矢印: 右 28">
            <a:extLst>
              <a:ext uri="{FF2B5EF4-FFF2-40B4-BE49-F238E27FC236}">
                <a16:creationId xmlns:a16="http://schemas.microsoft.com/office/drawing/2014/main" id="{CF56FFFA-9521-44A6-91FF-6082CDF5E443}"/>
              </a:ext>
            </a:extLst>
          </p:cNvPr>
          <p:cNvSpPr/>
          <p:nvPr/>
        </p:nvSpPr>
        <p:spPr>
          <a:xfrm>
            <a:off x="2051720" y="5301208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CF085D8C-FB07-423B-8523-690F55A819BB}"/>
              </a:ext>
            </a:extLst>
          </p:cNvPr>
          <p:cNvSpPr/>
          <p:nvPr/>
        </p:nvSpPr>
        <p:spPr>
          <a:xfrm>
            <a:off x="4644008" y="5301208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3FDEF32-D812-47B4-9211-9BF2FA41100A}"/>
              </a:ext>
            </a:extLst>
          </p:cNvPr>
          <p:cNvSpPr txBox="1"/>
          <p:nvPr/>
        </p:nvSpPr>
        <p:spPr>
          <a:xfrm>
            <a:off x="1187624" y="2492896"/>
            <a:ext cx="6109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commit -a </a:t>
            </a:r>
            <a:r>
              <a:rPr lang="ja-JP" altLang="en-US" dirty="0"/>
              <a:t>オプションにより、修正のあるファイル全てを</a:t>
            </a:r>
            <a:endParaRPr lang="en-US" altLang="ja-JP" dirty="0"/>
          </a:p>
          <a:p>
            <a:r>
              <a:rPr lang="ja-JP" altLang="en-US" dirty="0"/>
              <a:t>自動でステージングしてから</a:t>
            </a:r>
            <a:r>
              <a:rPr lang="ja-JP" altLang="en-US"/>
              <a:t>コミットする</a:t>
            </a:r>
            <a:endParaRPr lang="en-US" altLang="ja-JP"/>
          </a:p>
          <a:p>
            <a:r>
              <a:rPr kumimoji="1" lang="en-US" altLang="ja-JP"/>
              <a:t>(</a:t>
            </a:r>
            <a:r>
              <a:rPr kumimoji="1" lang="ja-JP" altLang="en-US"/>
              <a:t>ステージングを飛ばしているわけではない</a:t>
            </a:r>
            <a:r>
              <a:rPr kumimoji="1" lang="en-US" altLang="ja-JP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2012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EB973C5-4C11-4FD1-BA90-C27165F9AD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6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0617B0-D8AD-4BAB-BED8-C323744646F7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48E940-AA36-49C9-97B9-1E9D09A19BFD}"/>
              </a:ext>
            </a:extLst>
          </p:cNvPr>
          <p:cNvSpPr txBox="1"/>
          <p:nvPr/>
        </p:nvSpPr>
        <p:spPr>
          <a:xfrm>
            <a:off x="827584" y="1988840"/>
            <a:ext cx="2582758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git log --</a:t>
            </a:r>
            <a:r>
              <a:rPr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AFF55BA-80AB-4F7A-B8F2-B5C3CE0B4E34}"/>
              </a:ext>
            </a:extLst>
          </p:cNvPr>
          <p:cNvSpPr/>
          <p:nvPr/>
        </p:nvSpPr>
        <p:spPr>
          <a:xfrm>
            <a:off x="1835696" y="623731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2F4D2808-7674-4F11-B5CA-227BC656C0BF}"/>
              </a:ext>
            </a:extLst>
          </p:cNvPr>
          <p:cNvSpPr/>
          <p:nvPr/>
        </p:nvSpPr>
        <p:spPr>
          <a:xfrm>
            <a:off x="1835696" y="53012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C299BC0-1B80-40DC-AE3F-CBAB1EADCA95}"/>
              </a:ext>
            </a:extLst>
          </p:cNvPr>
          <p:cNvSpPr/>
          <p:nvPr/>
        </p:nvSpPr>
        <p:spPr>
          <a:xfrm>
            <a:off x="1835696" y="436510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1 つの角を切り取り 1 つの角を丸める 8">
            <a:extLst>
              <a:ext uri="{FF2B5EF4-FFF2-40B4-BE49-F238E27FC236}">
                <a16:creationId xmlns:a16="http://schemas.microsoft.com/office/drawing/2014/main" id="{B4C177FD-52A6-498C-B32F-5D2B082E7C95}"/>
              </a:ext>
            </a:extLst>
          </p:cNvPr>
          <p:cNvSpPr/>
          <p:nvPr/>
        </p:nvSpPr>
        <p:spPr>
          <a:xfrm>
            <a:off x="323528" y="393305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50D71E-3A29-4E2C-918B-360B94EDEB3D}"/>
              </a:ext>
            </a:extLst>
          </p:cNvPr>
          <p:cNvSpPr/>
          <p:nvPr/>
        </p:nvSpPr>
        <p:spPr>
          <a:xfrm>
            <a:off x="428799" y="3179713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13E1093-6A80-4A35-BEFE-6FA9147EDA8A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>
            <a:off x="896851" y="3539753"/>
            <a:ext cx="2741" cy="3933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229BE455-AF3F-4E29-8957-9B1F0C6E0B93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>
            <a:off x="1475656" y="4102224"/>
            <a:ext cx="360040" cy="4789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33C98AD-A0BC-4851-9217-40A29862DCAB}"/>
              </a:ext>
            </a:extLst>
          </p:cNvPr>
          <p:cNvCxnSpPr>
            <a:cxnSpLocks/>
            <a:stCxn id="7" idx="4"/>
            <a:endCxn id="6" idx="0"/>
          </p:cNvCxnSpPr>
          <p:nvPr/>
        </p:nvCxnSpPr>
        <p:spPr>
          <a:xfrm>
            <a:off x="2051720" y="4797152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1E0B1B1-9FC7-44B6-8537-F7F9B5554BE9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2051720" y="5733256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52AD527-ADFA-41AC-9851-C621FA8E841A}"/>
              </a:ext>
            </a:extLst>
          </p:cNvPr>
          <p:cNvSpPr txBox="1"/>
          <p:nvPr/>
        </p:nvSpPr>
        <p:spPr>
          <a:xfrm>
            <a:off x="2411760" y="63000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EE8C00E-0CB4-4CC0-B844-99D9682DDFA6}"/>
              </a:ext>
            </a:extLst>
          </p:cNvPr>
          <p:cNvSpPr txBox="1"/>
          <p:nvPr/>
        </p:nvSpPr>
        <p:spPr>
          <a:xfrm>
            <a:off x="2411760" y="5301208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adds new line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D2B444C-D5CF-4135-AF11-FE6D669E29D3}"/>
              </a:ext>
            </a:extLst>
          </p:cNvPr>
          <p:cNvSpPr txBox="1"/>
          <p:nvPr/>
        </p:nvSpPr>
        <p:spPr>
          <a:xfrm>
            <a:off x="2411760" y="4365104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modifies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1E8D174-02ED-467D-889F-8760F8A8A081}"/>
              </a:ext>
            </a:extLst>
          </p:cNvPr>
          <p:cNvSpPr txBox="1"/>
          <p:nvPr/>
        </p:nvSpPr>
        <p:spPr>
          <a:xfrm>
            <a:off x="4499992" y="3212976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ターミナルに表示</a:t>
            </a:r>
            <a:r>
              <a:rPr lang="ja-JP" altLang="en-US"/>
              <a:t>された情報から</a:t>
            </a:r>
            <a:endParaRPr lang="en-US" altLang="ja-JP" dirty="0"/>
          </a:p>
          <a:p>
            <a:r>
              <a:rPr lang="ja-JP" altLang="en-US" dirty="0"/>
              <a:t>「玉と</a:t>
            </a:r>
            <a:r>
              <a:rPr lang="ja-JP" altLang="en-US"/>
              <a:t>線」を頭の中に再構成すること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7325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7870985-42A7-4DF0-209C-AF1822392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34" y="2320417"/>
            <a:ext cx="6796853" cy="3096344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C30E22C-A2A7-4370-829C-22F46D8951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7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0C281F-98BB-443D-B24D-E449CE680E43}"/>
              </a:ext>
            </a:extLst>
          </p:cNvPr>
          <p:cNvSpPr txBox="1"/>
          <p:nvPr/>
        </p:nvSpPr>
        <p:spPr>
          <a:xfrm>
            <a:off x="323528" y="1052736"/>
            <a:ext cx="34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VSCode</a:t>
            </a:r>
            <a:r>
              <a:rPr kumimoji="1" lang="ja-JP" altLang="en-US" sz="2400"/>
              <a:t>からのコミット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2B8537-78C8-4EDD-A65A-DF5C4C94E6FF}"/>
              </a:ext>
            </a:extLst>
          </p:cNvPr>
          <p:cNvSpPr txBox="1"/>
          <p:nvPr/>
        </p:nvSpPr>
        <p:spPr>
          <a:xfrm>
            <a:off x="5652120" y="1772816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</a:t>
            </a:r>
            <a:r>
              <a:rPr lang="en-US" altLang="ja-JP" sz="2000" dirty="0">
                <a:latin typeface="Consolas" panose="020B0609020204030204" pitchFamily="49" charset="0"/>
              </a:rPr>
              <a:t>README.md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BA0082B7-05C8-45E2-9540-D12CE21B7113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535996" y="1844824"/>
            <a:ext cx="0" cy="244827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9FA1BF-B994-435C-8533-8A68F03ADECC}"/>
              </a:ext>
            </a:extLst>
          </p:cNvPr>
          <p:cNvSpPr txBox="1"/>
          <p:nvPr/>
        </p:nvSpPr>
        <p:spPr>
          <a:xfrm>
            <a:off x="4139952" y="126876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この「＋」ボタンが</a:t>
            </a:r>
            <a:r>
              <a:rPr lang="en-US" altLang="ja-JP" dirty="0"/>
              <a:t>git add</a:t>
            </a:r>
            <a:r>
              <a:rPr lang="ja-JP" altLang="en-US" dirty="0"/>
              <a:t>に対応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9A708F3-EBE5-A882-0F33-2492CFDB594A}"/>
              </a:ext>
            </a:extLst>
          </p:cNvPr>
          <p:cNvSpPr/>
          <p:nvPr/>
        </p:nvSpPr>
        <p:spPr>
          <a:xfrm>
            <a:off x="1115616" y="3933056"/>
            <a:ext cx="504056" cy="5040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AD51F22-B7DD-9E5A-2D4F-1B5562FDA9F8}"/>
              </a:ext>
            </a:extLst>
          </p:cNvPr>
          <p:cNvSpPr/>
          <p:nvPr/>
        </p:nvSpPr>
        <p:spPr>
          <a:xfrm>
            <a:off x="539552" y="4005064"/>
            <a:ext cx="410344" cy="41034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CC1C136-10E7-EA0E-34E1-55FD7AF01F77}"/>
              </a:ext>
            </a:extLst>
          </p:cNvPr>
          <p:cNvSpPr/>
          <p:nvPr/>
        </p:nvSpPr>
        <p:spPr>
          <a:xfrm>
            <a:off x="4323090" y="4725144"/>
            <a:ext cx="410344" cy="41034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3374576-0E59-D4D3-D9BB-49AACCEA5846}"/>
              </a:ext>
            </a:extLst>
          </p:cNvPr>
          <p:cNvSpPr/>
          <p:nvPr/>
        </p:nvSpPr>
        <p:spPr>
          <a:xfrm>
            <a:off x="4355976" y="4293096"/>
            <a:ext cx="360040" cy="360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205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FAFB0F8-C384-2D28-B2B5-529F0B79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40968"/>
            <a:ext cx="6192688" cy="3000465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EB72191-4B11-48D1-BE33-16F6082AB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7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17C930-7437-4B68-AE36-A83E01516560}"/>
              </a:ext>
            </a:extLst>
          </p:cNvPr>
          <p:cNvSpPr txBox="1"/>
          <p:nvPr/>
        </p:nvSpPr>
        <p:spPr>
          <a:xfrm>
            <a:off x="1619672" y="1052736"/>
            <a:ext cx="51219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–m “commit from 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VSCode</a:t>
            </a:r>
            <a:r>
              <a:rPr kumimoji="1" lang="en-US" altLang="ja-JP" sz="2000" dirty="0">
                <a:latin typeface="Consolas" panose="020B0609020204030204" pitchFamily="49" charset="0"/>
              </a:rPr>
              <a:t>”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2B35942-7F2A-4E09-9E15-23A7BC9C3A88}"/>
              </a:ext>
            </a:extLst>
          </p:cNvPr>
          <p:cNvCxnSpPr/>
          <p:nvPr/>
        </p:nvCxnSpPr>
        <p:spPr>
          <a:xfrm>
            <a:off x="2267744" y="1412776"/>
            <a:ext cx="79208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C0074D95-338E-4E13-AC9A-16A46E53DFD2}"/>
              </a:ext>
            </a:extLst>
          </p:cNvPr>
          <p:cNvSpPr/>
          <p:nvPr/>
        </p:nvSpPr>
        <p:spPr>
          <a:xfrm>
            <a:off x="2555776" y="1412776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692B87E-0BF3-463F-A878-422CE6C5CCE4}"/>
              </a:ext>
            </a:extLst>
          </p:cNvPr>
          <p:cNvCxnSpPr>
            <a:cxnSpLocks/>
            <a:stCxn id="11" idx="4"/>
            <a:endCxn id="9" idx="1"/>
          </p:cNvCxnSpPr>
          <p:nvPr/>
        </p:nvCxnSpPr>
        <p:spPr>
          <a:xfrm rot="5400000">
            <a:off x="665566" y="2510898"/>
            <a:ext cx="2916324" cy="1008112"/>
          </a:xfrm>
          <a:prstGeom prst="bentConnector4">
            <a:avLst>
              <a:gd name="adj1" fmla="val 46914"/>
              <a:gd name="adj2" fmla="val 202150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7883801-8004-47AF-BF8E-2DB2D4F607CD}"/>
              </a:ext>
            </a:extLst>
          </p:cNvPr>
          <p:cNvCxnSpPr>
            <a:cxnSpLocks/>
          </p:cNvCxnSpPr>
          <p:nvPr/>
        </p:nvCxnSpPr>
        <p:spPr>
          <a:xfrm>
            <a:off x="3779912" y="1412776"/>
            <a:ext cx="252028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D4734209-BECC-4F11-B3CB-A1A79790BB12}"/>
              </a:ext>
            </a:extLst>
          </p:cNvPr>
          <p:cNvSpPr/>
          <p:nvPr/>
        </p:nvSpPr>
        <p:spPr>
          <a:xfrm>
            <a:off x="4860032" y="1340768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F842E328-2189-4428-8B44-62FFC282FAD6}"/>
              </a:ext>
            </a:extLst>
          </p:cNvPr>
          <p:cNvCxnSpPr>
            <a:cxnSpLocks/>
            <a:stCxn id="17" idx="4"/>
            <a:endCxn id="23" idx="3"/>
          </p:cNvCxnSpPr>
          <p:nvPr/>
        </p:nvCxnSpPr>
        <p:spPr>
          <a:xfrm rot="5400000">
            <a:off x="3365866" y="2474894"/>
            <a:ext cx="2556284" cy="57606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39093AD-211A-466B-9C08-59D779AE6B93}"/>
              </a:ext>
            </a:extLst>
          </p:cNvPr>
          <p:cNvSpPr txBox="1"/>
          <p:nvPr/>
        </p:nvSpPr>
        <p:spPr>
          <a:xfrm>
            <a:off x="611560" y="177281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コミットボタン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2EE1EDD-1516-4FB7-A421-E347B6FE2C1F}"/>
              </a:ext>
            </a:extLst>
          </p:cNvPr>
          <p:cNvSpPr txBox="1"/>
          <p:nvPr/>
        </p:nvSpPr>
        <p:spPr>
          <a:xfrm>
            <a:off x="5220072" y="1556792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ここにコミットメッセージが</a:t>
            </a:r>
            <a:endParaRPr lang="en-US" altLang="ja-JP"/>
          </a:p>
          <a:p>
            <a:r>
              <a:rPr kumimoji="1" lang="ja-JP" altLang="en-US"/>
              <a:t>書ける</a:t>
            </a:r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C3B0879-540D-DB9A-A9B0-5F9DAFDE78CF}"/>
              </a:ext>
            </a:extLst>
          </p:cNvPr>
          <p:cNvSpPr/>
          <p:nvPr/>
        </p:nvSpPr>
        <p:spPr>
          <a:xfrm>
            <a:off x="1619672" y="4293096"/>
            <a:ext cx="2736304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096B7C8-4046-8B2B-4ACC-7F4476B20CF2}"/>
              </a:ext>
            </a:extLst>
          </p:cNvPr>
          <p:cNvSpPr/>
          <p:nvPr/>
        </p:nvSpPr>
        <p:spPr>
          <a:xfrm>
            <a:off x="1619672" y="3861048"/>
            <a:ext cx="2736304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1943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48BEDBB-AD2B-EE30-BFC6-84CA3C3192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– Step 7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A2B84D0-00D3-7EA6-D4FC-E097F268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90" y="1691516"/>
            <a:ext cx="8983957" cy="2592288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9B326CD-83BE-672D-3095-E5EA20D125CA}"/>
              </a:ext>
            </a:extLst>
          </p:cNvPr>
          <p:cNvSpPr/>
          <p:nvPr/>
        </p:nvSpPr>
        <p:spPr>
          <a:xfrm>
            <a:off x="683568" y="2339588"/>
            <a:ext cx="25202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83D12A-C439-AAED-AE2E-68B3DFA56A0F}"/>
              </a:ext>
            </a:extLst>
          </p:cNvPr>
          <p:cNvSpPr txBox="1"/>
          <p:nvPr/>
        </p:nvSpPr>
        <p:spPr>
          <a:xfrm>
            <a:off x="395537" y="908720"/>
            <a:ext cx="8568952" cy="72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もしコミットメッセージを書き忘れてコミットボタンを押したら</a:t>
            </a:r>
            <a:r>
              <a:rPr lang="en-US" altLang="ja-JP" sz="2000"/>
              <a:t>COMMIT_EDITMSG</a:t>
            </a:r>
            <a:r>
              <a:rPr lang="ja-JP" altLang="en-US" sz="2000"/>
              <a:t>というファイルが開く</a:t>
            </a:r>
            <a:endParaRPr kumimoji="1" lang="ja-JP" altLang="en-US" sz="2000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2CF37F3F-416D-35CF-D3FF-DD9CB6C8FDD9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 flipH="1" flipV="1">
            <a:off x="395536" y="1268760"/>
            <a:ext cx="288031" cy="1214844"/>
          </a:xfrm>
          <a:prstGeom prst="bentConnector3">
            <a:avLst>
              <a:gd name="adj1" fmla="val -79366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0C04910-F5B2-5351-2968-08B093B9B164}"/>
              </a:ext>
            </a:extLst>
          </p:cNvPr>
          <p:cNvSpPr/>
          <p:nvPr/>
        </p:nvSpPr>
        <p:spPr>
          <a:xfrm>
            <a:off x="3716613" y="2420305"/>
            <a:ext cx="1656184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64DFA7A-F4FA-D953-5CBA-0F82D80CBC1A}"/>
              </a:ext>
            </a:extLst>
          </p:cNvPr>
          <p:cNvSpPr txBox="1"/>
          <p:nvPr/>
        </p:nvSpPr>
        <p:spPr>
          <a:xfrm>
            <a:off x="107504" y="4355812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一番上に</a:t>
            </a:r>
            <a:r>
              <a:rPr kumimoji="1" lang="ja-JP" altLang="en-US"/>
              <a:t>「</a:t>
            </a:r>
            <a:r>
              <a:rPr kumimoji="1" lang="en-US" altLang="ja-JP"/>
              <a:t>commit from VSCode</a:t>
            </a:r>
            <a:r>
              <a:rPr kumimoji="1" lang="ja-JP" altLang="en-US"/>
              <a:t>」と入力</a:t>
            </a:r>
            <a:r>
              <a:rPr lang="ja-JP" altLang="en-US"/>
              <a:t>する</a:t>
            </a:r>
            <a:endParaRPr lang="en-US" altLang="ja-JP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FFB9437C-9E80-D219-17E8-EE51C1F9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445224"/>
            <a:ext cx="3859068" cy="1152128"/>
          </a:xfrm>
          <a:prstGeom prst="rect">
            <a:avLst/>
          </a:prstGeom>
        </p:spPr>
      </p:pic>
      <p:sp>
        <p:nvSpPr>
          <p:cNvPr id="17" name="楕円 16">
            <a:extLst>
              <a:ext uri="{FF2B5EF4-FFF2-40B4-BE49-F238E27FC236}">
                <a16:creationId xmlns:a16="http://schemas.microsoft.com/office/drawing/2014/main" id="{DE1FFED8-E4F7-5DDA-379F-999D2BA2B829}"/>
              </a:ext>
            </a:extLst>
          </p:cNvPr>
          <p:cNvSpPr/>
          <p:nvPr/>
        </p:nvSpPr>
        <p:spPr>
          <a:xfrm>
            <a:off x="3707904" y="5696084"/>
            <a:ext cx="360040" cy="360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FFCDCAAA-9C27-3FD4-FABC-B609D84EFD44}"/>
              </a:ext>
            </a:extLst>
          </p:cNvPr>
          <p:cNvCxnSpPr>
            <a:cxnSpLocks/>
            <a:stCxn id="12" idx="3"/>
            <a:endCxn id="11" idx="3"/>
          </p:cNvCxnSpPr>
          <p:nvPr/>
        </p:nvCxnSpPr>
        <p:spPr>
          <a:xfrm flipV="1">
            <a:off x="5220072" y="2564321"/>
            <a:ext cx="152725" cy="1976157"/>
          </a:xfrm>
          <a:prstGeom prst="bentConnector3">
            <a:avLst>
              <a:gd name="adj1" fmla="val 249681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532FE00-11BA-4DE1-B02D-B2A8C4C748AC}"/>
              </a:ext>
            </a:extLst>
          </p:cNvPr>
          <p:cNvSpPr txBox="1"/>
          <p:nvPr/>
        </p:nvSpPr>
        <p:spPr>
          <a:xfrm>
            <a:off x="107504" y="4869160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/>
              <a:t>保存してからファイルを閉じる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CCE467F-3186-1CFE-CCDF-56557884D058}"/>
              </a:ext>
            </a:extLst>
          </p:cNvPr>
          <p:cNvSpPr/>
          <p:nvPr/>
        </p:nvSpPr>
        <p:spPr>
          <a:xfrm>
            <a:off x="4716016" y="1988840"/>
            <a:ext cx="1656184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9301D705-1B06-3AEE-0823-BE5E6C92C5BF}"/>
              </a:ext>
            </a:extLst>
          </p:cNvPr>
          <p:cNvCxnSpPr>
            <a:cxnSpLocks/>
            <a:stCxn id="22" idx="3"/>
            <a:endCxn id="17" idx="6"/>
          </p:cNvCxnSpPr>
          <p:nvPr/>
        </p:nvCxnSpPr>
        <p:spPr>
          <a:xfrm>
            <a:off x="3563888" y="5053826"/>
            <a:ext cx="504056" cy="822278"/>
          </a:xfrm>
          <a:prstGeom prst="bentConnector3">
            <a:avLst>
              <a:gd name="adj1" fmla="val 145352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603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35B7E9F-B529-4398-A4D3-B0427B25DF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</a:t>
            </a:r>
            <a:r>
              <a:rPr kumimoji="1" lang="ja-JP" altLang="en-US"/>
              <a:t>最終確認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C5D9373-8361-49BE-B5B2-51BCEC07D208}"/>
              </a:ext>
            </a:extLst>
          </p:cNvPr>
          <p:cNvSpPr/>
          <p:nvPr/>
        </p:nvSpPr>
        <p:spPr>
          <a:xfrm>
            <a:off x="3315970" y="6054551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0B6071F1-4AB0-42DE-BCA7-50FAD2853EF5}"/>
              </a:ext>
            </a:extLst>
          </p:cNvPr>
          <p:cNvSpPr/>
          <p:nvPr/>
        </p:nvSpPr>
        <p:spPr>
          <a:xfrm>
            <a:off x="3315970" y="5118447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585A58C-04FE-4C3D-8552-5F36B5E21491}"/>
              </a:ext>
            </a:extLst>
          </p:cNvPr>
          <p:cNvSpPr/>
          <p:nvPr/>
        </p:nvSpPr>
        <p:spPr>
          <a:xfrm>
            <a:off x="3315970" y="4182343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1 つの角を切り取り 1 つの角を丸める 5">
            <a:extLst>
              <a:ext uri="{FF2B5EF4-FFF2-40B4-BE49-F238E27FC236}">
                <a16:creationId xmlns:a16="http://schemas.microsoft.com/office/drawing/2014/main" id="{966F24A4-1A27-408D-9382-95E725968327}"/>
              </a:ext>
            </a:extLst>
          </p:cNvPr>
          <p:cNvSpPr/>
          <p:nvPr/>
        </p:nvSpPr>
        <p:spPr>
          <a:xfrm>
            <a:off x="1659786" y="375029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56FCCDE-C3F7-4B43-B6A2-BD892DEB3359}"/>
              </a:ext>
            </a:extLst>
          </p:cNvPr>
          <p:cNvSpPr/>
          <p:nvPr/>
        </p:nvSpPr>
        <p:spPr>
          <a:xfrm>
            <a:off x="1765057" y="2996952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EFD1306-00ED-49C9-B069-4ABE989164E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>
            <a:off x="2233109" y="3356992"/>
            <a:ext cx="2741" cy="3933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402C98D8-D430-4B4B-AE8C-95057C7CC92B}"/>
              </a:ext>
            </a:extLst>
          </p:cNvPr>
          <p:cNvCxnSpPr>
            <a:cxnSpLocks/>
            <a:stCxn id="6" idx="0"/>
            <a:endCxn id="15" idx="2"/>
          </p:cNvCxnSpPr>
          <p:nvPr/>
        </p:nvCxnSpPr>
        <p:spPr>
          <a:xfrm flipV="1">
            <a:off x="2811914" y="3462263"/>
            <a:ext cx="504056" cy="4572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EF861F8-708D-4F1A-AE53-F4D86C0AD4FE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>
            <a:off x="3531994" y="4614391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F2CD341-3CE8-41E4-B21C-D009863D3C46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>
            <a:off x="3531994" y="5550495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27E885-CE4F-4800-BF43-A2358527A549}"/>
              </a:ext>
            </a:extLst>
          </p:cNvPr>
          <p:cNvSpPr txBox="1"/>
          <p:nvPr/>
        </p:nvSpPr>
        <p:spPr>
          <a:xfrm>
            <a:off x="3892034" y="611726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5906A9-61B4-42CF-BE50-00564406758F}"/>
              </a:ext>
            </a:extLst>
          </p:cNvPr>
          <p:cNvSpPr txBox="1"/>
          <p:nvPr/>
        </p:nvSpPr>
        <p:spPr>
          <a:xfrm>
            <a:off x="3892034" y="511844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adds new line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A683EF-6E32-4AD7-848E-7F94804279BB}"/>
              </a:ext>
            </a:extLst>
          </p:cNvPr>
          <p:cNvSpPr txBox="1"/>
          <p:nvPr/>
        </p:nvSpPr>
        <p:spPr>
          <a:xfrm>
            <a:off x="3892034" y="4182343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modifies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32F42AD-B989-4698-BBEC-281D5E1F2C84}"/>
              </a:ext>
            </a:extLst>
          </p:cNvPr>
          <p:cNvSpPr/>
          <p:nvPr/>
        </p:nvSpPr>
        <p:spPr>
          <a:xfrm>
            <a:off x="3315970" y="3246239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E8228FC-9AFB-4B20-9964-428892A99A16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3531994" y="3678287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2957330-C11F-4ABA-98B4-140ACE8BC9EA}"/>
              </a:ext>
            </a:extLst>
          </p:cNvPr>
          <p:cNvSpPr txBox="1"/>
          <p:nvPr/>
        </p:nvSpPr>
        <p:spPr>
          <a:xfrm>
            <a:off x="3892034" y="3318247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commit from </a:t>
            </a:r>
            <a:r>
              <a:rPr kumimoji="1" lang="en-US" altLang="ja-JP" dirty="0" err="1">
                <a:latin typeface="Consolas" panose="020B0609020204030204" pitchFamily="49" charset="0"/>
              </a:rPr>
              <a:t>VSCode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E8FBA90-E6A2-4750-8B98-CF5D29C4AF90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8A0CFF3-86E0-41AD-A2B1-1445A303A32F}"/>
              </a:ext>
            </a:extLst>
          </p:cNvPr>
          <p:cNvSpPr txBox="1"/>
          <p:nvPr/>
        </p:nvSpPr>
        <p:spPr>
          <a:xfrm>
            <a:off x="827584" y="1988840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git log --</a:t>
            </a:r>
            <a:r>
              <a:rPr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728517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8653</TotalTime>
  <Words>1193</Words>
  <Application>Microsoft Office PowerPoint</Application>
  <PresentationFormat>画面に合わせる (4:3)</PresentationFormat>
  <Paragraphs>232</Paragraphs>
  <Slides>32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36" baseType="lpstr"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1663</cp:revision>
  <dcterms:created xsi:type="dcterms:W3CDTF">2019-01-02T05:23:01Z</dcterms:created>
  <dcterms:modified xsi:type="dcterms:W3CDTF">2026-03-09T00:25:55Z</dcterms:modified>
</cp:coreProperties>
</file>